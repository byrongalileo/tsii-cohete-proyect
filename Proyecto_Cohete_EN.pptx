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4.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5.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6.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7.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8.xml" ContentType="application/vnd.openxmlformats-officedocument.drawingml.chart+xml"/>
  <Override PartName="/ppt/slides/charts/chart9.xml" ContentType="application/vnd.openxmlformats-officedocument.drawingml.chart+xml"/>
  <Override PartName="/ppt/slides/charts/chart10.xml" ContentType="application/vnd.openxmlformats-officedocument.drawingml.chart+xml"/>
  <Override PartName="/ppt/notesSlides/notesSlide2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9ea5154c80943ba" /><Relationship Type="http://schemas.openxmlformats.org/officeDocument/2006/relationships/extended-properties" Target="/docProps/app.xml" Id="R07bbc10e70d64bf6" /><Relationship Type="http://schemas.openxmlformats.org/officeDocument/2006/relationships/officeDocument" Target="/ppt/presentation.xml" Id="R7e315507181e46d6" /></Relationships>
</file>

<file path=ppt/presentation.xml><?xml version="1.0" encoding="utf-8"?>
<p:presentation xmlns:p="http://schemas.openxmlformats.org/presentationml/2006/main">
  <p:sldMasterIdLst>
    <p:sldMasterId xmlns:r="http://schemas.openxmlformats.org/officeDocument/2006/relationships" id="2147483648" r:id="R5d263f294c354b6d"/>
  </p:sldMasterIdLst>
  <p:notesMasterIdLst>
    <p:notesMasterId xmlns:r="http://schemas.openxmlformats.org/officeDocument/2006/relationships" r:id="Rbcc6ffa86b504683"/>
  </p:notesMasterIdLst>
  <p:sldIdLst>
    <p:sldId xmlns:r="http://schemas.openxmlformats.org/officeDocument/2006/relationships" id="256" r:id="Rab02b58466c74dea"/>
    <p:sldId xmlns:r="http://schemas.openxmlformats.org/officeDocument/2006/relationships" id="257" r:id="R9133439b70e94ceb"/>
    <p:sldId xmlns:r="http://schemas.openxmlformats.org/officeDocument/2006/relationships" id="258" r:id="R40e0b2c7250b453d"/>
    <p:sldId xmlns:r="http://schemas.openxmlformats.org/officeDocument/2006/relationships" id="259" r:id="R168552997c5b46ef"/>
    <p:sldId xmlns:r="http://schemas.openxmlformats.org/officeDocument/2006/relationships" id="260" r:id="Rb6ff750180c941dc"/>
    <p:sldId xmlns:r="http://schemas.openxmlformats.org/officeDocument/2006/relationships" id="261" r:id="R31cc1e9e22f04b55"/>
    <p:sldId xmlns:r="http://schemas.openxmlformats.org/officeDocument/2006/relationships" id="262" r:id="Ra0db42a1beb24531"/>
    <p:sldId xmlns:r="http://schemas.openxmlformats.org/officeDocument/2006/relationships" id="263" r:id="R7a7a8f8eca2e421a"/>
    <p:sldId xmlns:r="http://schemas.openxmlformats.org/officeDocument/2006/relationships" id="264" r:id="R9e750e6e5d1c47f2"/>
    <p:sldId xmlns:r="http://schemas.openxmlformats.org/officeDocument/2006/relationships" id="265" r:id="R2d8897283ebc44fa"/>
    <p:sldId xmlns:r="http://schemas.openxmlformats.org/officeDocument/2006/relationships" id="266" r:id="R60a1d25206864dfa"/>
    <p:sldId xmlns:r="http://schemas.openxmlformats.org/officeDocument/2006/relationships" id="267" r:id="R2968d397e82047b5"/>
    <p:sldId xmlns:r="http://schemas.openxmlformats.org/officeDocument/2006/relationships" id="268" r:id="R4a30154159dd4052"/>
    <p:sldId xmlns:r="http://schemas.openxmlformats.org/officeDocument/2006/relationships" id="269" r:id="R36795da7a9e44a26"/>
    <p:sldId xmlns:r="http://schemas.openxmlformats.org/officeDocument/2006/relationships" id="270" r:id="R9088141f7d934fbe"/>
    <p:sldId xmlns:r="http://schemas.openxmlformats.org/officeDocument/2006/relationships" id="271" r:id="Rfc966cd385904398"/>
    <p:sldId xmlns:r="http://schemas.openxmlformats.org/officeDocument/2006/relationships" id="272" r:id="Rffdb37aec7f446a9"/>
    <p:sldId xmlns:r="http://schemas.openxmlformats.org/officeDocument/2006/relationships" id="273" r:id="R9391fa0e9b784ff0"/>
    <p:sldId xmlns:r="http://schemas.openxmlformats.org/officeDocument/2006/relationships" id="274" r:id="R47c830437d5d4f1f"/>
    <p:sldId xmlns:r="http://schemas.openxmlformats.org/officeDocument/2006/relationships" id="275" r:id="Rcf1697516f2c4690"/>
    <p:sldId xmlns:r="http://schemas.openxmlformats.org/officeDocument/2006/relationships" id="276" r:id="R75f65eb5bf99479a"/>
    <p:sldId xmlns:r="http://schemas.openxmlformats.org/officeDocument/2006/relationships" id="277" r:id="R0b2b02bc8f3140aa"/>
    <p:sldId xmlns:r="http://schemas.openxmlformats.org/officeDocument/2006/relationships" id="278" r:id="R42fa6029082f4f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8ab90475214f9e" /><Relationship Type="http://schemas.openxmlformats.org/officeDocument/2006/relationships/slideMaster" Target="/ppt/slideMasters/slideMaster1.xml" Id="R5d263f294c354b6d" /><Relationship Type="http://schemas.openxmlformats.org/officeDocument/2006/relationships/notesMaster" Target="/ppt/notesMasters/notesMaster1.xml" Id="Rbcc6ffa86b504683" /><Relationship Type="http://schemas.openxmlformats.org/officeDocument/2006/relationships/presProps" Target="/ppt/presProps.xml" Id="R14830476d3b944b3" /><Relationship Type="http://schemas.openxmlformats.org/officeDocument/2006/relationships/tableStyles" Target="/ppt/tableStyles.xml" Id="Rc9fc54f0feb1462f" /><Relationship Type="http://schemas.openxmlformats.org/officeDocument/2006/relationships/slide" Target="/ppt/slides/slide1.xml" Id="Rab02b58466c74dea" /><Relationship Type="http://schemas.openxmlformats.org/officeDocument/2006/relationships/slide" Target="/ppt/slides/slide2.xml" Id="R9133439b70e94ceb" /><Relationship Type="http://schemas.openxmlformats.org/officeDocument/2006/relationships/slide" Target="/ppt/slides/slide3.xml" Id="R40e0b2c7250b453d" /><Relationship Type="http://schemas.openxmlformats.org/officeDocument/2006/relationships/slide" Target="/ppt/slides/slide4.xml" Id="R168552997c5b46ef" /><Relationship Type="http://schemas.openxmlformats.org/officeDocument/2006/relationships/slide" Target="/ppt/slides/slide5.xml" Id="Rb6ff750180c941dc" /><Relationship Type="http://schemas.openxmlformats.org/officeDocument/2006/relationships/slide" Target="/ppt/slides/slide6.xml" Id="R31cc1e9e22f04b55" /><Relationship Type="http://schemas.openxmlformats.org/officeDocument/2006/relationships/slide" Target="/ppt/slides/slide7.xml" Id="Ra0db42a1beb24531" /><Relationship Type="http://schemas.openxmlformats.org/officeDocument/2006/relationships/slide" Target="/ppt/slides/slide8.xml" Id="R7a7a8f8eca2e421a" /><Relationship Type="http://schemas.openxmlformats.org/officeDocument/2006/relationships/slide" Target="/ppt/slides/slide9.xml" Id="R9e750e6e5d1c47f2" /><Relationship Type="http://schemas.openxmlformats.org/officeDocument/2006/relationships/slide" Target="/ppt/slides/slide10.xml" Id="R2d8897283ebc44fa" /><Relationship Type="http://schemas.openxmlformats.org/officeDocument/2006/relationships/slide" Target="/ppt/slides/slide11.xml" Id="R60a1d25206864dfa" /><Relationship Type="http://schemas.openxmlformats.org/officeDocument/2006/relationships/slide" Target="/ppt/slides/slide12.xml" Id="R2968d397e82047b5" /><Relationship Type="http://schemas.openxmlformats.org/officeDocument/2006/relationships/slide" Target="/ppt/slides/slide13.xml" Id="R4a30154159dd4052" /><Relationship Type="http://schemas.openxmlformats.org/officeDocument/2006/relationships/slide" Target="/ppt/slides/slide14.xml" Id="R36795da7a9e44a26" /><Relationship Type="http://schemas.openxmlformats.org/officeDocument/2006/relationships/slide" Target="/ppt/slides/slide15.xml" Id="R9088141f7d934fbe" /><Relationship Type="http://schemas.openxmlformats.org/officeDocument/2006/relationships/slide" Target="/ppt/slides/slide16.xml" Id="Rfc966cd385904398" /><Relationship Type="http://schemas.openxmlformats.org/officeDocument/2006/relationships/slide" Target="/ppt/slides/slide17.xml" Id="Rffdb37aec7f446a9" /><Relationship Type="http://schemas.openxmlformats.org/officeDocument/2006/relationships/slide" Target="/ppt/slides/slide18.xml" Id="R9391fa0e9b784ff0" /><Relationship Type="http://schemas.openxmlformats.org/officeDocument/2006/relationships/slide" Target="/ppt/slides/slide19.xml" Id="R47c830437d5d4f1f" /><Relationship Type="http://schemas.openxmlformats.org/officeDocument/2006/relationships/slide" Target="/ppt/slides/slide20.xml" Id="Rcf1697516f2c4690" /><Relationship Type="http://schemas.openxmlformats.org/officeDocument/2006/relationships/slide" Target="/ppt/slides/slide21.xml" Id="R75f65eb5bf99479a" /><Relationship Type="http://schemas.openxmlformats.org/officeDocument/2006/relationships/slide" Target="/ppt/slides/slide22.xml" Id="R0b2b02bc8f3140aa" /><Relationship Type="http://schemas.openxmlformats.org/officeDocument/2006/relationships/slide" Target="/ppt/slides/slide23.xml" Id="R42fa6029082f4f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44d92dd5704d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ae80bcaec78492a" /><Relationship Type="http://schemas.openxmlformats.org/officeDocument/2006/relationships/notesMaster" Target="/ppt/notesMasters/notesMaster1.xml" Id="R5c9a39c3909543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5dabf483504bb8" /><Relationship Type="http://schemas.openxmlformats.org/officeDocument/2006/relationships/notesMaster" Target="/ppt/notesMasters/notesMaster1.xml" Id="Rb96bdfdcfdc649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f678dbb4244fbe" /><Relationship Type="http://schemas.openxmlformats.org/officeDocument/2006/relationships/notesMaster" Target="/ppt/notesMasters/notesMaster1.xml" Id="Rc764b0b683db45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2a8b5e4e9444c4" /><Relationship Type="http://schemas.openxmlformats.org/officeDocument/2006/relationships/notesMaster" Target="/ppt/notesMasters/notesMaster1.xml" Id="R7233519467ca47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00197609d6b47b9" /><Relationship Type="http://schemas.openxmlformats.org/officeDocument/2006/relationships/notesMaster" Target="/ppt/notesMasters/notesMaster1.xml" Id="Re339749aeb3f4e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76471c50f44cd8" /><Relationship Type="http://schemas.openxmlformats.org/officeDocument/2006/relationships/notesMaster" Target="/ppt/notesMasters/notesMaster1.xml" Id="R78623ea20f5641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8c5826927543e7" /><Relationship Type="http://schemas.openxmlformats.org/officeDocument/2006/relationships/notesMaster" Target="/ppt/notesMasters/notesMaster1.xml" Id="R9f718ca1fffb40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6f4126e50b4a75" /><Relationship Type="http://schemas.openxmlformats.org/officeDocument/2006/relationships/notesMaster" Target="/ppt/notesMasters/notesMaster1.xml" Id="R0bbc239eddb8422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87bf7208b404c92" /><Relationship Type="http://schemas.openxmlformats.org/officeDocument/2006/relationships/notesMaster" Target="/ppt/notesMasters/notesMaster1.xml" Id="R4209c595071246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92245cc1664e6f" /><Relationship Type="http://schemas.openxmlformats.org/officeDocument/2006/relationships/notesMaster" Target="/ppt/notesMasters/notesMaster1.xml" Id="R956f6f533a5449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c4dab430b04e62" /><Relationship Type="http://schemas.openxmlformats.org/officeDocument/2006/relationships/notesMaster" Target="/ppt/notesMasters/notesMaster1.xml" Id="R06542133fca94f9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18cf5c5f50d4bd8" /><Relationship Type="http://schemas.openxmlformats.org/officeDocument/2006/relationships/notesMaster" Target="/ppt/notesMasters/notesMaster1.xml" Id="R2b81013c327a4ea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cb228e5306d4926" /><Relationship Type="http://schemas.openxmlformats.org/officeDocument/2006/relationships/notesMaster" Target="/ppt/notesMasters/notesMaster1.xml" Id="R595aba1e133b49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d2ac988327145c6" /><Relationship Type="http://schemas.openxmlformats.org/officeDocument/2006/relationships/notesMaster" Target="/ppt/notesMasters/notesMaster1.xml" Id="R4964317d2e1548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1a41ff1a7ac4723" /><Relationship Type="http://schemas.openxmlformats.org/officeDocument/2006/relationships/notesMaster" Target="/ppt/notesMasters/notesMaster1.xml" Id="R17ea48502cef4e8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c7f6e8b5e904b4f" /><Relationship Type="http://schemas.openxmlformats.org/officeDocument/2006/relationships/notesMaster" Target="/ppt/notesMasters/notesMaster1.xml" Id="R4fbab1eda5314d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9255fc9d29402d" /><Relationship Type="http://schemas.openxmlformats.org/officeDocument/2006/relationships/notesMaster" Target="/ppt/notesMasters/notesMaster1.xml" Id="R4b4cd5ddf5204ad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86f2eac57c94dc6" /><Relationship Type="http://schemas.openxmlformats.org/officeDocument/2006/relationships/notesMaster" Target="/ppt/notesMasters/notesMaster1.xml" Id="R8e0b067739444ee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952cae058144147" /><Relationship Type="http://schemas.openxmlformats.org/officeDocument/2006/relationships/notesMaster" Target="/ppt/notesMasters/notesMaster1.xml" Id="Ref3ccc7e3ba148c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5aefbeaa534c01" /><Relationship Type="http://schemas.openxmlformats.org/officeDocument/2006/relationships/notesMaster" Target="/ppt/notesMasters/notesMaster1.xml" Id="R58a535c3b6314a1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480786049a42eb" /><Relationship Type="http://schemas.openxmlformats.org/officeDocument/2006/relationships/notesMaster" Target="/ppt/notesMasters/notesMaster1.xml" Id="Rc7a7d0752aca462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222d8aabea4b21" /><Relationship Type="http://schemas.openxmlformats.org/officeDocument/2006/relationships/notesMaster" Target="/ppt/notesMasters/notesMaster1.xml" Id="Re1d2cbb1565d4f9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039aad0afeb4cde" /><Relationship Type="http://schemas.openxmlformats.org/officeDocument/2006/relationships/notesMaster" Target="/ppt/notesMasters/notesMaster1.xml" Id="Ra04c9d20c17442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30 seconds</a:t>
            </a:r>
          </a:p>
          <a:p xmlns:a="http://schemas.openxmlformats.org/drawingml/2006/main">
            <a:r>
              <a:t/>
            </a:r>
          </a:p>
          <a:p xmlns:a="http://schemas.openxmlformats.org/drawingml/2006/main">
            <a:r>
              <a:t>We studied a linear rocket model in the pitch plane. Our central question was how to control acceleration and attitude when both actions affect each other. I will explain the model, the tests we performed, and how we used the results to choose the gains and sampling period. The photograph provides context and does not identify a vehicle with the parameters of this model.</a:t>
            </a:r>
          </a:p>
          <a:p xmlns:a="http://schemas.openxmlformats.org/drawingml/2006/main">
            <a:r>
              <a:t/>
            </a:r>
          </a:p>
          <a:p xmlns:a="http://schemas.openxmlformats.org/drawingml/2006/main">
            <a:r>
              <a:t>Sources: Reporte_ES.pdf, p. 1. Photograph: NASA/Bill Ingalls, Artemis I. https://www.planetary.org/space-images/artemis-i-launch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50 seconds</a:t>
            </a:r>
          </a:p>
          <a:p xmlns:a="http://schemas.openxmlformats.org/drawingml/2006/main">
            <a:r>
              <a:t/>
            </a:r>
          </a:p>
          <a:p xmlns:a="http://schemas.openxmlformats.org/drawingml/2006/main">
            <a:r>
              <a:t>The rocket must follow an acceleration reference and an attitude reference. The nozzle changes the thrust direction to create a control moment. Tilting the vehicle also changes the acceleration represented by our model. In addition, thrust misalignment can induce rotation. This makes the rocket a system with two inputs and two outputs. In the figure, point out the center of mass, the center of pressure and the nozzle deflection. Our scope is a short ascent interval and motion in the pitch plane.</a:t>
            </a:r>
          </a:p>
          <a:p xmlns:a="http://schemas.openxmlformats.org/drawingml/2006/main">
            <a:r>
              <a:t/>
            </a:r>
          </a:p>
          <a:p xmlns:a="http://schemas.openxmlformats.org/drawingml/2006/main">
            <a:r>
              <a:t>Sources: Reporte_ES.pdf, pp. 1–3. proyectoCohete.pdf, p. 2, Figure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65 seconds</a:t>
            </a:r>
          </a:p>
          <a:p xmlns:a="http://schemas.openxmlformats.org/drawingml/2006/main">
            <a:r>
              <a:t/>
            </a:r>
          </a:p>
          <a:p xmlns:a="http://schemas.openxmlformats.org/drawingml/2006/main">
            <a:r>
              <a:t>We selected four states: axial acceleration a, pitch angle theta, angular rate omega and actual nozzle deflection delta. The main outputs are a and theta. The IMU can also provide omega, although our observability analysis includes cases in which we use only one output. Input u1 is an axial reference and u2 is an angular reference. Interpreting u1 as a percentage requires a defined normalization. We assume small angles, constant mass and inertia, and a rigid vehicle. These assumptions give us a linear model with four states. The complete equations appear in the backup slides. Matrix A describes internal dynamics, B maps the commands, and C selects the measured outputs. Their dimensions are four by four, four by two and two by four. D is zero, so a finite command has no direct instantaneous feedthrough.</a:t>
            </a:r>
          </a:p>
          <a:p xmlns:a="http://schemas.openxmlformats.org/drawingml/2006/main">
            <a:r>
              <a:t/>
            </a:r>
          </a:p>
          <a:p xmlns:a="http://schemas.openxmlformats.org/drawingml/2006/main">
            <a:r>
              <a:t>Sources: Reporte_ES.pdf, pp. 2–3. proyectoCohete.pdf, pp. 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60 seconds</a:t>
            </a:r>
          </a:p>
          <a:p xmlns:a="http://schemas.openxmlformats.org/drawingml/2006/main">
            <a:r>
              <a:t/>
            </a:r>
          </a:p>
          <a:p xmlns:a="http://schemas.openxmlformats.org/drawingml/2006/main">
            <a:r>
              <a:t>Each differential equation tells us how one state changes. The acceleration equation combines engine response, the axial command and gravitational coupling. The angle equation is the integral of angular rate. The angular-rate equation balances the destabilizing aerodynamic contribution against damping and the torques produced by the nozzle and thrust misalignment. The nozzle equation includes servo response and feedback from angle and angular rate. K1 affects the axial correction. K2 affects the steering correction, while lambda weights the angular-rate contribution. Keeping delta as a state allows us to study servo lag and nozzle excursion. The full equations remain in the backup slides.</a:t>
            </a:r>
          </a:p>
          <a:p xmlns:a="http://schemas.openxmlformats.org/drawingml/2006/main">
            <a:r>
              <a:t/>
            </a:r>
          </a:p>
          <a:p xmlns:a="http://schemas.openxmlformats.org/drawingml/2006/main">
            <a:r>
              <a:t>Sources: Reporte_ES.pdf, p. 2, equations (1)–(4). TSII-PROJECT-NB.ipynb, cell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55 seconds</a:t>
            </a:r>
          </a:p>
          <a:p xmlns:a="http://schemas.openxmlformats.org/drawingml/2006/main">
            <a:r>
              <a:t/>
            </a:r>
          </a:p>
          <a:p xmlns:a="http://schemas.openxmlformats.org/drawingml/2006/main">
            <a:r>
              <a:t>We started with the equations, constructed A, B and C, and checked that the four-integrator diagram represents each signal path. Every integrator accumulates the derivative of one state. We then calculated the transfer matrix and eigenvalues. We simulated a pulse, a sine wave and an impulse, applying each to u1, to u2 and to both inputs. Finally, we compared gains against quantitative limits and separated the continuous plant from the digital controller to study sampling. K1 acts on the engine channel and K2 on attitude correction. The calculations used NumPy, SciPy and SymPy, while the report used Matplotlib for its figures. The notebook applies each of three signal types to three input configurations, giving nine cases. Its plots show acceleration and pitch on separate vertical axes because the units differ.</a:t>
            </a:r>
          </a:p>
          <a:p xmlns:a="http://schemas.openxmlformats.org/drawingml/2006/main">
            <a:r>
              <a:t/>
            </a:r>
          </a:p>
          <a:p xmlns:a="http://schemas.openxmlformats.org/drawingml/2006/main">
            <a:r>
              <a:t>Sources: Reporte_ES.pdf, pp. 2–5, Figure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70 seconds</a:t>
            </a:r>
          </a:p>
          <a:p xmlns:a="http://schemas.openxmlformats.org/drawingml/2006/main">
            <a:r>
              <a:t/>
            </a:r>
          </a:p>
          <a:p xmlns:a="http://schemas.openxmlformats.org/drawingml/2006/main">
            <a:r>
              <a:t>Asymptotic stability means that deviations from equilibrium decay over time. In this project, we seek asymptotic stability: deviations from equilibrium should decay. All four nominal poles have negative real parts. The complex pair explains the oscillation, while the pole near minus seventeen is mainly associated with the servo. We also used Routh–Hurwitz and a gain sweep. For K1 equal to one, the K2 threshold is approximately 0.081. When K2 is zero, a positive pole of approximately 0.557 appears. Attitude feedback therefore stabilizes the original controller under these conditions. Stability alone still does not guarantee a fast response or satisfactory tracking.</a:t>
            </a:r>
          </a:p>
          <a:p xmlns:a="http://schemas.openxmlformats.org/drawingml/2006/main">
            <a:r>
              <a:t/>
            </a:r>
          </a:p>
          <a:p xmlns:a="http://schemas.openxmlformats.org/drawingml/2006/main">
            <a:r>
              <a:t>Sources: Reporte_ES.pdf, pp. 4–5. Calculation from the nominal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60 seconds</a:t>
            </a:r>
          </a:p>
          <a:p xmlns:a="http://schemas.openxmlformats.org/drawingml/2006/main">
            <a:r>
              <a:t/>
            </a:r>
          </a:p>
          <a:p xmlns:a="http://schemas.openxmlformats.org/drawingml/2006/main">
            <a:r>
              <a:t>This is the original rectangular-pulse figure saved in the notebook. Read it from left to right: u1 alone, u2 alone and both inputs together. Blue is acceleration on the left axis. Red is pitch on the right axis. The axes have different units and scales, so curve heights do not give coupling percentages directly. The u1 case mainly accelerates the vehicle and also produces a small pitch response through thrust misalignment. The u2 case strongly changes acceleration through the gravity term. Simultaneous responses add because the model is linear. At five seconds the command turns off and the outputs decay. These are formal unit-input tests.</a:t>
            </a:r>
          </a:p>
          <a:p xmlns:a="http://schemas.openxmlformats.org/drawingml/2006/main">
            <a:r>
              <a:t/>
            </a:r>
          </a:p>
          <a:p xmlns:a="http://schemas.openxmlformats.org/drawingml/2006/main">
            <a:r>
              <a:t>Sources: TSII-PROJECT-NB.ipynb, cell 16, saved PNG output. Nominal parameters in cell 11. Simulation helper in cell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55 seconds</a:t>
            </a:r>
          </a:p>
          <a:p xmlns:a="http://schemas.openxmlformats.org/drawingml/2006/main">
            <a:r>
              <a:t/>
            </a:r>
          </a:p>
          <a:p xmlns:a="http://schemas.openxmlformats.org/drawingml/2006/main">
            <a:r>
              <a:t>This original notebook figure uses sin(t), so the angular frequency is one radian per second and the period is about 6.28 seconds. After the initial transient, both outputs keep oscillating at that frequency. Their amplitudes and relative phases depend on the transfer functions. In the u2-only case, the axial amplitude is approximately 7.85 and the pitch amplitude is approximately 1.21 for a unit command. These are frequency-response gains at one radian per second, rather than static gains. This connects the time simulation with the frequency analysis. The simultaneous-input panel again shows the combined response.</a:t>
            </a:r>
          </a:p>
          <a:p xmlns:a="http://schemas.openxmlformats.org/drawingml/2006/main">
            <a:r>
              <a:t/>
            </a:r>
          </a:p>
          <a:p xmlns:a="http://schemas.openxmlformats.org/drawingml/2006/main">
            <a:r>
              <a:t>Sources: TSII-PROJECT-NB.ipynb, cell 17, saved PNG output. Nominal G(j1) from the stated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55 seconds</a:t>
            </a:r>
          </a:p>
          <a:p xmlns:a="http://schemas.openxmlformats.org/drawingml/2006/main">
            <a:r>
              <a:t/>
            </a:r>
          </a:p>
          <a:p xmlns:a="http://schemas.openxmlformats.org/drawingml/2006/main">
            <a:r>
              <a:t>The impulse is an ideal brief excitation that helps expose the natural dynamics. This figure again compares the two individual input channels and their simultaneous action. The nominal poles make the responses decay toward zero. An impulse in u1 gives acceleration an immediate state jump of about 0.0699. This is consistent with D equal to zero: D excludes direct feedthrough for a finite command, while a Dirac input can change the state by its area multiplied by B. The other response paths pass through additional dynamics. Use the figure to identify decay and oscillation, rather than treating a unit angular excitation as a physically valid large-angle maneuver.</a:t>
            </a:r>
          </a:p>
          <a:p xmlns:a="http://schemas.openxmlformats.org/drawingml/2006/main">
            <a:r>
              <a:t/>
            </a:r>
          </a:p>
          <a:p xmlns:a="http://schemas.openxmlformats.org/drawingml/2006/main">
            <a:r>
              <a:t>Sources: TSII-PROJECT-NB.ipynb, cell 18, saved PNG output. State-space matrices in cell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70 seconds</a:t>
            </a:r>
          </a:p>
          <a:p xmlns:a="http://schemas.openxmlformats.org/drawingml/2006/main">
            <a:r>
              <a:t/>
            </a:r>
          </a:p>
          <a:p xmlns:a="http://schemas.openxmlformats.org/drawingml/2006/main">
            <a:r>
              <a:t>To compare outputs with different units, we fixed the test amplitudes: u1 equals ten in the model scale and u2 equals five degrees. We applied each step separately. The axial command produces a final acceleration of 0.459 meters per second squared. The angular command produces a maximum acceleration reduction near 0.812. Their ratio gives 177 percent. In the reverse direction, the axial command produces about one degree of pitch deviation, compared with the 5.20-degree main response, giving 20.6 percent. These percentages describe the chosen test amplitudes, rather than universal constants of the vehicle.</a:t>
            </a:r>
          </a:p>
          <a:p xmlns:a="http://schemas.openxmlformats.org/drawingml/2006/main">
            <a:r>
              <a:t/>
            </a:r>
          </a:p>
          <a:p xmlns:a="http://schemas.openxmlformats.org/drawingml/2006/main">
            <a:r>
              <a:t>Sources: Reporte_ES.pdf, pp. 6–7, Table III and Figure 10. Definition: maximum absolute cross-output response divided by the absolute final main-output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65 seconds</a:t>
            </a:r>
          </a:p>
          <a:p xmlns:a="http://schemas.openxmlformats.org/drawingml/2006/main">
            <a:r>
              <a:t/>
            </a:r>
          </a:p>
          <a:p xmlns:a="http://schemas.openxmlformats.org/drawingml/2006/main">
            <a:r>
              <a:t>Frequency response shows how tracking changes as commands vary more rapidly. The graph presents the magnitudes of the two main channels, normalized by their low-frequency gains. We define bandwidth at the minus-three-decibel crossing. The nominal bandwidth is about 2.06 radians per second for acceleration and 2.26 for pitch. The cross-channel bandwidths are near 1.39. Interactions remain important in the useful tracking band. In the nominal case, both normalized cross-channel ratios fall below ten percent only above 7.36 radians per second, where the direct responses already have substantial attenuation.</a:t>
            </a:r>
          </a:p>
          <a:p xmlns:a="http://schemas.openxmlformats.org/drawingml/2006/main">
            <a:r>
              <a:t/>
            </a:r>
          </a:p>
          <a:p xmlns:a="http://schemas.openxmlformats.org/drawingml/2006/main">
            <a:r>
              <a:t>Sources: Reporte_ES.pdf, pp. 7–9, Figures 11–13. Nominal G(jω), magnitude relative to G(0).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65 seconds</a:t>
            </a:r>
          </a:p>
          <a:p xmlns:a="http://schemas.openxmlformats.org/drawingml/2006/main">
            <a:r>
              <a:t/>
            </a:r>
          </a:p>
          <a:p xmlns:a="http://schemas.openxmlformats.org/drawingml/2006/main">
            <a:r>
              <a:t>In physical terms, observability lets us infer the internal motion from a history of measured outputs and known commands. Observability asks whether we can reconstruct the states from known inputs and the history of measurements. We form the matrix using C, CA, CA squared and CA cubed. Its rank must be four. We obtained rank four with both sensors, with acceleration alone and with angle alone. Coupling allows unmeasured states to leave information in the measured output. This supports designing an observer for omega and delta. Rank describes an ideal mathematical property. Accuracy in noise requires consistent scales and a sensor model. Unnormalized singular values alone do not establish a physical sensitivity factor.</a:t>
            </a:r>
          </a:p>
          <a:p xmlns:a="http://schemas.openxmlformats.org/drawingml/2006/main">
            <a:r>
              <a:t/>
            </a:r>
          </a:p>
          <a:p xmlns:a="http://schemas.openxmlformats.org/drawingml/2006/main">
            <a:r>
              <a:t>Sources: Reporte_ES.pdf, p. 9, Table IV. Rank conclusions are retained with a precise interpretation of sensitivity.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65 seconds</a:t>
            </a:r>
          </a:p>
          <a:p xmlns:a="http://schemas.openxmlformats.org/drawingml/2006/main">
            <a:r>
              <a:t/>
            </a:r>
          </a:p>
          <a:p xmlns:a="http://schemas.openxmlformats.org/drawingml/2006/main">
            <a:r>
              <a:t>Controllability concerns reaching arbitrary states through suitable inputs in finite time, within this ideal model. Controllability asks whether the inputs can move the state to any desired condition within the ideal model. With both inputs, the rank is four. If we remove only an external command while retaining the nominal feedback, the rank also remains four. A physical servo failure is different. Setting the derivative of delta to zero reduces the full-system rank to three. We cannot move the jammed nozzle, and the original controller leaves an unstable mode. That does not prove that no redesigned ideal controller could stabilize the remaining three states. Actual engine authority and saturation would need to be checked. Distinguishing a missing command from a physical failure avoids an incorrect conclusion.</a:t>
            </a:r>
          </a:p>
          <a:p xmlns:a="http://schemas.openxmlformats.org/drawingml/2006/main">
            <a:r>
              <a:t/>
            </a:r>
          </a:p>
          <a:p xmlns:a="http://schemas.openxmlformats.org/drawingml/2006/main">
            <a:r>
              <a:t>Sources: Reporte_ES.pdf, p. 9, Table V. Nominal A for loss of an external command. Last row of A set to zero for a jammed servo.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70 seconds</a:t>
            </a:r>
          </a:p>
          <a:p xmlns:a="http://schemas.openxmlformats.org/drawingml/2006/main">
            <a:r>
              <a:t/>
            </a:r>
          </a:p>
          <a:p xmlns:a="http://schemas.openxmlformats.org/drawingml/2006/main">
            <a:r>
              <a:t>Stability left us with many candidates. We selected design limits of ten percent pitch overshoot, three seconds settling time, five percent final error, five degrees maximum nozzle deflection, and positive static axial gain. We evaluated a grid of 2400 gain pairs. The feasible region meets these limits. Within it, we prefer pairs whose worst coupling is close to the smallest feasible value. The figure reproduces that region using the stated criteria. The outer ranges of K1 and K2 do not imply that every point within a rectangle is equally suitable. We selected K1 equal to 4.5 and K2 equal to 1.3, which meets the criteria.</a:t>
            </a:r>
          </a:p>
          <a:p xmlns:a="http://schemas.openxmlformats.org/drawingml/2006/main">
            <a:r>
              <a:t/>
            </a:r>
          </a:p>
          <a:p xmlns:a="http://schemas.openxmlformats.org/drawingml/2006/main">
            <a:r>
              <a:t>Sources: Reporte_ES.pdf, pp. 10–11, Figure 15. Region reproduced from the equations and stated criteria, without using the feasible-point count as a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80 seconds</a:t>
            </a:r>
          </a:p>
          <a:p xmlns:a="http://schemas.openxmlformats.org/drawingml/2006/main">
            <a:r>
              <a:t/>
            </a:r>
          </a:p>
          <a:p xmlns:a="http://schemas.openxmlformats.org/drawingml/2006/main">
            <a:r>
              <a:t>Here we compare the nominal and recommended pitch responses to a five-degree command. The recommended response has less overshoot and reaches its final value sooner. Overshoot falls from 16.39 to 0.82 percent. Settling time decreases from 3.64 to 1.62 seconds. The final error stays below five percent. The tradeoff is nozzle deflection, which rises from about two degrees to 4.49, close to the five-degree limit. Coupling into acceleration drops from 177 to 31 percent, while the reverse coupling rises from 21 to 28 percent. This is a compromise among design criteria. We measure overshoot relative to the final value and final error relative to the command.</a:t>
            </a:r>
          </a:p>
          <a:p xmlns:a="http://schemas.openxmlformats.org/drawingml/2006/main">
            <a:r>
              <a:t/>
            </a:r>
          </a:p>
          <a:p xmlns:a="http://schemas.openxmlformats.org/drawingml/2006/main">
            <a:r>
              <a:t>Sources: Reporte_ES.pdf, pp. 10–11, Table VI. Graph: u2 = 5° step and u1 = 0. Peak nozzle excursion: both test steps applied simultaneously.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80 seconds</a:t>
            </a:r>
          </a:p>
          <a:p xmlns:a="http://schemas.openxmlformats.org/drawingml/2006/main">
            <a:r>
              <a:t/>
            </a:r>
          </a:p>
          <a:p xmlns:a="http://schemas.openxmlformats.org/drawingml/2006/main">
            <a:r>
              <a:t>We then checked whether a computer updating every 0.05 seconds can implement the chosen gains. This corresponds to twenty updates per second. We separated the continuous plant from the controller, held commands with a zero-order hold, and included a one-sample delay. The stability limit for the selected point is approximately 0.1135 seconds with delay. Its ratio to the chosen period is 2.27. At T equal to 0.10 seconds, the response oscillates more and takes around seven seconds to settle, but it remains stable. The result depends on this delay model. The graph shows output samples. The actuator command is the signal held between updates.</a:t>
            </a:r>
          </a:p>
          <a:p xmlns:a="http://schemas.openxmlformats.org/drawingml/2006/main">
            <a:r>
              <a:t/>
            </a:r>
          </a:p>
          <a:p xmlns:a="http://schemas.openxmlformats.org/drawingml/2006/main">
            <a:r>
              <a:t>Sources: Reporte_ES.pdf, pp. 11–12, Table VII and Figures 16–18. Plant discretized using a zero-order hold, with a delay of exactly one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50 seconds</a:t>
            </a:r>
          </a:p>
          <a:p xmlns:a="http://schemas.openxmlformats.org/drawingml/2006/main">
            <a:r>
              <a:t/>
            </a:r>
          </a:p>
          <a:p xmlns:a="http://schemas.openxmlformats.org/drawingml/2006/main">
            <a:r>
              <a:t>Mass and inertia change as the rocket consumes fuel, making the model matrices depend on time. The report explores frozen coefficients using rho, defined as initial mass divided by current mass. Under that scaling, reducing the mass to half its initial value lowers the maximum stable sampling period with delay from about 0.114 to 0.058 seconds if gains remain fixed. Dividing the gains by rho recovers a limit near 0.123 seconds. This is a proposal under the assumptions of that extension. Frozen poles do not establish stability for the full flight, and the physical balance of a vehicle expelling gas requires a vehicle-specific formulation.</a:t>
            </a:r>
          </a:p>
          <a:p xmlns:a="http://schemas.openxmlformats.org/drawingml/2006/main">
            <a:r>
              <a:t/>
            </a:r>
          </a:p>
          <a:p xmlns:a="http://schemas.openxmlformats.org/drawingml/2006/main">
            <a:r>
              <a:t>Sources: Reporte_ES.pdf, pp. 12–13, Figure 20. Values depend on the report's frozen-coefficient scaling. Variable-mass balance: NASA TN D-1838, Section III. https://ntrs.nasa.gov/api/citations/19630009857/downloads/19630009857.pdf?attachment=true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45 seconds</a:t>
            </a:r>
          </a:p>
          <a:p xmlns:a="http://schemas.openxmlformats.org/drawingml/2006/main">
            <a:r>
              <a:t/>
            </a:r>
          </a:p>
          <a:p xmlns:a="http://schemas.openxmlformats.org/drawingml/2006/main">
            <a:r>
              <a:t>To include lateral attitude, we add the yaw angle psi, its angular rate r and lateral nozzle deflection zeta. This gives seven states, three inputs and three outputs. In the proposed model, acceleration enters the lateral rotational balance. This is the only link between the blocks: thrust and pitch can perturb yaw, while the lateral command does not feed back into pitch within these equations. The matrix is block triangular, so its eigenvalues combine those of both blocks. This remains a simplified extension, excluding roll and full three-dimensional dynamics.</a:t>
            </a:r>
          </a:p>
          <a:p xmlns:a="http://schemas.openxmlformats.org/drawingml/2006/main">
            <a:r>
              <a:t/>
            </a:r>
          </a:p>
          <a:p xmlns:a="http://schemas.openxmlformats.org/drawingml/2006/main">
            <a:r>
              <a:t>Sources: Reporte_ES.pdf, pp. 13–14, equations (8)–(9) and Figure 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45 seconds</a:t>
            </a:r>
          </a:p>
          <a:p xmlns:a="http://schemas.openxmlformats.org/drawingml/2006/main">
            <a:r>
              <a:t/>
            </a:r>
          </a:p>
          <a:p xmlns:a="http://schemas.openxmlformats.org/drawingml/2006/main">
            <a:r>
              <a:t>The main finding is that acceleration and attitude require a combined analysis. Attitude feedback stabilizes the model, but stability alone did not determine our design. The selected gains improve overshoot and settling time while requiring greater nozzle excursion. We also checked state reconstruction and showed that physical failures change the reach of the inputs. Finally, the 0.05-second sampling period is stable under the digital model studied, with margin below the calculated limit. These conclusions apply to the linear model, the chosen test amplitudes and the design limits we adopted.</a:t>
            </a:r>
          </a:p>
          <a:p xmlns:a="http://schemas.openxmlformats.org/drawingml/2006/main">
            <a:r>
              <a:t/>
            </a:r>
          </a:p>
          <a:p xmlns:a="http://schemas.openxmlformats.org/drawingml/2006/main">
            <a:r>
              <a:t>Sources: Reporte_ES.pdf, pp. 13–14. Summary of verified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reference only, outside the main presentation</a:t>
            </a:r>
          </a:p>
          <a:p xmlns:a="http://schemas.openxmlformats.org/drawingml/2006/main">
            <a:r>
              <a:t/>
            </a:r>
          </a:p>
          <a:p xmlns:a="http://schemas.openxmlformats.org/drawingml/2006/main">
            <a:r>
              <a:t>Reference slide. The main presentation ends on slide 19. Slides 21 to 23 support questions. The three original notebook figures on slides 7 to 9 come from saved outputs of cells 16, 17 and 18, using nominal gains K1 = 1 and K2 = 0.5. Other gain, sensor and sampling results follow the report and its model.</a:t>
            </a:r>
          </a:p>
          <a:p xmlns:a="http://schemas.openxmlformats.org/drawingml/2006/main">
            <a:r>
              <a:t/>
            </a:r>
          </a:p>
          <a:p xmlns:a="http://schemas.openxmlformats.org/drawingml/2006/main">
            <a:r>
              <a:t>Sources: Reporte_ES.pdf, p. 14. proyectoCohete.pdf, p. 7. TSII-PROJECT-NB.ipynb, cells 11 and 15–18.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reference only, outside the main presentation</a:t>
            </a:r>
          </a:p>
          <a:p xmlns:a="http://schemas.openxmlformats.org/drawingml/2006/main">
            <a:r>
              <a:t/>
            </a:r>
          </a:p>
          <a:p xmlns:a="http://schemas.openxmlformats.org/drawingml/2006/main">
            <a:r>
              <a:t>Use this slide for questions about the equations. The first combines engine response, axial feedback and gravitational coupling. The second is the kinematic relation between pitch angle and angular rate. The third combines aerodynamic effects, damping, nozzle control and thrust misalignment. The fourth describes the servo with angle and rate feedback. K1 and K2 are already included in A and B. The units and normalization of u1 must be defined to interpret the command physically.</a:t>
            </a:r>
          </a:p>
          <a:p xmlns:a="http://schemas.openxmlformats.org/drawingml/2006/main">
            <a:r>
              <a:t/>
            </a:r>
          </a:p>
          <a:p xmlns:a="http://schemas.openxmlformats.org/drawingml/2006/main">
            <a:r>
              <a:t>Sources: Reporte_ES.pdf, p. 2, equations (1)–(4). proyectoCohete.pdf, pp. 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reference only, outside the main presentation</a:t>
            </a:r>
          </a:p>
          <a:p xmlns:a="http://schemas.openxmlformats.org/drawingml/2006/main">
            <a:r>
              <a:t/>
            </a:r>
          </a:p>
          <a:p xmlns:a="http://schemas.openxmlformats.org/drawingml/2006/main">
            <a:r>
              <a:t>Use this slide to explain the transfer matrix or characteristic polynomial as functions of the gains. Defining alpha and beta gives a compact expression. The denominator P equals det(sI minus A). The transfer functions share that polynomial before possible cancellations. These identities follow directly from the nominal equations and C times the inverse of sI minus A times B. At the nominal point, the denominator has the coefficients shown and the system is fourth order.</a:t>
            </a:r>
          </a:p>
          <a:p xmlns:a="http://schemas.openxmlformats.org/drawingml/2006/main">
            <a:r>
              <a:t/>
            </a:r>
          </a:p>
          <a:p xmlns:a="http://schemas.openxmlformats.org/drawingml/2006/main">
            <a:r>
              <a:t>Sources: Equations (1)–(4) of Reporte_ES.pdf, p. 2. Symbolic algebra with the nominal model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duration: reference only, outside the main presentation</a:t>
            </a:r>
          </a:p>
          <a:p xmlns:a="http://schemas.openxmlformats.org/drawingml/2006/main">
            <a:r>
              <a:t/>
            </a:r>
          </a:p>
          <a:p xmlns:a="http://schemas.openxmlformats.org/drawingml/2006/main">
            <a:r>
              <a:t>Use this slide for a closer comparison of the unit angular responses. These are three examples for u2 only, whereas the notebook figures in the main presentation show both outputs in all nine test configurations. We applied three signals to examine different behavior. The pulse lasts five seconds and shows the start and end of a maneuver. The sine wave reveals the response to a periodic command. The impulse briefly excites the dynamics and shows how the modes decay. This slide shows the angular output with only u2 active. The report contains nine test combinations using the two inputs and both outputs. These are unit excitations of the linear model. A unit angular command is one radian, so these curves analyze the model rather than establish physical validity at any angle. We later use a five-degree command for gain selection.</a:t>
            </a:r>
          </a:p>
          <a:p xmlns:a="http://schemas.openxmlformats.org/drawingml/2006/main">
            <a:r>
              <a:t/>
            </a:r>
          </a:p>
          <a:p xmlns:a="http://schemas.openxmlformats.org/drawingml/2006/main">
            <a:r>
              <a:t>Sources: Reporte_ES.pdf, pp. 5–6, Figures 6–8. Curves reproduced from equations (1)–(4), with zero initial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518291d6eb4de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15207a85ce346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6a4a0de6f3e41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f2b824116b455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993e63126994de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cb82edd116c46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89D0B1-300F-461C-AB29-5DB42EC4E5A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DA2952F-0F1E-40AC-96BC-DDA44AEACC9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D5A7AD5-CF0C-4518-984E-EBD57927C6D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E6CE22-74DC-46D2-84FB-8E3F583EA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355402D-998E-4AC2-97DB-AB5ACF4110F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D00A23D-01A5-4A6A-92E7-DBFF4F63E8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005236-AF64-4515-A3A9-F3A7610C920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C460EC9-A2F6-4B21-A353-5954C48008D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4B37CB-4254-4344-BADF-B6ECCE9192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A2BD6D8-1237-45C3-9B93-40B5608F190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2d71ac98584699" /><Relationship Type="http://schemas.openxmlformats.org/officeDocument/2006/relationships/slideLayout" Target="/ppt/slideLayouts/slideLayout1.xml" Id="Rc8352a60fe3540b3" /><Relationship Type="http://schemas.openxmlformats.org/officeDocument/2006/relationships/slideLayout" Target="/ppt/slideLayouts/slideLayout2.xml" Id="R2a71ab6d39894b36" /><Relationship Type="http://schemas.openxmlformats.org/officeDocument/2006/relationships/slideLayout" Target="/ppt/slideLayouts/slideLayout3.xml" Id="Rc21d2273db014470" /><Relationship Type="http://schemas.openxmlformats.org/officeDocument/2006/relationships/slideLayout" Target="/ppt/slideLayouts/slideLayout4.xml" Id="R1e72df368e3b4c90" /><Relationship Type="http://schemas.openxmlformats.org/officeDocument/2006/relationships/slideLayout" Target="/ppt/slideLayouts/slideLayout5.xml" Id="R2f561ffa7b9b49df" /><Relationship Type="http://schemas.openxmlformats.org/officeDocument/2006/relationships/slideLayout" Target="/ppt/slideLayouts/slideLayout6.xml" Id="R8f688639988b42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352a60fe3540b3"/>
    <p:sldLayoutId xmlns:r="http://schemas.openxmlformats.org/officeDocument/2006/relationships" id="2147483650" r:id="R2a71ab6d39894b36"/>
    <p:sldLayoutId xmlns:r="http://schemas.openxmlformats.org/officeDocument/2006/relationships" id="2147483651" r:id="Rc21d2273db014470"/>
    <p:sldLayoutId xmlns:r="http://schemas.openxmlformats.org/officeDocument/2006/relationships" id="2147483652" r:id="R1e72df368e3b4c90"/>
    <p:sldLayoutId xmlns:r="http://schemas.openxmlformats.org/officeDocument/2006/relationships" id="2147483653" r:id="R2f561ffa7b9b49df"/>
    <p:sldLayoutId xmlns:r="http://schemas.openxmlformats.org/officeDocument/2006/relationships" id="2147483654" r:id="R8f688639988b42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4977439ec66443d" /><Relationship Type="http://schemas.openxmlformats.org/officeDocument/2006/relationships/image" Target="/ppt/media/image.jpeg" Id="R2a780912342e4b7b" /><Relationship Type="http://schemas.openxmlformats.org/officeDocument/2006/relationships/notesSlide" Target="/ppt/notesSlides/notesSlide1.xml" Id="R4590661bbc474d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eeb6f8e08ff4707" /><Relationship Type="http://schemas.openxmlformats.org/officeDocument/2006/relationships/image" Target="/ppt/media/image.png" Id="Re07ae538aab94951" /><Relationship Type="http://schemas.openxmlformats.org/officeDocument/2006/relationships/notesSlide" Target="/ppt/notesSlides/notesSlide2.xml" Id="R94b7d6c62f494d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c841e0081b54327" /><Relationship Type="http://schemas.openxmlformats.org/officeDocument/2006/relationships/notesSlide" Target="/ppt/notesSlides/notesSlide3.xml" Id="R969ec537aec04c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32ac6dbd9854131" /><Relationship Type="http://schemas.openxmlformats.org/officeDocument/2006/relationships/notesSlide" Target="/ppt/notesSlides/notesSlide4.xml" Id="Ref5ca211e929433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73949866a9c469f" /><Relationship Type="http://schemas.openxmlformats.org/officeDocument/2006/relationships/image" Target="/ppt/media/image2.png" Id="Rb96c4127d43747b9" /><Relationship Type="http://schemas.openxmlformats.org/officeDocument/2006/relationships/notesSlide" Target="/ppt/notesSlides/notesSlide5.xml" Id="Rcb1d98aa95084e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23ea24a1b314f93" /><Relationship Type="http://schemas.openxmlformats.org/officeDocument/2006/relationships/chart" Target="/ppt/slides/charts/chart1.xml" Id="Rc63c7e0a75564ae4" /><Relationship Type="http://schemas.openxmlformats.org/officeDocument/2006/relationships/notesSlide" Target="/ppt/notesSlides/notesSlide6.xml" Id="R0fa108638dca4aa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47bbea11b704a4d" /><Relationship Type="http://schemas.openxmlformats.org/officeDocument/2006/relationships/image" Target="/ppt/media/image3.png" Id="R0ca0efb8899a455d" /><Relationship Type="http://schemas.openxmlformats.org/officeDocument/2006/relationships/notesSlide" Target="/ppt/notesSlides/notesSlide7.xml" Id="R73a47550c41040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c93248dd7b4d4d" /><Relationship Type="http://schemas.openxmlformats.org/officeDocument/2006/relationships/image" Target="/ppt/media/image4.png" Id="R6abc913328574708" /><Relationship Type="http://schemas.openxmlformats.org/officeDocument/2006/relationships/notesSlide" Target="/ppt/notesSlides/notesSlide8.xml" Id="R786808f975144e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74d2f11b2fc479c" /><Relationship Type="http://schemas.openxmlformats.org/officeDocument/2006/relationships/image" Target="/ppt/media/image5.png" Id="Rc4ed922a1de14285" /><Relationship Type="http://schemas.openxmlformats.org/officeDocument/2006/relationships/notesSlide" Target="/ppt/notesSlides/notesSlide9.xml" Id="Ra57f6445de434f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b66d7a6201f4f08" /><Relationship Type="http://schemas.openxmlformats.org/officeDocument/2006/relationships/chart" Target="/ppt/slides/charts/chart2.xml" Id="Rf5a6d6aefb644a8f" /><Relationship Type="http://schemas.openxmlformats.org/officeDocument/2006/relationships/notesSlide" Target="/ppt/notesSlides/notesSlide10.xml" Id="R3849a1a901da42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d68b2046c6d42f5" /><Relationship Type="http://schemas.openxmlformats.org/officeDocument/2006/relationships/chart" Target="/ppt/slides/charts/chart3.xml" Id="R3aa33247d1e1421c" /><Relationship Type="http://schemas.openxmlformats.org/officeDocument/2006/relationships/notesSlide" Target="/ppt/notesSlides/notesSlide11.xml" Id="R8ec6d66e5cb949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35321582fef493d" /><Relationship Type="http://schemas.openxmlformats.org/officeDocument/2006/relationships/notesSlide" Target="/ppt/notesSlides/notesSlide12.xml" Id="Re69761b8cbdb4f9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2dc1e42b9ad49d2" /><Relationship Type="http://schemas.openxmlformats.org/officeDocument/2006/relationships/notesSlide" Target="/ppt/notesSlides/notesSlide13.xml" Id="R660ec4b9489140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bed431aacdc43be" /><Relationship Type="http://schemas.openxmlformats.org/officeDocument/2006/relationships/chart" Target="/ppt/slides/charts/chart4.xml" Id="Rc423ac9d9f03418a" /><Relationship Type="http://schemas.openxmlformats.org/officeDocument/2006/relationships/notesSlide" Target="/ppt/notesSlides/notesSlide14.xml" Id="R3dd860c2247244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3c3bc49c9ed4e59" /><Relationship Type="http://schemas.openxmlformats.org/officeDocument/2006/relationships/chart" Target="/ppt/slides/charts/chart5.xml" Id="Rb9192475d103485d" /><Relationship Type="http://schemas.openxmlformats.org/officeDocument/2006/relationships/notesSlide" Target="/ppt/notesSlides/notesSlide15.xml" Id="Rce7fa7a00041441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22addb3fb344aa3" /><Relationship Type="http://schemas.openxmlformats.org/officeDocument/2006/relationships/chart" Target="/ppt/slides/charts/chart6.xml" Id="R23eeda4a7d4a4113" /><Relationship Type="http://schemas.openxmlformats.org/officeDocument/2006/relationships/notesSlide" Target="/ppt/notesSlides/notesSlide16.xml" Id="Rf5d3d945353c403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61b8d1b0d744ecd" /><Relationship Type="http://schemas.openxmlformats.org/officeDocument/2006/relationships/chart" Target="/ppt/slides/charts/chart7.xml" Id="Rb5c07894e1ab49fb" /><Relationship Type="http://schemas.openxmlformats.org/officeDocument/2006/relationships/notesSlide" Target="/ppt/notesSlides/notesSlide17.xml" Id="R868e07a97f5146b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40b4546a73d4640" /><Relationship Type="http://schemas.openxmlformats.org/officeDocument/2006/relationships/image" Target="/ppt/media/image6.png" Id="Rf3b6c556b4544c2e" /><Relationship Type="http://schemas.openxmlformats.org/officeDocument/2006/relationships/notesSlide" Target="/ppt/notesSlides/notesSlide18.xml" Id="R288c018c6d484e1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6bf544580fe4503" /><Relationship Type="http://schemas.openxmlformats.org/officeDocument/2006/relationships/notesSlide" Target="/ppt/notesSlides/notesSlide19.xml" Id="Rbc4680553e614fa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33a529fdd744e9d" /><Relationship Type="http://schemas.openxmlformats.org/officeDocument/2006/relationships/notesSlide" Target="/ppt/notesSlides/notesSlide20.xml" Id="R0035c1fee28e49c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f37f7f45a454c75" /><Relationship Type="http://schemas.openxmlformats.org/officeDocument/2006/relationships/notesSlide" Target="/ppt/notesSlides/notesSlide21.xml" Id="R95854823dcb8416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8899e0592394a1c" /><Relationship Type="http://schemas.openxmlformats.org/officeDocument/2006/relationships/notesSlide" Target="/ppt/notesSlides/notesSlide22.xml" Id="Rd7e7dd7908664d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2474075f2154545" /><Relationship Type="http://schemas.openxmlformats.org/officeDocument/2006/relationships/chart" Target="/ppt/slides/charts/chart8.xml" Id="Ra1011a9c02a445f2" /><Relationship Type="http://schemas.openxmlformats.org/officeDocument/2006/relationships/chart" Target="/ppt/slides/charts/chart9.xml" Id="R9ca9d2b6f4044cb0" /><Relationship Type="http://schemas.openxmlformats.org/officeDocument/2006/relationships/chart" Target="/ppt/slides/charts/chart10.xml" Id="Rc77e08ae3b1648d8" /><Relationship Type="http://schemas.openxmlformats.org/officeDocument/2006/relationships/notesSlide" Target="/ppt/notesSlides/notesSlide23.xml" Id="R529e3b1a0fda454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Nominal poles</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marker"/>
        <c:varyColors val="0"/>
        <c:ser>
          <c:idx val="0"/>
          <c:order val="0"/>
          <c:tx>
            <c:v>Nominal poles</c:v>
          </c:tx>
          <c:spPr>
            <a:solidFill xmlns:a="http://schemas.openxmlformats.org/drawingml/2006/main">
              <a:srgbClr val="087E8B"/>
            </a:solidFill>
            <a:ln xmlns:a="http://schemas.openxmlformats.org/drawingml/2006/main" w="0">
              <a:noFill/>
            </a:ln>
          </c:spPr>
          <c:marker>
            <c:symbol val="x"/>
            <c:size val="14"/>
            <c:spPr>
              <a:solidFill xmlns:a="http://schemas.openxmlformats.org/drawingml/2006/main">
                <a:srgbClr val="087E8B"/>
              </a:solidFill>
            </c:spPr>
          </c:marker>
          <c:xVal>
            <c:numRef>
              <c:f>'Chart Data'!$A$2:$A$5</c:f>
              <c:numCache>
                <c:formatCode>General</c:formatCode>
                <c:ptCount val="4"/>
                <c:pt idx="0">
                  <c:v>-17.26389565</c:v>
                </c:pt>
                <c:pt idx="1">
                  <c:v>-2.091927371</c:v>
                </c:pt>
                <c:pt idx="2">
                  <c:v>-1.065639288</c:v>
                </c:pt>
                <c:pt idx="3">
                  <c:v>-1.065639288</c:v>
                </c:pt>
              </c:numCache>
            </c:numRef>
          </c:xVal>
          <c:yVal>
            <c:numRef>
              <c:f>'Chart Data'!$B$2:$B$5</c:f>
              <c:numCache>
                <c:formatCode>0.0</c:formatCode>
                <c:ptCount val="4"/>
                <c:pt idx="0">
                  <c:v>0</c:v>
                </c:pt>
                <c:pt idx="1">
                  <c:v>0</c:v>
                </c:pt>
                <c:pt idx="2">
                  <c:v>1.198734201</c:v>
                </c:pt>
                <c:pt idx="3">
                  <c:v>-1.198734201</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
          <c:min val="-2"/>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Imaginary part (s⁻¹)</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majorUnit val="1"/>
      </c:valAx>
      <c:valAx>
        <c:axId val="48650112"/>
        <c:scaling>
          <c:orientation val="minMax"/>
          <c:max val="1"/>
          <c:min val="-2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Real part (s⁻¹)</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0"/>
        <c:majorUnit val="5"/>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Coupling under the test steps</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barChart>
        <c:barDir val="col"/>
        <c:grouping val="clustered"/>
        <c:varyColors val="0"/>
        <c:ser>
          <c:idx val="0"/>
          <c:order val="0"/>
          <c:tx>
            <c:v>Nominal coupling</c:v>
          </c:tx>
          <c:spPr>
            <a:solidFill xmlns:a="http://schemas.openxmlformats.org/drawingml/2006/main">
              <a:srgbClr val="087E8B"/>
            </a:solidFill>
          </c:spPr>
          <c:invertIfNegative val="0"/>
          <c:cat>
            <c:strRef>
              <c:f>'Chart Data'!$A$2:$A$3</c:f>
              <c:strCache>
                <c:ptCount val="2"/>
                <c:pt idx="0">
                  <c:v>Pitch command on acceleration</c:v>
                </c:pt>
                <c:pt idx="1">
                  <c:v>Axial command on pitch</c:v>
                </c:pt>
              </c:strCache>
            </c:strRef>
          </c:cat>
          <c:val>
            <c:numRef>
              <c:f>'Chart Data'!$B$2:$B$3</c:f>
              <c:numCache>
                <c:formatCode>0%</c:formatCode>
                <c:ptCount val="2"/>
                <c:pt idx="0">
                  <c:v>1.769006605</c:v>
                </c:pt>
                <c:pt idx="1">
                  <c:v>0.2062045712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175" b="1">
                  <a:solidFill>
                    <a:srgbClr val="13283C"/>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atAx>
      <c:valAx>
        <c:axId val="48672768"/>
        <c:scaling>
          <c:orientation val="minMax"/>
          <c:max val="2"/>
          <c:min val="0"/>
        </c:scaling>
        <c:delete val="0"/>
        <c:axPos val="l"/>
        <c:majorGridlines>
          <c:spPr>
            <a:ln xmlns:a="http://schemas.openxmlformats.org/drawingml/2006/main" w="9525">
              <a:solidFill>
                <a:srgbClr val="DFE6EB"/>
              </a:solidFill>
            </a:ln>
          </c:spPr>
        </c:majorGridlines>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Between val="between"/>
        <c:majorUnit val="0.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Main channels, normalized gain</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line"/>
        <c:varyColors val="0"/>
        <c:ser>
          <c:idx val="0"/>
          <c:order val="0"/>
          <c:tx>
            <c:v>G₁₁, acceleration</c:v>
          </c:tx>
          <c:spPr>
            <a:solidFill xmlns:a="http://schemas.openxmlformats.org/drawingml/2006/main">
              <a:srgbClr val="087E8B"/>
            </a:solidFill>
            <a:ln xmlns:a="http://schemas.openxmlformats.org/drawingml/2006/main" w="28575">
              <a:solidFill>
                <a:srgbClr val="087E8B"/>
              </a:solidFill>
              <a:prstDash val="solid"/>
            </a:ln>
          </c:spPr>
          <c:marker>
            <c:symbol val="none"/>
          </c:marker>
          <c:xVal>
            <c:numRef>
              <c:f>'Chart Data'!$A$2:$A$162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Data'!$B$2:$B$162</c:f>
              <c:numCache>
                <c:formatCode>0.0</c:formatCode>
                <c:ptCount val="161"/>
                <c:pt idx="0">
                  <c:v>0</c:v>
                </c:pt>
                <c:pt idx="1">
                  <c:v>0.0006393235313</c:v>
                </c:pt>
                <c:pt idx="2">
                  <c:v>0.002537612817</c:v>
                </c:pt>
                <c:pt idx="3">
                  <c:v>0.005635082939</c:v>
                </c:pt>
                <c:pt idx="4">
                  <c:v>0.009829658513</c:v>
                </c:pt>
                <c:pt idx="5">
                  <c:v>0.01497345117</c:v>
                </c:pt>
                <c:pt idx="6">
                  <c:v>0.02086809102</c:v>
                </c:pt>
                <c:pt idx="7">
                  <c:v>0.02725918922</c:v>
                </c:pt>
                <c:pt idx="8">
                  <c:v>0.03383030522</c:v>
                </c:pt>
                <c:pt idx="9">
                  <c:v>0.0401968975</c:v>
                </c:pt>
                <c:pt idx="10">
                  <c:v>0.04590084549</c:v>
                </c:pt>
                <c:pt idx="11">
                  <c:v>0.05040623596</c:v>
                </c:pt>
                <c:pt idx="12">
                  <c:v>0.05309719617</c:v>
                </c:pt>
                <c:pt idx="13">
                  <c:v>0.05327861137</c:v>
                </c:pt>
                <c:pt idx="14">
                  <c:v>0.05018056319</c:v>
                </c:pt>
                <c:pt idx="15">
                  <c:v>0.04296724493</c:v>
                </c:pt>
                <c:pt idx="16">
                  <c:v>0.03075092576</c:v>
                </c:pt>
                <c:pt idx="17">
                  <c:v>0.01261123387</c:v>
                </c:pt>
                <c:pt idx="18">
                  <c:v>-0.01238039321</c:v>
                </c:pt>
                <c:pt idx="19">
                  <c:v>-0.04513176401</c:v>
                </c:pt>
                <c:pt idx="20">
                  <c:v>-0.08649774083</c:v>
                </c:pt>
                <c:pt idx="21">
                  <c:v>-0.1372465999</c:v>
                </c:pt>
                <c:pt idx="22">
                  <c:v>-0.198027185</c:v>
                </c:pt>
                <c:pt idx="23">
                  <c:v>-0.2693393321</c:v>
                </c:pt>
                <c:pt idx="24">
                  <c:v>-0.3515099943</c:v>
                </c:pt>
                <c:pt idx="25">
                  <c:v>-0.4446771392</c:v>
                </c:pt>
                <c:pt idx="26">
                  <c:v>-0.5487828379</c:v>
                </c:pt>
                <c:pt idx="27">
                  <c:v>-0.6635761115</c:v>
                </c:pt>
                <c:pt idx="28">
                  <c:v>-0.7886251631</c:v>
                </c:pt>
                <c:pt idx="29">
                  <c:v>-0.9233377615</c:v>
                </c:pt>
                <c:pt idx="30">
                  <c:v>-1.066987868</c:v>
                </c:pt>
                <c:pt idx="31">
                  <c:v>-1.218746207</c:v>
                </c:pt>
                <c:pt idx="32">
                  <c:v>-1.377712405</c:v>
                </c:pt>
                <c:pt idx="33">
                  <c:v>-1.542946489</c:v>
                </c:pt>
                <c:pt idx="34">
                  <c:v>-1.713497973</c:v>
                </c:pt>
                <c:pt idx="35">
                  <c:v>-1.888431204</c:v>
                </c:pt>
                <c:pt idx="36">
                  <c:v>-2.066846239</c:v>
                </c:pt>
                <c:pt idx="37">
                  <c:v>-2.247894951</c:v>
                </c:pt>
                <c:pt idx="38">
                  <c:v>-2.430792494</c:v>
                </c:pt>
                <c:pt idx="39">
                  <c:v>-2.614824525</c:v>
                </c:pt>
                <c:pt idx="40">
                  <c:v>-2.799350761</c:v>
                </c:pt>
                <c:pt idx="41">
                  <c:v>-2.983805526</c:v>
                </c:pt>
                <c:pt idx="42">
                  <c:v>-3.167695962</c:v>
                </c:pt>
                <c:pt idx="43">
                  <c:v>-3.350598521</c:v>
                </c:pt>
                <c:pt idx="44">
                  <c:v>-3.532154287</c:v>
                </c:pt>
                <c:pt idx="45">
                  <c:v>-3.712063586</c:v>
                </c:pt>
                <c:pt idx="46">
                  <c:v>-3.890080253</c:v>
                </c:pt>
                <c:pt idx="47">
                  <c:v>-4.066005841</c:v>
                </c:pt>
                <c:pt idx="48">
                  <c:v>-4.239683973</c:v>
                </c:pt>
                <c:pt idx="49">
                  <c:v>-4.410994982</c:v>
                </c:pt>
                <c:pt idx="50">
                  <c:v>-4.579850927</c:v>
                </c:pt>
                <c:pt idx="51">
                  <c:v>-4.746191046</c:v>
                </c:pt>
                <c:pt idx="52">
                  <c:v>-4.90997765</c:v>
                </c:pt>
                <c:pt idx="53">
                  <c:v>-5.071192467</c:v>
                </c:pt>
                <c:pt idx="54">
                  <c:v>-5.229833423</c:v>
                </c:pt>
                <c:pt idx="55">
                  <c:v>-5.385911816</c:v>
                </c:pt>
                <c:pt idx="56">
                  <c:v>-5.539449877</c:v>
                </c:pt>
                <c:pt idx="57">
                  <c:v>-5.690478659</c:v>
                </c:pt>
                <c:pt idx="58">
                  <c:v>-5.839036234</c:v>
                </c:pt>
                <c:pt idx="59">
                  <c:v>-5.985166155</c:v>
                </c:pt>
                <c:pt idx="60">
                  <c:v>-6.128916161</c:v>
                </c:pt>
                <c:pt idx="61">
                  <c:v>-6.270337081</c:v>
                </c:pt>
                <c:pt idx="62">
                  <c:v>-6.40948192</c:v>
                </c:pt>
                <c:pt idx="63">
                  <c:v>-6.546405102</c:v>
                </c:pt>
                <c:pt idx="64">
                  <c:v>-6.681161838</c:v>
                </c:pt>
                <c:pt idx="65">
                  <c:v>-6.813807614</c:v>
                </c:pt>
                <c:pt idx="66">
                  <c:v>-6.944397773</c:v>
                </c:pt>
                <c:pt idx="67">
                  <c:v>-7.072987179</c:v>
                </c:pt>
                <c:pt idx="68">
                  <c:v>-7.199629945</c:v>
                </c:pt>
                <c:pt idx="69">
                  <c:v>-7.324379223</c:v>
                </c:pt>
                <c:pt idx="70">
                  <c:v>-7.447287046</c:v>
                </c:pt>
                <c:pt idx="71">
                  <c:v>-7.5684042</c:v>
                </c:pt>
                <c:pt idx="72">
                  <c:v>-7.687780141</c:v>
                </c:pt>
                <c:pt idx="73">
                  <c:v>-7.805462927</c:v>
                </c:pt>
                <c:pt idx="74">
                  <c:v>-7.921499188</c:v>
                </c:pt>
                <c:pt idx="75">
                  <c:v>-8.035934096</c:v>
                </c:pt>
                <c:pt idx="76">
                  <c:v>-8.148811371</c:v>
                </c:pt>
                <c:pt idx="77">
                  <c:v>-8.260173279</c:v>
                </c:pt>
                <c:pt idx="78">
                  <c:v>-8.370060654</c:v>
                </c:pt>
                <c:pt idx="79">
                  <c:v>-8.478512921</c:v>
                </c:pt>
                <c:pt idx="80">
                  <c:v>-8.585568124</c:v>
                </c:pt>
                <c:pt idx="81">
                  <c:v>-8.691262965</c:v>
                </c:pt>
                <c:pt idx="82">
                  <c:v>-8.795632838</c:v>
                </c:pt>
                <c:pt idx="83">
                  <c:v>-8.89871187</c:v>
                </c:pt>
                <c:pt idx="84">
                  <c:v>-9.000532964</c:v>
                </c:pt>
                <c:pt idx="85">
                  <c:v>-9.10112784</c:v>
                </c:pt>
                <c:pt idx="86">
                  <c:v>-9.200527079</c:v>
                </c:pt>
                <c:pt idx="87">
                  <c:v>-9.298760163</c:v>
                </c:pt>
                <c:pt idx="88">
                  <c:v>-9.39585552</c:v>
                </c:pt>
                <c:pt idx="89">
                  <c:v>-9.491840566</c:v>
                </c:pt>
                <c:pt idx="90">
                  <c:v>-9.586741741</c:v>
                </c:pt>
                <c:pt idx="91">
                  <c:v>-9.680584556</c:v>
                </c:pt>
                <c:pt idx="92">
                  <c:v>-9.773393623</c:v>
                </c:pt>
                <c:pt idx="93">
                  <c:v>-9.865192699</c:v>
                </c:pt>
                <c:pt idx="94">
                  <c:v>-9.956004717</c:v>
                </c:pt>
                <c:pt idx="95">
                  <c:v>-10.04585183</c:v>
                </c:pt>
                <c:pt idx="96">
                  <c:v>-10.13475542</c:v>
                </c:pt>
                <c:pt idx="97">
                  <c:v>-10.22273616</c:v>
                </c:pt>
                <c:pt idx="98">
                  <c:v>-10.30981404</c:v>
                </c:pt>
                <c:pt idx="99">
                  <c:v>-10.39600836</c:v>
                </c:pt>
                <c:pt idx="100">
                  <c:v>-10.48133781</c:v>
                </c:pt>
                <c:pt idx="101">
                  <c:v>-10.56582047</c:v>
                </c:pt>
                <c:pt idx="102">
                  <c:v>-10.64947381</c:v>
                </c:pt>
                <c:pt idx="103">
                  <c:v>-10.73231478</c:v>
                </c:pt>
                <c:pt idx="104">
                  <c:v>-10.81435978</c:v>
                </c:pt>
                <c:pt idx="105">
                  <c:v>-10.89562468</c:v>
                </c:pt>
                <c:pt idx="106">
                  <c:v>-10.97612488</c:v>
                </c:pt>
                <c:pt idx="107">
                  <c:v>-11.0558753</c:v>
                </c:pt>
                <c:pt idx="108">
                  <c:v>-11.13489041</c:v>
                </c:pt>
                <c:pt idx="109">
                  <c:v>-11.21318424</c:v>
                </c:pt>
                <c:pt idx="110">
                  <c:v>-11.29077042</c:v>
                </c:pt>
                <c:pt idx="111">
                  <c:v>-11.36766215</c:v>
                </c:pt>
                <c:pt idx="112">
                  <c:v>-11.44387227</c:v>
                </c:pt>
                <c:pt idx="113">
                  <c:v>-11.51941325</c:v>
                </c:pt>
                <c:pt idx="114">
                  <c:v>-11.59429718</c:v>
                </c:pt>
                <c:pt idx="115">
                  <c:v>-11.66853584</c:v>
                </c:pt>
                <c:pt idx="116">
                  <c:v>-11.74214067</c:v>
                </c:pt>
                <c:pt idx="117">
                  <c:v>-11.81512278</c:v>
                </c:pt>
                <c:pt idx="118">
                  <c:v>-11.88749299</c:v>
                </c:pt>
                <c:pt idx="119">
                  <c:v>-11.95926184</c:v>
                </c:pt>
                <c:pt idx="120">
                  <c:v>-12.03043956</c:v>
                </c:pt>
                <c:pt idx="121">
                  <c:v>-12.10103612</c:v>
                </c:pt>
                <c:pt idx="122">
                  <c:v>-12.17106123</c:v>
                </c:pt>
                <c:pt idx="123">
                  <c:v>-12.24052435</c:v>
                </c:pt>
                <c:pt idx="124">
                  <c:v>-12.3094347</c:v>
                </c:pt>
                <c:pt idx="125">
                  <c:v>-12.37780125</c:v>
                </c:pt>
                <c:pt idx="126">
                  <c:v>-12.44563276</c:v>
                </c:pt>
                <c:pt idx="127">
                  <c:v>-12.51293775</c:v>
                </c:pt>
                <c:pt idx="128">
                  <c:v>-12.57972456</c:v>
                </c:pt>
                <c:pt idx="129">
                  <c:v>-12.64600129</c:v>
                </c:pt>
                <c:pt idx="130">
                  <c:v>-12.71177587</c:v>
                </c:pt>
                <c:pt idx="131">
                  <c:v>-12.77705604</c:v>
                </c:pt>
                <c:pt idx="132">
                  <c:v>-12.84184933</c:v>
                </c:pt>
                <c:pt idx="133">
                  <c:v>-12.90616312</c:v>
                </c:pt>
                <c:pt idx="134">
                  <c:v>-12.97000459</c:v>
                </c:pt>
                <c:pt idx="135">
                  <c:v>-13.03338078</c:v>
                </c:pt>
                <c:pt idx="136">
                  <c:v>-13.09629856</c:v>
                </c:pt>
                <c:pt idx="137">
                  <c:v>-13.15876464</c:v>
                </c:pt>
                <c:pt idx="138">
                  <c:v>-13.22078556</c:v>
                </c:pt>
                <c:pt idx="139">
                  <c:v>-13.28236776</c:v>
                </c:pt>
                <c:pt idx="140">
                  <c:v>-13.34351749</c:v>
                </c:pt>
                <c:pt idx="141">
                  <c:v>-13.40424089</c:v>
                </c:pt>
                <c:pt idx="142">
                  <c:v>-13.46454395</c:v>
                </c:pt>
                <c:pt idx="143">
                  <c:v>-13.52443255</c:v>
                </c:pt>
                <c:pt idx="144">
                  <c:v>-13.58391243</c:v>
                </c:pt>
                <c:pt idx="145">
                  <c:v>-13.6429892</c:v>
                </c:pt>
                <c:pt idx="146">
                  <c:v>-13.70166837</c:v>
                </c:pt>
                <c:pt idx="147">
                  <c:v>-13.75995532</c:v>
                </c:pt>
                <c:pt idx="148">
                  <c:v>-13.81785533</c:v>
                </c:pt>
                <c:pt idx="149">
                  <c:v>-13.87537357</c:v>
                </c:pt>
                <c:pt idx="150">
                  <c:v>-13.93251509</c:v>
                </c:pt>
                <c:pt idx="151">
                  <c:v>-13.98928485</c:v>
                </c:pt>
                <c:pt idx="152">
                  <c:v>-14.04568772</c:v>
                </c:pt>
                <c:pt idx="153">
                  <c:v>-14.10172844</c:v>
                </c:pt>
                <c:pt idx="154">
                  <c:v>-14.15741169</c:v>
                </c:pt>
                <c:pt idx="155">
                  <c:v>-14.21274203</c:v>
                </c:pt>
                <c:pt idx="156">
                  <c:v>-14.26772397</c:v>
                </c:pt>
                <c:pt idx="157">
                  <c:v>-14.32236189</c:v>
                </c:pt>
                <c:pt idx="158">
                  <c:v>-14.3766601</c:v>
                </c:pt>
                <c:pt idx="159">
                  <c:v>-14.43062285</c:v>
                </c:pt>
                <c:pt idx="160">
                  <c:v>-14.48425427</c:v>
                </c:pt>
              </c:numCache>
            </c:numRef>
          </c:yVal>
        </c:ser>
        <c:ser>
          <c:idx val="1"/>
          <c:order val="1"/>
          <c:tx>
            <c:v>G₂₂, pitch</c:v>
          </c:tx>
          <c:spPr>
            <a:solidFill xmlns:a="http://schemas.openxmlformats.org/drawingml/2006/main">
              <a:srgbClr val="D66A2C"/>
            </a:solidFill>
            <a:ln xmlns:a="http://schemas.openxmlformats.org/drawingml/2006/main" w="28575">
              <a:solidFill>
                <a:srgbClr val="D66A2C"/>
              </a:solidFill>
              <a:prstDash val="solid"/>
            </a:ln>
          </c:spPr>
          <c:marker>
            <c:symbol val="none"/>
          </c:marker>
          <c:xVal>
            <c:numRef>
              <c:f>'Chart Data'!$C$2:$C$162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Data'!$D$2:$D$162</c:f>
              <c:numCache>
                <c:formatCode>0.0</c:formatCode>
                <c:ptCount val="161"/>
                <c:pt idx="0">
                  <c:v>0</c:v>
                </c:pt>
                <c:pt idx="1">
                  <c:v>0.006857051604</c:v>
                </c:pt>
                <c:pt idx="2">
                  <c:v>0.02729198596</c:v>
                </c:pt>
                <c:pt idx="3">
                  <c:v>0.06089941553</c:v>
                </c:pt>
                <c:pt idx="4">
                  <c:v>0.1070143526</c:v>
                </c:pt>
                <c:pt idx="5">
                  <c:v>0.1647273458</c:v>
                </c:pt>
                <c:pt idx="6">
                  <c:v>0.2329041078</c:v>
                </c:pt>
                <c:pt idx="7">
                  <c:v>0.3102083613</c:v>
                </c:pt>
                <c:pt idx="8">
                  <c:v>0.3951266266</c:v>
                </c:pt>
                <c:pt idx="9">
                  <c:v>0.4859938339</c:v>
                </c:pt>
                <c:pt idx="10">
                  <c:v>0.5810189471</c:v>
                </c:pt>
                <c:pt idx="11">
                  <c:v>0.6783101654</c:v>
                </c:pt>
                <c:pt idx="12">
                  <c:v>0.7758996699</c:v>
                </c:pt>
                <c:pt idx="13">
                  <c:v>0.8717682385</c:v>
                </c:pt>
                <c:pt idx="14">
                  <c:v>0.9638703187</c:v>
                </c:pt>
                <c:pt idx="15">
                  <c:v>1.050160271</c:v>
                </c:pt>
                <c:pt idx="16">
                  <c:v>1.128620463</c:v>
                </c:pt>
                <c:pt idx="17">
                  <c:v>1.197291671</c:v>
                </c:pt>
                <c:pt idx="18">
                  <c:v>1.254305882</c:v>
                </c:pt>
                <c:pt idx="19">
                  <c:v>1.297921058</c:v>
                </c:pt>
                <c:pt idx="20">
                  <c:v>1.326556855</c:v>
                </c:pt>
                <c:pt idx="21">
                  <c:v>1.33882971</c:v>
                </c:pt>
                <c:pt idx="22">
                  <c:v>1.333585255</c:v>
                </c:pt>
                <c:pt idx="23">
                  <c:v>1.309925747</c:v>
                </c:pt>
                <c:pt idx="24">
                  <c:v>1.267230292</c:v>
                </c:pt>
                <c:pt idx="25">
                  <c:v>1.205165944</c:v>
                </c:pt>
                <c:pt idx="26">
                  <c:v>1.123688469</c:v>
                </c:pt>
                <c:pt idx="27">
                  <c:v>1.023032397</c:v>
                </c:pt>
                <c:pt idx="28">
                  <c:v>0.9036909552</c:v>
                </c:pt>
                <c:pt idx="29">
                  <c:v>0.7663873292</c:v>
                </c:pt>
                <c:pt idx="30">
                  <c:v>0.6120393794</c:v>
                </c:pt>
                <c:pt idx="31">
                  <c:v>0.4417203233</c:v>
                </c:pt>
                <c:pt idx="32">
                  <c:v>0.2566179616</c:v>
                </c:pt>
                <c:pt idx="33">
                  <c:v>0.05799481751</c:v>
                </c:pt>
                <c:pt idx="34">
                  <c:v>-0.152848862</c:v>
                </c:pt>
                <c:pt idx="35">
                  <c:v>-0.374607831</c:v>
                </c:pt>
                <c:pt idx="36">
                  <c:v>-0.605999444</c:v>
                </c:pt>
                <c:pt idx="37">
                  <c:v>-0.8457857934</c:v>
                </c:pt>
                <c:pt idx="38">
                  <c:v>-1.092790475</c:v>
                </c:pt>
                <c:pt idx="39">
                  <c:v>-1.345910375</c:v>
                </c:pt>
                <c:pt idx="40">
                  <c:v>-1.604123084</c:v>
                </c:pt>
                <c:pt idx="41">
                  <c:v>-1.866490616</c:v>
                </c:pt>
                <c:pt idx="42">
                  <c:v>-2.13216016</c:v>
                </c:pt>
                <c:pt idx="43">
                  <c:v>-2.400362534</c:v>
                </c:pt>
                <c:pt idx="44">
                  <c:v>-2.670408956</c:v>
                </c:pt>
                <c:pt idx="45">
                  <c:v>-2.941686648</c:v>
                </c:pt>
                <c:pt idx="46">
                  <c:v>-3.213653708</c:v>
                </c:pt>
                <c:pt idx="47">
                  <c:v>-3.485833591</c:v>
                </c:pt>
                <c:pt idx="48">
                  <c:v>-3.757809452</c:v>
                </c:pt>
                <c:pt idx="49">
                  <c:v>-4.029218567</c:v>
                </c:pt>
                <c:pt idx="50">
                  <c:v>-4.299746938</c:v>
                </c:pt>
                <c:pt idx="51">
                  <c:v>-4.569124199</c:v>
                </c:pt>
                <c:pt idx="52">
                  <c:v>-4.837118861</c:v>
                </c:pt>
                <c:pt idx="53">
                  <c:v>-5.103533942</c:v>
                </c:pt>
                <c:pt idx="54">
                  <c:v>-5.368202965</c:v>
                </c:pt>
                <c:pt idx="55">
                  <c:v>-5.630986343</c:v>
                </c:pt>
                <c:pt idx="56">
                  <c:v>-5.891768129</c:v>
                </c:pt>
                <c:pt idx="57">
                  <c:v>-6.150453096</c:v>
                </c:pt>
                <c:pt idx="58">
                  <c:v>-6.406964146</c:v>
                </c:pt>
                <c:pt idx="59">
                  <c:v>-6.661240002</c:v>
                </c:pt>
                <c:pt idx="60">
                  <c:v>-6.913233167</c:v>
                </c:pt>
                <c:pt idx="61">
                  <c:v>-7.162908121</c:v>
                </c:pt>
                <c:pt idx="62">
                  <c:v>-7.410239734</c:v>
                </c:pt>
                <c:pt idx="63">
                  <c:v>-7.655211865</c:v>
                </c:pt>
                <c:pt idx="64">
                  <c:v>-7.89781614</c:v>
                </c:pt>
                <c:pt idx="65">
                  <c:v>-8.138050871</c:v>
                </c:pt>
                <c:pt idx="66">
                  <c:v>-8.37592011</c:v>
                </c:pt>
                <c:pt idx="67">
                  <c:v>-8.611432831</c:v>
                </c:pt>
                <c:pt idx="68">
                  <c:v>-8.8446022</c:v>
                </c:pt>
                <c:pt idx="69">
                  <c:v>-9.075444946</c:v>
                </c:pt>
                <c:pt idx="70">
                  <c:v>-9.303980811</c:v>
                </c:pt>
                <c:pt idx="71">
                  <c:v>-9.530232067</c:v>
                </c:pt>
                <c:pt idx="72">
                  <c:v>-9.754223096</c:v>
                </c:pt>
                <c:pt idx="73">
                  <c:v>-9.975980025</c:v>
                </c:pt>
                <c:pt idx="74">
                  <c:v>-10.19553041</c:v>
                </c:pt>
                <c:pt idx="75">
                  <c:v>-10.41290295</c:v>
                </c:pt>
                <c:pt idx="76">
                  <c:v>-10.62812725</c:v>
                </c:pt>
                <c:pt idx="77">
                  <c:v>-10.84123363</c:v>
                </c:pt>
                <c:pt idx="78">
                  <c:v>-11.05225291</c:v>
                </c:pt>
                <c:pt idx="79">
                  <c:v>-11.26121629</c:v>
                </c:pt>
                <c:pt idx="80">
                  <c:v>-11.46815516</c:v>
                </c:pt>
                <c:pt idx="81">
                  <c:v>-11.67310106</c:v>
                </c:pt>
                <c:pt idx="82">
                  <c:v>-11.87608551</c:v>
                </c:pt>
                <c:pt idx="83">
                  <c:v>-12.07713995</c:v>
                </c:pt>
                <c:pt idx="84">
                  <c:v>-12.27629569</c:v>
                </c:pt>
                <c:pt idx="85">
                  <c:v>-12.47358379</c:v>
                </c:pt>
                <c:pt idx="86">
                  <c:v>-12.66903507</c:v>
                </c:pt>
                <c:pt idx="87">
                  <c:v>-12.86268</c:v>
                </c:pt>
                <c:pt idx="88">
                  <c:v>-13.05454874</c:v>
                </c:pt>
                <c:pt idx="89">
                  <c:v>-13.24467102</c:v>
                </c:pt>
                <c:pt idx="90">
                  <c:v>-13.43307619</c:v>
                </c:pt>
                <c:pt idx="91">
                  <c:v>-13.61979315</c:v>
                </c:pt>
                <c:pt idx="92">
                  <c:v>-13.80485036</c:v>
                </c:pt>
                <c:pt idx="93">
                  <c:v>-13.98827582</c:v>
                </c:pt>
                <c:pt idx="94">
                  <c:v>-14.17009703</c:v>
                </c:pt>
                <c:pt idx="95">
                  <c:v>-14.35034105</c:v>
                </c:pt>
                <c:pt idx="96">
                  <c:v>-14.52903442</c:v>
                </c:pt>
                <c:pt idx="97">
                  <c:v>-14.70620322</c:v>
                </c:pt>
                <c:pt idx="98">
                  <c:v>-14.88187302</c:v>
                </c:pt>
                <c:pt idx="99">
                  <c:v>-15.05606892</c:v>
                </c:pt>
                <c:pt idx="100">
                  <c:v>-15.2288155</c:v>
                </c:pt>
                <c:pt idx="101">
                  <c:v>-15.40013691</c:v>
                </c:pt>
                <c:pt idx="102">
                  <c:v>-15.57005678</c:v>
                </c:pt>
                <c:pt idx="103">
                  <c:v>-15.73859827</c:v>
                </c:pt>
                <c:pt idx="104">
                  <c:v>-15.90578409</c:v>
                </c:pt>
                <c:pt idx="105">
                  <c:v>-16.07163647</c:v>
                </c:pt>
                <c:pt idx="106">
                  <c:v>-16.2361772</c:v>
                </c:pt>
                <c:pt idx="107">
                  <c:v>-16.39942762</c:v>
                </c:pt>
                <c:pt idx="108">
                  <c:v>-16.56140861</c:v>
                </c:pt>
                <c:pt idx="109">
                  <c:v>-16.72214063</c:v>
                </c:pt>
                <c:pt idx="110">
                  <c:v>-16.88164372</c:v>
                </c:pt>
                <c:pt idx="111">
                  <c:v>-17.0399375</c:v>
                </c:pt>
                <c:pt idx="112">
                  <c:v>-17.19704118</c:v>
                </c:pt>
                <c:pt idx="113">
                  <c:v>-17.35297356</c:v>
                </c:pt>
                <c:pt idx="114">
                  <c:v>-17.50775306</c:v>
                </c:pt>
                <c:pt idx="115">
                  <c:v>-17.66139771</c:v>
                </c:pt>
                <c:pt idx="116">
                  <c:v>-17.81392517</c:v>
                </c:pt>
                <c:pt idx="117">
                  <c:v>-17.96535272</c:v>
                </c:pt>
                <c:pt idx="118">
                  <c:v>-18.11569729</c:v>
                </c:pt>
                <c:pt idx="119">
                  <c:v>-18.26497545</c:v>
                </c:pt>
                <c:pt idx="120">
                  <c:v>-18.41320344</c:v>
                </c:pt>
                <c:pt idx="121">
                  <c:v>-18.56039714</c:v>
                </c:pt>
                <c:pt idx="122">
                  <c:v>-18.70657213</c:v>
                </c:pt>
                <c:pt idx="123">
                  <c:v>-18.85174364</c:v>
                </c:pt>
                <c:pt idx="124">
                  <c:v>-18.99592662</c:v>
                </c:pt>
                <c:pt idx="125">
                  <c:v>-19.13913568</c:v>
                </c:pt>
                <c:pt idx="126">
                  <c:v>-19.28138515</c:v>
                </c:pt>
                <c:pt idx="127">
                  <c:v>-19.42268905</c:v>
                </c:pt>
                <c:pt idx="128">
                  <c:v>-19.56306115</c:v>
                </c:pt>
                <c:pt idx="129">
                  <c:v>-19.70251491</c:v>
                </c:pt>
                <c:pt idx="130">
                  <c:v>-19.84106352</c:v>
                </c:pt>
                <c:pt idx="131">
                  <c:v>-19.97871992</c:v>
                </c:pt>
                <c:pt idx="132">
                  <c:v>-20.11549678</c:v>
                </c:pt>
                <c:pt idx="133">
                  <c:v>-20.25140651</c:v>
                </c:pt>
                <c:pt idx="134">
                  <c:v>-20.38646129</c:v>
                </c:pt>
                <c:pt idx="135">
                  <c:v>-20.52067305</c:v>
                </c:pt>
                <c:pt idx="136">
                  <c:v>-20.65405349</c:v>
                </c:pt>
                <c:pt idx="137">
                  <c:v>-20.78661406</c:v>
                </c:pt>
                <c:pt idx="138">
                  <c:v>-20.918366</c:v>
                </c:pt>
                <c:pt idx="139">
                  <c:v>-21.04932034</c:v>
                </c:pt>
                <c:pt idx="140">
                  <c:v>-21.17948788</c:v>
                </c:pt>
                <c:pt idx="141">
                  <c:v>-21.30887921</c:v>
                </c:pt>
                <c:pt idx="142">
                  <c:v>-21.43750474</c:v>
                </c:pt>
                <c:pt idx="143">
                  <c:v>-21.56537465</c:v>
                </c:pt>
                <c:pt idx="144">
                  <c:v>-21.69249893</c:v>
                </c:pt>
                <c:pt idx="145">
                  <c:v>-21.8188874</c:v>
                </c:pt>
                <c:pt idx="146">
                  <c:v>-21.94454968</c:v>
                </c:pt>
                <c:pt idx="147">
                  <c:v>-22.0694952</c:v>
                </c:pt>
                <c:pt idx="148">
                  <c:v>-22.19373323</c:v>
                </c:pt>
                <c:pt idx="149">
                  <c:v>-22.31727286</c:v>
                </c:pt>
                <c:pt idx="150">
                  <c:v>-22.440123</c:v>
                </c:pt>
                <c:pt idx="151">
                  <c:v>-22.56229242</c:v>
                </c:pt>
                <c:pt idx="152">
                  <c:v>-22.68378969</c:v>
                </c:pt>
                <c:pt idx="153">
                  <c:v>-22.80462326</c:v>
                </c:pt>
                <c:pt idx="154">
                  <c:v>-22.9248014</c:v>
                </c:pt>
                <c:pt idx="155">
                  <c:v>-23.04433225</c:v>
                </c:pt>
                <c:pt idx="156">
                  <c:v>-23.16322378</c:v>
                </c:pt>
                <c:pt idx="157">
                  <c:v>-23.28148384</c:v>
                </c:pt>
                <c:pt idx="158">
                  <c:v>-23.3991201</c:v>
                </c:pt>
                <c:pt idx="159">
                  <c:v>-23.51614015</c:v>
                </c:pt>
                <c:pt idx="160">
                  <c:v>-23.63255139</c:v>
                </c:pt>
              </c:numCache>
            </c:numRef>
          </c:yVal>
        </c:ser>
        <c:ser>
          <c:idx val="2"/>
          <c:order val="2"/>
          <c:tx>
            <c:v>−3 dB level</c:v>
          </c:tx>
          <c:spPr>
            <a:solidFill xmlns:a="http://schemas.openxmlformats.org/drawingml/2006/main">
              <a:srgbClr val="087E8B"/>
            </a:solidFill>
            <a:ln xmlns:a="http://schemas.openxmlformats.org/drawingml/2006/main" w="19050">
              <a:solidFill>
                <a:srgbClr val="B6C3CC"/>
              </a:solidFill>
              <a:prstDash val="dash"/>
            </a:ln>
          </c:spPr>
          <c:marker>
            <c:symbol val="none"/>
          </c:marker>
          <c:xVal>
            <c:numRef>
              <c:f>'Chart Data'!$E$2:$E$3</c:f>
              <c:numCache>
                <c:formatCode>General</c:formatCode>
                <c:ptCount val="2"/>
                <c:pt idx="0">
                  <c:v>0</c:v>
                </c:pt>
                <c:pt idx="1">
                  <c:v>8</c:v>
                </c:pt>
              </c:numCache>
            </c:numRef>
          </c:xVal>
          <c:yVal>
            <c:numRef>
              <c:f>'Chart Data'!$F$2:$F$3</c:f>
              <c:numCache>
                <c:formatCode>0.0</c:formatCode>
                <c:ptCount val="2"/>
                <c:pt idx="0">
                  <c:v>-3</c:v>
                </c:pt>
                <c:pt idx="1">
                  <c:v>-3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
          <c:min val="-25"/>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Relative magnitude (dB)</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majorUnit val="5"/>
      </c:valAx>
      <c:valAx>
        <c:axId val="48650112"/>
        <c:scaling>
          <c:orientation val="minMax"/>
          <c:max val="8"/>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Frequency ω (rad/s)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25"/>
        <c:majorUnit val="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3283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Gain pairs that meet the criteria</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marker"/>
        <c:varyColors val="0"/>
        <c:ser>
          <c:idx val="0"/>
          <c:order val="0"/>
          <c:tx>
            <c:v>Feasible</c:v>
          </c:tx>
          <c:spPr>
            <a:solidFill xmlns:a="http://schemas.openxmlformats.org/drawingml/2006/main">
              <a:srgbClr val="087E8B"/>
            </a:solidFill>
            <a:ln xmlns:a="http://schemas.openxmlformats.org/drawingml/2006/main" w="0">
              <a:noFill/>
            </a:ln>
          </c:spPr>
          <c:marker>
            <c:symbol val="circle"/>
            <c:size val="5"/>
            <c:spPr>
              <a:solidFill xmlns:a="http://schemas.openxmlformats.org/drawingml/2006/main">
                <a:srgbClr val="B6C3CC"/>
              </a:solidFill>
            </c:spPr>
          </c:marker>
          <c:xVal>
            <c:numRef>
              <c:f>'Chart Data'!$A$2:$A$187</c:f>
              <c:numCache>
                <c:formatCode>General</c:formatCode>
                <c:ptCount val="186"/>
                <c:pt idx="0">
                  <c:v>0.5</c:v>
                </c:pt>
                <c:pt idx="1">
                  <c:v>0.5</c:v>
                </c:pt>
                <c:pt idx="2">
                  <c:v>0.5</c:v>
                </c:pt>
                <c:pt idx="3">
                  <c:v>0.5</c:v>
                </c:pt>
                <c:pt idx="4">
                  <c:v>0.5</c:v>
                </c:pt>
                <c:pt idx="5">
                  <c:v>0.5</c:v>
                </c:pt>
                <c:pt idx="6">
                  <c:v>0.5</c:v>
                </c:pt>
                <c:pt idx="7">
                  <c:v>0.5</c:v>
                </c:pt>
                <c:pt idx="8">
                  <c:v>0.5</c:v>
                </c:pt>
                <c:pt idx="9">
                  <c:v>1</c:v>
                </c:pt>
                <c:pt idx="10">
                  <c:v>1</c:v>
                </c:pt>
                <c:pt idx="11">
                  <c:v>1</c:v>
                </c:pt>
                <c:pt idx="12">
                  <c:v>1</c:v>
                </c:pt>
                <c:pt idx="13">
                  <c:v>1</c:v>
                </c:pt>
                <c:pt idx="14">
                  <c:v>1</c:v>
                </c:pt>
                <c:pt idx="15">
                  <c:v>1</c:v>
                </c:pt>
                <c:pt idx="16">
                  <c:v>1</c:v>
                </c:pt>
                <c:pt idx="17">
                  <c:v>1</c:v>
                </c:pt>
                <c:pt idx="18">
                  <c:v>1</c:v>
                </c:pt>
                <c:pt idx="19">
                  <c:v>1.5</c:v>
                </c:pt>
                <c:pt idx="20">
                  <c:v>1.5</c:v>
                </c:pt>
                <c:pt idx="21">
                  <c:v>1.5</c:v>
                </c:pt>
                <c:pt idx="22">
                  <c:v>1.5</c:v>
                </c:pt>
                <c:pt idx="23">
                  <c:v>1.5</c:v>
                </c:pt>
                <c:pt idx="24">
                  <c:v>1.5</c:v>
                </c:pt>
                <c:pt idx="25">
                  <c:v>1.5</c:v>
                </c:pt>
                <c:pt idx="26">
                  <c:v>1.5</c:v>
                </c:pt>
                <c:pt idx="27">
                  <c:v>1.5</c:v>
                </c:pt>
                <c:pt idx="28">
                  <c:v>1.5</c:v>
                </c:pt>
                <c:pt idx="29">
                  <c:v>1.5</c:v>
                </c:pt>
                <c:pt idx="30">
                  <c:v>2</c:v>
                </c:pt>
                <c:pt idx="31">
                  <c:v>2</c:v>
                </c:pt>
                <c:pt idx="32">
                  <c:v>2</c:v>
                </c:pt>
                <c:pt idx="33">
                  <c:v>2</c:v>
                </c:pt>
                <c:pt idx="34">
                  <c:v>2</c:v>
                </c:pt>
                <c:pt idx="35">
                  <c:v>2</c:v>
                </c:pt>
                <c:pt idx="36">
                  <c:v>2</c:v>
                </c:pt>
                <c:pt idx="37">
                  <c:v>2</c:v>
                </c:pt>
                <c:pt idx="38">
                  <c:v>2</c:v>
                </c:pt>
                <c:pt idx="39">
                  <c:v>2</c:v>
                </c:pt>
                <c:pt idx="40">
                  <c:v>2</c:v>
                </c:pt>
                <c:pt idx="41">
                  <c:v>2.5</c:v>
                </c:pt>
                <c:pt idx="42">
                  <c:v>2.5</c:v>
                </c:pt>
                <c:pt idx="43">
                  <c:v>2.5</c:v>
                </c:pt>
                <c:pt idx="44">
                  <c:v>2.5</c:v>
                </c:pt>
                <c:pt idx="45">
                  <c:v>2.5</c:v>
                </c:pt>
                <c:pt idx="46">
                  <c:v>2.5</c:v>
                </c:pt>
                <c:pt idx="47">
                  <c:v>2.5</c:v>
                </c:pt>
                <c:pt idx="48">
                  <c:v>2.5</c:v>
                </c:pt>
                <c:pt idx="49">
                  <c:v>2.5</c:v>
                </c:pt>
                <c:pt idx="50">
                  <c:v>2.5</c:v>
                </c:pt>
                <c:pt idx="51">
                  <c:v>2.5</c:v>
                </c:pt>
                <c:pt idx="52">
                  <c:v>2.5</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3.5</c:v>
                </c:pt>
                <c:pt idx="67">
                  <c:v>3.5</c:v>
                </c:pt>
                <c:pt idx="68">
                  <c:v>3.5</c:v>
                </c:pt>
                <c:pt idx="69">
                  <c:v>3.5</c:v>
                </c:pt>
                <c:pt idx="70">
                  <c:v>3.5</c:v>
                </c:pt>
                <c:pt idx="71">
                  <c:v>3.5</c:v>
                </c:pt>
                <c:pt idx="72">
                  <c:v>3.5</c:v>
                </c:pt>
                <c:pt idx="73">
                  <c:v>3.5</c:v>
                </c:pt>
                <c:pt idx="74">
                  <c:v>3.5</c:v>
                </c:pt>
                <c:pt idx="75">
                  <c:v>3.5</c:v>
                </c:pt>
                <c:pt idx="76">
                  <c:v>3.5</c:v>
                </c:pt>
                <c:pt idx="77">
                  <c:v>3.5</c:v>
                </c:pt>
                <c:pt idx="78">
                  <c:v>3.5</c:v>
                </c:pt>
                <c:pt idx="79">
                  <c:v>4</c:v>
                </c:pt>
                <c:pt idx="80">
                  <c:v>4</c:v>
                </c:pt>
                <c:pt idx="81">
                  <c:v>4</c:v>
                </c:pt>
                <c:pt idx="82">
                  <c:v>4</c:v>
                </c:pt>
                <c:pt idx="83">
                  <c:v>4</c:v>
                </c:pt>
                <c:pt idx="84">
                  <c:v>4</c:v>
                </c:pt>
                <c:pt idx="85">
                  <c:v>4</c:v>
                </c:pt>
                <c:pt idx="86">
                  <c:v>4</c:v>
                </c:pt>
                <c:pt idx="87">
                  <c:v>4</c:v>
                </c:pt>
                <c:pt idx="88">
                  <c:v>4</c:v>
                </c:pt>
                <c:pt idx="89">
                  <c:v>4</c:v>
                </c:pt>
                <c:pt idx="90">
                  <c:v>4</c:v>
                </c:pt>
                <c:pt idx="91">
                  <c:v>4</c:v>
                </c:pt>
                <c:pt idx="92">
                  <c:v>4.5</c:v>
                </c:pt>
                <c:pt idx="93">
                  <c:v>4.5</c:v>
                </c:pt>
                <c:pt idx="94">
                  <c:v>4.5</c:v>
                </c:pt>
                <c:pt idx="95">
                  <c:v>4.5</c:v>
                </c:pt>
                <c:pt idx="96">
                  <c:v>4.5</c:v>
                </c:pt>
                <c:pt idx="97">
                  <c:v>4.5</c:v>
                </c:pt>
                <c:pt idx="98">
                  <c:v>4.5</c:v>
                </c:pt>
                <c:pt idx="99">
                  <c:v>4.5</c:v>
                </c:pt>
                <c:pt idx="100">
                  <c:v>4.5</c:v>
                </c:pt>
                <c:pt idx="101">
                  <c:v>4.5</c:v>
                </c:pt>
                <c:pt idx="102">
                  <c:v>4.5</c:v>
                </c:pt>
                <c:pt idx="103">
                  <c:v>4.5</c:v>
                </c:pt>
                <c:pt idx="104">
                  <c:v>5</c:v>
                </c:pt>
                <c:pt idx="105">
                  <c:v>5</c:v>
                </c:pt>
                <c:pt idx="106">
                  <c:v>5</c:v>
                </c:pt>
                <c:pt idx="107">
                  <c:v>5</c:v>
                </c:pt>
                <c:pt idx="108">
                  <c:v>5</c:v>
                </c:pt>
                <c:pt idx="109">
                  <c:v>5</c:v>
                </c:pt>
                <c:pt idx="110">
                  <c:v>5</c:v>
                </c:pt>
                <c:pt idx="111">
                  <c:v>5</c:v>
                </c:pt>
                <c:pt idx="112">
                  <c:v>5</c:v>
                </c:pt>
                <c:pt idx="113">
                  <c:v>5</c:v>
                </c:pt>
                <c:pt idx="114">
                  <c:v>5</c:v>
                </c:pt>
                <c:pt idx="115">
                  <c:v>5.5</c:v>
                </c:pt>
                <c:pt idx="116">
                  <c:v>5.5</c:v>
                </c:pt>
                <c:pt idx="117">
                  <c:v>5.5</c:v>
                </c:pt>
                <c:pt idx="118">
                  <c:v>5.5</c:v>
                </c:pt>
                <c:pt idx="119">
                  <c:v>5.5</c:v>
                </c:pt>
                <c:pt idx="120">
                  <c:v>5.5</c:v>
                </c:pt>
                <c:pt idx="121">
                  <c:v>5.5</c:v>
                </c:pt>
                <c:pt idx="122">
                  <c:v>5.5</c:v>
                </c:pt>
                <c:pt idx="123">
                  <c:v>5.5</c:v>
                </c:pt>
                <c:pt idx="124">
                  <c:v>5.5</c:v>
                </c:pt>
                <c:pt idx="125">
                  <c:v>6</c:v>
                </c:pt>
                <c:pt idx="126">
                  <c:v>6</c:v>
                </c:pt>
                <c:pt idx="127">
                  <c:v>6</c:v>
                </c:pt>
                <c:pt idx="128">
                  <c:v>6</c:v>
                </c:pt>
                <c:pt idx="129">
                  <c:v>6</c:v>
                </c:pt>
                <c:pt idx="130">
                  <c:v>6</c:v>
                </c:pt>
                <c:pt idx="131">
                  <c:v>6</c:v>
                </c:pt>
                <c:pt idx="132">
                  <c:v>6</c:v>
                </c:pt>
                <c:pt idx="133">
                  <c:v>6</c:v>
                </c:pt>
                <c:pt idx="134">
                  <c:v>6.5</c:v>
                </c:pt>
                <c:pt idx="135">
                  <c:v>6.5</c:v>
                </c:pt>
                <c:pt idx="136">
                  <c:v>6.5</c:v>
                </c:pt>
                <c:pt idx="137">
                  <c:v>6.5</c:v>
                </c:pt>
                <c:pt idx="138">
                  <c:v>6.5</c:v>
                </c:pt>
                <c:pt idx="139">
                  <c:v>6.5</c:v>
                </c:pt>
                <c:pt idx="140">
                  <c:v>6.5</c:v>
                </c:pt>
                <c:pt idx="141">
                  <c:v>6.5</c:v>
                </c:pt>
                <c:pt idx="142">
                  <c:v>7</c:v>
                </c:pt>
                <c:pt idx="143">
                  <c:v>7</c:v>
                </c:pt>
                <c:pt idx="144">
                  <c:v>7</c:v>
                </c:pt>
                <c:pt idx="145">
                  <c:v>7</c:v>
                </c:pt>
                <c:pt idx="146">
                  <c:v>7</c:v>
                </c:pt>
                <c:pt idx="147">
                  <c:v>7</c:v>
                </c:pt>
                <c:pt idx="148">
                  <c:v>7</c:v>
                </c:pt>
                <c:pt idx="149">
                  <c:v>7</c:v>
                </c:pt>
                <c:pt idx="150">
                  <c:v>7.5</c:v>
                </c:pt>
                <c:pt idx="151">
                  <c:v>7.5</c:v>
                </c:pt>
                <c:pt idx="152">
                  <c:v>7.5</c:v>
                </c:pt>
                <c:pt idx="153">
                  <c:v>7.5</c:v>
                </c:pt>
                <c:pt idx="154">
                  <c:v>7.5</c:v>
                </c:pt>
                <c:pt idx="155">
                  <c:v>7.5</c:v>
                </c:pt>
                <c:pt idx="156">
                  <c:v>7.5</c:v>
                </c:pt>
                <c:pt idx="157">
                  <c:v>8</c:v>
                </c:pt>
                <c:pt idx="158">
                  <c:v>8</c:v>
                </c:pt>
                <c:pt idx="159">
                  <c:v>8</c:v>
                </c:pt>
                <c:pt idx="160">
                  <c:v>8</c:v>
                </c:pt>
                <c:pt idx="161">
                  <c:v>8</c:v>
                </c:pt>
                <c:pt idx="162">
                  <c:v>8</c:v>
                </c:pt>
                <c:pt idx="163">
                  <c:v>8.5</c:v>
                </c:pt>
                <c:pt idx="164">
                  <c:v>8.5</c:v>
                </c:pt>
                <c:pt idx="165">
                  <c:v>8.5</c:v>
                </c:pt>
                <c:pt idx="166">
                  <c:v>8.5</c:v>
                </c:pt>
                <c:pt idx="167">
                  <c:v>8.5</c:v>
                </c:pt>
                <c:pt idx="168">
                  <c:v>9</c:v>
                </c:pt>
                <c:pt idx="169">
                  <c:v>9</c:v>
                </c:pt>
                <c:pt idx="170">
                  <c:v>9</c:v>
                </c:pt>
                <c:pt idx="171">
                  <c:v>9</c:v>
                </c:pt>
                <c:pt idx="172">
                  <c:v>9.5</c:v>
                </c:pt>
                <c:pt idx="173">
                  <c:v>9.5</c:v>
                </c:pt>
                <c:pt idx="174">
                  <c:v>9.5</c:v>
                </c:pt>
                <c:pt idx="175">
                  <c:v>9.5</c:v>
                </c:pt>
                <c:pt idx="176">
                  <c:v>10</c:v>
                </c:pt>
                <c:pt idx="177">
                  <c:v>10</c:v>
                </c:pt>
                <c:pt idx="178">
                  <c:v>10</c:v>
                </c:pt>
                <c:pt idx="179">
                  <c:v>10.5</c:v>
                </c:pt>
                <c:pt idx="180">
                  <c:v>10.5</c:v>
                </c:pt>
                <c:pt idx="181">
                  <c:v>10.5</c:v>
                </c:pt>
                <c:pt idx="182">
                  <c:v>11</c:v>
                </c:pt>
                <c:pt idx="183">
                  <c:v>11</c:v>
                </c:pt>
                <c:pt idx="184">
                  <c:v>11.5</c:v>
                </c:pt>
                <c:pt idx="185">
                  <c:v>12</c:v>
                </c:pt>
              </c:numCache>
            </c:numRef>
          </c:xVal>
          <c:yVal>
            <c:numRef>
              <c:f>'Chart Data'!$B$2:$B$187</c:f>
              <c:numCache>
                <c:formatCode>0.0</c:formatCode>
                <c:ptCount val="186"/>
                <c:pt idx="0">
                  <c:v>1.05</c:v>
                </c:pt>
                <c:pt idx="1">
                  <c:v>1.1</c:v>
                </c:pt>
                <c:pt idx="2">
                  <c:v>1.15</c:v>
                </c:pt>
                <c:pt idx="3">
                  <c:v>1.2</c:v>
                </c:pt>
                <c:pt idx="4">
                  <c:v>1.25</c:v>
                </c:pt>
                <c:pt idx="5">
                  <c:v>1.3</c:v>
                </c:pt>
                <c:pt idx="6">
                  <c:v>1.35</c:v>
                </c:pt>
                <c:pt idx="7">
                  <c:v>1.4</c:v>
                </c:pt>
                <c:pt idx="8">
                  <c:v>1.45</c:v>
                </c:pt>
                <c:pt idx="9">
                  <c:v>1</c:v>
                </c:pt>
                <c:pt idx="10">
                  <c:v>1.05</c:v>
                </c:pt>
                <c:pt idx="11">
                  <c:v>1.1</c:v>
                </c:pt>
                <c:pt idx="12">
                  <c:v>1.15</c:v>
                </c:pt>
                <c:pt idx="13">
                  <c:v>1.2</c:v>
                </c:pt>
                <c:pt idx="14">
                  <c:v>1.25</c:v>
                </c:pt>
                <c:pt idx="15">
                  <c:v>1.3</c:v>
                </c:pt>
                <c:pt idx="16">
                  <c:v>1.35</c:v>
                </c:pt>
                <c:pt idx="17">
                  <c:v>1.4</c:v>
                </c:pt>
                <c:pt idx="18">
                  <c:v>1.45</c:v>
                </c:pt>
                <c:pt idx="19">
                  <c:v>0.95</c:v>
                </c:pt>
                <c:pt idx="20">
                  <c:v>1</c:v>
                </c:pt>
                <c:pt idx="21">
                  <c:v>1.05</c:v>
                </c:pt>
                <c:pt idx="22">
                  <c:v>1.1</c:v>
                </c:pt>
                <c:pt idx="23">
                  <c:v>1.15</c:v>
                </c:pt>
                <c:pt idx="24">
                  <c:v>1.2</c:v>
                </c:pt>
                <c:pt idx="25">
                  <c:v>1.25</c:v>
                </c:pt>
                <c:pt idx="26">
                  <c:v>1.3</c:v>
                </c:pt>
                <c:pt idx="27">
                  <c:v>1.35</c:v>
                </c:pt>
                <c:pt idx="28">
                  <c:v>1.4</c:v>
                </c:pt>
                <c:pt idx="29">
                  <c:v>1.45</c:v>
                </c:pt>
                <c:pt idx="30">
                  <c:v>0.95</c:v>
                </c:pt>
                <c:pt idx="31">
                  <c:v>1</c:v>
                </c:pt>
                <c:pt idx="32">
                  <c:v>1.05</c:v>
                </c:pt>
                <c:pt idx="33">
                  <c:v>1.1</c:v>
                </c:pt>
                <c:pt idx="34">
                  <c:v>1.15</c:v>
                </c:pt>
                <c:pt idx="35">
                  <c:v>1.2</c:v>
                </c:pt>
                <c:pt idx="36">
                  <c:v>1.25</c:v>
                </c:pt>
                <c:pt idx="37">
                  <c:v>1.3</c:v>
                </c:pt>
                <c:pt idx="38">
                  <c:v>1.35</c:v>
                </c:pt>
                <c:pt idx="39">
                  <c:v>1.4</c:v>
                </c:pt>
                <c:pt idx="40">
                  <c:v>1.45</c:v>
                </c:pt>
                <c:pt idx="41">
                  <c:v>0.9</c:v>
                </c:pt>
                <c:pt idx="42">
                  <c:v>0.95</c:v>
                </c:pt>
                <c:pt idx="43">
                  <c:v>1</c:v>
                </c:pt>
                <c:pt idx="44">
                  <c:v>1.05</c:v>
                </c:pt>
                <c:pt idx="45">
                  <c:v>1.1</c:v>
                </c:pt>
                <c:pt idx="46">
                  <c:v>1.15</c:v>
                </c:pt>
                <c:pt idx="47">
                  <c:v>1.2</c:v>
                </c:pt>
                <c:pt idx="48">
                  <c:v>1.25</c:v>
                </c:pt>
                <c:pt idx="49">
                  <c:v>1.3</c:v>
                </c:pt>
                <c:pt idx="50">
                  <c:v>1.35</c:v>
                </c:pt>
                <c:pt idx="51">
                  <c:v>1.4</c:v>
                </c:pt>
                <c:pt idx="52">
                  <c:v>1.45</c:v>
                </c:pt>
                <c:pt idx="53">
                  <c:v>0.85</c:v>
                </c:pt>
                <c:pt idx="54">
                  <c:v>0.9</c:v>
                </c:pt>
                <c:pt idx="55">
                  <c:v>0.95</c:v>
                </c:pt>
                <c:pt idx="56">
                  <c:v>1</c:v>
                </c:pt>
                <c:pt idx="57">
                  <c:v>1.05</c:v>
                </c:pt>
                <c:pt idx="58">
                  <c:v>1.1</c:v>
                </c:pt>
                <c:pt idx="59">
                  <c:v>1.15</c:v>
                </c:pt>
                <c:pt idx="60">
                  <c:v>1.2</c:v>
                </c:pt>
                <c:pt idx="61">
                  <c:v>1.25</c:v>
                </c:pt>
                <c:pt idx="62">
                  <c:v>1.3</c:v>
                </c:pt>
                <c:pt idx="63">
                  <c:v>1.35</c:v>
                </c:pt>
                <c:pt idx="64">
                  <c:v>1.4</c:v>
                </c:pt>
                <c:pt idx="65">
                  <c:v>1.45</c:v>
                </c:pt>
                <c:pt idx="66">
                  <c:v>0.85</c:v>
                </c:pt>
                <c:pt idx="67">
                  <c:v>0.9</c:v>
                </c:pt>
                <c:pt idx="68">
                  <c:v>0.95</c:v>
                </c:pt>
                <c:pt idx="69">
                  <c:v>1</c:v>
                </c:pt>
                <c:pt idx="70">
                  <c:v>1.05</c:v>
                </c:pt>
                <c:pt idx="71">
                  <c:v>1.1</c:v>
                </c:pt>
                <c:pt idx="72">
                  <c:v>1.15</c:v>
                </c:pt>
                <c:pt idx="73">
                  <c:v>1.2</c:v>
                </c:pt>
                <c:pt idx="74">
                  <c:v>1.25</c:v>
                </c:pt>
                <c:pt idx="75">
                  <c:v>1.3</c:v>
                </c:pt>
                <c:pt idx="76">
                  <c:v>1.35</c:v>
                </c:pt>
                <c:pt idx="77">
                  <c:v>1.4</c:v>
                </c:pt>
                <c:pt idx="78">
                  <c:v>1.45</c:v>
                </c:pt>
                <c:pt idx="79">
                  <c:v>0.85</c:v>
                </c:pt>
                <c:pt idx="80">
                  <c:v>0.9</c:v>
                </c:pt>
                <c:pt idx="81">
                  <c:v>0.95</c:v>
                </c:pt>
                <c:pt idx="82">
                  <c:v>1</c:v>
                </c:pt>
                <c:pt idx="83">
                  <c:v>1.05</c:v>
                </c:pt>
                <c:pt idx="84">
                  <c:v>1.1</c:v>
                </c:pt>
                <c:pt idx="85">
                  <c:v>1.15</c:v>
                </c:pt>
                <c:pt idx="86">
                  <c:v>1.2</c:v>
                </c:pt>
                <c:pt idx="87">
                  <c:v>1.25</c:v>
                </c:pt>
                <c:pt idx="88">
                  <c:v>1.3</c:v>
                </c:pt>
                <c:pt idx="89">
                  <c:v>1.35</c:v>
                </c:pt>
                <c:pt idx="90">
                  <c:v>1.4</c:v>
                </c:pt>
                <c:pt idx="91">
                  <c:v>1.45</c:v>
                </c:pt>
                <c:pt idx="92">
                  <c:v>0.9</c:v>
                </c:pt>
                <c:pt idx="93">
                  <c:v>0.95</c:v>
                </c:pt>
                <c:pt idx="94">
                  <c:v>1</c:v>
                </c:pt>
                <c:pt idx="95">
                  <c:v>1.05</c:v>
                </c:pt>
                <c:pt idx="96">
                  <c:v>1.1</c:v>
                </c:pt>
                <c:pt idx="97">
                  <c:v>1.15</c:v>
                </c:pt>
                <c:pt idx="98">
                  <c:v>1.2</c:v>
                </c:pt>
                <c:pt idx="99">
                  <c:v>1.25</c:v>
                </c:pt>
                <c:pt idx="100">
                  <c:v>1.3</c:v>
                </c:pt>
                <c:pt idx="101">
                  <c:v>1.35</c:v>
                </c:pt>
                <c:pt idx="102">
                  <c:v>1.4</c:v>
                </c:pt>
                <c:pt idx="103">
                  <c:v>1.45</c:v>
                </c:pt>
                <c:pt idx="104">
                  <c:v>0.95</c:v>
                </c:pt>
                <c:pt idx="105">
                  <c:v>1</c:v>
                </c:pt>
                <c:pt idx="106">
                  <c:v>1.05</c:v>
                </c:pt>
                <c:pt idx="107">
                  <c:v>1.1</c:v>
                </c:pt>
                <c:pt idx="108">
                  <c:v>1.15</c:v>
                </c:pt>
                <c:pt idx="109">
                  <c:v>1.2</c:v>
                </c:pt>
                <c:pt idx="110">
                  <c:v>1.25</c:v>
                </c:pt>
                <c:pt idx="111">
                  <c:v>1.3</c:v>
                </c:pt>
                <c:pt idx="112">
                  <c:v>1.35</c:v>
                </c:pt>
                <c:pt idx="113">
                  <c:v>1.4</c:v>
                </c:pt>
                <c:pt idx="114">
                  <c:v>1.45</c:v>
                </c:pt>
                <c:pt idx="115">
                  <c:v>1</c:v>
                </c:pt>
                <c:pt idx="116">
                  <c:v>1.05</c:v>
                </c:pt>
                <c:pt idx="117">
                  <c:v>1.1</c:v>
                </c:pt>
                <c:pt idx="118">
                  <c:v>1.15</c:v>
                </c:pt>
                <c:pt idx="119">
                  <c:v>1.2</c:v>
                </c:pt>
                <c:pt idx="120">
                  <c:v>1.25</c:v>
                </c:pt>
                <c:pt idx="121">
                  <c:v>1.3</c:v>
                </c:pt>
                <c:pt idx="122">
                  <c:v>1.35</c:v>
                </c:pt>
                <c:pt idx="123">
                  <c:v>1.4</c:v>
                </c:pt>
                <c:pt idx="124">
                  <c:v>1.45</c:v>
                </c:pt>
                <c:pt idx="125">
                  <c:v>1.05</c:v>
                </c:pt>
                <c:pt idx="126">
                  <c:v>1.1</c:v>
                </c:pt>
                <c:pt idx="127">
                  <c:v>1.15</c:v>
                </c:pt>
                <c:pt idx="128">
                  <c:v>1.2</c:v>
                </c:pt>
                <c:pt idx="129">
                  <c:v>1.25</c:v>
                </c:pt>
                <c:pt idx="130">
                  <c:v>1.3</c:v>
                </c:pt>
                <c:pt idx="131">
                  <c:v>1.35</c:v>
                </c:pt>
                <c:pt idx="132">
                  <c:v>1.4</c:v>
                </c:pt>
                <c:pt idx="133">
                  <c:v>1.45</c:v>
                </c:pt>
                <c:pt idx="134">
                  <c:v>1.1</c:v>
                </c:pt>
                <c:pt idx="135">
                  <c:v>1.15</c:v>
                </c:pt>
                <c:pt idx="136">
                  <c:v>1.2</c:v>
                </c:pt>
                <c:pt idx="137">
                  <c:v>1.25</c:v>
                </c:pt>
                <c:pt idx="138">
                  <c:v>1.3</c:v>
                </c:pt>
                <c:pt idx="139">
                  <c:v>1.35</c:v>
                </c:pt>
                <c:pt idx="140">
                  <c:v>1.4</c:v>
                </c:pt>
                <c:pt idx="141">
                  <c:v>1.45</c:v>
                </c:pt>
                <c:pt idx="142">
                  <c:v>1.1</c:v>
                </c:pt>
                <c:pt idx="143">
                  <c:v>1.15</c:v>
                </c:pt>
                <c:pt idx="144">
                  <c:v>1.2</c:v>
                </c:pt>
                <c:pt idx="145">
                  <c:v>1.25</c:v>
                </c:pt>
                <c:pt idx="146">
                  <c:v>1.3</c:v>
                </c:pt>
                <c:pt idx="147">
                  <c:v>1.35</c:v>
                </c:pt>
                <c:pt idx="148">
                  <c:v>1.4</c:v>
                </c:pt>
                <c:pt idx="149">
                  <c:v>1.45</c:v>
                </c:pt>
                <c:pt idx="150">
                  <c:v>1.15</c:v>
                </c:pt>
                <c:pt idx="151">
                  <c:v>1.2</c:v>
                </c:pt>
                <c:pt idx="152">
                  <c:v>1.25</c:v>
                </c:pt>
                <c:pt idx="153">
                  <c:v>1.3</c:v>
                </c:pt>
                <c:pt idx="154">
                  <c:v>1.35</c:v>
                </c:pt>
                <c:pt idx="155">
                  <c:v>1.4</c:v>
                </c:pt>
                <c:pt idx="156">
                  <c:v>1.45</c:v>
                </c:pt>
                <c:pt idx="157">
                  <c:v>1.2</c:v>
                </c:pt>
                <c:pt idx="158">
                  <c:v>1.25</c:v>
                </c:pt>
                <c:pt idx="159">
                  <c:v>1.3</c:v>
                </c:pt>
                <c:pt idx="160">
                  <c:v>1.35</c:v>
                </c:pt>
                <c:pt idx="161">
                  <c:v>1.4</c:v>
                </c:pt>
                <c:pt idx="162">
                  <c:v>1.45</c:v>
                </c:pt>
                <c:pt idx="163">
                  <c:v>1.25</c:v>
                </c:pt>
                <c:pt idx="164">
                  <c:v>1.3</c:v>
                </c:pt>
                <c:pt idx="165">
                  <c:v>1.35</c:v>
                </c:pt>
                <c:pt idx="166">
                  <c:v>1.4</c:v>
                </c:pt>
                <c:pt idx="167">
                  <c:v>1.45</c:v>
                </c:pt>
                <c:pt idx="168">
                  <c:v>1.3</c:v>
                </c:pt>
                <c:pt idx="169">
                  <c:v>1.35</c:v>
                </c:pt>
                <c:pt idx="170">
                  <c:v>1.4</c:v>
                </c:pt>
                <c:pt idx="171">
                  <c:v>1.45</c:v>
                </c:pt>
                <c:pt idx="172">
                  <c:v>1.3</c:v>
                </c:pt>
                <c:pt idx="173">
                  <c:v>1.35</c:v>
                </c:pt>
                <c:pt idx="174">
                  <c:v>1.4</c:v>
                </c:pt>
                <c:pt idx="175">
                  <c:v>1.45</c:v>
                </c:pt>
                <c:pt idx="176">
                  <c:v>1.35</c:v>
                </c:pt>
                <c:pt idx="177">
                  <c:v>1.4</c:v>
                </c:pt>
                <c:pt idx="178">
                  <c:v>1.45</c:v>
                </c:pt>
                <c:pt idx="179">
                  <c:v>1.35</c:v>
                </c:pt>
                <c:pt idx="180">
                  <c:v>1.4</c:v>
                </c:pt>
                <c:pt idx="181">
                  <c:v>1.45</c:v>
                </c:pt>
                <c:pt idx="182">
                  <c:v>1.4</c:v>
                </c:pt>
                <c:pt idx="183">
                  <c:v>1.45</c:v>
                </c:pt>
                <c:pt idx="184">
                  <c:v>1.45</c:v>
                </c:pt>
                <c:pt idx="185">
                  <c:v>1.45</c:v>
                </c:pt>
              </c:numCache>
            </c:numRef>
          </c:yVal>
        </c:ser>
        <c:ser>
          <c:idx val="1"/>
          <c:order val="1"/>
          <c:tx>
            <c:v>Lower coupling</c:v>
          </c:tx>
          <c:spPr>
            <a:solidFill xmlns:a="http://schemas.openxmlformats.org/drawingml/2006/main">
              <a:srgbClr val="087E8B"/>
            </a:solidFill>
            <a:ln xmlns:a="http://schemas.openxmlformats.org/drawingml/2006/main" w="0">
              <a:noFill/>
            </a:ln>
          </c:spPr>
          <c:marker>
            <c:symbol val="circle"/>
            <c:size val="7"/>
            <c:spPr>
              <a:solidFill xmlns:a="http://schemas.openxmlformats.org/drawingml/2006/main">
                <a:srgbClr val="087E8B"/>
              </a:solidFill>
            </c:spPr>
          </c:marker>
          <c:xVal>
            <c:numRef>
              <c:f>'Chart Data'!$C$2:$C$28</c:f>
              <c:numCache>
                <c:formatCode>General</c:formatCode>
                <c:ptCount val="27"/>
                <c:pt idx="0">
                  <c:v>4</c:v>
                </c:pt>
                <c:pt idx="1">
                  <c:v>4</c:v>
                </c:pt>
                <c:pt idx="2">
                  <c:v>4</c:v>
                </c:pt>
                <c:pt idx="3">
                  <c:v>4</c:v>
                </c:pt>
                <c:pt idx="4">
                  <c:v>4.5</c:v>
                </c:pt>
                <c:pt idx="5">
                  <c:v>4.5</c:v>
                </c:pt>
                <c:pt idx="6">
                  <c:v>4.5</c:v>
                </c:pt>
                <c:pt idx="7">
                  <c:v>4.5</c:v>
                </c:pt>
                <c:pt idx="8">
                  <c:v>4.5</c:v>
                </c:pt>
                <c:pt idx="9">
                  <c:v>4.5</c:v>
                </c:pt>
                <c:pt idx="10">
                  <c:v>4.5</c:v>
                </c:pt>
                <c:pt idx="11">
                  <c:v>4.5</c:v>
                </c:pt>
                <c:pt idx="12">
                  <c:v>5</c:v>
                </c:pt>
                <c:pt idx="13">
                  <c:v>5</c:v>
                </c:pt>
                <c:pt idx="14">
                  <c:v>5</c:v>
                </c:pt>
                <c:pt idx="15">
                  <c:v>5</c:v>
                </c:pt>
                <c:pt idx="16">
                  <c:v>5</c:v>
                </c:pt>
                <c:pt idx="17">
                  <c:v>5</c:v>
                </c:pt>
                <c:pt idx="18">
                  <c:v>5.5</c:v>
                </c:pt>
                <c:pt idx="19">
                  <c:v>5.5</c:v>
                </c:pt>
                <c:pt idx="20">
                  <c:v>5.5</c:v>
                </c:pt>
                <c:pt idx="21">
                  <c:v>5.5</c:v>
                </c:pt>
                <c:pt idx="22">
                  <c:v>5.5</c:v>
                </c:pt>
                <c:pt idx="23">
                  <c:v>6</c:v>
                </c:pt>
                <c:pt idx="24">
                  <c:v>6</c:v>
                </c:pt>
                <c:pt idx="25">
                  <c:v>6</c:v>
                </c:pt>
                <c:pt idx="26">
                  <c:v>6.5</c:v>
                </c:pt>
              </c:numCache>
            </c:numRef>
          </c:xVal>
          <c:yVal>
            <c:numRef>
              <c:f>'Chart Data'!$D$2:$D$28</c:f>
              <c:numCache>
                <c:formatCode>0.0</c:formatCode>
                <c:ptCount val="27"/>
                <c:pt idx="0">
                  <c:v>1.3</c:v>
                </c:pt>
                <c:pt idx="1">
                  <c:v>1.35</c:v>
                </c:pt>
                <c:pt idx="2">
                  <c:v>1.4</c:v>
                </c:pt>
                <c:pt idx="3">
                  <c:v>1.45</c:v>
                </c:pt>
                <c:pt idx="4">
                  <c:v>1.1</c:v>
                </c:pt>
                <c:pt idx="5">
                  <c:v>1.15</c:v>
                </c:pt>
                <c:pt idx="6">
                  <c:v>1.2</c:v>
                </c:pt>
                <c:pt idx="7">
                  <c:v>1.25</c:v>
                </c:pt>
                <c:pt idx="8">
                  <c:v>1.3</c:v>
                </c:pt>
                <c:pt idx="9">
                  <c:v>1.35</c:v>
                </c:pt>
                <c:pt idx="10">
                  <c:v>1.4</c:v>
                </c:pt>
                <c:pt idx="11">
                  <c:v>1.45</c:v>
                </c:pt>
                <c:pt idx="12">
                  <c:v>1.2</c:v>
                </c:pt>
                <c:pt idx="13">
                  <c:v>1.25</c:v>
                </c:pt>
                <c:pt idx="14">
                  <c:v>1.3</c:v>
                </c:pt>
                <c:pt idx="15">
                  <c:v>1.35</c:v>
                </c:pt>
                <c:pt idx="16">
                  <c:v>1.4</c:v>
                </c:pt>
                <c:pt idx="17">
                  <c:v>1.45</c:v>
                </c:pt>
                <c:pt idx="18">
                  <c:v>1.25</c:v>
                </c:pt>
                <c:pt idx="19">
                  <c:v>1.3</c:v>
                </c:pt>
                <c:pt idx="20">
                  <c:v>1.35</c:v>
                </c:pt>
                <c:pt idx="21">
                  <c:v>1.4</c:v>
                </c:pt>
                <c:pt idx="22">
                  <c:v>1.45</c:v>
                </c:pt>
                <c:pt idx="23">
                  <c:v>1.35</c:v>
                </c:pt>
                <c:pt idx="24">
                  <c:v>1.4</c:v>
                </c:pt>
                <c:pt idx="25">
                  <c:v>1.45</c:v>
                </c:pt>
                <c:pt idx="26">
                  <c:v>1.45</c:v>
                </c:pt>
              </c:numCache>
            </c:numRef>
          </c:yVal>
        </c:ser>
        <c:ser>
          <c:idx val="2"/>
          <c:order val="2"/>
          <c:tx>
            <c:v>Chosen point</c:v>
          </c:tx>
          <c:spPr>
            <a:solidFill xmlns:a="http://schemas.openxmlformats.org/drawingml/2006/main">
              <a:srgbClr val="087E8B"/>
            </a:solidFill>
            <a:ln xmlns:a="http://schemas.openxmlformats.org/drawingml/2006/main" w="0">
              <a:noFill/>
            </a:ln>
          </c:spPr>
          <c:marker>
            <c:symbol val="star"/>
            <c:size val="17"/>
            <c:spPr>
              <a:solidFill xmlns:a="http://schemas.openxmlformats.org/drawingml/2006/main">
                <a:srgbClr val="D66A2C"/>
              </a:solidFill>
            </c:spPr>
          </c:marker>
          <c:xVal>
            <c:numRef>
              <c:f>'Chart Data'!$E$2:$E$2</c:f>
              <c:numCache>
                <c:formatCode>General</c:formatCode>
                <c:ptCount val="1"/>
                <c:pt idx="0">
                  <c:v>4.5</c:v>
                </c:pt>
              </c:numCache>
            </c:numRef>
          </c:xVal>
          <c:yVal>
            <c:numRef>
              <c:f>'Chart Data'!$F$2:$F$2</c:f>
              <c:numCache>
                <c:formatCode>0.0</c:formatCode>
                <c:ptCount val="1"/>
                <c:pt idx="0">
                  <c:v>1.3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8"/>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K₂</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majorUnit val="0.2"/>
      </c:valAx>
      <c:valAx>
        <c:axId val="48650112"/>
        <c:scaling>
          <c:orientation val="minMax"/>
          <c:max val="14"/>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K₁</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0.8"/>
        <c:majorUnit val="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3283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Response to a 5° pitch command</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line"/>
        <c:varyColors val="0"/>
        <c:ser>
          <c:idx val="0"/>
          <c:order val="0"/>
          <c:tx>
            <c:v>Nominal</c:v>
          </c:tx>
          <c:spPr>
            <a:solidFill xmlns:a="http://schemas.openxmlformats.org/drawingml/2006/main">
              <a:srgbClr val="B6C3CC"/>
            </a:solidFill>
            <a:ln xmlns:a="http://schemas.openxmlformats.org/drawingml/2006/main" w="28575">
              <a:solidFill>
                <a:srgbClr val="B6C3CC"/>
              </a:solidFill>
              <a:prstDash val="solid"/>
            </a:ln>
          </c:spPr>
          <c:marker>
            <c:symbol val="none"/>
          </c:marker>
          <c:xVal>
            <c:numRef>
              <c:f>'Chart Data'!$A$2:$A$162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Data'!$B$2:$B$162</c:f>
              <c:numCache>
                <c:formatCode>0.0</c:formatCode>
                <c:ptCount val="161"/>
                <c:pt idx="0">
                  <c:v>-2.220446049E-15</c:v>
                </c:pt>
                <c:pt idx="1">
                  <c:v>0.00694671937</c:v>
                </c:pt>
                <c:pt idx="2">
                  <c:v>0.04454246627</c:v>
                </c:pt>
                <c:pt idx="3">
                  <c:v>0.1227165705</c:v>
                </c:pt>
                <c:pt idx="4">
                  <c:v>0.241184396</c:v>
                </c:pt>
                <c:pt idx="5">
                  <c:v>0.3957926588</c:v>
                </c:pt>
                <c:pt idx="6">
                  <c:v>0.5811633018</c:v>
                </c:pt>
                <c:pt idx="7">
                  <c:v>0.7917781437</c:v>
                </c:pt>
                <c:pt idx="8">
                  <c:v>1.022407769</c:v>
                </c:pt>
                <c:pt idx="9">
                  <c:v>1.268265613</c:v>
                </c:pt>
                <c:pt idx="10">
                  <c:v>1.525047815</c:v>
                </c:pt>
                <c:pt idx="11">
                  <c:v>1.788926462</c:v>
                </c:pt>
                <c:pt idx="12">
                  <c:v>2.056524644</c:v>
                </c:pt>
                <c:pt idx="13">
                  <c:v>2.324885226</c:v>
                </c:pt>
                <c:pt idx="14">
                  <c:v>2.591438278</c:v>
                </c:pt>
                <c:pt idx="15">
                  <c:v>2.853969158</c:v>
                </c:pt>
                <c:pt idx="16">
                  <c:v>3.110588048</c:v>
                </c:pt>
                <c:pt idx="17">
                  <c:v>3.359701187</c:v>
                </c:pt>
                <c:pt idx="18">
                  <c:v>3.599983877</c:v>
                </c:pt>
                <c:pt idx="19">
                  <c:v>3.830355205</c:v>
                </c:pt>
                <c:pt idx="20">
                  <c:v>4.04995444</c:v>
                </c:pt>
                <c:pt idx="21">
                  <c:v>4.258119012</c:v>
                </c:pt>
                <c:pt idx="22">
                  <c:v>4.454364009</c:v>
                </c:pt>
                <c:pt idx="23">
                  <c:v>4.638363108</c:v>
                </c:pt>
                <c:pt idx="24">
                  <c:v>4.80993087</c:v>
                </c:pt>
                <c:pt idx="25">
                  <c:v>4.96900633</c:v>
                </c:pt>
                <c:pt idx="26">
                  <c:v>5.11563781</c:v>
                </c:pt>
                <c:pt idx="27">
                  <c:v>5.249968909</c:v>
                </c:pt>
                <c:pt idx="28">
                  <c:v>5.372225576</c:v>
                </c:pt>
                <c:pt idx="29">
                  <c:v>5.482704242</c:v>
                </c:pt>
                <c:pt idx="30">
                  <c:v>5.581760928</c:v>
                </c:pt>
                <c:pt idx="31">
                  <c:v>5.669801293</c:v>
                </c:pt>
                <c:pt idx="32">
                  <c:v>5.74727155</c:v>
                </c:pt>
                <c:pt idx="33">
                  <c:v>5.814650225</c:v>
                </c:pt>
                <c:pt idx="34">
                  <c:v>5.872440677</c:v>
                </c:pt>
                <c:pt idx="35">
                  <c:v>5.921164365</c:v>
                </c:pt>
                <c:pt idx="36">
                  <c:v>5.961354791</c:v>
                </c:pt>
                <c:pt idx="37">
                  <c:v>5.993552092</c:v>
                </c:pt>
                <c:pt idx="38">
                  <c:v>6.018298226</c:v>
                </c:pt>
                <c:pt idx="39">
                  <c:v>6.036132723</c:v>
                </c:pt>
                <c:pt idx="40">
                  <c:v>6.047588949</c:v>
                </c:pt>
                <c:pt idx="41">
                  <c:v>6.053190864</c:v>
                </c:pt>
                <c:pt idx="42">
                  <c:v>6.053450216</c:v>
                </c:pt>
                <c:pt idx="43">
                  <c:v>6.048864154</c:v>
                </c:pt>
                <c:pt idx="44">
                  <c:v>6.039913221</c:v>
                </c:pt>
                <c:pt idx="45">
                  <c:v>6.027059693</c:v>
                </c:pt>
                <c:pt idx="46">
                  <c:v>6.010746243</c:v>
                </c:pt>
                <c:pt idx="47">
                  <c:v>5.991394891</c:v>
                </c:pt>
                <c:pt idx="48">
                  <c:v>5.969406219</c:v>
                </c:pt>
                <c:pt idx="49">
                  <c:v>5.945158832</c:v>
                </c:pt>
                <c:pt idx="50">
                  <c:v>5.919009026</c:v>
                </c:pt>
                <c:pt idx="51">
                  <c:v>5.891290653</c:v>
                </c:pt>
                <c:pt idx="52">
                  <c:v>5.862315161</c:v>
                </c:pt>
                <c:pt idx="53">
                  <c:v>5.832371781</c:v>
                </c:pt>
                <c:pt idx="54">
                  <c:v>5.801727849</c:v>
                </c:pt>
                <c:pt idx="55">
                  <c:v>5.770629251</c:v>
                </c:pt>
                <c:pt idx="56">
                  <c:v>5.739300956</c:v>
                </c:pt>
                <c:pt idx="57">
                  <c:v>5.707947649</c:v>
                </c:pt>
                <c:pt idx="58">
                  <c:v>5.676754425</c:v>
                </c:pt>
                <c:pt idx="59">
                  <c:v>5.645887548</c:v>
                </c:pt>
                <c:pt idx="60">
                  <c:v>5.615495255</c:v>
                </c:pt>
                <c:pt idx="61">
                  <c:v>5.585708599</c:v>
                </c:pt>
                <c:pt idx="62">
                  <c:v>5.556642315</c:v>
                </c:pt>
                <c:pt idx="63">
                  <c:v>5.528395714</c:v>
                </c:pt>
                <c:pt idx="64">
                  <c:v>5.501053574</c:v>
                </c:pt>
                <c:pt idx="65">
                  <c:v>5.474687046</c:v>
                </c:pt>
                <c:pt idx="66">
                  <c:v>5.449354551</c:v>
                </c:pt>
                <c:pt idx="67">
                  <c:v>5.42510267</c:v>
                </c:pt>
                <c:pt idx="68">
                  <c:v>5.40196702</c:v>
                </c:pt>
                <c:pt idx="69">
                  <c:v>5.379973111</c:v>
                </c:pt>
                <c:pt idx="70">
                  <c:v>5.359137185</c:v>
                </c:pt>
                <c:pt idx="71">
                  <c:v>5.339467024</c:v>
                </c:pt>
                <c:pt idx="72">
                  <c:v>5.320962735</c:v>
                </c:pt>
                <c:pt idx="73">
                  <c:v>5.303617503</c:v>
                </c:pt>
                <c:pt idx="74">
                  <c:v>5.287418313</c:v>
                </c:pt>
                <c:pt idx="75">
                  <c:v>5.272346637</c:v>
                </c:pt>
                <c:pt idx="76">
                  <c:v>5.258379091</c:v>
                </c:pt>
                <c:pt idx="77">
                  <c:v>5.245488053</c:v>
                </c:pt>
                <c:pt idx="78">
                  <c:v>5.233642243</c:v>
                </c:pt>
                <c:pt idx="79">
                  <c:v>5.222807279</c:v>
                </c:pt>
                <c:pt idx="80">
                  <c:v>5.212946185</c:v>
                </c:pt>
                <c:pt idx="81">
                  <c:v>5.204019868</c:v>
                </c:pt>
                <c:pt idx="82">
                  <c:v>5.195987567</c:v>
                </c:pt>
                <c:pt idx="83">
                  <c:v>5.188807259</c:v>
                </c:pt>
                <c:pt idx="84">
                  <c:v>5.182436035</c:v>
                </c:pt>
                <c:pt idx="85">
                  <c:v>5.176830447</c:v>
                </c:pt>
                <c:pt idx="86">
                  <c:v>5.171946822</c:v>
                </c:pt>
                <c:pt idx="87">
                  <c:v>5.167741546</c:v>
                </c:pt>
                <c:pt idx="88">
                  <c:v>5.164171315</c:v>
                </c:pt>
                <c:pt idx="89">
                  <c:v>5.161193372</c:v>
                </c:pt>
                <c:pt idx="90">
                  <c:v>5.1587657</c:v>
                </c:pt>
                <c:pt idx="91">
                  <c:v>5.156847207</c:v>
                </c:pt>
                <c:pt idx="92">
                  <c:v>5.155397875</c:v>
                </c:pt>
                <c:pt idx="93">
                  <c:v>5.154378898</c:v>
                </c:pt>
                <c:pt idx="94">
                  <c:v>5.153752786</c:v>
                </c:pt>
                <c:pt idx="95">
                  <c:v>5.153483466</c:v>
                </c:pt>
                <c:pt idx="96">
                  <c:v>5.153536354</c:v>
                </c:pt>
                <c:pt idx="97">
                  <c:v>5.153878412</c:v>
                </c:pt>
                <c:pt idx="98">
                  <c:v>5.154478192</c:v>
                </c:pt>
                <c:pt idx="99">
                  <c:v>5.15530587</c:v>
                </c:pt>
                <c:pt idx="100">
                  <c:v>5.156333255</c:v>
                </c:pt>
                <c:pt idx="101">
                  <c:v>5.157533801</c:v>
                </c:pt>
                <c:pt idx="102">
                  <c:v>5.158882597</c:v>
                </c:pt>
                <c:pt idx="103">
                  <c:v>5.160356356</c:v>
                </c:pt>
                <c:pt idx="104">
                  <c:v>5.161933392</c:v>
                </c:pt>
                <c:pt idx="105">
                  <c:v>5.163593585</c:v>
                </c:pt>
                <c:pt idx="106">
                  <c:v>5.165318351</c:v>
                </c:pt>
                <c:pt idx="107">
                  <c:v>5.167090594</c:v>
                </c:pt>
                <c:pt idx="108">
                  <c:v>5.168894664</c:v>
                </c:pt>
                <c:pt idx="109">
                  <c:v>5.170716303</c:v>
                </c:pt>
                <c:pt idx="110">
                  <c:v>5.17254259</c:v>
                </c:pt>
                <c:pt idx="111">
                  <c:v>5.174361885</c:v>
                </c:pt>
                <c:pt idx="112">
                  <c:v>5.176163773</c:v>
                </c:pt>
                <c:pt idx="113">
                  <c:v>5.177939</c:v>
                </c:pt>
                <c:pt idx="114">
                  <c:v>5.179679411</c:v>
                </c:pt>
                <c:pt idx="115">
                  <c:v>5.181377892</c:v>
                </c:pt>
                <c:pt idx="116">
                  <c:v>5.183028305</c:v>
                </c:pt>
                <c:pt idx="117">
                  <c:v>5.184625428</c:v>
                </c:pt>
                <c:pt idx="118">
                  <c:v>5.186164894</c:v>
                </c:pt>
                <c:pt idx="119">
                  <c:v>5.187643129</c:v>
                </c:pt>
                <c:pt idx="120">
                  <c:v>5.189057297</c:v>
                </c:pt>
                <c:pt idx="121">
                  <c:v>5.190405239</c:v>
                </c:pt>
                <c:pt idx="122">
                  <c:v>5.191685419</c:v>
                </c:pt>
                <c:pt idx="123">
                  <c:v>5.192896873</c:v>
                </c:pt>
                <c:pt idx="124">
                  <c:v>5.194039152</c:v>
                </c:pt>
                <c:pt idx="125">
                  <c:v>5.195112276</c:v>
                </c:pt>
                <c:pt idx="126">
                  <c:v>5.196116684</c:v>
                </c:pt>
                <c:pt idx="127">
                  <c:v>5.197053194</c:v>
                </c:pt>
                <c:pt idx="128">
                  <c:v>5.197922951</c:v>
                </c:pt>
                <c:pt idx="129">
                  <c:v>5.198727395</c:v>
                </c:pt>
                <c:pt idx="130">
                  <c:v>5.199468219</c:v>
                </c:pt>
                <c:pt idx="131">
                  <c:v>5.200147333</c:v>
                </c:pt>
                <c:pt idx="132">
                  <c:v>5.200766829</c:v>
                </c:pt>
                <c:pt idx="133">
                  <c:v>5.201328953</c:v>
                </c:pt>
                <c:pt idx="134">
                  <c:v>5.201836075</c:v>
                </c:pt>
                <c:pt idx="135">
                  <c:v>5.202290659</c:v>
                </c:pt>
                <c:pt idx="136">
                  <c:v>5.202695241</c:v>
                </c:pt>
                <c:pt idx="137">
                  <c:v>5.203052407</c:v>
                </c:pt>
                <c:pt idx="138">
                  <c:v>5.203364771</c:v>
                </c:pt>
                <c:pt idx="139">
                  <c:v>5.203634953</c:v>
                </c:pt>
                <c:pt idx="140">
                  <c:v>5.20386557</c:v>
                </c:pt>
                <c:pt idx="141">
                  <c:v>5.204059213</c:v>
                </c:pt>
                <c:pt idx="142">
                  <c:v>5.204218437</c:v>
                </c:pt>
                <c:pt idx="143">
                  <c:v>5.20434575</c:v>
                </c:pt>
                <c:pt idx="144">
                  <c:v>5.2044436</c:v>
                </c:pt>
                <c:pt idx="145">
                  <c:v>5.204514367</c:v>
                </c:pt>
                <c:pt idx="146">
                  <c:v>5.204560357</c:v>
                </c:pt>
                <c:pt idx="147">
                  <c:v>5.204583793</c:v>
                </c:pt>
                <c:pt idx="148">
                  <c:v>5.204586811</c:v>
                </c:pt>
                <c:pt idx="149">
                  <c:v>5.204571456</c:v>
                </c:pt>
                <c:pt idx="150">
                  <c:v>5.204539678</c:v>
                </c:pt>
                <c:pt idx="151">
                  <c:v>5.204493331</c:v>
                </c:pt>
                <c:pt idx="152">
                  <c:v>5.20443417</c:v>
                </c:pt>
                <c:pt idx="153">
                  <c:v>5.20436385</c:v>
                </c:pt>
                <c:pt idx="154">
                  <c:v>5.204283927</c:v>
                </c:pt>
                <c:pt idx="155">
                  <c:v>5.204195859</c:v>
                </c:pt>
                <c:pt idx="156">
                  <c:v>5.204101006</c:v>
                </c:pt>
                <c:pt idx="157">
                  <c:v>5.204000632</c:v>
                </c:pt>
                <c:pt idx="158">
                  <c:v>5.203895907</c:v>
                </c:pt>
                <c:pt idx="159">
                  <c:v>5.203787909</c:v>
                </c:pt>
                <c:pt idx="160">
                  <c:v>5.203677627</c:v>
                </c:pt>
              </c:numCache>
            </c:numRef>
          </c:yVal>
        </c:ser>
        <c:ser>
          <c:idx val="1"/>
          <c:order val="1"/>
          <c:tx>
            <c:v>Recommended</c:v>
          </c:tx>
          <c:spPr>
            <a:solidFill xmlns:a="http://schemas.openxmlformats.org/drawingml/2006/main">
              <a:srgbClr val="087E8B"/>
            </a:solidFill>
            <a:ln xmlns:a="http://schemas.openxmlformats.org/drawingml/2006/main" w="28575">
              <a:solidFill>
                <a:srgbClr val="087E8B"/>
              </a:solidFill>
              <a:prstDash val="solid"/>
            </a:ln>
          </c:spPr>
          <c:marker>
            <c:symbol val="none"/>
          </c:marker>
          <c:xVal>
            <c:numRef>
              <c:f>'Chart Data'!$C$2:$C$162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Data'!$D$2:$D$162</c:f>
              <c:numCache>
                <c:formatCode>0.0</c:formatCode>
                <c:ptCount val="161"/>
                <c:pt idx="0">
                  <c:v>2.220446049E-15</c:v>
                </c:pt>
                <c:pt idx="1">
                  <c:v>0.01789095312</c:v>
                </c:pt>
                <c:pt idx="2">
                  <c:v>0.1118064851</c:v>
                </c:pt>
                <c:pt idx="3">
                  <c:v>0.296526868</c:v>
                </c:pt>
                <c:pt idx="4">
                  <c:v>0.5560003765</c:v>
                </c:pt>
                <c:pt idx="5">
                  <c:v>0.8651722764</c:v>
                </c:pt>
                <c:pt idx="6">
                  <c:v>1.200093122</c:v>
                </c:pt>
                <c:pt idx="7">
                  <c:v>1.541705861</c:v>
                </c:pt>
                <c:pt idx="8">
                  <c:v>1.876500521</c:v>
                </c:pt>
                <c:pt idx="9">
                  <c:v>2.19582021</c:v>
                </c:pt>
                <c:pt idx="10">
                  <c:v>2.494749327</c:v>
                </c:pt>
                <c:pt idx="11">
                  <c:v>2.771022426</c:v>
                </c:pt>
                <c:pt idx="12">
                  <c:v>3.024124125</c:v>
                </c:pt>
                <c:pt idx="13">
                  <c:v>3.25461594</c:v>
                </c:pt>
                <c:pt idx="14">
                  <c:v>3.463666565</c:v>
                </c:pt>
                <c:pt idx="15">
                  <c:v>3.652742487</c:v>
                </c:pt>
                <c:pt idx="16">
                  <c:v>3.823415148</c:v>
                </c:pt>
                <c:pt idx="17">
                  <c:v>3.97724789</c:v>
                </c:pt>
                <c:pt idx="18">
                  <c:v>4.11573475</c:v>
                </c:pt>
                <c:pt idx="19">
                  <c:v>4.24027135</c:v>
                </c:pt>
                <c:pt idx="20">
                  <c:v>4.35214462</c:v>
                </c:pt>
                <c:pt idx="21">
                  <c:v>4.452532892</c:v>
                </c:pt>
                <c:pt idx="22">
                  <c:v>4.542511182</c:v>
                </c:pt>
                <c:pt idx="23">
                  <c:v>4.623058693</c:v>
                </c:pt>
                <c:pt idx="24">
                  <c:v>4.69506689</c:v>
                </c:pt>
                <c:pt idx="25">
                  <c:v>4.759347343</c:v>
                </c:pt>
                <c:pt idx="26">
                  <c:v>4.816638989</c:v>
                </c:pt>
                <c:pt idx="27">
                  <c:v>4.867614705</c:v>
                </c:pt>
                <c:pt idx="28">
                  <c:v>4.912887209</c:v>
                </c:pt>
                <c:pt idx="29">
                  <c:v>4.953014353</c:v>
                </c:pt>
                <c:pt idx="30">
                  <c:v>4.988503893</c:v>
                </c:pt>
                <c:pt idx="31">
                  <c:v>5.019817788</c:v>
                </c:pt>
                <c:pt idx="32">
                  <c:v>5.047376113</c:v>
                </c:pt>
                <c:pt idx="33">
                  <c:v>5.071560628</c:v>
                </c:pt>
                <c:pt idx="34">
                  <c:v>5.092718031</c:v>
                </c:pt>
                <c:pt idx="35">
                  <c:v>5.111162954</c:v>
                </c:pt>
                <c:pt idx="36">
                  <c:v>5.127180704</c:v>
                </c:pt>
                <c:pt idx="37">
                  <c:v>5.141029786</c:v>
                </c:pt>
                <c:pt idx="38">
                  <c:v>5.152944222</c:v>
                </c:pt>
                <c:pt idx="39">
                  <c:v>5.163135679</c:v>
                </c:pt>
                <c:pt idx="40">
                  <c:v>5.17179543</c:v>
                </c:pt>
                <c:pt idx="41">
                  <c:v>5.179096147</c:v>
                </c:pt>
                <c:pt idx="42">
                  <c:v>5.185193562</c:v>
                </c:pt>
                <c:pt idx="43">
                  <c:v>5.190227973</c:v>
                </c:pt>
                <c:pt idx="44">
                  <c:v>5.19432564</c:v>
                </c:pt>
                <c:pt idx="45">
                  <c:v>5.197600054</c:v>
                </c:pt>
                <c:pt idx="46">
                  <c:v>5.20015311</c:v>
                </c:pt>
                <c:pt idx="47">
                  <c:v>5.202076171</c:v>
                </c:pt>
                <c:pt idx="48">
                  <c:v>5.203451047</c:v>
                </c:pt>
                <c:pt idx="49">
                  <c:v>5.204350889</c:v>
                </c:pt>
                <c:pt idx="50">
                  <c:v>5.204841005</c:v>
                </c:pt>
                <c:pt idx="51">
                  <c:v>5.20497961</c:v>
                </c:pt>
                <c:pt idx="52">
                  <c:v>5.2048185</c:v>
                </c:pt>
                <c:pt idx="53">
                  <c:v>5.204403679</c:v>
                </c:pt>
                <c:pt idx="54">
                  <c:v>5.203775922</c:v>
                </c:pt>
                <c:pt idx="55">
                  <c:v>5.202971292</c:v>
                </c:pt>
                <c:pt idx="56">
                  <c:v>5.202021607</c:v>
                </c:pt>
                <c:pt idx="57">
                  <c:v>5.20095487</c:v>
                </c:pt>
                <c:pt idx="58">
                  <c:v>5.199795656</c:v>
                </c:pt>
                <c:pt idx="59">
                  <c:v>5.198565463</c:v>
                </c:pt>
                <c:pt idx="60">
                  <c:v>5.197283032</c:v>
                </c:pt>
                <c:pt idx="61">
                  <c:v>5.195964637</c:v>
                </c:pt>
                <c:pt idx="62">
                  <c:v>5.194624351</c:v>
                </c:pt>
                <c:pt idx="63">
                  <c:v>5.193274279</c:v>
                </c:pt>
                <c:pt idx="64">
                  <c:v>5.191924776</c:v>
                </c:pt>
                <c:pt idx="65">
                  <c:v>5.190584638</c:v>
                </c:pt>
                <c:pt idx="66">
                  <c:v>5.189261285</c:v>
                </c:pt>
                <c:pt idx="67">
                  <c:v>5.18796091</c:v>
                </c:pt>
                <c:pt idx="68">
                  <c:v>5.186688627</c:v>
                </c:pt>
                <c:pt idx="69">
                  <c:v>5.185448599</c:v>
                </c:pt>
                <c:pt idx="70">
                  <c:v>5.184244153</c:v>
                </c:pt>
                <c:pt idx="71">
                  <c:v>5.183077881</c:v>
                </c:pt>
                <c:pt idx="72">
                  <c:v>5.181951735</c:v>
                </c:pt>
                <c:pt idx="73">
                  <c:v>5.180867113</c:v>
                </c:pt>
                <c:pt idx="74">
                  <c:v>5.179824928</c:v>
                </c:pt>
                <c:pt idx="75">
                  <c:v>5.178825675</c:v>
                </c:pt>
                <c:pt idx="76">
                  <c:v>5.177869496</c:v>
                </c:pt>
                <c:pt idx="77">
                  <c:v>5.176956225</c:v>
                </c:pt>
                <c:pt idx="78">
                  <c:v>5.17608544</c:v>
                </c:pt>
                <c:pt idx="79">
                  <c:v>5.175256502</c:v>
                </c:pt>
                <c:pt idx="80">
                  <c:v>5.174468594</c:v>
                </c:pt>
                <c:pt idx="81">
                  <c:v>5.173720748</c:v>
                </c:pt>
                <c:pt idx="82">
                  <c:v>5.173011881</c:v>
                </c:pt>
                <c:pt idx="83">
                  <c:v>5.172340814</c:v>
                </c:pt>
                <c:pt idx="84">
                  <c:v>5.171706295</c:v>
                </c:pt>
                <c:pt idx="85">
                  <c:v>5.171107022</c:v>
                </c:pt>
                <c:pt idx="86">
                  <c:v>5.170541654</c:v>
                </c:pt>
                <c:pt idx="87">
                  <c:v>5.170008829</c:v>
                </c:pt>
                <c:pt idx="88">
                  <c:v>5.169507173</c:v>
                </c:pt>
                <c:pt idx="89">
                  <c:v>5.169035316</c:v>
                </c:pt>
                <c:pt idx="90">
                  <c:v>5.168591895</c:v>
                </c:pt>
                <c:pt idx="91">
                  <c:v>5.168175566</c:v>
                </c:pt>
                <c:pt idx="92">
                  <c:v>5.167785005</c:v>
                </c:pt>
                <c:pt idx="93">
                  <c:v>5.16741892</c:v>
                </c:pt>
                <c:pt idx="94">
                  <c:v>5.167076051</c:v>
                </c:pt>
                <c:pt idx="95">
                  <c:v>5.166755174</c:v>
                </c:pt>
                <c:pt idx="96">
                  <c:v>5.166455102</c:v>
                </c:pt>
                <c:pt idx="97">
                  <c:v>5.166174692</c:v>
                </c:pt>
                <c:pt idx="98">
                  <c:v>5.16591284</c:v>
                </c:pt>
                <c:pt idx="99">
                  <c:v>5.165668489</c:v>
                </c:pt>
                <c:pt idx="100">
                  <c:v>5.165440621</c:v>
                </c:pt>
                <c:pt idx="101">
                  <c:v>5.165228266</c:v>
                </c:pt>
                <c:pt idx="102">
                  <c:v>5.165030494</c:v>
                </c:pt>
                <c:pt idx="103">
                  <c:v>5.164846422</c:v>
                </c:pt>
                <c:pt idx="104">
                  <c:v>5.164675206</c:v>
                </c:pt>
                <c:pt idx="105">
                  <c:v>5.164516046</c:v>
                </c:pt>
                <c:pt idx="106">
                  <c:v>5.164368182</c:v>
                </c:pt>
                <c:pt idx="107">
                  <c:v>5.164230892</c:v>
                </c:pt>
                <c:pt idx="108">
                  <c:v>5.164103496</c:v>
                </c:pt>
                <c:pt idx="109">
                  <c:v>5.163985348</c:v>
                </c:pt>
                <c:pt idx="110">
                  <c:v>5.163875839</c:v>
                </c:pt>
                <c:pt idx="111">
                  <c:v>5.163774395</c:v>
                </c:pt>
                <c:pt idx="112">
                  <c:v>5.163680474</c:v>
                </c:pt>
                <c:pt idx="113">
                  <c:v>5.163593566</c:v>
                </c:pt>
                <c:pt idx="114">
                  <c:v>5.163513192</c:v>
                </c:pt>
                <c:pt idx="115">
                  <c:v>5.1634389</c:v>
                </c:pt>
                <c:pt idx="116">
                  <c:v>5.163370269</c:v>
                </c:pt>
                <c:pt idx="117">
                  <c:v>5.163306901</c:v>
                </c:pt>
                <c:pt idx="118">
                  <c:v>5.163248423</c:v>
                </c:pt>
                <c:pt idx="119">
                  <c:v>5.163194488</c:v>
                </c:pt>
                <c:pt idx="120">
                  <c:v>5.163144769</c:v>
                </c:pt>
                <c:pt idx="121">
                  <c:v>5.163098962</c:v>
                </c:pt>
                <c:pt idx="122">
                  <c:v>5.163056781</c:v>
                </c:pt>
                <c:pt idx="123">
                  <c:v>5.16301796</c:v>
                </c:pt>
                <c:pt idx="124">
                  <c:v>5.162982251</c:v>
                </c:pt>
                <c:pt idx="125">
                  <c:v>5.162949423</c:v>
                </c:pt>
                <c:pt idx="126">
                  <c:v>5.162919259</c:v>
                </c:pt>
                <c:pt idx="127">
                  <c:v>5.162891559</c:v>
                </c:pt>
                <c:pt idx="128">
                  <c:v>5.162866135</c:v>
                </c:pt>
                <c:pt idx="129">
                  <c:v>5.162842813</c:v>
                </c:pt>
                <c:pt idx="130">
                  <c:v>5.162821433</c:v>
                </c:pt>
                <c:pt idx="131">
                  <c:v>5.162801842</c:v>
                </c:pt>
                <c:pt idx="132">
                  <c:v>5.162783903</c:v>
                </c:pt>
                <c:pt idx="133">
                  <c:v>5.162767485</c:v>
                </c:pt>
                <c:pt idx="134">
                  <c:v>5.162752469</c:v>
                </c:pt>
                <c:pt idx="135">
                  <c:v>5.162738742</c:v>
                </c:pt>
                <c:pt idx="136">
                  <c:v>5.162726203</c:v>
                </c:pt>
                <c:pt idx="137">
                  <c:v>5.162714755</c:v>
                </c:pt>
                <c:pt idx="138">
                  <c:v>5.16270431</c:v>
                </c:pt>
                <c:pt idx="139">
                  <c:v>5.162694787</c:v>
                </c:pt>
                <c:pt idx="140">
                  <c:v>5.16268611</c:v>
                </c:pt>
                <c:pt idx="141">
                  <c:v>5.162678209</c:v>
                </c:pt>
                <c:pt idx="142">
                  <c:v>5.162671021</c:v>
                </c:pt>
                <c:pt idx="143">
                  <c:v>5.162664484</c:v>
                </c:pt>
                <c:pt idx="144">
                  <c:v>5.162658545</c:v>
                </c:pt>
                <c:pt idx="145">
                  <c:v>5.162653154</c:v>
                </c:pt>
                <c:pt idx="146">
                  <c:v>5.162648263</c:v>
                </c:pt>
                <c:pt idx="147">
                  <c:v>5.16264383</c:v>
                </c:pt>
                <c:pt idx="148">
                  <c:v>5.162639814</c:v>
                </c:pt>
                <c:pt idx="149">
                  <c:v>5.162636181</c:v>
                </c:pt>
                <c:pt idx="150">
                  <c:v>5.162632897</c:v>
                </c:pt>
                <c:pt idx="151">
                  <c:v>5.16262993</c:v>
                </c:pt>
                <c:pt idx="152">
                  <c:v>5.162627254</c:v>
                </c:pt>
                <c:pt idx="153">
                  <c:v>5.162624841</c:v>
                </c:pt>
                <c:pt idx="154">
                  <c:v>5.162622668</c:v>
                </c:pt>
                <c:pt idx="155">
                  <c:v>5.162620714</c:v>
                </c:pt>
                <c:pt idx="156">
                  <c:v>5.162618959</c:v>
                </c:pt>
                <c:pt idx="157">
                  <c:v>5.162617384</c:v>
                </c:pt>
                <c:pt idx="158">
                  <c:v>5.162615973</c:v>
                </c:pt>
                <c:pt idx="159">
                  <c:v>5.16261471</c:v>
                </c:pt>
                <c:pt idx="160">
                  <c:v>5.162613582</c:v>
                </c:pt>
              </c:numCache>
            </c:numRef>
          </c:yVal>
        </c:ser>
        <c:ser>
          <c:idx val="2"/>
          <c:order val="2"/>
          <c:tx>
            <c:v>5° reference</c:v>
          </c:tx>
          <c:spPr>
            <a:solidFill xmlns:a="http://schemas.openxmlformats.org/drawingml/2006/main">
              <a:srgbClr val="087E8B"/>
            </a:solidFill>
            <a:ln xmlns:a="http://schemas.openxmlformats.org/drawingml/2006/main" w="19050">
              <a:solidFill>
                <a:srgbClr val="D66A2C"/>
              </a:solidFill>
              <a:prstDash val="dash"/>
            </a:ln>
          </c:spPr>
          <c:marker>
            <c:symbol val="none"/>
          </c:marker>
          <c:xVal>
            <c:numRef>
              <c:f>'Chart Data'!$E$2:$E$3</c:f>
              <c:numCache>
                <c:formatCode>General</c:formatCode>
                <c:ptCount val="2"/>
                <c:pt idx="0">
                  <c:v>0</c:v>
                </c:pt>
                <c:pt idx="1">
                  <c:v>8</c:v>
                </c:pt>
              </c:numCache>
            </c:numRef>
          </c:xVal>
          <c:yVal>
            <c:numRef>
              <c:f>'Chart Data'!$F$2:$F$3</c:f>
              <c:numCache>
                <c:formatCode>0.0</c:formatCode>
                <c:ptCount val="2"/>
                <c:pt idx="0">
                  <c:v>5</c:v>
                </c:pt>
                <c:pt idx="1">
                  <c:v>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5"/>
          <c:min val="0"/>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θ (°)</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majorUnit val="1"/>
      </c:valAx>
      <c:valAx>
        <c:axId val="48650112"/>
        <c:scaling>
          <c:orientation val="minMax"/>
          <c:max val="8"/>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Time (s)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0"/>
        <c:majorUnit val="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3283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Control with a one-sample delay</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line"/>
        <c:varyColors val="0"/>
        <c:ser>
          <c:idx val="0"/>
          <c:order val="0"/>
          <c:tx>
            <c:v>Continuous</c:v>
          </c:tx>
          <c:spPr>
            <a:solidFill xmlns:a="http://schemas.openxmlformats.org/drawingml/2006/main">
              <a:srgbClr val="B6C3CC"/>
            </a:solidFill>
            <a:ln xmlns:a="http://schemas.openxmlformats.org/drawingml/2006/main" w="28575">
              <a:solidFill>
                <a:srgbClr val="B6C3CC"/>
              </a:solidFill>
              <a:prstDash val="solid"/>
            </a:ln>
          </c:spPr>
          <c:marker>
            <c:symbol val="none"/>
          </c:marker>
          <c:xVal>
            <c:numRef>
              <c:f>'Chart Data'!$A$2:$A$162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Data'!$B$2:$B$162</c:f>
              <c:numCache>
                <c:formatCode>0.0</c:formatCode>
                <c:ptCount val="161"/>
                <c:pt idx="0">
                  <c:v>2.220446049E-15</c:v>
                </c:pt>
                <c:pt idx="1">
                  <c:v>0.01789095312</c:v>
                </c:pt>
                <c:pt idx="2">
                  <c:v>0.1118064851</c:v>
                </c:pt>
                <c:pt idx="3">
                  <c:v>0.296526868</c:v>
                </c:pt>
                <c:pt idx="4">
                  <c:v>0.5560003765</c:v>
                </c:pt>
                <c:pt idx="5">
                  <c:v>0.8651722764</c:v>
                </c:pt>
                <c:pt idx="6">
                  <c:v>1.200093122</c:v>
                </c:pt>
                <c:pt idx="7">
                  <c:v>1.541705861</c:v>
                </c:pt>
                <c:pt idx="8">
                  <c:v>1.876500521</c:v>
                </c:pt>
                <c:pt idx="9">
                  <c:v>2.19582021</c:v>
                </c:pt>
                <c:pt idx="10">
                  <c:v>2.494749327</c:v>
                </c:pt>
                <c:pt idx="11">
                  <c:v>2.771022426</c:v>
                </c:pt>
                <c:pt idx="12">
                  <c:v>3.024124125</c:v>
                </c:pt>
                <c:pt idx="13">
                  <c:v>3.25461594</c:v>
                </c:pt>
                <c:pt idx="14">
                  <c:v>3.463666565</c:v>
                </c:pt>
                <c:pt idx="15">
                  <c:v>3.652742487</c:v>
                </c:pt>
                <c:pt idx="16">
                  <c:v>3.823415148</c:v>
                </c:pt>
                <c:pt idx="17">
                  <c:v>3.97724789</c:v>
                </c:pt>
                <c:pt idx="18">
                  <c:v>4.11573475</c:v>
                </c:pt>
                <c:pt idx="19">
                  <c:v>4.24027135</c:v>
                </c:pt>
                <c:pt idx="20">
                  <c:v>4.35214462</c:v>
                </c:pt>
                <c:pt idx="21">
                  <c:v>4.452532892</c:v>
                </c:pt>
                <c:pt idx="22">
                  <c:v>4.542511182</c:v>
                </c:pt>
                <c:pt idx="23">
                  <c:v>4.623058693</c:v>
                </c:pt>
                <c:pt idx="24">
                  <c:v>4.69506689</c:v>
                </c:pt>
                <c:pt idx="25">
                  <c:v>4.759347343</c:v>
                </c:pt>
                <c:pt idx="26">
                  <c:v>4.816638989</c:v>
                </c:pt>
                <c:pt idx="27">
                  <c:v>4.867614705</c:v>
                </c:pt>
                <c:pt idx="28">
                  <c:v>4.912887209</c:v>
                </c:pt>
                <c:pt idx="29">
                  <c:v>4.953014353</c:v>
                </c:pt>
                <c:pt idx="30">
                  <c:v>4.988503893</c:v>
                </c:pt>
                <c:pt idx="31">
                  <c:v>5.019817788</c:v>
                </c:pt>
                <c:pt idx="32">
                  <c:v>5.047376113</c:v>
                </c:pt>
                <c:pt idx="33">
                  <c:v>5.071560628</c:v>
                </c:pt>
                <c:pt idx="34">
                  <c:v>5.092718031</c:v>
                </c:pt>
                <c:pt idx="35">
                  <c:v>5.111162954</c:v>
                </c:pt>
                <c:pt idx="36">
                  <c:v>5.127180704</c:v>
                </c:pt>
                <c:pt idx="37">
                  <c:v>5.141029786</c:v>
                </c:pt>
                <c:pt idx="38">
                  <c:v>5.152944222</c:v>
                </c:pt>
                <c:pt idx="39">
                  <c:v>5.163135679</c:v>
                </c:pt>
                <c:pt idx="40">
                  <c:v>5.17179543</c:v>
                </c:pt>
                <c:pt idx="41">
                  <c:v>5.179096147</c:v>
                </c:pt>
                <c:pt idx="42">
                  <c:v>5.185193562</c:v>
                </c:pt>
                <c:pt idx="43">
                  <c:v>5.190227973</c:v>
                </c:pt>
                <c:pt idx="44">
                  <c:v>5.19432564</c:v>
                </c:pt>
                <c:pt idx="45">
                  <c:v>5.197600054</c:v>
                </c:pt>
                <c:pt idx="46">
                  <c:v>5.20015311</c:v>
                </c:pt>
                <c:pt idx="47">
                  <c:v>5.202076171</c:v>
                </c:pt>
                <c:pt idx="48">
                  <c:v>5.203451047</c:v>
                </c:pt>
                <c:pt idx="49">
                  <c:v>5.204350889</c:v>
                </c:pt>
                <c:pt idx="50">
                  <c:v>5.204841005</c:v>
                </c:pt>
                <c:pt idx="51">
                  <c:v>5.20497961</c:v>
                </c:pt>
                <c:pt idx="52">
                  <c:v>5.2048185</c:v>
                </c:pt>
                <c:pt idx="53">
                  <c:v>5.204403679</c:v>
                </c:pt>
                <c:pt idx="54">
                  <c:v>5.203775922</c:v>
                </c:pt>
                <c:pt idx="55">
                  <c:v>5.202971292</c:v>
                </c:pt>
                <c:pt idx="56">
                  <c:v>5.202021607</c:v>
                </c:pt>
                <c:pt idx="57">
                  <c:v>5.20095487</c:v>
                </c:pt>
                <c:pt idx="58">
                  <c:v>5.199795656</c:v>
                </c:pt>
                <c:pt idx="59">
                  <c:v>5.198565463</c:v>
                </c:pt>
                <c:pt idx="60">
                  <c:v>5.197283032</c:v>
                </c:pt>
                <c:pt idx="61">
                  <c:v>5.195964637</c:v>
                </c:pt>
                <c:pt idx="62">
                  <c:v>5.194624351</c:v>
                </c:pt>
                <c:pt idx="63">
                  <c:v>5.193274279</c:v>
                </c:pt>
                <c:pt idx="64">
                  <c:v>5.191924776</c:v>
                </c:pt>
                <c:pt idx="65">
                  <c:v>5.190584638</c:v>
                </c:pt>
                <c:pt idx="66">
                  <c:v>5.189261285</c:v>
                </c:pt>
                <c:pt idx="67">
                  <c:v>5.18796091</c:v>
                </c:pt>
                <c:pt idx="68">
                  <c:v>5.186688627</c:v>
                </c:pt>
                <c:pt idx="69">
                  <c:v>5.185448599</c:v>
                </c:pt>
                <c:pt idx="70">
                  <c:v>5.184244153</c:v>
                </c:pt>
                <c:pt idx="71">
                  <c:v>5.183077881</c:v>
                </c:pt>
                <c:pt idx="72">
                  <c:v>5.181951735</c:v>
                </c:pt>
                <c:pt idx="73">
                  <c:v>5.180867113</c:v>
                </c:pt>
                <c:pt idx="74">
                  <c:v>5.179824928</c:v>
                </c:pt>
                <c:pt idx="75">
                  <c:v>5.178825675</c:v>
                </c:pt>
                <c:pt idx="76">
                  <c:v>5.177869496</c:v>
                </c:pt>
                <c:pt idx="77">
                  <c:v>5.176956225</c:v>
                </c:pt>
                <c:pt idx="78">
                  <c:v>5.17608544</c:v>
                </c:pt>
                <c:pt idx="79">
                  <c:v>5.175256502</c:v>
                </c:pt>
                <c:pt idx="80">
                  <c:v>5.174468594</c:v>
                </c:pt>
                <c:pt idx="81">
                  <c:v>5.173720748</c:v>
                </c:pt>
                <c:pt idx="82">
                  <c:v>5.173011881</c:v>
                </c:pt>
                <c:pt idx="83">
                  <c:v>5.172340814</c:v>
                </c:pt>
                <c:pt idx="84">
                  <c:v>5.171706295</c:v>
                </c:pt>
                <c:pt idx="85">
                  <c:v>5.171107022</c:v>
                </c:pt>
                <c:pt idx="86">
                  <c:v>5.170541654</c:v>
                </c:pt>
                <c:pt idx="87">
                  <c:v>5.170008829</c:v>
                </c:pt>
                <c:pt idx="88">
                  <c:v>5.169507173</c:v>
                </c:pt>
                <c:pt idx="89">
                  <c:v>5.169035316</c:v>
                </c:pt>
                <c:pt idx="90">
                  <c:v>5.168591895</c:v>
                </c:pt>
                <c:pt idx="91">
                  <c:v>5.168175566</c:v>
                </c:pt>
                <c:pt idx="92">
                  <c:v>5.167785005</c:v>
                </c:pt>
                <c:pt idx="93">
                  <c:v>5.16741892</c:v>
                </c:pt>
                <c:pt idx="94">
                  <c:v>5.167076051</c:v>
                </c:pt>
                <c:pt idx="95">
                  <c:v>5.166755174</c:v>
                </c:pt>
                <c:pt idx="96">
                  <c:v>5.166455102</c:v>
                </c:pt>
                <c:pt idx="97">
                  <c:v>5.166174692</c:v>
                </c:pt>
                <c:pt idx="98">
                  <c:v>5.16591284</c:v>
                </c:pt>
                <c:pt idx="99">
                  <c:v>5.165668489</c:v>
                </c:pt>
                <c:pt idx="100">
                  <c:v>5.165440621</c:v>
                </c:pt>
                <c:pt idx="101">
                  <c:v>5.165228266</c:v>
                </c:pt>
                <c:pt idx="102">
                  <c:v>5.165030494</c:v>
                </c:pt>
                <c:pt idx="103">
                  <c:v>5.164846422</c:v>
                </c:pt>
                <c:pt idx="104">
                  <c:v>5.164675206</c:v>
                </c:pt>
                <c:pt idx="105">
                  <c:v>5.164516046</c:v>
                </c:pt>
                <c:pt idx="106">
                  <c:v>5.164368182</c:v>
                </c:pt>
                <c:pt idx="107">
                  <c:v>5.164230892</c:v>
                </c:pt>
                <c:pt idx="108">
                  <c:v>5.164103496</c:v>
                </c:pt>
                <c:pt idx="109">
                  <c:v>5.163985348</c:v>
                </c:pt>
                <c:pt idx="110">
                  <c:v>5.163875839</c:v>
                </c:pt>
                <c:pt idx="111">
                  <c:v>5.163774395</c:v>
                </c:pt>
                <c:pt idx="112">
                  <c:v>5.163680474</c:v>
                </c:pt>
                <c:pt idx="113">
                  <c:v>5.163593566</c:v>
                </c:pt>
                <c:pt idx="114">
                  <c:v>5.163513192</c:v>
                </c:pt>
                <c:pt idx="115">
                  <c:v>5.1634389</c:v>
                </c:pt>
                <c:pt idx="116">
                  <c:v>5.163370269</c:v>
                </c:pt>
                <c:pt idx="117">
                  <c:v>5.163306901</c:v>
                </c:pt>
                <c:pt idx="118">
                  <c:v>5.163248423</c:v>
                </c:pt>
                <c:pt idx="119">
                  <c:v>5.163194488</c:v>
                </c:pt>
                <c:pt idx="120">
                  <c:v>5.163144769</c:v>
                </c:pt>
                <c:pt idx="121">
                  <c:v>5.163098962</c:v>
                </c:pt>
                <c:pt idx="122">
                  <c:v>5.163056781</c:v>
                </c:pt>
                <c:pt idx="123">
                  <c:v>5.16301796</c:v>
                </c:pt>
                <c:pt idx="124">
                  <c:v>5.162982251</c:v>
                </c:pt>
                <c:pt idx="125">
                  <c:v>5.162949423</c:v>
                </c:pt>
                <c:pt idx="126">
                  <c:v>5.162919259</c:v>
                </c:pt>
                <c:pt idx="127">
                  <c:v>5.162891559</c:v>
                </c:pt>
                <c:pt idx="128">
                  <c:v>5.162866135</c:v>
                </c:pt>
                <c:pt idx="129">
                  <c:v>5.162842813</c:v>
                </c:pt>
                <c:pt idx="130">
                  <c:v>5.162821433</c:v>
                </c:pt>
                <c:pt idx="131">
                  <c:v>5.162801842</c:v>
                </c:pt>
                <c:pt idx="132">
                  <c:v>5.162783903</c:v>
                </c:pt>
                <c:pt idx="133">
                  <c:v>5.162767485</c:v>
                </c:pt>
                <c:pt idx="134">
                  <c:v>5.162752469</c:v>
                </c:pt>
                <c:pt idx="135">
                  <c:v>5.162738742</c:v>
                </c:pt>
                <c:pt idx="136">
                  <c:v>5.162726203</c:v>
                </c:pt>
                <c:pt idx="137">
                  <c:v>5.162714755</c:v>
                </c:pt>
                <c:pt idx="138">
                  <c:v>5.16270431</c:v>
                </c:pt>
                <c:pt idx="139">
                  <c:v>5.162694787</c:v>
                </c:pt>
                <c:pt idx="140">
                  <c:v>5.16268611</c:v>
                </c:pt>
                <c:pt idx="141">
                  <c:v>5.162678209</c:v>
                </c:pt>
                <c:pt idx="142">
                  <c:v>5.162671021</c:v>
                </c:pt>
                <c:pt idx="143">
                  <c:v>5.162664484</c:v>
                </c:pt>
                <c:pt idx="144">
                  <c:v>5.162658545</c:v>
                </c:pt>
                <c:pt idx="145">
                  <c:v>5.162653154</c:v>
                </c:pt>
                <c:pt idx="146">
                  <c:v>5.162648263</c:v>
                </c:pt>
                <c:pt idx="147">
                  <c:v>5.16264383</c:v>
                </c:pt>
                <c:pt idx="148">
                  <c:v>5.162639814</c:v>
                </c:pt>
                <c:pt idx="149">
                  <c:v>5.162636181</c:v>
                </c:pt>
                <c:pt idx="150">
                  <c:v>5.162632897</c:v>
                </c:pt>
                <c:pt idx="151">
                  <c:v>5.16262993</c:v>
                </c:pt>
                <c:pt idx="152">
                  <c:v>5.162627254</c:v>
                </c:pt>
                <c:pt idx="153">
                  <c:v>5.162624841</c:v>
                </c:pt>
                <c:pt idx="154">
                  <c:v>5.162622668</c:v>
                </c:pt>
                <c:pt idx="155">
                  <c:v>5.162620714</c:v>
                </c:pt>
                <c:pt idx="156">
                  <c:v>5.162618959</c:v>
                </c:pt>
                <c:pt idx="157">
                  <c:v>5.162617384</c:v>
                </c:pt>
                <c:pt idx="158">
                  <c:v>5.162615973</c:v>
                </c:pt>
                <c:pt idx="159">
                  <c:v>5.16261471</c:v>
                </c:pt>
                <c:pt idx="160">
                  <c:v>5.162613582</c:v>
                </c:pt>
              </c:numCache>
            </c:numRef>
          </c:yVal>
        </c:ser>
        <c:ser>
          <c:idx val="1"/>
          <c:order val="1"/>
          <c:tx>
            <c:v>T = 0.05 s, delayed</c:v>
          </c:tx>
          <c:spPr>
            <a:solidFill xmlns:a="http://schemas.openxmlformats.org/drawingml/2006/main">
              <a:srgbClr val="087E8B"/>
            </a:solidFill>
            <a:ln xmlns:a="http://schemas.openxmlformats.org/drawingml/2006/main" w="28575">
              <a:solidFill>
                <a:srgbClr val="087E8B"/>
              </a:solidFill>
              <a:prstDash val="solid"/>
            </a:ln>
          </c:spPr>
          <c:marker>
            <c:symbol val="none"/>
          </c:marker>
          <c:xVal>
            <c:numRef>
              <c:f>'Chart Data'!$C$2:$C$162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Data'!$D$2:$D$162</c:f>
              <c:numCache>
                <c:formatCode>0.0</c:formatCode>
                <c:ptCount val="161"/>
                <c:pt idx="0">
                  <c:v>0</c:v>
                </c:pt>
                <c:pt idx="1">
                  <c:v>0</c:v>
                </c:pt>
                <c:pt idx="2">
                  <c:v>0.01816885702</c:v>
                </c:pt>
                <c:pt idx="3">
                  <c:v>0.1183870004</c:v>
                </c:pt>
                <c:pt idx="4">
                  <c:v>0.3317937807</c:v>
                </c:pt>
                <c:pt idx="5">
                  <c:v>0.6568101284</c:v>
                </c:pt>
                <c:pt idx="6">
                  <c:v>1.069528365</c:v>
                </c:pt>
                <c:pt idx="7">
                  <c:v>1.533945226</c:v>
                </c:pt>
                <c:pt idx="8">
                  <c:v>2.011285884</c:v>
                </c:pt>
                <c:pt idx="9">
                  <c:v>2.467138496</c:v>
                </c:pt>
                <c:pt idx="10">
                  <c:v>2.875920184</c:v>
                </c:pt>
                <c:pt idx="11">
                  <c:v>3.222723486</c:v>
                </c:pt>
                <c:pt idx="12">
                  <c:v>3.502983519</c:v>
                </c:pt>
                <c:pt idx="13">
                  <c:v>3.720619691</c:v>
                </c:pt>
                <c:pt idx="14">
                  <c:v>3.885360236</c:v>
                </c:pt>
                <c:pt idx="15">
                  <c:v>4.009888241</c:v>
                </c:pt>
                <c:pt idx="16">
                  <c:v>4.107299207</c:v>
                </c:pt>
                <c:pt idx="17">
                  <c:v>4.189177065</c:v>
                </c:pt>
                <c:pt idx="18">
                  <c:v>4.264415738</c:v>
                </c:pt>
                <c:pt idx="19">
                  <c:v>4.33876348</c:v>
                </c:pt>
                <c:pt idx="20">
                  <c:v>4.414962214</c:v>
                </c:pt>
                <c:pt idx="21">
                  <c:v>4.493297616</c:v>
                </c:pt>
                <c:pt idx="22">
                  <c:v>4.572363225</c:v>
                </c:pt>
                <c:pt idx="23">
                  <c:v>4.649863005</c:v>
                </c:pt>
                <c:pt idx="24">
                  <c:v>4.723319223</c:v>
                </c:pt>
                <c:pt idx="25">
                  <c:v>4.79060365</c:v>
                </c:pt>
                <c:pt idx="26">
                  <c:v>4.850259823</c:v>
                </c:pt>
                <c:pt idx="27">
                  <c:v>4.901625099</c:v>
                </c:pt>
                <c:pt idx="28">
                  <c:v>4.944789532</c:v>
                </c:pt>
                <c:pt idx="29">
                  <c:v>4.980443508</c:v>
                </c:pt>
                <c:pt idx="30">
                  <c:v>5.009668786</c:v>
                </c:pt>
                <c:pt idx="31">
                  <c:v>5.033721218</c:v>
                </c:pt>
                <c:pt idx="32">
                  <c:v>5.05384136</c:v>
                </c:pt>
                <c:pt idx="33">
                  <c:v>5.071114867</c:v>
                </c:pt>
                <c:pt idx="34">
                  <c:v>5.086390841</c:v>
                </c:pt>
                <c:pt idx="35">
                  <c:v>5.100255107</c:v>
                </c:pt>
                <c:pt idx="36">
                  <c:v>5.113047727</c:v>
                </c:pt>
                <c:pt idx="37">
                  <c:v>5.124910196</c:v>
                </c:pt>
                <c:pt idx="38">
                  <c:v>5.135847158</c:v>
                </c:pt>
                <c:pt idx="39">
                  <c:v>5.145789422</c:v>
                </c:pt>
                <c:pt idx="40">
                  <c:v>5.154648457</c:v>
                </c:pt>
                <c:pt idx="41">
                  <c:v>5.162356566</c:v>
                </c:pt>
                <c:pt idx="42">
                  <c:v>5.168890694</c:v>
                </c:pt>
                <c:pt idx="43">
                  <c:v>5.174280925</c:v>
                </c:pt>
                <c:pt idx="44">
                  <c:v>5.178606726</c:v>
                </c:pt>
                <c:pt idx="45">
                  <c:v>5.181985076</c:v>
                </c:pt>
                <c:pt idx="46">
                  <c:v>5.184554669</c:v>
                </c:pt>
                <c:pt idx="47">
                  <c:v>5.186459838</c:v>
                </c:pt>
                <c:pt idx="48">
                  <c:v>5.187836883</c:v>
                </c:pt>
                <c:pt idx="49">
                  <c:v>5.188804332</c:v>
                </c:pt>
                <c:pt idx="50">
                  <c:v>5.189457674</c:v>
                </c:pt>
                <c:pt idx="51">
                  <c:v>5.189868211</c:v>
                </c:pt>
                <c:pt idx="52">
                  <c:v>5.190085178</c:v>
                </c:pt>
                <c:pt idx="53">
                  <c:v>5.190139954</c:v>
                </c:pt>
                <c:pt idx="54">
                  <c:v>5.190051229</c:v>
                </c:pt>
                <c:pt idx="55">
                  <c:v>5.189830126</c:v>
                </c:pt>
                <c:pt idx="56">
                  <c:v>5.189484551</c:v>
                </c:pt>
                <c:pt idx="57">
                  <c:v>5.18902238</c:v>
                </c:pt>
                <c:pt idx="58">
                  <c:v>5.188453353</c:v>
                </c:pt>
                <c:pt idx="59">
                  <c:v>5.187789779</c:v>
                </c:pt>
                <c:pt idx="60">
                  <c:v>5.187046316</c:v>
                </c:pt>
                <c:pt idx="61">
                  <c:v>5.186239153</c:v>
                </c:pt>
                <c:pt idx="62">
                  <c:v>5.185384905</c:v>
                </c:pt>
                <c:pt idx="63">
                  <c:v>5.184499511</c:v>
                </c:pt>
                <c:pt idx="64">
                  <c:v>5.18359732</c:v>
                </c:pt>
                <c:pt idx="65">
                  <c:v>5.182690485</c:v>
                </c:pt>
                <c:pt idx="66">
                  <c:v>5.181788693</c:v>
                </c:pt>
                <c:pt idx="67">
                  <c:v>5.180899193</c:v>
                </c:pt>
                <c:pt idx="68">
                  <c:v>5.180027062</c:v>
                </c:pt>
                <c:pt idx="69">
                  <c:v>5.179175609</c:v>
                </c:pt>
                <c:pt idx="70">
                  <c:v>5.178346842</c:v>
                </c:pt>
                <c:pt idx="71">
                  <c:v>5.177541908</c:v>
                </c:pt>
                <c:pt idx="72">
                  <c:v>5.176761467</c:v>
                </c:pt>
                <c:pt idx="73">
                  <c:v>5.176005968</c:v>
                </c:pt>
                <c:pt idx="74">
                  <c:v>5.17527582</c:v>
                </c:pt>
                <c:pt idx="75">
                  <c:v>5.174571464</c:v>
                </c:pt>
                <c:pt idx="76">
                  <c:v>5.173893383</c:v>
                </c:pt>
                <c:pt idx="77">
                  <c:v>5.173242055</c:v>
                </c:pt>
                <c:pt idx="78">
                  <c:v>5.172617889</c:v>
                </c:pt>
                <c:pt idx="79">
                  <c:v>5.172021164</c:v>
                </c:pt>
                <c:pt idx="80">
                  <c:v>5.171451971</c:v>
                </c:pt>
                <c:pt idx="81">
                  <c:v>5.17091019</c:v>
                </c:pt>
                <c:pt idx="82">
                  <c:v>5.170395482</c:v>
                </c:pt>
                <c:pt idx="83">
                  <c:v>5.169907307</c:v>
                </c:pt>
                <c:pt idx="84">
                  <c:v>5.169444954</c:v>
                </c:pt>
                <c:pt idx="85">
                  <c:v>5.169007582</c:v>
                </c:pt>
                <c:pt idx="86">
                  <c:v>5.168594262</c:v>
                </c:pt>
                <c:pt idx="87">
                  <c:v>5.16820402</c:v>
                </c:pt>
                <c:pt idx="88">
                  <c:v>5.167835865</c:v>
                </c:pt>
                <c:pt idx="89">
                  <c:v>5.167488816</c:v>
                </c:pt>
                <c:pt idx="90">
                  <c:v>5.167161916</c:v>
                </c:pt>
                <c:pt idx="91">
                  <c:v>5.16685424</c:v>
                </c:pt>
                <c:pt idx="92">
                  <c:v>5.1665649</c:v>
                </c:pt>
                <c:pt idx="93">
                  <c:v>5.166293035</c:v>
                </c:pt>
                <c:pt idx="94">
                  <c:v>5.166037815</c:v>
                </c:pt>
                <c:pt idx="95">
                  <c:v>5.165798432</c:v>
                </c:pt>
                <c:pt idx="96">
                  <c:v>5.165574097</c:v>
                </c:pt>
                <c:pt idx="97">
                  <c:v>5.165364041</c:v>
                </c:pt>
                <c:pt idx="98">
                  <c:v>5.16516751</c:v>
                </c:pt>
                <c:pt idx="99">
                  <c:v>5.164983771</c:v>
                </c:pt>
                <c:pt idx="100">
                  <c:v>5.164812109</c:v>
                </c:pt>
                <c:pt idx="101">
                  <c:v>5.164651834</c:v>
                </c:pt>
                <c:pt idx="102">
                  <c:v>5.16450228</c:v>
                </c:pt>
                <c:pt idx="103">
                  <c:v>5.164362811</c:v>
                </c:pt>
                <c:pt idx="104">
                  <c:v>5.164232816</c:v>
                </c:pt>
                <c:pt idx="105">
                  <c:v>5.164111719</c:v>
                </c:pt>
                <c:pt idx="106">
                  <c:v>5.16399897</c:v>
                </c:pt>
                <c:pt idx="107">
                  <c:v>5.163894051</c:v>
                </c:pt>
                <c:pt idx="108">
                  <c:v>5.163796469</c:v>
                </c:pt>
                <c:pt idx="109">
                  <c:v>5.163705761</c:v>
                </c:pt>
                <c:pt idx="110">
                  <c:v>5.16362149</c:v>
                </c:pt>
                <c:pt idx="111">
                  <c:v>5.163543241</c:v>
                </c:pt>
                <c:pt idx="112">
                  <c:v>5.163470622</c:v>
                </c:pt>
                <c:pt idx="113">
                  <c:v>5.163403265</c:v>
                </c:pt>
                <c:pt idx="114">
                  <c:v>5.163340822</c:v>
                </c:pt>
                <c:pt idx="115">
                  <c:v>5.163282962</c:v>
                </c:pt>
                <c:pt idx="116">
                  <c:v>5.163229375</c:v>
                </c:pt>
                <c:pt idx="117">
                  <c:v>5.163179772</c:v>
                </c:pt>
                <c:pt idx="118">
                  <c:v>5.163133876</c:v>
                </c:pt>
                <c:pt idx="119">
                  <c:v>5.16309143</c:v>
                </c:pt>
                <c:pt idx="120">
                  <c:v>5.163052194</c:v>
                </c:pt>
                <c:pt idx="121">
                  <c:v>5.16301594</c:v>
                </c:pt>
                <c:pt idx="122">
                  <c:v>5.162982458</c:v>
                </c:pt>
                <c:pt idx="123">
                  <c:v>5.16295155</c:v>
                </c:pt>
                <c:pt idx="124">
                  <c:v>5.162923031</c:v>
                </c:pt>
                <c:pt idx="125">
                  <c:v>5.162896728</c:v>
                </c:pt>
                <c:pt idx="126">
                  <c:v>5.162872481</c:v>
                </c:pt>
                <c:pt idx="127">
                  <c:v>5.162850139</c:v>
                </c:pt>
                <c:pt idx="128">
                  <c:v>5.162829562</c:v>
                </c:pt>
                <c:pt idx="129">
                  <c:v>5.162810619</c:v>
                </c:pt>
                <c:pt idx="130">
                  <c:v>5.16279319</c:v>
                </c:pt>
                <c:pt idx="131">
                  <c:v>5.162777159</c:v>
                </c:pt>
                <c:pt idx="132">
                  <c:v>5.162762423</c:v>
                </c:pt>
                <c:pt idx="133">
                  <c:v>5.162748882</c:v>
                </c:pt>
                <c:pt idx="134">
                  <c:v>5.162736446</c:v>
                </c:pt>
                <c:pt idx="135">
                  <c:v>5.16272503</c:v>
                </c:pt>
                <c:pt idx="136">
                  <c:v>5.162714555</c:v>
                </c:pt>
                <c:pt idx="137">
                  <c:v>5.162704948</c:v>
                </c:pt>
                <c:pt idx="138">
                  <c:v>5.162696141</c:v>
                </c:pt>
                <c:pt idx="139">
                  <c:v>5.162688072</c:v>
                </c:pt>
                <c:pt idx="140">
                  <c:v>5.162680682</c:v>
                </c:pt>
                <c:pt idx="141">
                  <c:v>5.162673918</c:v>
                </c:pt>
                <c:pt idx="142">
                  <c:v>5.16266773</c:v>
                </c:pt>
                <c:pt idx="143">
                  <c:v>5.162662071</c:v>
                </c:pt>
                <c:pt idx="144">
                  <c:v>5.162656899</c:v>
                </c:pt>
                <c:pt idx="145">
                  <c:v>5.162652175</c:v>
                </c:pt>
                <c:pt idx="146">
                  <c:v>5.162647863</c:v>
                </c:pt>
                <c:pt idx="147">
                  <c:v>5.162643927</c:v>
                </c:pt>
                <c:pt idx="148">
                  <c:v>5.162640339</c:v>
                </c:pt>
                <c:pt idx="149">
                  <c:v>5.162637068</c:v>
                </c:pt>
                <c:pt idx="150">
                  <c:v>5.162634089</c:v>
                </c:pt>
                <c:pt idx="151">
                  <c:v>5.162631377</c:v>
                </c:pt>
                <c:pt idx="152">
                  <c:v>5.162628909</c:v>
                </c:pt>
                <c:pt idx="153">
                  <c:v>5.162626665</c:v>
                </c:pt>
                <c:pt idx="154">
                  <c:v>5.162624627</c:v>
                </c:pt>
                <c:pt idx="155">
                  <c:v>5.162622776</c:v>
                </c:pt>
                <c:pt idx="156">
                  <c:v>5.162621096</c:v>
                </c:pt>
                <c:pt idx="157">
                  <c:v>5.162619573</c:v>
                </c:pt>
                <c:pt idx="158">
                  <c:v>5.162618193</c:v>
                </c:pt>
                <c:pt idx="159">
                  <c:v>5.162616943</c:v>
                </c:pt>
                <c:pt idx="160">
                  <c:v>5.162615812</c:v>
                </c:pt>
              </c:numCache>
            </c:numRef>
          </c:yVal>
        </c:ser>
        <c:ser>
          <c:idx val="2"/>
          <c:order val="2"/>
          <c:tx>
            <c:v>T = 0.10 s, delayed</c:v>
          </c:tx>
          <c:spPr>
            <a:solidFill xmlns:a="http://schemas.openxmlformats.org/drawingml/2006/main">
              <a:srgbClr val="D66A2C"/>
            </a:solidFill>
            <a:ln xmlns:a="http://schemas.openxmlformats.org/drawingml/2006/main" w="28575">
              <a:solidFill>
                <a:srgbClr val="D66A2C"/>
              </a:solidFill>
              <a:prstDash val="solid"/>
            </a:ln>
          </c:spPr>
          <c:marker>
            <c:symbol val="none"/>
          </c:marker>
          <c:xVal>
            <c:numRef>
              <c:f>'Chart Data'!$E$2:$E$82</c:f>
              <c:numCache>
                <c:formatCode>General</c:formatCode>
                <c:ptCount val="8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numCache>
            </c:numRef>
          </c:xVal>
          <c:yVal>
            <c:numRef>
              <c:f>'Chart Data'!$F$2:$F$82</c:f>
              <c:numCache>
                <c:formatCode>0.0</c:formatCode>
                <c:ptCount val="81"/>
                <c:pt idx="0">
                  <c:v>0</c:v>
                </c:pt>
                <c:pt idx="1">
                  <c:v>0</c:v>
                </c:pt>
                <c:pt idx="2">
                  <c:v>0.1183870004</c:v>
                </c:pt>
                <c:pt idx="3">
                  <c:v>0.6765091766</c:v>
                </c:pt>
                <c:pt idx="4">
                  <c:v>1.705909569</c:v>
                </c:pt>
                <c:pt idx="5">
                  <c:v>2.999980773</c:v>
                </c:pt>
                <c:pt idx="6">
                  <c:v>4.215743496</c:v>
                </c:pt>
                <c:pt idx="7">
                  <c:v>5.031948694</c:v>
                </c:pt>
                <c:pt idx="8">
                  <c:v>5.283287254</c:v>
                </c:pt>
                <c:pt idx="9">
                  <c:v>5.02108148</c:v>
                </c:pt>
                <c:pt idx="10">
                  <c:v>4.4807038</c:v>
                </c:pt>
                <c:pt idx="11">
                  <c:v>3.976087935</c:v>
                </c:pt>
                <c:pt idx="12">
                  <c:v>3.769552459</c:v>
                </c:pt>
                <c:pt idx="13">
                  <c:v>3.971655859</c:v>
                </c:pt>
                <c:pt idx="14">
                  <c:v>4.509569541</c:v>
                </c:pt>
                <c:pt idx="15">
                  <c:v>5.171821587</c:v>
                </c:pt>
                <c:pt idx="16">
                  <c:v>5.705697246</c:v>
                </c:pt>
                <c:pt idx="17">
                  <c:v>5.923959419</c:v>
                </c:pt>
                <c:pt idx="18">
                  <c:v>5.776953337</c:v>
                </c:pt>
                <c:pt idx="19">
                  <c:v>5.363427647</c:v>
                </c:pt>
                <c:pt idx="20">
                  <c:v>4.880219804</c:v>
                </c:pt>
                <c:pt idx="21">
                  <c:v>4.535737119</c:v>
                </c:pt>
                <c:pt idx="22">
                  <c:v>4.465012347</c:v>
                </c:pt>
                <c:pt idx="23">
                  <c:v>4.680691072</c:v>
                </c:pt>
                <c:pt idx="24">
                  <c:v>5.077202349</c:v>
                </c:pt>
                <c:pt idx="25">
                  <c:v>5.482519417</c:v>
                </c:pt>
                <c:pt idx="26">
                  <c:v>5.733022767</c:v>
                </c:pt>
                <c:pt idx="27">
                  <c:v>5.739406857</c:v>
                </c:pt>
                <c:pt idx="28">
                  <c:v>5.517562241</c:v>
                </c:pt>
                <c:pt idx="29">
                  <c:v>5.174488971</c:v>
                </c:pt>
                <c:pt idx="30">
                  <c:v>4.858268687</c:v>
                </c:pt>
                <c:pt idx="31">
                  <c:v>4.695036847</c:v>
                </c:pt>
                <c:pt idx="32">
                  <c:v>4.739481008</c:v>
                </c:pt>
                <c:pt idx="33">
                  <c:v>4.957952181</c:v>
                </c:pt>
                <c:pt idx="34">
                  <c:v>5.248642398</c:v>
                </c:pt>
                <c:pt idx="35">
                  <c:v>5.487918264</c:v>
                </c:pt>
                <c:pt idx="36">
                  <c:v>5.582092916</c:v>
                </c:pt>
                <c:pt idx="37">
                  <c:v>5.503236943</c:v>
                </c:pt>
                <c:pt idx="38">
                  <c:v>5.295677434</c:v>
                </c:pt>
                <c:pt idx="39">
                  <c:v>5.052706444</c:v>
                </c:pt>
                <c:pt idx="40">
                  <c:v>4.875139269</c:v>
                </c:pt>
                <c:pt idx="41">
                  <c:v>4.829868694</c:v>
                </c:pt>
                <c:pt idx="42">
                  <c:v>4.925227731</c:v>
                </c:pt>
                <c:pt idx="43">
                  <c:v>5.111918123</c:v>
                </c:pt>
                <c:pt idx="44">
                  <c:v>5.307247147</c:v>
                </c:pt>
                <c:pt idx="45">
                  <c:v>5.431126623</c:v>
                </c:pt>
                <c:pt idx="46">
                  <c:v>5.438366393</c:v>
                </c:pt>
                <c:pt idx="47">
                  <c:v>5.334435684</c:v>
                </c:pt>
                <c:pt idx="48">
                  <c:v>5.1695155</c:v>
                </c:pt>
                <c:pt idx="49">
                  <c:v>5.014851977</c:v>
                </c:pt>
                <c:pt idx="50">
                  <c:v>4.932304907</c:v>
                </c:pt>
                <c:pt idx="51">
                  <c:v>4.949944332</c:v>
                </c:pt>
                <c:pt idx="52">
                  <c:v>5.053149073</c:v>
                </c:pt>
                <c:pt idx="53">
                  <c:v>5.193677342</c:v>
                </c:pt>
                <c:pt idx="54">
                  <c:v>5.311707737</c:v>
                </c:pt>
                <c:pt idx="55">
                  <c:v>5.360955683</c:v>
                </c:pt>
                <c:pt idx="56">
                  <c:v>5.326450943</c:v>
                </c:pt>
                <c:pt idx="57">
                  <c:v>5.228305015</c:v>
                </c:pt>
                <c:pt idx="58">
                  <c:v>5.110971061</c:v>
                </c:pt>
                <c:pt idx="59">
                  <c:v>5.023420357</c:v>
                </c:pt>
                <c:pt idx="60">
                  <c:v>4.998944711</c:v>
                </c:pt>
                <c:pt idx="61">
                  <c:v>5.042805203</c:v>
                </c:pt>
                <c:pt idx="62">
                  <c:v>5.132160018</c:v>
                </c:pt>
                <c:pt idx="63">
                  <c:v>5.227397155</c:v>
                </c:pt>
                <c:pt idx="64">
                  <c:v>5.289435915</c:v>
                </c:pt>
                <c:pt idx="65">
                  <c:v>5.295539909</c:v>
                </c:pt>
                <c:pt idx="66">
                  <c:v>5.247336797</c:v>
                </c:pt>
                <c:pt idx="67">
                  <c:v>5.168365092</c:v>
                </c:pt>
                <c:pt idx="68">
                  <c:v>5.092913707</c:v>
                </c:pt>
                <c:pt idx="69">
                  <c:v>5.051321971</c:v>
                </c:pt>
                <c:pt idx="70">
                  <c:v>5.05796337</c:v>
                </c:pt>
                <c:pt idx="71">
                  <c:v>5.106589744</c:v>
                </c:pt>
                <c:pt idx="72">
                  <c:v>5.174382933</c:v>
                </c:pt>
                <c:pt idx="73">
                  <c:v>5.232429679</c:v>
                </c:pt>
                <c:pt idx="74">
                  <c:v>5.257898211</c:v>
                </c:pt>
                <c:pt idx="75">
                  <c:v>5.242852035</c:v>
                </c:pt>
                <c:pt idx="76">
                  <c:v>5.196373201</c:v>
                </c:pt>
                <c:pt idx="77">
                  <c:v>5.139626047</c:v>
                </c:pt>
                <c:pt idx="78">
                  <c:v>5.096383154</c:v>
                </c:pt>
                <c:pt idx="79">
                  <c:v>5.083190414</c:v>
                </c:pt>
                <c:pt idx="80">
                  <c:v>5.103187133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5"/>
          <c:min val="0"/>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θ (°)</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majorUnit val="1"/>
      </c:valAx>
      <c:valAx>
        <c:axId val="48650112"/>
        <c:scaling>
          <c:orientation val="minMax"/>
          <c:max val="8"/>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Time (s)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0"/>
        <c:majorUnit val="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3283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Sampling limit with variable mass</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barChart>
        <c:barDir val="col"/>
        <c:grouping val="clustered"/>
        <c:varyColors val="0"/>
        <c:ser>
          <c:idx val="0"/>
          <c:order val="0"/>
          <c:tx>
            <c:v>Fixed gains</c:v>
          </c:tx>
          <c:spPr>
            <a:solidFill xmlns:a="http://schemas.openxmlformats.org/drawingml/2006/main">
              <a:srgbClr val="B6C3CC"/>
            </a:solidFill>
          </c:spPr>
          <c:invertIfNegative val="0"/>
          <c:cat>
            <c:strRef>
              <c:f>'Chart Data'!$A$2:$A$3</c:f>
              <c:strCache>
                <c:ptCount val="2"/>
                <c:pt idx="0">
                  <c:v>Initial mass</c:v>
                </c:pt>
                <c:pt idx="1">
                  <c:v>Half the initial mass</c:v>
                </c:pt>
              </c:strCache>
            </c:strRef>
          </c:cat>
          <c:val>
            <c:numRef>
              <c:f>'Chart Data'!$B$2:$B$3</c:f>
              <c:numCache>
                <c:formatCode>0.00</c:formatCode>
                <c:ptCount val="2"/>
                <c:pt idx="0">
                  <c:v>0.113554</c:v>
                </c:pt>
                <c:pt idx="1">
                  <c:v>0.057637</c:v>
                </c:pt>
              </c:numCache>
            </c:numRef>
          </c:val>
        </c:ser>
        <c:ser>
          <c:idx val="1"/>
          <c:order val="1"/>
          <c:tx>
            <c:v>Gains / ρ</c:v>
          </c:tx>
          <c:spPr>
            <a:solidFill xmlns:a="http://schemas.openxmlformats.org/drawingml/2006/main">
              <a:srgbClr val="087E8B"/>
            </a:solidFill>
          </c:spPr>
          <c:invertIfNegative val="0"/>
          <c:cat>
            <c:strRef>
              <c:f>'Chart Data'!$C$2:$C$3</c:f>
              <c:strCache>
                <c:ptCount val="2"/>
                <c:pt idx="0">
                  <c:v>Initial mass</c:v>
                </c:pt>
                <c:pt idx="1">
                  <c:v>Half the initial mass</c:v>
                </c:pt>
              </c:strCache>
            </c:strRef>
          </c:cat>
          <c:val>
            <c:numRef>
              <c:f>'Chart Data'!$D$2:$D$3</c:f>
              <c:numCache>
                <c:formatCode>0.00</c:formatCode>
                <c:ptCount val="2"/>
                <c:pt idx="0">
                  <c:v>0.113554</c:v>
                </c:pt>
                <c:pt idx="1">
                  <c:v>0.122867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725">
                  <a:solidFill>
                    <a:srgbClr val="13283C"/>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16474"/>
                </a:solidFill>
                <a:latin typeface="Arial"/>
                <a:ea typeface="Arial"/>
                <a:cs typeface="Arial"/>
              </a:defRPr>
            </a:pPr>
          </a:p>
        </c:txPr>
        <c:crossAx val="48672768"/>
      </c:catAx>
      <c:valAx>
        <c:axId val="48672768"/>
        <c:scaling>
          <c:orientation val="minMax"/>
          <c:max val="0.15"/>
          <c:min val="0"/>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Maximum T with delay (s)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Between val="between"/>
        <c:majorUnit val="0.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13283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5 s pulse</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line"/>
        <c:varyColors val="0"/>
        <c:ser>
          <c:idx val="0"/>
          <c:order val="0"/>
          <c:tx>
            <c:v>θ</c:v>
          </c:tx>
          <c:spPr>
            <a:solidFill xmlns:a="http://schemas.openxmlformats.org/drawingml/2006/main">
              <a:srgbClr val="087E8B"/>
            </a:solidFill>
            <a:ln xmlns:a="http://schemas.openxmlformats.org/drawingml/2006/main" w="28575">
              <a:solidFill>
                <a:srgbClr val="087E8B"/>
              </a:solidFill>
              <a:prstDash val="solid"/>
            </a:ln>
          </c:spPr>
          <c:marker>
            <c:symbol val="none"/>
          </c:marker>
          <c:xVal>
            <c:numRef>
              <c:f>'Chart Data'!$A$2:$A$122</c:f>
              <c:numCache>
                <c:formatCode>General</c:formatCode>
                <c:ptCount val="12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pt idx="101">
                  <c:v>10.1</c:v>
                </c:pt>
                <c:pt idx="102">
                  <c:v>10.2</c:v>
                </c:pt>
                <c:pt idx="103">
                  <c:v>10.3</c:v>
                </c:pt>
                <c:pt idx="104">
                  <c:v>10.4</c:v>
                </c:pt>
                <c:pt idx="105">
                  <c:v>10.5</c:v>
                </c:pt>
                <c:pt idx="106">
                  <c:v>10.6</c:v>
                </c:pt>
                <c:pt idx="107">
                  <c:v>10.7</c:v>
                </c:pt>
                <c:pt idx="108">
                  <c:v>10.8</c:v>
                </c:pt>
                <c:pt idx="109">
                  <c:v>10.9</c:v>
                </c:pt>
                <c:pt idx="110">
                  <c:v>11</c:v>
                </c:pt>
                <c:pt idx="111">
                  <c:v>11.1</c:v>
                </c:pt>
                <c:pt idx="112">
                  <c:v>11.2</c:v>
                </c:pt>
                <c:pt idx="113">
                  <c:v>11.3</c:v>
                </c:pt>
                <c:pt idx="114">
                  <c:v>11.4</c:v>
                </c:pt>
                <c:pt idx="115">
                  <c:v>11.5</c:v>
                </c:pt>
                <c:pt idx="116">
                  <c:v>11.6</c:v>
                </c:pt>
                <c:pt idx="117">
                  <c:v>11.7</c:v>
                </c:pt>
                <c:pt idx="118">
                  <c:v>11.8</c:v>
                </c:pt>
                <c:pt idx="119">
                  <c:v>11.9</c:v>
                </c:pt>
                <c:pt idx="120">
                  <c:v>12</c:v>
                </c:pt>
              </c:numCache>
            </c:numRef>
          </c:xVal>
          <c:yVal>
            <c:numRef>
              <c:f>'Chart Data'!$B$2:$B$122</c:f>
              <c:numCache>
                <c:formatCode>0.0</c:formatCode>
                <c:ptCount val="121"/>
                <c:pt idx="0">
                  <c:v>0</c:v>
                </c:pt>
                <c:pt idx="1">
                  <c:v>0.008908493254</c:v>
                </c:pt>
                <c:pt idx="2">
                  <c:v>0.04823687919</c:v>
                </c:pt>
                <c:pt idx="3">
                  <c:v>0.1162326604</c:v>
                </c:pt>
                <c:pt idx="4">
                  <c:v>0.2044815538</c:v>
                </c:pt>
                <c:pt idx="5">
                  <c:v>0.305009563</c:v>
                </c:pt>
                <c:pt idx="6">
                  <c:v>0.4113049287</c:v>
                </c:pt>
                <c:pt idx="7">
                  <c:v>0.5182876557</c:v>
                </c:pt>
                <c:pt idx="8">
                  <c:v>0.6221176096</c:v>
                </c:pt>
                <c:pt idx="9">
                  <c:v>0.7199967755</c:v>
                </c:pt>
                <c:pt idx="10">
                  <c:v>0.809990888</c:v>
                </c:pt>
                <c:pt idx="11">
                  <c:v>0.8908728018</c:v>
                </c:pt>
                <c:pt idx="12">
                  <c:v>0.9619861741</c:v>
                </c:pt>
                <c:pt idx="13">
                  <c:v>1.023127562</c:v>
                </c:pt>
                <c:pt idx="14">
                  <c:v>1.074445115</c:v>
                </c:pt>
                <c:pt idx="15">
                  <c:v>1.116352186</c:v>
                </c:pt>
                <c:pt idx="16">
                  <c:v>1.14945431</c:v>
                </c:pt>
                <c:pt idx="17">
                  <c:v>1.174488135</c:v>
                </c:pt>
                <c:pt idx="18">
                  <c:v>1.192270958</c:v>
                </c:pt>
                <c:pt idx="19">
                  <c:v>1.203659645</c:v>
                </c:pt>
                <c:pt idx="20">
                  <c:v>1.20951779</c:v>
                </c:pt>
                <c:pt idx="21">
                  <c:v>1.210690043</c:v>
                </c:pt>
                <c:pt idx="22">
                  <c:v>1.207982644</c:v>
                </c:pt>
                <c:pt idx="23">
                  <c:v>1.202149249</c:v>
                </c:pt>
                <c:pt idx="24">
                  <c:v>1.193881244</c:v>
                </c:pt>
                <c:pt idx="25">
                  <c:v>1.183801805</c:v>
                </c:pt>
                <c:pt idx="26">
                  <c:v>1.172463032</c:v>
                </c:pt>
                <c:pt idx="27">
                  <c:v>1.16034557</c:v>
                </c:pt>
                <c:pt idx="28">
                  <c:v>1.147860191</c:v>
                </c:pt>
                <c:pt idx="29">
                  <c:v>1.135350885</c:v>
                </c:pt>
                <c:pt idx="30">
                  <c:v>1.123099051</c:v>
                </c:pt>
                <c:pt idx="31">
                  <c:v>1.111328463</c:v>
                </c:pt>
                <c:pt idx="32">
                  <c:v>1.100210715</c:v>
                </c:pt>
                <c:pt idx="33">
                  <c:v>1.08987091</c:v>
                </c:pt>
                <c:pt idx="34">
                  <c:v>1.080393404</c:v>
                </c:pt>
                <c:pt idx="35">
                  <c:v>1.071827437</c:v>
                </c:pt>
                <c:pt idx="36">
                  <c:v>1.064192547</c:v>
                </c:pt>
                <c:pt idx="37">
                  <c:v>1.057483663</c:v>
                </c:pt>
                <c:pt idx="38">
                  <c:v>1.051675818</c:v>
                </c:pt>
                <c:pt idx="39">
                  <c:v>1.046728449</c:v>
                </c:pt>
                <c:pt idx="40">
                  <c:v>1.042589237</c:v>
                </c:pt>
                <c:pt idx="41">
                  <c:v>1.039197513</c:v>
                </c:pt>
                <c:pt idx="42">
                  <c:v>1.036487207</c:v>
                </c:pt>
                <c:pt idx="43">
                  <c:v>1.034389364</c:v>
                </c:pt>
                <c:pt idx="44">
                  <c:v>1.032834263</c:v>
                </c:pt>
                <c:pt idx="45">
                  <c:v>1.03175314</c:v>
                </c:pt>
                <c:pt idx="46">
                  <c:v>1.031079575</c:v>
                </c:pt>
                <c:pt idx="47">
                  <c:v>1.030750557</c:v>
                </c:pt>
                <c:pt idx="48">
                  <c:v>1.030707271</c:v>
                </c:pt>
                <c:pt idx="49">
                  <c:v>1.030895638</c:v>
                </c:pt>
                <c:pt idx="50">
                  <c:v>1.031266651</c:v>
                </c:pt>
                <c:pt idx="51">
                  <c:v>1.022868026</c:v>
                </c:pt>
                <c:pt idx="52">
                  <c:v>0.9841497991</c:v>
                </c:pt>
                <c:pt idx="53">
                  <c:v>0.9168310097</c:v>
                </c:pt>
                <c:pt idx="54">
                  <c:v>0.8292973791</c:v>
                </c:pt>
                <c:pt idx="55">
                  <c:v>0.7294989549</c:v>
                </c:pt>
                <c:pt idx="56">
                  <c:v>0.6239278259</c:v>
                </c:pt>
                <c:pt idx="57">
                  <c:v>0.5176482265</c:v>
                </c:pt>
                <c:pt idx="58">
                  <c:v>0.4144880514</c:v>
                </c:pt>
                <c:pt idx="59">
                  <c:v>0.3172362034</c:v>
                </c:pt>
                <c:pt idx="60">
                  <c:v>0.2278205714</c:v>
                </c:pt>
                <c:pt idx="61">
                  <c:v>0.1474642821</c:v>
                </c:pt>
                <c:pt idx="62">
                  <c:v>0.07682165632</c:v>
                </c:pt>
                <c:pt idx="63">
                  <c:v>0.01609577481</c:v>
                </c:pt>
                <c:pt idx="64">
                  <c:v>-0.03486052514</c:v>
                </c:pt>
                <c:pt idx="65">
                  <c:v>-0.07645854182</c:v>
                </c:pt>
                <c:pt idx="66">
                  <c:v>-0.1093009444</c:v>
                </c:pt>
                <c:pt idx="67">
                  <c:v>-0.1341209205</c:v>
                </c:pt>
                <c:pt idx="68">
                  <c:v>-0.15173191</c:v>
                </c:pt>
                <c:pt idx="69">
                  <c:v>-0.1629866911</c:v>
                </c:pt>
                <c:pt idx="70">
                  <c:v>-0.1687446758</c:v>
                </c:pt>
                <c:pt idx="71">
                  <c:v>-0.1698463558</c:v>
                </c:pt>
                <c:pt idx="72">
                  <c:v>-0.1670939243</c:v>
                </c:pt>
                <c:pt idx="73">
                  <c:v>-0.1612371773</c:v>
                </c:pt>
                <c:pt idx="74">
                  <c:v>-0.1529638817</c:v>
                </c:pt>
                <c:pt idx="75">
                  <c:v>-0.1428938695</c:v>
                </c:pt>
                <c:pt idx="76">
                  <c:v>-0.1315761983</c:v>
                </c:pt>
                <c:pt idx="77">
                  <c:v>-0.1194887845</c:v>
                </c:pt>
                <c:pt idx="78">
                  <c:v>-0.1070399899</c:v>
                </c:pt>
                <c:pt idx="79">
                  <c:v>-0.0945717035</c:v>
                </c:pt>
                <c:pt idx="80">
                  <c:v>-0.08236352555</c:v>
                </c:pt>
                <c:pt idx="81">
                  <c:v>-0.0706377148</c:v>
                </c:pt>
                <c:pt idx="82">
                  <c:v>-0.05956461477</c:v>
                </c:pt>
                <c:pt idx="83">
                  <c:v>-0.04926832213</c:v>
                </c:pt>
                <c:pt idx="84">
                  <c:v>-0.03983240384</c:v>
                </c:pt>
                <c:pt idx="85">
                  <c:v>-0.03130550887</c:v>
                </c:pt>
                <c:pt idx="86">
                  <c:v>-0.02370675448</c:v>
                </c:pt>
                <c:pt idx="87">
                  <c:v>-0.01703079762</c:v>
                </c:pt>
                <c:pt idx="88">
                  <c:v>-0.01125252754</c:v>
                </c:pt>
                <c:pt idx="89">
                  <c:v>-0.006331338564</c:v>
                </c:pt>
                <c:pt idx="90">
                  <c:v>-0.002214960219</c:v>
                </c:pt>
                <c:pt idx="91">
                  <c:v>0.001157162547</c:v>
                </c:pt>
                <c:pt idx="92">
                  <c:v>0.003850933692</c:v>
                </c:pt>
                <c:pt idx="93">
                  <c:v>0.005935099971</c:v>
                </c:pt>
                <c:pt idx="94">
                  <c:v>0.00747915178</c:v>
                </c:pt>
                <c:pt idx="95">
                  <c:v>0.008551602965</c:v>
                </c:pt>
                <c:pt idx="96">
                  <c:v>0.009218617898</c:v>
                </c:pt>
                <c:pt idx="97">
                  <c:v>0.009542951939</c:v>
                </c:pt>
                <c:pt idx="98">
                  <c:v>0.009583170469</c:v>
                </c:pt>
                <c:pt idx="99">
                  <c:v>0.009393111767</c:v>
                </c:pt>
                <c:pt idx="100">
                  <c:v>0.009021559888</c:v>
                </c:pt>
                <c:pt idx="101">
                  <c:v>0.008512095256</c:v>
                </c:pt>
                <c:pt idx="102">
                  <c:v>0.007903092666</c:v>
                </c:pt>
                <c:pt idx="103">
                  <c:v>0.007227838756</c:v>
                </c:pt>
                <c:pt idx="104">
                  <c:v>0.006514743528</c:v>
                </c:pt>
                <c:pt idx="105">
                  <c:v>0.005787623182</c:v>
                </c:pt>
                <c:pt idx="106">
                  <c:v>0.005066034185</c:v>
                </c:pt>
                <c:pt idx="107">
                  <c:v>0.004365641145</c:v>
                </c:pt>
                <c:pt idx="108">
                  <c:v>0.003698603611</c:v>
                </c:pt>
                <c:pt idx="109">
                  <c:v>0.003073969294</c:v>
                </c:pt>
                <c:pt idx="110">
                  <c:v>0.00249806346</c:v>
                </c:pt>
                <c:pt idx="111">
                  <c:v>0.001974866285</c:v>
                </c:pt>
                <c:pt idx="112">
                  <c:v>0.001506371803</c:v>
                </c:pt>
                <c:pt idx="113">
                  <c:v>0.001092923711</c:v>
                </c:pt>
                <c:pt idx="114">
                  <c:v>0.000733524749</c:v>
                </c:pt>
                <c:pt idx="115">
                  <c:v>0.0004261175924</c:v>
                </c:pt>
                <c:pt idx="116">
                  <c:v>0.0001678362522</c:v>
                </c:pt>
                <c:pt idx="117">
                  <c:v>-4.477215235E-05</c:v>
                </c:pt>
                <c:pt idx="118">
                  <c:v>-0.0002155546763</c:v>
                </c:pt>
                <c:pt idx="119">
                  <c:v>-0.0003485877551</c:v>
                </c:pt>
                <c:pt idx="120">
                  <c:v>-0.0004480387752</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5"/>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θ (rad)</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Time (s)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0.5"/>
        <c:majorUnit val="4"/>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Sine wave sin(t)</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line"/>
        <c:varyColors val="0"/>
        <c:ser>
          <c:idx val="0"/>
          <c:order val="0"/>
          <c:tx>
            <c:v>θ</c:v>
          </c:tx>
          <c:spPr>
            <a:solidFill xmlns:a="http://schemas.openxmlformats.org/drawingml/2006/main">
              <a:srgbClr val="D66A2C"/>
            </a:solidFill>
            <a:ln xmlns:a="http://schemas.openxmlformats.org/drawingml/2006/main" w="28575">
              <a:solidFill>
                <a:srgbClr val="D66A2C"/>
              </a:solidFill>
              <a:prstDash val="solid"/>
            </a:ln>
          </c:spPr>
          <c:marker>
            <c:symbol val="none"/>
          </c:marker>
          <c:xVal>
            <c:numRef>
              <c:f>'Chart Data'!$A$2:$A$122</c:f>
              <c:numCache>
                <c:formatCode>General</c:formatCode>
                <c:ptCount val="12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pt idx="101">
                  <c:v>10.1</c:v>
                </c:pt>
                <c:pt idx="102">
                  <c:v>10.2</c:v>
                </c:pt>
                <c:pt idx="103">
                  <c:v>10.3</c:v>
                </c:pt>
                <c:pt idx="104">
                  <c:v>10.4</c:v>
                </c:pt>
                <c:pt idx="105">
                  <c:v>10.5</c:v>
                </c:pt>
                <c:pt idx="106">
                  <c:v>10.6</c:v>
                </c:pt>
                <c:pt idx="107">
                  <c:v>10.7</c:v>
                </c:pt>
                <c:pt idx="108">
                  <c:v>10.8</c:v>
                </c:pt>
                <c:pt idx="109">
                  <c:v>10.9</c:v>
                </c:pt>
                <c:pt idx="110">
                  <c:v>11</c:v>
                </c:pt>
                <c:pt idx="111">
                  <c:v>11.1</c:v>
                </c:pt>
                <c:pt idx="112">
                  <c:v>11.2</c:v>
                </c:pt>
                <c:pt idx="113">
                  <c:v>11.3</c:v>
                </c:pt>
                <c:pt idx="114">
                  <c:v>11.4</c:v>
                </c:pt>
                <c:pt idx="115">
                  <c:v>11.5</c:v>
                </c:pt>
                <c:pt idx="116">
                  <c:v>11.6</c:v>
                </c:pt>
                <c:pt idx="117">
                  <c:v>11.7</c:v>
                </c:pt>
                <c:pt idx="118">
                  <c:v>11.8</c:v>
                </c:pt>
                <c:pt idx="119">
                  <c:v>11.9</c:v>
                </c:pt>
                <c:pt idx="120">
                  <c:v>12</c:v>
                </c:pt>
              </c:numCache>
            </c:numRef>
          </c:xVal>
          <c:yVal>
            <c:numRef>
              <c:f>'Chart Data'!$B$2:$B$122</c:f>
              <c:numCache>
                <c:formatCode>0.0</c:formatCode>
                <c:ptCount val="121"/>
                <c:pt idx="0">
                  <c:v>0</c:v>
                </c:pt>
                <c:pt idx="1">
                  <c:v>0.0002432614777</c:v>
                </c:pt>
                <c:pt idx="2">
                  <c:v>0.002825547943</c:v>
                </c:pt>
                <c:pt idx="3">
                  <c:v>0.01079993036</c:v>
                </c:pt>
                <c:pt idx="4">
                  <c:v>0.0265370963</c:v>
                </c:pt>
                <c:pt idx="5">
                  <c:v>0.05149273327</c:v>
                </c:pt>
                <c:pt idx="6">
                  <c:v>0.08630577253</c:v>
                </c:pt>
                <c:pt idx="7">
                  <c:v>0.1309394063</c:v>
                </c:pt>
                <c:pt idx="8">
                  <c:v>0.1848151359</c:v>
                </c:pt>
                <c:pt idx="9">
                  <c:v>0.2469323389</c:v>
                </c:pt>
                <c:pt idx="10">
                  <c:v>0.315973219</c:v>
                </c:pt>
                <c:pt idx="11">
                  <c:v>0.3903942095</c:v>
                </c:pt>
                <c:pt idx="12">
                  <c:v>0.4685050242</c:v>
                </c:pt>
                <c:pt idx="13">
                  <c:v>0.5485365013</c:v>
                </c:pt>
                <c:pt idx="14">
                  <c:v>0.6286983063</c:v>
                </c:pt>
                <c:pt idx="15">
                  <c:v>0.707227492</c:v>
                </c:pt>
                <c:pt idx="16">
                  <c:v>0.7824288386</c:v>
                </c:pt>
                <c:pt idx="17">
                  <c:v>0.8527078367</c:v>
                </c:pt>
                <c:pt idx="18">
                  <c:v>0.9165971061</c:v>
                </c:pt>
                <c:pt idx="19">
                  <c:v>0.9727769849</c:v>
                </c:pt>
                <c:pt idx="20">
                  <c:v>1.020090963</c:v>
                </c:pt>
                <c:pt idx="21">
                  <c:v>1.057556571</c:v>
                </c:pt>
                <c:pt idx="22">
                  <c:v>1.084372287</c:v>
                </c:pt>
                <c:pt idx="23">
                  <c:v>1.099920962</c:v>
                </c:pt>
                <c:pt idx="24">
                  <c:v>1.103770221</c:v>
                </c:pt>
                <c:pt idx="25">
                  <c:v>1.095670238</c:v>
                </c:pt>
                <c:pt idx="26">
                  <c:v>1.075549258</c:v>
                </c:pt>
                <c:pt idx="27">
                  <c:v>1.043507183</c:v>
                </c:pt>
                <c:pt idx="28">
                  <c:v>0.9998075022</c:v>
                </c:pt>
                <c:pt idx="29">
                  <c:v>0.9448678288</c:v>
                </c:pt>
                <c:pt idx="30">
                  <c:v>0.8792492605</c:v>
                </c:pt>
                <c:pt idx="31">
                  <c:v>0.8036447678</c:v>
                </c:pt>
                <c:pt idx="32">
                  <c:v>0.7188667865</c:v>
                </c:pt>
                <c:pt idx="33">
                  <c:v>0.6258341729</c:v>
                </c:pt>
                <c:pt idx="34">
                  <c:v>0.5255586689</c:v>
                </c:pt>
                <c:pt idx="35">
                  <c:v>0.4191310076</c:v>
                </c:pt>
                <c:pt idx="36">
                  <c:v>0.3077067817</c:v>
                </c:pt>
                <c:pt idx="37">
                  <c:v>0.1924921891</c:v>
                </c:pt>
                <c:pt idx="38">
                  <c:v>0.07472976316</c:v>
                </c:pt>
                <c:pt idx="39">
                  <c:v>-0.04431581089</c:v>
                </c:pt>
                <c:pt idx="40">
                  <c:v>-0.1633716934</c:v>
                </c:pt>
                <c:pt idx="41">
                  <c:v>-0.2811706081</c:v>
                </c:pt>
                <c:pt idx="42">
                  <c:v>-0.396464187</c:v>
                </c:pt>
                <c:pt idx="43">
                  <c:v>-0.5080358541</c:v>
                </c:pt>
                <c:pt idx="44">
                  <c:v>-0.6147131593</c:v>
                </c:pt>
                <c:pt idx="45">
                  <c:v>-0.7153794814</c:v>
                </c:pt>
                <c:pt idx="46">
                  <c:v>-0.8089850165</c:v>
                </c:pt>
                <c:pt idx="47">
                  <c:v>-0.8945569787</c:v>
                </c:pt>
                <c:pt idx="48">
                  <c:v>-0.9712089372</c:v>
                </c:pt>
                <c:pt idx="49">
                  <c:v>-1.038149226</c:v>
                </c:pt>
                <c:pt idx="50">
                  <c:v>-1.094688362</c:v>
                </c:pt>
                <c:pt idx="51">
                  <c:v>-1.140245421</c:v>
                </c:pt>
                <c:pt idx="52">
                  <c:v>-1.174353317</c:v>
                </c:pt>
                <c:pt idx="53">
                  <c:v>-1.196662955</c:v>
                </c:pt>
                <c:pt idx="54">
                  <c:v>-1.206946218</c:v>
                </c:pt>
                <c:pt idx="55">
                  <c:v>-1.20509777</c:v>
                </c:pt>
                <c:pt idx="56">
                  <c:v>-1.191135666</c:v>
                </c:pt>
                <c:pt idx="57">
                  <c:v>-1.165200764</c:v>
                </c:pt>
                <c:pt idx="58">
                  <c:v>-1.127554941</c:v>
                </c:pt>
                <c:pt idx="59">
                  <c:v>-1.078578152</c:v>
                </c:pt>
                <c:pt idx="60">
                  <c:v>-1.018764334</c:v>
                </c:pt>
                <c:pt idx="61">
                  <c:v>-0.9487162219</c:v>
                </c:pt>
                <c:pt idx="62">
                  <c:v>-0.8691391058</c:v>
                </c:pt>
                <c:pt idx="63">
                  <c:v>-0.7808336033</c:v>
                </c:pt>
                <c:pt idx="64">
                  <c:v>-0.6846875093</c:v>
                </c:pt>
                <c:pt idx="65">
                  <c:v>-0.5816668053</c:v>
                </c:pt>
                <c:pt idx="66">
                  <c:v>-0.4728059142</c:v>
                </c:pt>
                <c:pt idx="67">
                  <c:v>-0.3591972942</c:v>
                </c:pt>
                <c:pt idx="68">
                  <c:v>-0.2419804749</c:v>
                </c:pt>
                <c:pt idx="69">
                  <c:v>-0.1223306397</c:v>
                </c:pt>
                <c:pt idx="70">
                  <c:v>-0.001446868344</c:v>
                </c:pt>
                <c:pt idx="71">
                  <c:v>0.1194598479</c:v>
                </c:pt>
                <c:pt idx="72">
                  <c:v>0.2391786985</c:v>
                </c:pt>
                <c:pt idx="73">
                  <c:v>0.3565111369</c:v>
                </c:pt>
                <c:pt idx="74">
                  <c:v>0.4702828346</c:v>
                </c:pt>
                <c:pt idx="75">
                  <c:v>0.5793553886</c:v>
                </c:pt>
                <c:pt idx="76">
                  <c:v>0.6826376672</c:v>
                </c:pt>
                <c:pt idx="77">
                  <c:v>0.7790966813</c:v>
                </c:pt>
                <c:pt idx="78">
                  <c:v>0.867767874</c:v>
                </c:pt>
                <c:pt idx="79">
                  <c:v>0.9477647271</c:v>
                </c:pt>
                <c:pt idx="80">
                  <c:v>1.018287588</c:v>
                </c:pt>
                <c:pt idx="81">
                  <c:v>1.07863163</c:v>
                </c:pt>
                <c:pt idx="82">
                  <c:v>1.128193868</c:v>
                </c:pt>
                <c:pt idx="83">
                  <c:v>1.166479158</c:v>
                </c:pt>
                <c:pt idx="84">
                  <c:v>1.19310512</c:v>
                </c:pt>
                <c:pt idx="85">
                  <c:v>1.207805939</c:v>
                </c:pt>
                <c:pt idx="86">
                  <c:v>1.210435004</c:v>
                </c:pt>
                <c:pt idx="87">
                  <c:v>1.200966353</c:v>
                </c:pt>
                <c:pt idx="88">
                  <c:v>1.179494923</c:v>
                </c:pt>
                <c:pt idx="89">
                  <c:v>1.146235587</c:v>
                </c:pt>
                <c:pt idx="90">
                  <c:v>1.101520997</c:v>
                </c:pt>
                <c:pt idx="91">
                  <c:v>1.045798257</c:v>
                </c:pt>
                <c:pt idx="92">
                  <c:v>0.9796244443</c:v>
                </c:pt>
                <c:pt idx="93">
                  <c:v>0.9036610416</c:v>
                </c:pt>
                <c:pt idx="94">
                  <c:v>0.8186673243</c:v>
                </c:pt>
                <c:pt idx="95">
                  <c:v>0.7254927713</c:v>
                </c:pt>
                <c:pt idx="96">
                  <c:v>0.6250685767</c:v>
                </c:pt>
                <c:pt idx="97">
                  <c:v>0.5183983448</c:v>
                </c:pt>
                <c:pt idx="98">
                  <c:v>0.4065480632</c:v>
                </c:pt>
                <c:pt idx="99">
                  <c:v>0.2906354521</c:v>
                </c:pt>
                <c:pt idx="100">
                  <c:v>0.171818798</c:v>
                </c:pt>
                <c:pt idx="101">
                  <c:v>0.05128538228</c:v>
                </c:pt>
                <c:pt idx="102">
                  <c:v>-0.06976038068</c:v>
                </c:pt>
                <c:pt idx="103">
                  <c:v>-0.1901089752</c:v>
                </c:pt>
                <c:pt idx="104">
                  <c:v>-0.3085578675</c:v>
                </c:pt>
                <c:pt idx="105">
                  <c:v>-0.4239235193</c:v>
                </c:pt>
                <c:pt idx="106">
                  <c:v>-0.5350532114</c:v>
                </c:pt>
                <c:pt idx="107">
                  <c:v>-0.6408365593</c:v>
                </c:pt>
                <c:pt idx="108">
                  <c:v>-0.7402166062</c:v>
                </c:pt>
                <c:pt idx="109">
                  <c:v>-0.8322003822</c:v>
                </c:pt>
                <c:pt idx="110">
                  <c:v>-0.9158688242</c:v>
                </c:pt>
                <c:pt idx="111">
                  <c:v>-0.9903859577</c:v>
                </c:pt>
                <c:pt idx="112">
                  <c:v>-1.055007248</c:v>
                </c:pt>
                <c:pt idx="113">
                  <c:v>-1.10908704</c:v>
                </c:pt>
                <c:pt idx="114">
                  <c:v>-1.152085005</c:v>
                </c:pt>
                <c:pt idx="115">
                  <c:v>-1.183571543</c:v>
                </c:pt>
                <c:pt idx="116">
                  <c:v>-1.203232071</c:v>
                </c:pt>
                <c:pt idx="117">
                  <c:v>-1.210870169</c:v>
                </c:pt>
                <c:pt idx="118">
                  <c:v>-1.206409537</c:v>
                </c:pt>
                <c:pt idx="119">
                  <c:v>-1.189894764</c:v>
                </c:pt>
                <c:pt idx="120">
                  <c:v>-1.161490878</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1.5"/>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θ (rad)</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Time (s)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1.5"/>
        <c:majorUnit val="4"/>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3283C"/>
                </a:solidFill>
                <a:latin typeface="Arial"/>
                <a:ea typeface="Arial"/>
                <a:cs typeface="Arial"/>
              </a:rPr>
              <a:t>Unit impulse</a:t>
            </a:r>
          </a:p>
        </c:rich>
      </c:tx>
      <c:overlay val="0"/>
      <c:txPr>
        <a:bodyPr xmlns:a="http://schemas.openxmlformats.org/drawingml/2006/main" anchorCtr="1"/>
        <a:lstStyle xmlns:a="http://schemas.openxmlformats.org/drawingml/2006/main"/>
        <a:p xmlns:a="http://schemas.openxmlformats.org/drawingml/2006/main">
          <a:pPr>
            <a:defRPr sz="1875" b="1">
              <a:solidFill>
                <a:srgbClr val="13283C"/>
              </a:solidFill>
              <a:latin typeface="Arial"/>
              <a:ea typeface="Arial"/>
              <a:cs typeface="Arial"/>
            </a:defRPr>
          </a:pPr>
        </a:p>
      </c:txPr>
    </c:title>
    <c:plotArea>
      <c:scatterChart>
        <c:scatterStyle val="line"/>
        <c:varyColors val="0"/>
        <c:ser>
          <c:idx val="0"/>
          <c:order val="0"/>
          <c:tx>
            <c:v>θ</c:v>
          </c:tx>
          <c:spPr>
            <a:solidFill xmlns:a="http://schemas.openxmlformats.org/drawingml/2006/main">
              <a:srgbClr val="087E8B"/>
            </a:solidFill>
            <a:ln xmlns:a="http://schemas.openxmlformats.org/drawingml/2006/main" w="28575">
              <a:solidFill>
                <a:srgbClr val="087E8B"/>
              </a:solidFill>
              <a:prstDash val="solid"/>
            </a:ln>
          </c:spPr>
          <c:marker>
            <c:symbol val="none"/>
          </c:marker>
          <c:xVal>
            <c:numRef>
              <c:f>'Chart Data'!$A$2:$A$122</c:f>
              <c:numCache>
                <c:formatCode>General</c:formatCode>
                <c:ptCount val="12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pt idx="101">
                  <c:v>10.1</c:v>
                </c:pt>
                <c:pt idx="102">
                  <c:v>10.2</c:v>
                </c:pt>
                <c:pt idx="103">
                  <c:v>10.3</c:v>
                </c:pt>
                <c:pt idx="104">
                  <c:v>10.4</c:v>
                </c:pt>
                <c:pt idx="105">
                  <c:v>10.5</c:v>
                </c:pt>
                <c:pt idx="106">
                  <c:v>10.6</c:v>
                </c:pt>
                <c:pt idx="107">
                  <c:v>10.7</c:v>
                </c:pt>
                <c:pt idx="108">
                  <c:v>10.8</c:v>
                </c:pt>
                <c:pt idx="109">
                  <c:v>10.9</c:v>
                </c:pt>
                <c:pt idx="110">
                  <c:v>11</c:v>
                </c:pt>
                <c:pt idx="111">
                  <c:v>11.1</c:v>
                </c:pt>
                <c:pt idx="112">
                  <c:v>11.2</c:v>
                </c:pt>
                <c:pt idx="113">
                  <c:v>11.3</c:v>
                </c:pt>
                <c:pt idx="114">
                  <c:v>11.4</c:v>
                </c:pt>
                <c:pt idx="115">
                  <c:v>11.5</c:v>
                </c:pt>
                <c:pt idx="116">
                  <c:v>11.6</c:v>
                </c:pt>
                <c:pt idx="117">
                  <c:v>11.7</c:v>
                </c:pt>
                <c:pt idx="118">
                  <c:v>11.8</c:v>
                </c:pt>
                <c:pt idx="119">
                  <c:v>11.9</c:v>
                </c:pt>
                <c:pt idx="120">
                  <c:v>12</c:v>
                </c:pt>
              </c:numCache>
            </c:numRef>
          </c:xVal>
          <c:yVal>
            <c:numRef>
              <c:f>'Chart Data'!$B$2:$B$122</c:f>
              <c:numCache>
                <c:formatCode>0.0</c:formatCode>
                <c:ptCount val="121"/>
                <c:pt idx="0">
                  <c:v>-4.440892099E-16</c:v>
                </c:pt>
                <c:pt idx="1">
                  <c:v>0.229548149</c:v>
                </c:pt>
                <c:pt idx="2">
                  <c:v>0.5495408457</c:v>
                </c:pt>
                <c:pt idx="3">
                  <c:v>0.7955857869</c:v>
                </c:pt>
                <c:pt idx="4">
                  <c:v>0.9560061196</c:v>
                </c:pt>
                <c:pt idx="5">
                  <c:v>1.043719357</c:v>
                </c:pt>
                <c:pt idx="6">
                  <c:v>1.073755552</c:v>
                </c:pt>
                <c:pt idx="7">
                  <c:v>1.059532065</c:v>
                </c:pt>
                <c:pt idx="8">
                  <c:v>1.012433394</c:v>
                </c:pt>
                <c:pt idx="9">
                  <c:v>0.9419522113</c:v>
                </c:pt>
                <c:pt idx="10">
                  <c:v>0.85590747</c:v>
                </c:pt>
                <c:pt idx="11">
                  <c:v>0.7606565083</c:v>
                </c:pt>
                <c:pt idx="12">
                  <c:v>0.6612887111</c:v>
                </c:pt>
                <c:pt idx="13">
                  <c:v>0.5618003262</c:v>
                </c:pt>
                <c:pt idx="14">
                  <c:v>0.4652517933</c:v>
                </c:pt>
                <c:pt idx="15">
                  <c:v>0.3739089896</c:v>
                </c:pt>
                <c:pt idx="16">
                  <c:v>0.2893696244</c:v>
                </c:pt>
                <c:pt idx="17">
                  <c:v>0.2126758629</c:v>
                </c:pt>
                <c:pt idx="18">
                  <c:v>0.144414153</c:v>
                </c:pt>
                <c:pt idx="19">
                  <c:v>0.08480316434</c:v>
                </c:pt>
                <c:pt idx="20">
                  <c:v>0.03377070287</c:v>
                </c:pt>
                <c:pt idx="21">
                  <c:v>-0.008979560533</c:v>
                </c:pt>
                <c:pt idx="22">
                  <c:v>-0.04391073036</c:v>
                </c:pt>
                <c:pt idx="23">
                  <c:v>-0.07160389408</c:v>
                </c:pt>
                <c:pt idx="24">
                  <c:v>-0.09271711419</c:v>
                </c:pt>
                <c:pt idx="25">
                  <c:v>-0.107951442</c:v>
                </c:pt>
                <c:pt idx="26">
                  <c:v>-0.1180232157</c:v>
                </c:pt>
                <c:pt idx="27">
                  <c:v>-0.1236419343</c:v>
                </c:pt>
                <c:pt idx="28">
                  <c:v>-0.125493033</c:v>
                </c:pt>
                <c:pt idx="29">
                  <c:v>-0.1242249249</c:v>
                </c:pt>
                <c:pt idx="30">
                  <c:v>-0.1204397111</c:v>
                </c:pt>
                <c:pt idx="31">
                  <c:v>-0.1146870117</c:v>
                </c:pt>
                <c:pt idx="32">
                  <c:v>-0.1074604074</c:v>
                </c:pt>
                <c:pt idx="33">
                  <c:v>-0.09919603572</c:v>
                </c:pt>
                <c:pt idx="34">
                  <c:v>-0.0902729252</c:v>
                </c:pt>
                <c:pt idx="35">
                  <c:v>-0.08101470124</c:v>
                </c:pt>
                <c:pt idx="36">
                  <c:v>-0.07169233816</c:v>
                </c:pt>
                <c:pt idx="37">
                  <c:v>-0.06252767602</c:v>
                </c:pt>
                <c:pt idx="38">
                  <c:v>-0.05369745952</c:v>
                </c:pt>
                <c:pt idx="39">
                  <c:v>-0.04533769402</c:v>
                </c:pt>
                <c:pt idx="40">
                  <c:v>-0.03754814764</c:v>
                </c:pt>
                <c:pt idx="41">
                  <c:v>-0.03039685964</c:v>
                </c:pt>
                <c:pt idx="42">
                  <c:v>-0.02392454362</c:v>
                </c:pt>
                <c:pt idx="43">
                  <c:v>-0.01814879873</c:v>
                </c:pt>
                <c:pt idx="44">
                  <c:v>-0.01306806447</c:v>
                </c:pt>
                <c:pt idx="45">
                  <c:v>-0.008665273496</c:v>
                </c:pt>
                <c:pt idx="46">
                  <c:v>-0.004911173295</c:v>
                </c:pt>
                <c:pt idx="47">
                  <c:v>-0.00176730128</c:v>
                </c:pt>
                <c:pt idx="48">
                  <c:v>0.0008113906372</c:v>
                </c:pt>
                <c:pt idx="49">
                  <c:v>0.002874256884</c:v>
                </c:pt>
                <c:pt idx="50">
                  <c:v>0.004473012001</c:v>
                </c:pt>
                <c:pt idx="51">
                  <c:v>0.005660099378</c:v>
                </c:pt>
                <c:pt idx="52">
                  <c:v>0.006487352989</c:v>
                </c:pt>
                <c:pt idx="53">
                  <c:v>0.007004927423</c:v>
                </c:pt>
                <c:pt idx="54">
                  <c:v>0.007260469972</c:v>
                </c:pt>
                <c:pt idx="55">
                  <c:v>0.007298507841</c:v>
                </c:pt>
                <c:pt idx="56">
                  <c:v>0.007160023707</c:v>
                </c:pt>
                <c:pt idx="57">
                  <c:v>0.006882193536</c:v>
                </c:pt>
                <c:pt idx="58">
                  <c:v>0.006498261804</c:v>
                </c:pt>
                <c:pt idx="59">
                  <c:v>0.0060375308</c:v>
                </c:pt>
                <c:pt idx="60">
                  <c:v>0.005525442513</c:v>
                </c:pt>
                <c:pt idx="61">
                  <c:v>0.004983733548</c:v>
                </c:pt>
                <c:pt idx="62">
                  <c:v>0.004430645566</c:v>
                </c:pt>
                <c:pt idx="63">
                  <c:v>0.003881175807</c:v>
                </c:pt>
                <c:pt idx="64">
                  <c:v>0.003347354262</c:v>
                </c:pt>
                <c:pt idx="65">
                  <c:v>0.002838536036</c:v>
                </c:pt>
                <c:pt idx="66">
                  <c:v>0.002361699249</c:v>
                </c:pt>
                <c:pt idx="67">
                  <c:v>0.001921740579</c:v>
                </c:pt>
                <c:pt idx="68">
                  <c:v>0.001521762071</c:v>
                </c:pt>
                <c:pt idx="69">
                  <c:v>0.0011633443</c:v>
                </c:pt>
                <c:pt idx="70">
                  <c:v>0.0008468021985</c:v>
                </c:pt>
                <c:pt idx="71">
                  <c:v>0.0005714209722</c:v>
                </c:pt>
                <c:pt idx="72">
                  <c:v>0.0003356704969</c:v>
                </c:pt>
                <c:pt idx="73">
                  <c:v>0.0001373973674</c:v>
                </c:pt>
                <c:pt idx="74">
                  <c:v>-2.600553952E-05</c:v>
                </c:pt>
                <c:pt idx="75">
                  <c:v>-0.000157451585</c:v>
                </c:pt>
                <c:pt idx="76">
                  <c:v>-0.000260034139</c:v>
                </c:pt>
                <c:pt idx="77">
                  <c:v>-0.0003369204362</c:v>
                </c:pt>
                <c:pt idx="78">
                  <c:v>-0.0003912641122</c:v>
                </c:pt>
                <c:pt idx="79">
                  <c:v>-0.0004261348545</c:v>
                </c:pt>
                <c:pt idx="80">
                  <c:v>-0.0004444635064</c:v>
                </c:pt>
                <c:pt idx="81">
                  <c:v>-0.0004490009265</c:v>
                </c:pt>
                <c:pt idx="82">
                  <c:v>-0.0004422889114</c:v>
                </c:pt>
                <c:pt idx="83">
                  <c:v>-0.0004266415387</c:v>
                </c:pt>
                <c:pt idx="84">
                  <c:v>-0.0004041353595</c:v>
                </c:pt>
                <c:pt idx="85">
                  <c:v>-0.0003766069686</c:v>
                </c:pt>
                <c:pt idx="86">
                  <c:v>-0.000345656591</c:v>
                </c:pt>
                <c:pt idx="87">
                  <c:v>-0.0003126564468</c:v>
                </c:pt>
                <c:pt idx="88">
                  <c:v>-0.0002787627843</c:v>
                </c:pt>
                <c:pt idx="89">
                  <c:v>-0.0002449305968</c:v>
                </c:pt>
                <c:pt idx="90">
                  <c:v>-0.0002119301695</c:v>
                </c:pt>
                <c:pt idx="91">
                  <c:v>-0.0001803647212</c:v>
                </c:pt>
                <c:pt idx="92">
                  <c:v>-0.0001506885228</c:v>
                </c:pt>
                <c:pt idx="93">
                  <c:v>-0.0001232249825</c:v>
                </c:pt>
                <c:pt idx="94">
                  <c:v>-9.818428521E-05</c:v>
                </c:pt>
                <c:pt idx="95">
                  <c:v>-7.568026455E-05</c:v>
                </c:pt>
                <c:pt idx="96">
                  <c:v>-5.574626393E-05</c:v>
                </c:pt>
                <c:pt idx="97">
                  <c:v>-3.834981445E-05</c:v>
                </c:pt>
                <c:pt idx="98">
                  <c:v>-2.340601708E-05</c:v>
                </c:pt>
                <c:pt idx="99">
                  <c:v>-1.078956852E-05</c:v>
                </c:pt>
                <c:pt idx="100">
                  <c:v>-3.45413026E-07</c:v>
                </c:pt>
                <c:pt idx="101">
                  <c:v>8.101962416E-06</c:v>
                </c:pt>
                <c:pt idx="102">
                  <c:v>1.474054405E-05</c:v>
                </c:pt>
                <c:pt idx="103">
                  <c:v>1.976405134E-05</c:v>
                </c:pt>
                <c:pt idx="104">
                  <c:v>2.336635814E-05</c:v>
                </c:pt>
                <c:pt idx="105">
                  <c:v>2.573698099E-05</c:v>
                </c:pt>
                <c:pt idx="106">
                  <c:v>2.705753422E-05</c:v>
                </c:pt>
                <c:pt idx="107">
                  <c:v>2.749904807E-05</c:v>
                </c:pt>
                <c:pt idx="108">
                  <c:v>2.72200463E-05</c:v>
                </c:pt>
                <c:pt idx="109">
                  <c:v>2.636528192E-05</c:v>
                </c:pt>
                <c:pt idx="110">
                  <c:v>2.506503389E-05</c:v>
                </c:pt>
                <c:pt idx="111">
                  <c:v>2.343487354E-05</c:v>
                </c:pt>
                <c:pt idx="112">
                  <c:v>2.157581571E-05</c:v>
                </c:pt>
                <c:pt idx="113">
                  <c:v>1.957477752E-05</c:v>
                </c:pt>
                <c:pt idx="114">
                  <c:v>1.750527493E-05</c:v>
                </c:pt>
                <c:pt idx="115">
                  <c:v>1.542829548E-05</c:v>
                </c:pt>
                <c:pt idx="116">
                  <c:v>1.339329305E-05</c:v>
                </c:pt>
                <c:pt idx="117">
                  <c:v>1.143925847E-05</c:v>
                </c:pt>
                <c:pt idx="118">
                  <c:v>9.595826384E-06</c:v>
                </c:pt>
                <c:pt idx="119">
                  <c:v>7.884386056E-06</c:v>
                </c:pt>
                <c:pt idx="120">
                  <c:v>6.319169538E-06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5"/>
        </c:scaling>
        <c:delete val="0"/>
        <c:axPos val="l"/>
        <c:majorGridlines>
          <c:spPr>
            <a:ln xmlns:a="http://schemas.openxmlformats.org/drawingml/2006/main" w="9525">
              <a:solidFill>
                <a:srgbClr val="DFE6EB"/>
              </a:solidFill>
            </a:ln>
          </c:spPr>
        </c:majorGridlines>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θ (rad)</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0"/>
        <c:majorTickMark val="none"/>
        <c:minorTickMark val="none"/>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50112"/>
        <c:crossesAt val="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575">
                    <a:solidFill>
                      <a:srgbClr val="516474"/>
                    </a:solidFill>
                    <a:latin typeface="Arial"/>
                    <a:ea typeface="Arial"/>
                    <a:cs typeface="Arial"/>
                  </a:rPr>
                  <a:t>Time (s)</a:t>
                </a:r>
              </a:p>
            </c:rich>
          </c:tx>
          <c:overlay val="0"/>
          <c:txPr>
            <a:bodyPr xmlns:a="http://schemas.openxmlformats.org/drawingml/2006/main" anchorCtr="1"/>
            <a:lstStyle xmlns:a="http://schemas.openxmlformats.org/drawingml/2006/main"/>
            <a:p xmlns:a="http://schemas.openxmlformats.org/drawingml/2006/main">
              <a:pPr>
                <a:defRPr sz="1575">
                  <a:solidFill>
                    <a:srgbClr val="516474"/>
                  </a:solidFill>
                  <a:latin typeface="Arial"/>
                  <a:ea typeface="Arial"/>
                  <a:cs typeface="Arial"/>
                </a:defRPr>
              </a:pPr>
            </a:p>
          </c:txPr>
        </c:title>
        <c:numFmt formatCode="0"/>
        <c:majorTickMark val="none"/>
        <c:minorTickMark val="none"/>
        <c:tickLblPos val="low"/>
        <c:spPr>
          <a:ln xmlns:a="http://schemas.openxmlformats.org/drawingml/2006/main" w="9525">
            <a:solidFill>
              <a:srgbClr val="B6C3CC"/>
            </a:solidFill>
          </a:ln>
        </c:spPr>
        <c:txPr>
          <a:bodyPr xmlns:a="http://schemas.openxmlformats.org/drawingml/2006/main" anchorCtr="1"/>
          <a:lstStyle xmlns:a="http://schemas.openxmlformats.org/drawingml/2006/main"/>
          <a:p xmlns:a="http://schemas.openxmlformats.org/drawingml/2006/main">
            <a:pPr>
              <a:defRPr sz="1500">
                <a:solidFill>
                  <a:srgbClr val="516474"/>
                </a:solidFill>
                <a:latin typeface="Arial"/>
                <a:ea typeface="Arial"/>
                <a:cs typeface="Arial"/>
              </a:defRPr>
            </a:pPr>
          </a:p>
        </c:txPr>
        <c:crossAx val="48672768"/>
        <c:crossesAt val="-0.5"/>
        <c:majorUnit val="4"/>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3283C"/>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E4DA608-9A36-4591-ACCB-5132B6FBE35C}"/>
              </a:ext>
            </a:extLst>
          </p:cNvPr>
          <p:cNvPicPr>
            <a:picLocks xmlns:a="http://schemas.openxmlformats.org/drawingml/2006/main" noChangeAspect="1"/>
          </p:cNvPicPr>
          <p:nvPr/>
        </p:nvPicPr>
        <p:blipFill>
          <a:blip xmlns:r="http://schemas.openxmlformats.org/officeDocument/2006/relationships" xmlns:a="http://schemas.openxmlformats.org/drawingml/2006/main" r:embed="R2a780912342e4b7b"/>
          <a:srcRect xmlns:a="http://schemas.openxmlformats.org/drawingml/2006/main" l="28936" t="0" r="28936" b="0"/>
          <a:stretch xmlns:a="http://schemas.openxmlformats.org/drawingml/2006/main">
            <a:fillRect l="0" t="0" r="0" b="0"/>
          </a:stretch>
        </p:blipFill>
        <p:spPr>
          <a:xfrm xmlns:a="http://schemas.openxmlformats.org/drawingml/2006/main">
            <a:off x="6858000" y="0"/>
            <a:ext cx="5334000" cy="6858000"/>
          </a:xfrm>
          <a:prstGeom xmlns:a="http://schemas.openxmlformats.org/drawingml/2006/main" prst="rect">
            <a:avLst/>
          </a:prstGeom>
        </p:spPr>
      </p:pic>
      <p:sp>
        <p:nvSpPr>
          <p:cNvPr id="3" name="Universidad Galileo">
            <a:extLst xmlns:a="http://schemas.openxmlformats.org/drawingml/2006/main">
              <a:ext uri="{FF2B5EF4-FFF2-40B4-BE49-F238E27FC236}">
                <a16:creationId xmlns:a16="http://schemas.microsoft.com/office/drawing/2014/main" id="{4F6E5D5B-0A08-42B1-B343-C06E3C981256}"/>
              </a:ext>
            </a:extLst>
          </p:cNvPr>
          <p:cNvSpPr>
            <a:spLocks xmlns:a="http://schemas.openxmlformats.org/drawingml/2006/main" noGrp="1"/>
          </p:cNvSpPr>
          <p:nvPr/>
        </p:nvSpPr>
        <p:spPr>
          <a:xfrm xmlns:a="http://schemas.openxmlformats.org/drawingml/2006/main">
            <a:off x="590550" y="4572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FFFFFF"/>
                </a:solidFill>
                <a:latin typeface="Arial"/>
                <a:ea typeface="Arial"/>
                <a:cs typeface="Arial"/>
              </a:defRPr>
            </a:defPPr>
            <a:lvl1pPr algn="l">
              <a:defRPr sz="1725" b="0">
                <a:solidFill>
                  <a:srgbClr val="FFFFFF"/>
                </a:solidFill>
                <a:latin typeface="Arial"/>
                <a:ea typeface="Arial"/>
                <a:cs typeface="Arial"/>
              </a:defRPr>
            </a:lvl1pPr>
            <a:lvl2pPr algn="l">
              <a:defRPr sz="1725" b="0">
                <a:solidFill>
                  <a:srgbClr val="FFFFFF"/>
                </a:solidFill>
                <a:latin typeface="Arial"/>
                <a:ea typeface="Arial"/>
                <a:cs typeface="Arial"/>
              </a:defRPr>
            </a:lvl2pPr>
            <a:lvl3pPr algn="l">
              <a:defRPr sz="1725" b="0">
                <a:solidFill>
                  <a:srgbClr val="FFFFFF"/>
                </a:solidFill>
                <a:latin typeface="Arial"/>
                <a:ea typeface="Arial"/>
                <a:cs typeface="Arial"/>
              </a:defRPr>
            </a:lvl3pPr>
            <a:lvl4pPr algn="l">
              <a:defRPr sz="1725" b="0">
                <a:solidFill>
                  <a:srgbClr val="FFFFFF"/>
                </a:solidFill>
                <a:latin typeface="Arial"/>
                <a:ea typeface="Arial"/>
                <a:cs typeface="Arial"/>
              </a:defRPr>
            </a:lvl4pPr>
            <a:lvl5pPr algn="l">
              <a:defRPr sz="1725" b="0">
                <a:solidFill>
                  <a:srgbClr val="FFFFFF"/>
                </a:solidFill>
                <a:latin typeface="Arial"/>
                <a:ea typeface="Arial"/>
                <a:cs typeface="Arial"/>
              </a:defRPr>
            </a:lvl5pPr>
            <a:lvl6pPr algn="l">
              <a:defRPr sz="1725" b="0">
                <a:solidFill>
                  <a:srgbClr val="FFFFFF"/>
                </a:solidFill>
                <a:latin typeface="Arial"/>
                <a:ea typeface="Arial"/>
                <a:cs typeface="Arial"/>
              </a:defRPr>
            </a:lvl6pPr>
            <a:lvl7pPr algn="l">
              <a:defRPr sz="1725" b="0">
                <a:solidFill>
                  <a:srgbClr val="FFFFFF"/>
                </a:solidFill>
                <a:latin typeface="Arial"/>
                <a:ea typeface="Arial"/>
                <a:cs typeface="Arial"/>
              </a:defRPr>
            </a:lvl7pPr>
            <a:lvl8pPr algn="l">
              <a:defRPr sz="1725" b="0">
                <a:solidFill>
                  <a:srgbClr val="FFFFFF"/>
                </a:solidFill>
                <a:latin typeface="Arial"/>
                <a:ea typeface="Arial"/>
                <a:cs typeface="Arial"/>
              </a:defRPr>
            </a:lvl8pPr>
            <a:lvl9pPr algn="l">
              <a:defRPr sz="1725" b="0">
                <a:solidFill>
                  <a:srgbClr val="FFFFFF"/>
                </a:solidFill>
                <a:latin typeface="Arial"/>
                <a:ea typeface="Arial"/>
                <a:cs typeface="Arial"/>
              </a:defRPr>
            </a:lvl9pPr>
          </a:lstStyle>
          <a:p xmlns:a="http://schemas.openxmlformats.org/drawingml/2006/main">
            <a:pPr algn="l">
              <a:lnSpc>
                <a:spcPct val="110000"/>
              </a:lnSpc>
              <a:buNone/>
              <a:defRPr sz="1725" b="0">
                <a:solidFill>
                  <a:srgbClr val="FFFFFF"/>
                </a:solidFill>
                <a:latin typeface="Arial"/>
                <a:ea typeface="Arial"/>
                <a:cs typeface="Arial"/>
              </a:defRPr>
            </a:pPr>
            <a:r>
              <a:rPr sz="1725" b="0">
                <a:solidFill>
                  <a:srgbClr val="FFFFFF"/>
                </a:solidFill>
                <a:latin typeface="Arial"/>
                <a:ea typeface="Arial"/>
                <a:cs typeface="Arial"/>
              </a:rPr>
              <a:t>Galileo University</a:t>
            </a:r>
          </a:p>
        </p:txBody>
      </p:sp>
      <p:sp>
        <p:nvSpPr>
          <p:cNvPr id="4" name="Modelado y&#10;simulación de&#10;un cohete">
            <a:extLst xmlns:a="http://schemas.openxmlformats.org/drawingml/2006/main">
              <a:ext uri="{FF2B5EF4-FFF2-40B4-BE49-F238E27FC236}">
                <a16:creationId xmlns:a16="http://schemas.microsoft.com/office/drawing/2014/main" id="{C333C372-4C3F-4E96-BFF1-F9871FA51330}"/>
              </a:ext>
            </a:extLst>
          </p:cNvPr>
          <p:cNvSpPr>
            <a:spLocks xmlns:a="http://schemas.openxmlformats.org/drawingml/2006/main" noGrp="1"/>
          </p:cNvSpPr>
          <p:nvPr/>
        </p:nvSpPr>
        <p:spPr>
          <a:xfrm xmlns:a="http://schemas.openxmlformats.org/drawingml/2006/main">
            <a:off x="590550" y="1238250"/>
            <a:ext cx="6143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4500" b="1">
                <a:solidFill>
                  <a:srgbClr val="FFFFFF"/>
                </a:solidFill>
                <a:latin typeface="Arial"/>
                <a:ea typeface="Arial"/>
                <a:cs typeface="Arial"/>
              </a:defRPr>
            </a:defPPr>
            <a:lvl1pPr algn="l">
              <a:defRPr sz="4500" b="1">
                <a:solidFill>
                  <a:srgbClr val="FFFFFF"/>
                </a:solidFill>
                <a:latin typeface="Arial"/>
                <a:ea typeface="Arial"/>
                <a:cs typeface="Arial"/>
              </a:defRPr>
            </a:lvl1pPr>
            <a:lvl2pPr algn="l">
              <a:defRPr sz="4500" b="1">
                <a:solidFill>
                  <a:srgbClr val="FFFFFF"/>
                </a:solidFill>
                <a:latin typeface="Arial"/>
                <a:ea typeface="Arial"/>
                <a:cs typeface="Arial"/>
              </a:defRPr>
            </a:lvl2pPr>
            <a:lvl3pPr algn="l">
              <a:defRPr sz="4500" b="1">
                <a:solidFill>
                  <a:srgbClr val="FFFFFF"/>
                </a:solidFill>
                <a:latin typeface="Arial"/>
                <a:ea typeface="Arial"/>
                <a:cs typeface="Arial"/>
              </a:defRPr>
            </a:lvl3pPr>
            <a:lvl4pPr algn="l">
              <a:defRPr sz="4500" b="1">
                <a:solidFill>
                  <a:srgbClr val="FFFFFF"/>
                </a:solidFill>
                <a:latin typeface="Arial"/>
                <a:ea typeface="Arial"/>
                <a:cs typeface="Arial"/>
              </a:defRPr>
            </a:lvl4pPr>
            <a:lvl5pPr algn="l">
              <a:defRPr sz="4500" b="1">
                <a:solidFill>
                  <a:srgbClr val="FFFFFF"/>
                </a:solidFill>
                <a:latin typeface="Arial"/>
                <a:ea typeface="Arial"/>
                <a:cs typeface="Arial"/>
              </a:defRPr>
            </a:lvl5pPr>
            <a:lvl6pPr algn="l">
              <a:defRPr sz="4500" b="1">
                <a:solidFill>
                  <a:srgbClr val="FFFFFF"/>
                </a:solidFill>
                <a:latin typeface="Arial"/>
                <a:ea typeface="Arial"/>
                <a:cs typeface="Arial"/>
              </a:defRPr>
            </a:lvl6pPr>
            <a:lvl7pPr algn="l">
              <a:defRPr sz="4500" b="1">
                <a:solidFill>
                  <a:srgbClr val="FFFFFF"/>
                </a:solidFill>
                <a:latin typeface="Arial"/>
                <a:ea typeface="Arial"/>
                <a:cs typeface="Arial"/>
              </a:defRPr>
            </a:lvl7pPr>
            <a:lvl8pPr algn="l">
              <a:defRPr sz="4500" b="1">
                <a:solidFill>
                  <a:srgbClr val="FFFFFF"/>
                </a:solidFill>
                <a:latin typeface="Arial"/>
                <a:ea typeface="Arial"/>
                <a:cs typeface="Arial"/>
              </a:defRPr>
            </a:lvl8pPr>
            <a:lvl9pPr algn="l">
              <a:defRPr sz="4500" b="1">
                <a:solidFill>
                  <a:srgbClr val="FFFFFF"/>
                </a:solidFill>
                <a:latin typeface="Arial"/>
                <a:ea typeface="Arial"/>
                <a:cs typeface="Arial"/>
              </a:defRPr>
            </a:lvl9pPr>
          </a:lstStyle>
          <a:p xmlns:a="http://schemas.openxmlformats.org/drawingml/2006/main">
            <a:pPr algn="l">
              <a:lnSpc>
                <a:spcPct val="110000"/>
              </a:lnSpc>
              <a:buNone/>
              <a:defRPr sz="4500" b="1">
                <a:solidFill>
                  <a:srgbClr val="FFFFFF"/>
                </a:solidFill>
                <a:latin typeface="Arial"/>
                <a:ea typeface="Arial"/>
                <a:cs typeface="Arial"/>
              </a:defRPr>
            </a:pPr>
            <a:r>
              <a:rPr sz="4500" b="1">
                <a:solidFill>
                  <a:srgbClr val="FFFFFF"/>
                </a:solidFill>
                <a:latin typeface="Arial"/>
                <a:ea typeface="Arial"/>
                <a:cs typeface="Arial"/>
              </a:rPr>
              <a:t>Modeling and</a:t>
            </a:r>
          </a:p>
          <a:p xmlns:a="http://schemas.openxmlformats.org/drawingml/2006/main">
            <a:pPr algn="l">
              <a:lnSpc>
                <a:spcPct val="110000"/>
              </a:lnSpc>
              <a:buNone/>
              <a:defRPr sz="4500" b="1">
                <a:solidFill>
                  <a:srgbClr val="FFFFFF"/>
                </a:solidFill>
                <a:latin typeface="Arial"/>
                <a:ea typeface="Arial"/>
                <a:cs typeface="Arial"/>
              </a:defRPr>
            </a:pPr>
            <a:r>
              <a:rPr sz="4500" b="1">
                <a:solidFill>
                  <a:srgbClr val="FFFFFF"/>
                </a:solidFill>
                <a:latin typeface="Arial"/>
                <a:ea typeface="Arial"/>
                <a:cs typeface="Arial"/>
              </a:rPr>
              <a:t>simulation of</a:t>
            </a:r>
          </a:p>
          <a:p xmlns:a="http://schemas.openxmlformats.org/drawingml/2006/main">
            <a:pPr algn="l">
              <a:lnSpc>
                <a:spcPct val="110000"/>
              </a:lnSpc>
              <a:buNone/>
              <a:defRPr sz="4500" b="1">
                <a:solidFill>
                  <a:srgbClr val="FFFFFF"/>
                </a:solidFill>
                <a:latin typeface="Arial"/>
                <a:ea typeface="Arial"/>
                <a:cs typeface="Arial"/>
              </a:defRPr>
            </a:pPr>
            <a:r>
              <a:rPr sz="4500" b="1">
                <a:solidFill>
                  <a:srgbClr val="FFFFFF"/>
                </a:solidFill>
                <a:latin typeface="Arial"/>
                <a:ea typeface="Arial"/>
                <a:cs typeface="Arial"/>
              </a:rPr>
              <a:t>a rocket</a:t>
            </a:r>
          </a:p>
        </p:txBody>
      </p:sp>
      <p:sp>
        <p:nvSpPr>
          <p:cNvPr id="5" name="Estabilidad, acoplamiento&#10;y selección de gananci">
            <a:extLst xmlns:a="http://schemas.openxmlformats.org/drawingml/2006/main">
              <a:ext uri="{FF2B5EF4-FFF2-40B4-BE49-F238E27FC236}">
                <a16:creationId xmlns:a16="http://schemas.microsoft.com/office/drawing/2014/main" id="{FEABCDDF-18D1-4630-A22C-FC0F54ACA652}"/>
              </a:ext>
            </a:extLst>
          </p:cNvPr>
          <p:cNvSpPr>
            <a:spLocks xmlns:a="http://schemas.openxmlformats.org/drawingml/2006/main" noGrp="1"/>
          </p:cNvSpPr>
          <p:nvPr/>
        </p:nvSpPr>
        <p:spPr>
          <a:xfrm xmlns:a="http://schemas.openxmlformats.org/drawingml/2006/main">
            <a:off x="590550" y="4048125"/>
            <a:ext cx="590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0">
                <a:solidFill>
                  <a:srgbClr val="E7B590"/>
                </a:solidFill>
                <a:latin typeface="Arial"/>
                <a:ea typeface="Arial"/>
                <a:cs typeface="Arial"/>
              </a:defRPr>
            </a:defPPr>
            <a:lvl1pPr algn="l">
              <a:defRPr sz="2325" b="0">
                <a:solidFill>
                  <a:srgbClr val="E7B590"/>
                </a:solidFill>
                <a:latin typeface="Arial"/>
                <a:ea typeface="Arial"/>
                <a:cs typeface="Arial"/>
              </a:defRPr>
            </a:lvl1pPr>
            <a:lvl2pPr algn="l">
              <a:defRPr sz="2325" b="0">
                <a:solidFill>
                  <a:srgbClr val="E7B590"/>
                </a:solidFill>
                <a:latin typeface="Arial"/>
                <a:ea typeface="Arial"/>
                <a:cs typeface="Arial"/>
              </a:defRPr>
            </a:lvl2pPr>
            <a:lvl3pPr algn="l">
              <a:defRPr sz="2325" b="0">
                <a:solidFill>
                  <a:srgbClr val="E7B590"/>
                </a:solidFill>
                <a:latin typeface="Arial"/>
                <a:ea typeface="Arial"/>
                <a:cs typeface="Arial"/>
              </a:defRPr>
            </a:lvl3pPr>
            <a:lvl4pPr algn="l">
              <a:defRPr sz="2325" b="0">
                <a:solidFill>
                  <a:srgbClr val="E7B590"/>
                </a:solidFill>
                <a:latin typeface="Arial"/>
                <a:ea typeface="Arial"/>
                <a:cs typeface="Arial"/>
              </a:defRPr>
            </a:lvl4pPr>
            <a:lvl5pPr algn="l">
              <a:defRPr sz="2325" b="0">
                <a:solidFill>
                  <a:srgbClr val="E7B590"/>
                </a:solidFill>
                <a:latin typeface="Arial"/>
                <a:ea typeface="Arial"/>
                <a:cs typeface="Arial"/>
              </a:defRPr>
            </a:lvl5pPr>
            <a:lvl6pPr algn="l">
              <a:defRPr sz="2325" b="0">
                <a:solidFill>
                  <a:srgbClr val="E7B590"/>
                </a:solidFill>
                <a:latin typeface="Arial"/>
                <a:ea typeface="Arial"/>
                <a:cs typeface="Arial"/>
              </a:defRPr>
            </a:lvl6pPr>
            <a:lvl7pPr algn="l">
              <a:defRPr sz="2325" b="0">
                <a:solidFill>
                  <a:srgbClr val="E7B590"/>
                </a:solidFill>
                <a:latin typeface="Arial"/>
                <a:ea typeface="Arial"/>
                <a:cs typeface="Arial"/>
              </a:defRPr>
            </a:lvl7pPr>
            <a:lvl8pPr algn="l">
              <a:defRPr sz="2325" b="0">
                <a:solidFill>
                  <a:srgbClr val="E7B590"/>
                </a:solidFill>
                <a:latin typeface="Arial"/>
                <a:ea typeface="Arial"/>
                <a:cs typeface="Arial"/>
              </a:defRPr>
            </a:lvl8pPr>
            <a:lvl9pPr algn="l">
              <a:defRPr sz="2325" b="0">
                <a:solidFill>
                  <a:srgbClr val="E7B590"/>
                </a:solidFill>
                <a:latin typeface="Arial"/>
                <a:ea typeface="Arial"/>
                <a:cs typeface="Arial"/>
              </a:defRPr>
            </a:lvl9pPr>
          </a:lstStyle>
          <a:p xmlns:a="http://schemas.openxmlformats.org/drawingml/2006/main">
            <a:pPr algn="l">
              <a:lnSpc>
                <a:spcPct val="110000"/>
              </a:lnSpc>
              <a:buNone/>
              <a:defRPr sz="2325" b="0">
                <a:solidFill>
                  <a:srgbClr val="E7B590"/>
                </a:solidFill>
                <a:latin typeface="Arial"/>
                <a:ea typeface="Arial"/>
                <a:cs typeface="Arial"/>
              </a:defRPr>
            </a:pPr>
            <a:r>
              <a:rPr sz="2325" b="0">
                <a:solidFill>
                  <a:srgbClr val="E7B590"/>
                </a:solidFill>
                <a:latin typeface="Arial"/>
                <a:ea typeface="Arial"/>
                <a:cs typeface="Arial"/>
              </a:rPr>
              <a:t>Stability, coupling</a:t>
            </a:r>
          </a:p>
          <a:p xmlns:a="http://schemas.openxmlformats.org/drawingml/2006/main">
            <a:pPr algn="l">
              <a:lnSpc>
                <a:spcPct val="110000"/>
              </a:lnSpc>
              <a:buNone/>
              <a:defRPr sz="2325" b="0">
                <a:solidFill>
                  <a:srgbClr val="E7B590"/>
                </a:solidFill>
                <a:latin typeface="Arial"/>
                <a:ea typeface="Arial"/>
                <a:cs typeface="Arial"/>
              </a:defRPr>
            </a:pPr>
            <a:r>
              <a:rPr sz="2325" b="0">
                <a:solidFill>
                  <a:srgbClr val="E7B590"/>
                </a:solidFill>
                <a:latin typeface="Arial"/>
                <a:ea typeface="Arial"/>
                <a:cs typeface="Arial"/>
              </a:rPr>
              <a:t>and gain selection</a:t>
            </a:r>
          </a:p>
        </p:txBody>
      </p:sp>
      <p:sp>
        <p:nvSpPr>
          <p:cNvPr id="6" name="José Barreno · Luis Guzmán&#10;Byron García · José R">
            <a:extLst xmlns:a="http://schemas.openxmlformats.org/drawingml/2006/main">
              <a:ext uri="{FF2B5EF4-FFF2-40B4-BE49-F238E27FC236}">
                <a16:creationId xmlns:a16="http://schemas.microsoft.com/office/drawing/2014/main" id="{B50C66BB-7DDC-4F98-8912-9255E3A089DE}"/>
              </a:ext>
            </a:extLst>
          </p:cNvPr>
          <p:cNvSpPr>
            <a:spLocks xmlns:a="http://schemas.openxmlformats.org/drawingml/2006/main" noGrp="1"/>
          </p:cNvSpPr>
          <p:nvPr/>
        </p:nvSpPr>
        <p:spPr>
          <a:xfrm xmlns:a="http://schemas.openxmlformats.org/drawingml/2006/main">
            <a:off x="590550" y="5219700"/>
            <a:ext cx="604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FFFFFF"/>
                </a:solidFill>
                <a:latin typeface="Arial"/>
                <a:ea typeface="Arial"/>
                <a:cs typeface="Arial"/>
              </a:defRPr>
            </a:defPPr>
            <a:lvl1pPr algn="l">
              <a:defRPr sz="1800" b="0">
                <a:solidFill>
                  <a:srgbClr val="FFFFFF"/>
                </a:solidFill>
                <a:latin typeface="Arial"/>
                <a:ea typeface="Arial"/>
                <a:cs typeface="Arial"/>
              </a:defRPr>
            </a:lvl1pPr>
            <a:lvl2pPr algn="l">
              <a:defRPr sz="1800" b="0">
                <a:solidFill>
                  <a:srgbClr val="FFFFFF"/>
                </a:solidFill>
                <a:latin typeface="Arial"/>
                <a:ea typeface="Arial"/>
                <a:cs typeface="Arial"/>
              </a:defRPr>
            </a:lvl2pPr>
            <a:lvl3pPr algn="l">
              <a:defRPr sz="1800" b="0">
                <a:solidFill>
                  <a:srgbClr val="FFFFFF"/>
                </a:solidFill>
                <a:latin typeface="Arial"/>
                <a:ea typeface="Arial"/>
                <a:cs typeface="Arial"/>
              </a:defRPr>
            </a:lvl3pPr>
            <a:lvl4pPr algn="l">
              <a:defRPr sz="1800" b="0">
                <a:solidFill>
                  <a:srgbClr val="FFFFFF"/>
                </a:solidFill>
                <a:latin typeface="Arial"/>
                <a:ea typeface="Arial"/>
                <a:cs typeface="Arial"/>
              </a:defRPr>
            </a:lvl4pPr>
            <a:lvl5pPr algn="l">
              <a:defRPr sz="1800" b="0">
                <a:solidFill>
                  <a:srgbClr val="FFFFFF"/>
                </a:solidFill>
                <a:latin typeface="Arial"/>
                <a:ea typeface="Arial"/>
                <a:cs typeface="Arial"/>
              </a:defRPr>
            </a:lvl5pPr>
            <a:lvl6pPr algn="l">
              <a:defRPr sz="1800" b="0">
                <a:solidFill>
                  <a:srgbClr val="FFFFFF"/>
                </a:solidFill>
                <a:latin typeface="Arial"/>
                <a:ea typeface="Arial"/>
                <a:cs typeface="Arial"/>
              </a:defRPr>
            </a:lvl6pPr>
            <a:lvl7pPr algn="l">
              <a:defRPr sz="1800" b="0">
                <a:solidFill>
                  <a:srgbClr val="FFFFFF"/>
                </a:solidFill>
                <a:latin typeface="Arial"/>
                <a:ea typeface="Arial"/>
                <a:cs typeface="Arial"/>
              </a:defRPr>
            </a:lvl7pPr>
            <a:lvl8pPr algn="l">
              <a:defRPr sz="1800" b="0">
                <a:solidFill>
                  <a:srgbClr val="FFFFFF"/>
                </a:solidFill>
                <a:latin typeface="Arial"/>
                <a:ea typeface="Arial"/>
                <a:cs typeface="Arial"/>
              </a:defRPr>
            </a:lvl8pPr>
            <a:lvl9pPr algn="l">
              <a:defRPr sz="1800" b="0">
                <a:solidFill>
                  <a:srgbClr val="FFFFFF"/>
                </a:solidFill>
                <a:latin typeface="Arial"/>
                <a:ea typeface="Arial"/>
                <a:cs typeface="Arial"/>
              </a:defRPr>
            </a:lvl9pPr>
          </a:lstStyle>
          <a:p xmlns:a="http://schemas.openxmlformats.org/drawingml/2006/main">
            <a:pPr algn="l">
              <a:lnSpc>
                <a:spcPct val="110000"/>
              </a:lnSpc>
              <a:buNone/>
              <a:defRPr sz="1800" b="0">
                <a:solidFill>
                  <a:srgbClr val="FFFFFF"/>
                </a:solidFill>
                <a:latin typeface="Arial"/>
                <a:ea typeface="Arial"/>
                <a:cs typeface="Arial"/>
              </a:defRPr>
            </a:pPr>
            <a:r>
              <a:rPr sz="1800" b="0">
                <a:solidFill>
                  <a:srgbClr val="FFFFFF"/>
                </a:solidFill>
                <a:latin typeface="Arial"/>
                <a:ea typeface="Arial"/>
                <a:cs typeface="Arial"/>
              </a:rPr>
              <a:t>José Barreno · Luis Guzmán</a:t>
            </a:r>
          </a:p>
          <a:p xmlns:a="http://schemas.openxmlformats.org/drawingml/2006/main">
            <a:pPr algn="l">
              <a:lnSpc>
                <a:spcPct val="110000"/>
              </a:lnSpc>
              <a:buNone/>
              <a:defRPr sz="1800" b="0">
                <a:solidFill>
                  <a:srgbClr val="FFFFFF"/>
                </a:solidFill>
                <a:latin typeface="Arial"/>
                <a:ea typeface="Arial"/>
                <a:cs typeface="Arial"/>
              </a:defRPr>
            </a:pPr>
            <a:r>
              <a:rPr sz="1800" b="0">
                <a:solidFill>
                  <a:srgbClr val="FFFFFF"/>
                </a:solidFill>
                <a:latin typeface="Arial"/>
                <a:ea typeface="Arial"/>
                <a:cs typeface="Arial"/>
              </a:rPr>
              <a:t>Byron García · José Rivera</a:t>
            </a:r>
          </a:p>
        </p:txBody>
      </p:sp>
      <p:sp>
        <p:nvSpPr>
          <p:cNvPr id="7" name="Teoría de Sistemas II">
            <a:extLst xmlns:a="http://schemas.openxmlformats.org/drawingml/2006/main">
              <a:ext uri="{FF2B5EF4-FFF2-40B4-BE49-F238E27FC236}">
                <a16:creationId xmlns:a16="http://schemas.microsoft.com/office/drawing/2014/main" id="{19E9F587-C6C5-4C4B-8225-1860582A47C8}"/>
              </a:ext>
            </a:extLst>
          </p:cNvPr>
          <p:cNvSpPr>
            <a:spLocks xmlns:a="http://schemas.openxmlformats.org/drawingml/2006/main" noGrp="1"/>
          </p:cNvSpPr>
          <p:nvPr/>
        </p:nvSpPr>
        <p:spPr>
          <a:xfrm xmlns:a="http://schemas.openxmlformats.org/drawingml/2006/main">
            <a:off x="590550" y="6257925"/>
            <a:ext cx="542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C6D2DC"/>
                </a:solidFill>
                <a:latin typeface="Arial"/>
                <a:ea typeface="Arial"/>
                <a:cs typeface="Arial"/>
              </a:defRPr>
            </a:defPPr>
            <a:lvl1pPr algn="l">
              <a:defRPr sz="1575" b="0">
                <a:solidFill>
                  <a:srgbClr val="C6D2DC"/>
                </a:solidFill>
                <a:latin typeface="Arial"/>
                <a:ea typeface="Arial"/>
                <a:cs typeface="Arial"/>
              </a:defRPr>
            </a:lvl1pPr>
            <a:lvl2pPr algn="l">
              <a:defRPr sz="1575" b="0">
                <a:solidFill>
                  <a:srgbClr val="C6D2DC"/>
                </a:solidFill>
                <a:latin typeface="Arial"/>
                <a:ea typeface="Arial"/>
                <a:cs typeface="Arial"/>
              </a:defRPr>
            </a:lvl2pPr>
            <a:lvl3pPr algn="l">
              <a:defRPr sz="1575" b="0">
                <a:solidFill>
                  <a:srgbClr val="C6D2DC"/>
                </a:solidFill>
                <a:latin typeface="Arial"/>
                <a:ea typeface="Arial"/>
                <a:cs typeface="Arial"/>
              </a:defRPr>
            </a:lvl3pPr>
            <a:lvl4pPr algn="l">
              <a:defRPr sz="1575" b="0">
                <a:solidFill>
                  <a:srgbClr val="C6D2DC"/>
                </a:solidFill>
                <a:latin typeface="Arial"/>
                <a:ea typeface="Arial"/>
                <a:cs typeface="Arial"/>
              </a:defRPr>
            </a:lvl4pPr>
            <a:lvl5pPr algn="l">
              <a:defRPr sz="1575" b="0">
                <a:solidFill>
                  <a:srgbClr val="C6D2DC"/>
                </a:solidFill>
                <a:latin typeface="Arial"/>
                <a:ea typeface="Arial"/>
                <a:cs typeface="Arial"/>
              </a:defRPr>
            </a:lvl5pPr>
            <a:lvl6pPr algn="l">
              <a:defRPr sz="1575" b="0">
                <a:solidFill>
                  <a:srgbClr val="C6D2DC"/>
                </a:solidFill>
                <a:latin typeface="Arial"/>
                <a:ea typeface="Arial"/>
                <a:cs typeface="Arial"/>
              </a:defRPr>
            </a:lvl6pPr>
            <a:lvl7pPr algn="l">
              <a:defRPr sz="1575" b="0">
                <a:solidFill>
                  <a:srgbClr val="C6D2DC"/>
                </a:solidFill>
                <a:latin typeface="Arial"/>
                <a:ea typeface="Arial"/>
                <a:cs typeface="Arial"/>
              </a:defRPr>
            </a:lvl7pPr>
            <a:lvl8pPr algn="l">
              <a:defRPr sz="1575" b="0">
                <a:solidFill>
                  <a:srgbClr val="C6D2DC"/>
                </a:solidFill>
                <a:latin typeface="Arial"/>
                <a:ea typeface="Arial"/>
                <a:cs typeface="Arial"/>
              </a:defRPr>
            </a:lvl8pPr>
            <a:lvl9pPr algn="l">
              <a:defRPr sz="1575" b="0">
                <a:solidFill>
                  <a:srgbClr val="C6D2DC"/>
                </a:solidFill>
                <a:latin typeface="Arial"/>
                <a:ea typeface="Arial"/>
                <a:cs typeface="Arial"/>
              </a:defRPr>
            </a:lvl9pPr>
          </a:lstStyle>
          <a:p xmlns:a="http://schemas.openxmlformats.org/drawingml/2006/main">
            <a:pPr algn="l">
              <a:lnSpc>
                <a:spcPct val="110000"/>
              </a:lnSpc>
              <a:buNone/>
              <a:defRPr sz="1575" b="0">
                <a:solidFill>
                  <a:srgbClr val="C6D2DC"/>
                </a:solidFill>
                <a:latin typeface="Arial"/>
                <a:ea typeface="Arial"/>
                <a:cs typeface="Arial"/>
              </a:defRPr>
            </a:pPr>
            <a:r>
              <a:rPr sz="1575" b="0">
                <a:solidFill>
                  <a:srgbClr val="C6D2DC"/>
                </a:solidFill>
                <a:latin typeface="Arial"/>
                <a:ea typeface="Arial"/>
                <a:cs typeface="Arial"/>
              </a:rPr>
              <a:t>Systems Theory II</a:t>
            </a:r>
          </a:p>
        </p:txBody>
      </p:sp>
    </p:spTree>
    <p:extLst>
      <p:ext uri="{BB962C8B-B14F-4D97-AF65-F5344CB8AC3E}">
        <p14:creationId xmlns:p14="http://schemas.microsoft.com/office/powerpoint/2010/main" val="17431890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l problema físico">
            <a:extLst xmlns:a="http://schemas.openxmlformats.org/drawingml/2006/main">
              <a:ext uri="{FF2B5EF4-FFF2-40B4-BE49-F238E27FC236}">
                <a16:creationId xmlns:a16="http://schemas.microsoft.com/office/drawing/2014/main" id="{55EFC9AF-5C45-4477-898B-3DBFA2866DF1}"/>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The physical problem</a:t>
            </a:r>
          </a:p>
        </p:txBody>
      </p:sp>
      <p:sp>
        <p:nvSpPr>
          <p:cNvPr id="3" name="02 / 16">
            <a:extLst xmlns:a="http://schemas.openxmlformats.org/drawingml/2006/main">
              <a:ext uri="{FF2B5EF4-FFF2-40B4-BE49-F238E27FC236}">
                <a16:creationId xmlns:a16="http://schemas.microsoft.com/office/drawing/2014/main" id="{22E2585A-B250-4A16-984C-27A629E3BFC0}"/>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02 / 19</a:t>
            </a:r>
          </a:p>
        </p:txBody>
      </p:sp>
      <p:sp>
        <p:nvSpPr>
          <p:cNvPr id="4" name="Acelerar y apuntar al mismo tiempo">
            <a:extLst xmlns:a="http://schemas.openxmlformats.org/drawingml/2006/main">
              <a:ext uri="{FF2B5EF4-FFF2-40B4-BE49-F238E27FC236}">
                <a16:creationId xmlns:a16="http://schemas.microsoft.com/office/drawing/2014/main" id="{AE23E9EB-C95A-434B-BAFE-F530725420F3}"/>
              </a:ext>
            </a:extLst>
          </p:cNvPr>
          <p:cNvSpPr>
            <a:spLocks xmlns:a="http://schemas.openxmlformats.org/drawingml/2006/main" noGrp="1"/>
          </p:cNvSpPr>
          <p:nvPr/>
        </p:nvSpPr>
        <p:spPr>
          <a:xfrm xmlns:a="http://schemas.openxmlformats.org/drawingml/2006/main">
            <a:off x="590550" y="1409700"/>
            <a:ext cx="695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625" b="1">
                <a:solidFill>
                  <a:srgbClr val="087E8B"/>
                </a:solidFill>
                <a:latin typeface="Arial"/>
                <a:ea typeface="Arial"/>
                <a:cs typeface="Arial"/>
              </a:defRPr>
            </a:defPPr>
            <a:lvl1pPr algn="l">
              <a:defRPr sz="2625" b="1">
                <a:solidFill>
                  <a:srgbClr val="087E8B"/>
                </a:solidFill>
                <a:latin typeface="Arial"/>
                <a:ea typeface="Arial"/>
                <a:cs typeface="Arial"/>
              </a:defRPr>
            </a:lvl1pPr>
            <a:lvl2pPr algn="l">
              <a:defRPr sz="2625" b="1">
                <a:solidFill>
                  <a:srgbClr val="087E8B"/>
                </a:solidFill>
                <a:latin typeface="Arial"/>
                <a:ea typeface="Arial"/>
                <a:cs typeface="Arial"/>
              </a:defRPr>
            </a:lvl2pPr>
            <a:lvl3pPr algn="l">
              <a:defRPr sz="2625" b="1">
                <a:solidFill>
                  <a:srgbClr val="087E8B"/>
                </a:solidFill>
                <a:latin typeface="Arial"/>
                <a:ea typeface="Arial"/>
                <a:cs typeface="Arial"/>
              </a:defRPr>
            </a:lvl3pPr>
            <a:lvl4pPr algn="l">
              <a:defRPr sz="2625" b="1">
                <a:solidFill>
                  <a:srgbClr val="087E8B"/>
                </a:solidFill>
                <a:latin typeface="Arial"/>
                <a:ea typeface="Arial"/>
                <a:cs typeface="Arial"/>
              </a:defRPr>
            </a:lvl4pPr>
            <a:lvl5pPr algn="l">
              <a:defRPr sz="2625" b="1">
                <a:solidFill>
                  <a:srgbClr val="087E8B"/>
                </a:solidFill>
                <a:latin typeface="Arial"/>
                <a:ea typeface="Arial"/>
                <a:cs typeface="Arial"/>
              </a:defRPr>
            </a:lvl5pPr>
            <a:lvl6pPr algn="l">
              <a:defRPr sz="2625" b="1">
                <a:solidFill>
                  <a:srgbClr val="087E8B"/>
                </a:solidFill>
                <a:latin typeface="Arial"/>
                <a:ea typeface="Arial"/>
                <a:cs typeface="Arial"/>
              </a:defRPr>
            </a:lvl6pPr>
            <a:lvl7pPr algn="l">
              <a:defRPr sz="2625" b="1">
                <a:solidFill>
                  <a:srgbClr val="087E8B"/>
                </a:solidFill>
                <a:latin typeface="Arial"/>
                <a:ea typeface="Arial"/>
                <a:cs typeface="Arial"/>
              </a:defRPr>
            </a:lvl7pPr>
            <a:lvl8pPr algn="l">
              <a:defRPr sz="2625" b="1">
                <a:solidFill>
                  <a:srgbClr val="087E8B"/>
                </a:solidFill>
                <a:latin typeface="Arial"/>
                <a:ea typeface="Arial"/>
                <a:cs typeface="Arial"/>
              </a:defRPr>
            </a:lvl8pPr>
            <a:lvl9pPr algn="l">
              <a:defRPr sz="2625" b="1">
                <a:solidFill>
                  <a:srgbClr val="087E8B"/>
                </a:solidFill>
                <a:latin typeface="Arial"/>
                <a:ea typeface="Arial"/>
                <a:cs typeface="Arial"/>
              </a:defRPr>
            </a:lvl9pPr>
          </a:lstStyle>
          <a:p xmlns:a="http://schemas.openxmlformats.org/drawingml/2006/main">
            <a:pPr algn="l">
              <a:lnSpc>
                <a:spcPct val="110000"/>
              </a:lnSpc>
              <a:buNone/>
              <a:defRPr sz="2625" b="1">
                <a:solidFill>
                  <a:srgbClr val="087E8B"/>
                </a:solidFill>
                <a:latin typeface="Arial"/>
                <a:ea typeface="Arial"/>
                <a:cs typeface="Arial"/>
              </a:defRPr>
            </a:pPr>
            <a:r>
              <a:rPr sz="2625" b="1">
                <a:solidFill>
                  <a:srgbClr val="087E8B"/>
                </a:solidFill>
                <a:latin typeface="Arial"/>
                <a:ea typeface="Arial"/>
                <a:cs typeface="Arial"/>
              </a:rPr>
              <a:t>Accelerating while controlling attitude</a:t>
            </a:r>
          </a:p>
        </p:txBody>
      </p:sp>
      <p:sp>
        <p:nvSpPr>
          <p:cNvPr id="5" name="Dos comandos: aceleración axial y cabeceo">
            <a:extLst xmlns:a="http://schemas.openxmlformats.org/drawingml/2006/main">
              <a:ext uri="{FF2B5EF4-FFF2-40B4-BE49-F238E27FC236}">
                <a16:creationId xmlns:a16="http://schemas.microsoft.com/office/drawing/2014/main" id="{A558F1CB-93E5-44BD-BE89-036F1FA0EC50}"/>
              </a:ext>
            </a:extLst>
          </p:cNvPr>
          <p:cNvSpPr>
            <a:spLocks xmlns:a="http://schemas.openxmlformats.org/drawingml/2006/main" noGrp="1"/>
          </p:cNvSpPr>
          <p:nvPr/>
        </p:nvSpPr>
        <p:spPr>
          <a:xfrm xmlns:a="http://schemas.openxmlformats.org/drawingml/2006/main">
            <a:off x="590550" y="2381250"/>
            <a:ext cx="6905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Two commands: axial acceleration and pitch</a:t>
            </a:r>
          </a:p>
        </p:txBody>
      </p:sp>
      <p:sp>
        <p:nvSpPr>
          <p:cNvPr id="6" name="Dos salidas principales: a y θ">
            <a:extLst xmlns:a="http://schemas.openxmlformats.org/drawingml/2006/main">
              <a:ext uri="{FF2B5EF4-FFF2-40B4-BE49-F238E27FC236}">
                <a16:creationId xmlns:a16="http://schemas.microsoft.com/office/drawing/2014/main" id="{4E3A38D5-BBBA-4C56-82F5-8631B7B5EA0D}"/>
              </a:ext>
            </a:extLst>
          </p:cNvPr>
          <p:cNvSpPr>
            <a:spLocks xmlns:a="http://schemas.openxmlformats.org/drawingml/2006/main" noGrp="1"/>
          </p:cNvSpPr>
          <p:nvPr/>
        </p:nvSpPr>
        <p:spPr>
          <a:xfrm xmlns:a="http://schemas.openxmlformats.org/drawingml/2006/main">
            <a:off x="590550" y="3381375"/>
            <a:ext cx="6905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Two main outputs: a and θ</a:t>
            </a:r>
          </a:p>
        </p:txBody>
      </p:sp>
      <p:sp>
        <p:nvSpPr>
          <p:cNvPr id="7" name="Cada comando también afecta al otro canal">
            <a:extLst xmlns:a="http://schemas.openxmlformats.org/drawingml/2006/main">
              <a:ext uri="{FF2B5EF4-FFF2-40B4-BE49-F238E27FC236}">
                <a16:creationId xmlns:a16="http://schemas.microsoft.com/office/drawing/2014/main" id="{F9D0DB72-55BB-415C-B555-465C031C78EC}"/>
              </a:ext>
            </a:extLst>
          </p:cNvPr>
          <p:cNvSpPr>
            <a:spLocks xmlns:a="http://schemas.openxmlformats.org/drawingml/2006/main" noGrp="1"/>
          </p:cNvSpPr>
          <p:nvPr/>
        </p:nvSpPr>
        <p:spPr>
          <a:xfrm xmlns:a="http://schemas.openxmlformats.org/drawingml/2006/main">
            <a:off x="590550" y="4381500"/>
            <a:ext cx="6905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Each command also affects the other channel</a:t>
            </a:r>
          </a:p>
        </p:txBody>
      </p:sp>
      <p:sp>
        <p:nvSpPr>
          <p:cNvPr id="8" name="Alcance: plano de cabeceo durante una ventana de">
            <a:extLst xmlns:a="http://schemas.openxmlformats.org/drawingml/2006/main">
              <a:ext uri="{FF2B5EF4-FFF2-40B4-BE49-F238E27FC236}">
                <a16:creationId xmlns:a16="http://schemas.microsoft.com/office/drawing/2014/main" id="{F0A0DE00-13E7-4C54-8866-99BE26FE8813}"/>
              </a:ext>
            </a:extLst>
          </p:cNvPr>
          <p:cNvSpPr>
            <a:spLocks xmlns:a="http://schemas.openxmlformats.org/drawingml/2006/main" noGrp="1"/>
          </p:cNvSpPr>
          <p:nvPr/>
        </p:nvSpPr>
        <p:spPr>
          <a:xfrm xmlns:a="http://schemas.openxmlformats.org/drawingml/2006/main">
            <a:off x="590550" y="5619750"/>
            <a:ext cx="685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xmlns:a="http://schemas.openxmlformats.org/drawingml/2006/main">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Scope: pitch motion during a short ascent interval</a:t>
            </a:r>
          </a:p>
        </p:txBody>
      </p:sp>
      <p:pic>
        <p:nvPicPr>
          <p:cNvPr id="9" name="">
            <a:extLst xmlns:a="http://schemas.openxmlformats.org/drawingml/2006/main">
              <a:ext uri="{FF2B5EF4-FFF2-40B4-BE49-F238E27FC236}">
                <a16:creationId xmlns:a16="http://schemas.microsoft.com/office/drawing/2014/main" id="{0BC2EF5C-EBAB-463C-A79B-5E1B9232D507}"/>
              </a:ext>
            </a:extLst>
          </p:cNvPr>
          <p:cNvPicPr>
            <a:picLocks xmlns:a="http://schemas.openxmlformats.org/drawingml/2006/main" noChangeAspect="1"/>
          </p:cNvPicPr>
          <p:nvPr/>
        </p:nvPicPr>
        <p:blipFill>
          <a:blip xmlns:r="http://schemas.openxmlformats.org/officeDocument/2006/relationships" xmlns:a="http://schemas.openxmlformats.org/drawingml/2006/main" r:embed="Re07ae538aab94951"/>
          <a:srcRect xmlns:a="http://schemas.openxmlformats.org/drawingml/2006/main" l="0" t="6500" r="0" b="0"/>
          <a:stretch xmlns:a="http://schemas.openxmlformats.org/drawingml/2006/main"/>
        </p:blipFill>
        <p:spPr>
          <a:xfrm xmlns:a="http://schemas.openxmlformats.org/drawingml/2006/main">
            <a:off x="8143875" y="1612583"/>
            <a:ext cx="3048000" cy="4426268"/>
          </a:xfrm>
          <a:prstGeom xmlns:a="http://schemas.openxmlformats.org/drawingml/2006/main" prst="rect">
            <a:avLst/>
          </a:prstGeom>
        </p:spPr>
      </p:pic>
      <p:sp>
        <p:nvSpPr>
          <p:cNvPr id="10" name="Vertical reference">
            <a:extLst xmlns:a="http://schemas.openxmlformats.org/drawingml/2006/main">
              <a:ext uri="{FF2B5EF4-FFF2-40B4-BE49-F238E27FC236}">
                <a16:creationId xmlns:a16="http://schemas.microsoft.com/office/drawing/2014/main" id="{0CE1FCF8-68E9-42F7-B7D1-208F031E36AA}"/>
              </a:ext>
            </a:extLst>
          </p:cNvPr>
          <p:cNvSpPr>
            <a:spLocks xmlns:a="http://schemas.openxmlformats.org/drawingml/2006/main" noGrp="1"/>
          </p:cNvSpPr>
          <p:nvPr/>
        </p:nvSpPr>
        <p:spPr>
          <a:xfrm xmlns:a="http://schemas.openxmlformats.org/drawingml/2006/main">
            <a:off x="8143875" y="1304925"/>
            <a:ext cx="304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350">
                <a:solidFill>
                  <a:srgbClr val="13283C"/>
                </a:solidFill>
                <a:latin typeface="Arial"/>
                <a:ea typeface="Arial"/>
                <a:cs typeface="Arial"/>
              </a:defRPr>
            </a:defPPr>
            <a:lvl1pPr algn="ctr">
              <a:defRPr sz="1350">
                <a:solidFill>
                  <a:srgbClr val="13283C"/>
                </a:solidFill>
                <a:latin typeface="Arial"/>
                <a:ea typeface="Arial"/>
                <a:cs typeface="Arial"/>
              </a:defRPr>
            </a:lvl1pPr>
            <a:lvl2pPr algn="ctr">
              <a:defRPr sz="1350">
                <a:solidFill>
                  <a:srgbClr val="13283C"/>
                </a:solidFill>
                <a:latin typeface="Arial"/>
                <a:ea typeface="Arial"/>
                <a:cs typeface="Arial"/>
              </a:defRPr>
            </a:lvl2pPr>
            <a:lvl3pPr algn="ctr">
              <a:defRPr sz="1350">
                <a:solidFill>
                  <a:srgbClr val="13283C"/>
                </a:solidFill>
                <a:latin typeface="Arial"/>
                <a:ea typeface="Arial"/>
                <a:cs typeface="Arial"/>
              </a:defRPr>
            </a:lvl3pPr>
            <a:lvl4pPr algn="ctr">
              <a:defRPr sz="1350">
                <a:solidFill>
                  <a:srgbClr val="13283C"/>
                </a:solidFill>
                <a:latin typeface="Arial"/>
                <a:ea typeface="Arial"/>
                <a:cs typeface="Arial"/>
              </a:defRPr>
            </a:lvl4pPr>
            <a:lvl5pPr algn="ctr">
              <a:defRPr sz="1350">
                <a:solidFill>
                  <a:srgbClr val="13283C"/>
                </a:solidFill>
                <a:latin typeface="Arial"/>
                <a:ea typeface="Arial"/>
                <a:cs typeface="Arial"/>
              </a:defRPr>
            </a:lvl5pPr>
            <a:lvl6pPr algn="ctr">
              <a:defRPr sz="1350">
                <a:solidFill>
                  <a:srgbClr val="13283C"/>
                </a:solidFill>
                <a:latin typeface="Arial"/>
                <a:ea typeface="Arial"/>
                <a:cs typeface="Arial"/>
              </a:defRPr>
            </a:lvl6pPr>
            <a:lvl7pPr algn="ctr">
              <a:defRPr sz="1350">
                <a:solidFill>
                  <a:srgbClr val="13283C"/>
                </a:solidFill>
                <a:latin typeface="Arial"/>
                <a:ea typeface="Arial"/>
                <a:cs typeface="Arial"/>
              </a:defRPr>
            </a:lvl7pPr>
            <a:lvl8pPr algn="ctr">
              <a:defRPr sz="1350">
                <a:solidFill>
                  <a:srgbClr val="13283C"/>
                </a:solidFill>
                <a:latin typeface="Arial"/>
                <a:ea typeface="Arial"/>
                <a:cs typeface="Arial"/>
              </a:defRPr>
            </a:lvl8pPr>
            <a:lvl9pPr algn="ctr">
              <a:defRPr sz="1350">
                <a:solidFill>
                  <a:srgbClr val="13283C"/>
                </a:solidFill>
                <a:latin typeface="Arial"/>
                <a:ea typeface="Arial"/>
                <a:cs typeface="Arial"/>
              </a:defRPr>
            </a:lvl9pPr>
          </a:lstStyle>
          <a:p xmlns:a="http://schemas.openxmlformats.org/drawingml/2006/main">
            <a:pPr algn="ctr">
              <a:defRPr sz="1350">
                <a:solidFill>
                  <a:srgbClr val="13283C"/>
                </a:solidFill>
                <a:latin typeface="Arial"/>
                <a:ea typeface="Arial"/>
                <a:cs typeface="Arial"/>
              </a:defRPr>
            </a:pPr>
            <a:r>
              <a:rPr sz="1350">
                <a:solidFill>
                  <a:srgbClr val="13283C"/>
                </a:solidFill>
                <a:latin typeface="Arial"/>
                <a:ea typeface="Arial"/>
                <a:cs typeface="Arial"/>
              </a:rPr>
              <a:t>Vertical reference</a:t>
            </a:r>
          </a:p>
        </p:txBody>
      </p:sp>
    </p:spTree>
    <p:extLst>
      <p:ext uri="{BB962C8B-B14F-4D97-AF65-F5344CB8AC3E}">
        <p14:creationId xmlns:p14="http://schemas.microsoft.com/office/powerpoint/2010/main" val="20452699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Modelo y variables">
            <a:extLst xmlns:a="http://schemas.openxmlformats.org/drawingml/2006/main">
              <a:ext uri="{FF2B5EF4-FFF2-40B4-BE49-F238E27FC236}">
                <a16:creationId xmlns:a16="http://schemas.microsoft.com/office/drawing/2014/main" id="{06D2AA2C-F8FC-4DF0-816B-A142345C0BD3}"/>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Model and variables</a:t>
            </a:r>
          </a:p>
        </p:txBody>
      </p:sp>
      <p:sp>
        <p:nvSpPr>
          <p:cNvPr id="3" name="03 / 16">
            <a:extLst xmlns:a="http://schemas.openxmlformats.org/drawingml/2006/main">
              <a:ext uri="{FF2B5EF4-FFF2-40B4-BE49-F238E27FC236}">
                <a16:creationId xmlns:a16="http://schemas.microsoft.com/office/drawing/2014/main" id="{E35D93D9-499F-4F0E-9C51-0B06F1A73718}"/>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03 / 19</a:t>
            </a:r>
          </a:p>
        </p:txBody>
      </p:sp>
      <p:sp>
        <p:nvSpPr>
          <p:cNvPr id="4" name="Cuatro estados para describir la dinámica">
            <a:extLst xmlns:a="http://schemas.openxmlformats.org/drawingml/2006/main">
              <a:ext uri="{FF2B5EF4-FFF2-40B4-BE49-F238E27FC236}">
                <a16:creationId xmlns:a16="http://schemas.microsoft.com/office/drawing/2014/main" id="{47AC3FE9-B6A5-47D1-BCC6-3B48F0BE2900}"/>
              </a:ext>
            </a:extLst>
          </p:cNvPr>
          <p:cNvSpPr>
            <a:spLocks xmlns:a="http://schemas.openxmlformats.org/drawingml/2006/main" noGrp="1"/>
          </p:cNvSpPr>
          <p:nvPr/>
        </p:nvSpPr>
        <p:spPr>
          <a:xfrm xmlns:a="http://schemas.openxmlformats.org/drawingml/2006/main">
            <a:off x="590550" y="12954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Four states describe the dynamics</a:t>
            </a:r>
          </a:p>
        </p:txBody>
      </p:sp>
      <p:graphicFrame>
        <p:nvGraphicFramePr>
          <p:cNvPr id="5" name="">
            <a:extLst xmlns:a="http://schemas.openxmlformats.org/drawingml/2006/main">
              <a:ext uri="{FF2B5EF4-FFF2-40B4-BE49-F238E27FC236}">
                <a16:creationId xmlns:a16="http://schemas.microsoft.com/office/drawing/2014/main" id="{7D33B719-1395-4705-B022-6C8533743A4E}"/>
              </a:ext>
            </a:extLst>
          </p:cNvPr>
          <p:cNvGraphicFramePr/>
          <p:nvPr/>
        </p:nvGraphicFramePr>
        <p:xfrm>
          <a:off xmlns:a="http://schemas.openxmlformats.org/drawingml/2006/main" x="590550" y="2000250"/>
          <a:ext xmlns:a="http://schemas.openxmlformats.org/drawingml/2006/main" cx="5857875" cy="3333750"/>
        </p:xfrm>
        <a:graphic xmlns:a="http://schemas.openxmlformats.org/drawingml/2006/main">
          <a:graphicData uri="http://schemas.openxmlformats.org/drawingml/2006/table">
            <a:tbl>
              <a:tblPr/>
              <a:tblGrid>
                <a:gridCol w="1190625"/>
                <a:gridCol w="4667250"/>
              </a:tblGrid>
              <a:tr h="666750">
                <a:tc>
                  <a:txBody>
                    <a:bodyPr lIns="95250" tIns="95250" rIns="95250" bIns="95250"/>
                    <a:lstStyle/>
                    <a:p>
                      <a:r>
                        <a:rPr sz="2025" b="1">
                          <a:solidFill>
                            <a:srgbClr val="FFFFFF"/>
                          </a:solidFill>
                          <a:latin typeface="Arial"/>
                          <a:ea typeface="Arial"/>
                          <a:cs typeface="Arial"/>
                        </a:rPr>
                        <a:t>State</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2025" b="1">
                          <a:solidFill>
                            <a:srgbClr val="FFFFFF"/>
                          </a:solidFill>
                          <a:latin typeface="Arial"/>
                          <a:ea typeface="Arial"/>
                          <a:cs typeface="Arial"/>
                        </a:rPr>
                        <a:t>Meaning</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666750">
                <a:tc>
                  <a:txBody>
                    <a:bodyPr lIns="95250" tIns="95250" rIns="95250" bIns="95250"/>
                    <a:lstStyle/>
                    <a:p>
                      <a:r>
                        <a:rPr sz="2025" b="0">
                          <a:solidFill>
                            <a:srgbClr val="13283C"/>
                          </a:solidFill>
                          <a:latin typeface="Arial"/>
                          <a:ea typeface="Arial"/>
                          <a:cs typeface="Arial"/>
                        </a:rPr>
                        <a:t>a</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2025" b="0">
                          <a:solidFill>
                            <a:srgbClr val="13283C"/>
                          </a:solidFill>
                          <a:latin typeface="Arial"/>
                          <a:ea typeface="Arial"/>
                          <a:cs typeface="Arial"/>
                        </a:rPr>
                        <a:t>Axial acceleration</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66750">
                <a:tc>
                  <a:txBody>
                    <a:bodyPr lIns="95250" tIns="95250" rIns="95250" bIns="95250"/>
                    <a:lstStyle/>
                    <a:p>
                      <a:r>
                        <a:rPr sz="2025" b="0">
                          <a:solidFill>
                            <a:srgbClr val="13283C"/>
                          </a:solidFill>
                          <a:latin typeface="Arial"/>
                          <a:ea typeface="Arial"/>
                          <a:cs typeface="Arial"/>
                        </a:rPr>
                        <a:t>θ</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2025" b="0">
                          <a:solidFill>
                            <a:srgbClr val="13283C"/>
                          </a:solidFill>
                          <a:latin typeface="Arial"/>
                          <a:ea typeface="Arial"/>
                          <a:cs typeface="Arial"/>
                        </a:rPr>
                        <a:t>Pitch angle</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666750">
                <a:tc>
                  <a:txBody>
                    <a:bodyPr lIns="95250" tIns="95250" rIns="95250" bIns="95250"/>
                    <a:lstStyle/>
                    <a:p>
                      <a:r>
                        <a:rPr sz="2025" b="0">
                          <a:solidFill>
                            <a:srgbClr val="13283C"/>
                          </a:solidFill>
                          <a:latin typeface="Arial"/>
                          <a:ea typeface="Arial"/>
                          <a:cs typeface="Arial"/>
                        </a:rPr>
                        <a:t>ω</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2025" b="0">
                          <a:solidFill>
                            <a:srgbClr val="13283C"/>
                          </a:solidFill>
                          <a:latin typeface="Arial"/>
                          <a:ea typeface="Arial"/>
                          <a:cs typeface="Arial"/>
                        </a:rPr>
                        <a:t>Angular rate</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66750">
                <a:tc>
                  <a:txBody>
                    <a:bodyPr lIns="95250" tIns="95250" rIns="95250" bIns="95250"/>
                    <a:lstStyle/>
                    <a:p>
                      <a:r>
                        <a:rPr sz="2025" b="0">
                          <a:solidFill>
                            <a:srgbClr val="13283C"/>
                          </a:solidFill>
                          <a:latin typeface="Arial"/>
                          <a:ea typeface="Arial"/>
                          <a:cs typeface="Arial"/>
                        </a:rPr>
                        <a:t>δ</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2025" b="0">
                          <a:solidFill>
                            <a:srgbClr val="13283C"/>
                          </a:solidFill>
                          <a:latin typeface="Arial"/>
                          <a:ea typeface="Arial"/>
                          <a:cs typeface="Arial"/>
                        </a:rPr>
                        <a:t>Actual nozzle deflection</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6" name="dx/dt = Ax + Bu&#10;y = Cx">
            <a:extLst xmlns:a="http://schemas.openxmlformats.org/drawingml/2006/main">
              <a:ext uri="{FF2B5EF4-FFF2-40B4-BE49-F238E27FC236}">
                <a16:creationId xmlns:a16="http://schemas.microsoft.com/office/drawing/2014/main" id="{F68B3962-78EF-4A16-8894-8315F9B2FE53}"/>
              </a:ext>
            </a:extLst>
          </p:cNvPr>
          <p:cNvSpPr>
            <a:spLocks xmlns:a="http://schemas.openxmlformats.org/drawingml/2006/main" noGrp="1"/>
          </p:cNvSpPr>
          <p:nvPr/>
        </p:nvSpPr>
        <p:spPr>
          <a:xfrm xmlns:a="http://schemas.openxmlformats.org/drawingml/2006/main">
            <a:off x="7239000" y="2047875"/>
            <a:ext cx="419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775" b="1">
                <a:solidFill>
                  <a:srgbClr val="13283C"/>
                </a:solidFill>
                <a:latin typeface="Arial"/>
                <a:ea typeface="Arial"/>
                <a:cs typeface="Arial"/>
              </a:defRPr>
            </a:defPPr>
            <a:lvl1pPr algn="l">
              <a:defRPr sz="2775" b="1">
                <a:solidFill>
                  <a:srgbClr val="13283C"/>
                </a:solidFill>
                <a:latin typeface="Arial"/>
                <a:ea typeface="Arial"/>
                <a:cs typeface="Arial"/>
              </a:defRPr>
            </a:lvl1pPr>
            <a:lvl2pPr algn="l">
              <a:defRPr sz="2775" b="1">
                <a:solidFill>
                  <a:srgbClr val="13283C"/>
                </a:solidFill>
                <a:latin typeface="Arial"/>
                <a:ea typeface="Arial"/>
                <a:cs typeface="Arial"/>
              </a:defRPr>
            </a:lvl2pPr>
            <a:lvl3pPr algn="l">
              <a:defRPr sz="2775" b="1">
                <a:solidFill>
                  <a:srgbClr val="13283C"/>
                </a:solidFill>
                <a:latin typeface="Arial"/>
                <a:ea typeface="Arial"/>
                <a:cs typeface="Arial"/>
              </a:defRPr>
            </a:lvl3pPr>
            <a:lvl4pPr algn="l">
              <a:defRPr sz="2775" b="1">
                <a:solidFill>
                  <a:srgbClr val="13283C"/>
                </a:solidFill>
                <a:latin typeface="Arial"/>
                <a:ea typeface="Arial"/>
                <a:cs typeface="Arial"/>
              </a:defRPr>
            </a:lvl4pPr>
            <a:lvl5pPr algn="l">
              <a:defRPr sz="2775" b="1">
                <a:solidFill>
                  <a:srgbClr val="13283C"/>
                </a:solidFill>
                <a:latin typeface="Arial"/>
                <a:ea typeface="Arial"/>
                <a:cs typeface="Arial"/>
              </a:defRPr>
            </a:lvl5pPr>
            <a:lvl6pPr algn="l">
              <a:defRPr sz="2775" b="1">
                <a:solidFill>
                  <a:srgbClr val="13283C"/>
                </a:solidFill>
                <a:latin typeface="Arial"/>
                <a:ea typeface="Arial"/>
                <a:cs typeface="Arial"/>
              </a:defRPr>
            </a:lvl6pPr>
            <a:lvl7pPr algn="l">
              <a:defRPr sz="2775" b="1">
                <a:solidFill>
                  <a:srgbClr val="13283C"/>
                </a:solidFill>
                <a:latin typeface="Arial"/>
                <a:ea typeface="Arial"/>
                <a:cs typeface="Arial"/>
              </a:defRPr>
            </a:lvl7pPr>
            <a:lvl8pPr algn="l">
              <a:defRPr sz="2775" b="1">
                <a:solidFill>
                  <a:srgbClr val="13283C"/>
                </a:solidFill>
                <a:latin typeface="Arial"/>
                <a:ea typeface="Arial"/>
                <a:cs typeface="Arial"/>
              </a:defRPr>
            </a:lvl8pPr>
            <a:lvl9pPr algn="l">
              <a:defRPr sz="2775" b="1">
                <a:solidFill>
                  <a:srgbClr val="13283C"/>
                </a:solidFill>
                <a:latin typeface="Arial"/>
                <a:ea typeface="Arial"/>
                <a:cs typeface="Arial"/>
              </a:defRPr>
            </a:lvl9pPr>
          </a:lstStyle>
          <a:p xmlns:a="http://schemas.openxmlformats.org/drawingml/2006/main">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dx/dt = Ax + Bu</a:t>
            </a:r>
          </a:p>
          <a:p xmlns:a="http://schemas.openxmlformats.org/drawingml/2006/main">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y = Cx</a:t>
            </a:r>
          </a:p>
        </p:txBody>
      </p:sp>
      <p:sp>
        <p:nvSpPr>
          <p:cNvPr id="7" name="Ángulos pequeños&#10;Masa e inercia constantes&#10;Fusel">
            <a:extLst xmlns:a="http://schemas.openxmlformats.org/drawingml/2006/main">
              <a:ext uri="{FF2B5EF4-FFF2-40B4-BE49-F238E27FC236}">
                <a16:creationId xmlns:a16="http://schemas.microsoft.com/office/drawing/2014/main" id="{FC176C29-C3D2-42EA-87B1-ECF98C373A12}"/>
              </a:ext>
            </a:extLst>
          </p:cNvPr>
          <p:cNvSpPr>
            <a:spLocks xmlns:a="http://schemas.openxmlformats.org/drawingml/2006/main" noGrp="1"/>
          </p:cNvSpPr>
          <p:nvPr/>
        </p:nvSpPr>
        <p:spPr>
          <a:xfrm xmlns:a="http://schemas.openxmlformats.org/drawingml/2006/main">
            <a:off x="7239000" y="3667125"/>
            <a:ext cx="4286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Small angles</a:t>
            </a:r>
          </a:p>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Constant mass and inertia</a:t>
            </a:r>
          </a:p>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Rigid vehicle</a:t>
            </a:r>
          </a:p>
        </p:txBody>
      </p:sp>
      <p:sp>
        <p:nvSpPr>
          <p:cNvPr id="8" name="Las constantes del motor y del servo representan">
            <a:extLst xmlns:a="http://schemas.openxmlformats.org/drawingml/2006/main">
              <a:ext uri="{FF2B5EF4-FFF2-40B4-BE49-F238E27FC236}">
                <a16:creationId xmlns:a16="http://schemas.microsoft.com/office/drawing/2014/main" id="{07939C3A-9219-48D3-BFB0-B9A57A463CA1}"/>
              </a:ext>
            </a:extLst>
          </p:cNvPr>
          <p:cNvSpPr>
            <a:spLocks xmlns:a="http://schemas.openxmlformats.org/drawingml/2006/main" noGrp="1"/>
          </p:cNvSpPr>
          <p:nvPr/>
        </p:nvSpPr>
        <p:spPr>
          <a:xfrm xmlns:a="http://schemas.openxmlformats.org/drawingml/2006/main">
            <a:off x="590550" y="5657850"/>
            <a:ext cx="10810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xmlns:a="http://schemas.openxmlformats.org/drawingml/2006/main">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Engine and servo time constants describe gradual responses.</a:t>
            </a:r>
          </a:p>
          <a:p xmlns:a="http://schemas.openxmlformats.org/drawingml/2006/main">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A: 4 × 4     B: 4 × 2     C: 2 × 4     D = 0</a:t>
            </a:r>
          </a:p>
        </p:txBody>
      </p:sp>
    </p:spTree>
    <p:extLst>
      <p:ext uri="{BB962C8B-B14F-4D97-AF65-F5344CB8AC3E}">
        <p14:creationId xmlns:p14="http://schemas.microsoft.com/office/powerpoint/2010/main" val="1334129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Physical meaning of the equations">
            <a:extLst xmlns:a="http://schemas.openxmlformats.org/drawingml/2006/main">
              <a:ext uri="{FF2B5EF4-FFF2-40B4-BE49-F238E27FC236}">
                <a16:creationId xmlns:a16="http://schemas.microsoft.com/office/drawing/2014/main" id="{B7858611-EADA-453F-A77C-D34774545FCB}"/>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xmlns:a="http://schemas.openxmlformats.org/drawingml/2006/main">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Physical meaning of the equations</a:t>
            </a:r>
          </a:p>
        </p:txBody>
      </p:sp>
      <p:sp>
        <p:nvSpPr>
          <p:cNvPr id="3" name="Each state equation represents a physical balanc">
            <a:extLst xmlns:a="http://schemas.openxmlformats.org/drawingml/2006/main">
              <a:ext uri="{FF2B5EF4-FFF2-40B4-BE49-F238E27FC236}">
                <a16:creationId xmlns:a16="http://schemas.microsoft.com/office/drawing/2014/main" id="{B4660D18-5BF9-4626-83B5-496D1C9D11A9}"/>
              </a:ext>
            </a:extLst>
          </p:cNvPr>
          <p:cNvSpPr>
            <a:spLocks xmlns:a="http://schemas.openxmlformats.org/drawingml/2006/main" noGrp="1"/>
          </p:cNvSpPr>
          <p:nvPr/>
        </p:nvSpPr>
        <p:spPr>
          <a:xfrm xmlns:a="http://schemas.openxmlformats.org/drawingml/2006/main">
            <a:off x="590550" y="1304925"/>
            <a:ext cx="11010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Each state equation represents a physical balance</a:t>
            </a:r>
          </a:p>
        </p:txBody>
      </p:sp>
      <p:sp>
        <p:nvSpPr>
          <p:cNvPr id="4" name="">
            <a:extLst xmlns:a="http://schemas.openxmlformats.org/drawingml/2006/main">
              <a:ext uri="{FF2B5EF4-FFF2-40B4-BE49-F238E27FC236}">
                <a16:creationId xmlns:a16="http://schemas.microsoft.com/office/drawing/2014/main" id="{E6A062AF-A05F-41D3-9103-0FBA4238F77C}"/>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defRPr sz="1275" b="0">
                <a:solidFill>
                  <a:srgbClr val="516474"/>
                </a:solidFill>
                <a:latin typeface="Arial"/>
                <a:ea typeface="Arial"/>
                <a:cs typeface="Arial"/>
              </a:defRPr>
            </a:pPr>
            <a:r>
              <a:t>04 / 19</a:t>
            </a:r>
          </a:p>
        </p:txBody>
      </p:sp>
      <p:graphicFrame>
        <p:nvGraphicFramePr>
          <p:cNvPr id="5" name="">
            <a:extLst xmlns:a="http://schemas.openxmlformats.org/drawingml/2006/main">
              <a:ext uri="{FF2B5EF4-FFF2-40B4-BE49-F238E27FC236}">
                <a16:creationId xmlns:a16="http://schemas.microsoft.com/office/drawing/2014/main" id="{CF481CBF-4D70-4D26-97CB-051AF8CB1B0E}"/>
              </a:ext>
            </a:extLst>
          </p:cNvPr>
          <p:cNvGraphicFramePr/>
          <p:nvPr/>
        </p:nvGraphicFramePr>
        <p:xfrm>
          <a:off xmlns:a="http://schemas.openxmlformats.org/drawingml/2006/main" x="590550" y="2114550"/>
          <a:ext xmlns:a="http://schemas.openxmlformats.org/drawingml/2006/main" cx="11010900" cy="3238500"/>
        </p:xfrm>
        <a:graphic xmlns:a="http://schemas.openxmlformats.org/drawingml/2006/main">
          <a:graphicData uri="http://schemas.openxmlformats.org/drawingml/2006/table">
            <a:tbl>
              <a:tblPr/>
              <a:tblGrid>
                <a:gridCol w="2190750"/>
                <a:gridCol w="8820150"/>
              </a:tblGrid>
              <a:tr h="647700">
                <a:tc>
                  <a:txBody>
                    <a:bodyPr lIns="95250" tIns="95250" rIns="95250" bIns="95250"/>
                    <a:lstStyle/>
                    <a:p>
                      <a:r>
                        <a:rPr sz="1950" b="1">
                          <a:solidFill>
                            <a:srgbClr val="FFFFFF"/>
                          </a:solidFill>
                          <a:latin typeface="Arial"/>
                          <a:ea typeface="Arial"/>
                          <a:cs typeface="Arial"/>
                        </a:rPr>
                        <a:t>Equation</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950" b="1">
                          <a:solidFill>
                            <a:srgbClr val="FFFFFF"/>
                          </a:solidFill>
                          <a:latin typeface="Arial"/>
                          <a:ea typeface="Arial"/>
                          <a:cs typeface="Arial"/>
                        </a:rPr>
                        <a:t>Physical role</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647700">
                <a:tc>
                  <a:txBody>
                    <a:bodyPr lIns="95250" tIns="95250" rIns="95250" bIns="95250"/>
                    <a:lstStyle/>
                    <a:p>
                      <a:r>
                        <a:rPr sz="1950" b="0">
                          <a:solidFill>
                            <a:srgbClr val="13283C"/>
                          </a:solidFill>
                          <a:latin typeface="Arial"/>
                          <a:ea typeface="Arial"/>
                          <a:cs typeface="Arial"/>
                        </a:rPr>
                        <a:t>da/dt</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950" b="0">
                          <a:solidFill>
                            <a:srgbClr val="13283C"/>
                          </a:solidFill>
                          <a:latin typeface="Arial"/>
                          <a:ea typeface="Arial"/>
                          <a:cs typeface="Arial"/>
                        </a:rPr>
                        <a:t>Engine response, axial command and gravity coupling</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47700">
                <a:tc>
                  <a:txBody>
                    <a:bodyPr lIns="95250" tIns="95250" rIns="95250" bIns="95250"/>
                    <a:lstStyle/>
                    <a:p>
                      <a:r>
                        <a:rPr sz="1950" b="0">
                          <a:solidFill>
                            <a:srgbClr val="13283C"/>
                          </a:solidFill>
                          <a:latin typeface="Arial"/>
                          <a:ea typeface="Arial"/>
                          <a:cs typeface="Arial"/>
                        </a:rPr>
                        <a:t>dθ/dt</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950" b="0">
                          <a:solidFill>
                            <a:srgbClr val="13283C"/>
                          </a:solidFill>
                          <a:latin typeface="Arial"/>
                          <a:ea typeface="Arial"/>
                          <a:cs typeface="Arial"/>
                        </a:rPr>
                        <a:t>Angular rate accumulates into pitch angle</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647700">
                <a:tc>
                  <a:txBody>
                    <a:bodyPr lIns="95250" tIns="95250" rIns="95250" bIns="95250"/>
                    <a:lstStyle/>
                    <a:p>
                      <a:r>
                        <a:rPr sz="1950" b="0">
                          <a:solidFill>
                            <a:srgbClr val="13283C"/>
                          </a:solidFill>
                          <a:latin typeface="Arial"/>
                          <a:ea typeface="Arial"/>
                          <a:cs typeface="Arial"/>
                        </a:rPr>
                        <a:t>dω/dt</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950" b="0">
                          <a:solidFill>
                            <a:srgbClr val="13283C"/>
                          </a:solidFill>
                          <a:latin typeface="Arial"/>
                          <a:ea typeface="Arial"/>
                          <a:cs typeface="Arial"/>
                        </a:rPr>
                        <a:t>Destabilizing aerodynamics, damping and control torques</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47700">
                <a:tc>
                  <a:txBody>
                    <a:bodyPr lIns="95250" tIns="95250" rIns="95250" bIns="95250"/>
                    <a:lstStyle/>
                    <a:p>
                      <a:r>
                        <a:rPr sz="1950" b="0">
                          <a:solidFill>
                            <a:srgbClr val="13283C"/>
                          </a:solidFill>
                          <a:latin typeface="Arial"/>
                          <a:ea typeface="Arial"/>
                          <a:cs typeface="Arial"/>
                        </a:rPr>
                        <a:t>dδ/dt</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950" b="0">
                          <a:solidFill>
                            <a:srgbClr val="13283C"/>
                          </a:solidFill>
                          <a:latin typeface="Arial"/>
                          <a:ea typeface="Arial"/>
                          <a:cs typeface="Arial"/>
                        </a:rPr>
                        <a:t>Servo response with angle and angular-rate feedback</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6" name="The term μθ promotes rotation. Nozzle feedback a">
            <a:extLst xmlns:a="http://schemas.openxmlformats.org/drawingml/2006/main">
              <a:ext uri="{FF2B5EF4-FFF2-40B4-BE49-F238E27FC236}">
                <a16:creationId xmlns:a16="http://schemas.microsoft.com/office/drawing/2014/main" id="{16427757-79C3-4648-AAE1-EAA5116BB82F}"/>
              </a:ext>
            </a:extLst>
          </p:cNvPr>
          <p:cNvSpPr>
            <a:spLocks xmlns:a="http://schemas.openxmlformats.org/drawingml/2006/main" noGrp="1"/>
          </p:cNvSpPr>
          <p:nvPr/>
        </p:nvSpPr>
        <p:spPr>
          <a:xfrm xmlns:a="http://schemas.openxmlformats.org/drawingml/2006/main">
            <a:off x="590550" y="5724525"/>
            <a:ext cx="1101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087E8B"/>
                </a:solidFill>
                <a:latin typeface="Arial"/>
                <a:ea typeface="Arial"/>
                <a:cs typeface="Arial"/>
              </a:defRPr>
            </a:defPPr>
            <a:lvl1pPr>
              <a:defRPr sz="2025" b="1">
                <a:solidFill>
                  <a:srgbClr val="087E8B"/>
                </a:solidFill>
                <a:latin typeface="Arial"/>
                <a:ea typeface="Arial"/>
                <a:cs typeface="Arial"/>
              </a:defRPr>
            </a:lvl1pPr>
            <a:lvl2pPr>
              <a:defRPr sz="2025" b="1">
                <a:solidFill>
                  <a:srgbClr val="087E8B"/>
                </a:solidFill>
                <a:latin typeface="Arial"/>
                <a:ea typeface="Arial"/>
                <a:cs typeface="Arial"/>
              </a:defRPr>
            </a:lvl2pPr>
            <a:lvl3pPr>
              <a:defRPr sz="2025" b="1">
                <a:solidFill>
                  <a:srgbClr val="087E8B"/>
                </a:solidFill>
                <a:latin typeface="Arial"/>
                <a:ea typeface="Arial"/>
                <a:cs typeface="Arial"/>
              </a:defRPr>
            </a:lvl3pPr>
            <a:lvl4pPr>
              <a:defRPr sz="2025" b="1">
                <a:solidFill>
                  <a:srgbClr val="087E8B"/>
                </a:solidFill>
                <a:latin typeface="Arial"/>
                <a:ea typeface="Arial"/>
                <a:cs typeface="Arial"/>
              </a:defRPr>
            </a:lvl4pPr>
            <a:lvl5pPr>
              <a:defRPr sz="2025" b="1">
                <a:solidFill>
                  <a:srgbClr val="087E8B"/>
                </a:solidFill>
                <a:latin typeface="Arial"/>
                <a:ea typeface="Arial"/>
                <a:cs typeface="Arial"/>
              </a:defRPr>
            </a:lvl5pPr>
            <a:lvl6pPr>
              <a:defRPr sz="2025" b="1">
                <a:solidFill>
                  <a:srgbClr val="087E8B"/>
                </a:solidFill>
                <a:latin typeface="Arial"/>
                <a:ea typeface="Arial"/>
                <a:cs typeface="Arial"/>
              </a:defRPr>
            </a:lvl6pPr>
            <a:lvl7pPr>
              <a:defRPr sz="2025" b="1">
                <a:solidFill>
                  <a:srgbClr val="087E8B"/>
                </a:solidFill>
                <a:latin typeface="Arial"/>
                <a:ea typeface="Arial"/>
                <a:cs typeface="Arial"/>
              </a:defRPr>
            </a:lvl7pPr>
            <a:lvl8pPr>
              <a:defRPr sz="2025" b="1">
                <a:solidFill>
                  <a:srgbClr val="087E8B"/>
                </a:solidFill>
                <a:latin typeface="Arial"/>
                <a:ea typeface="Arial"/>
                <a:cs typeface="Arial"/>
              </a:defRPr>
            </a:lvl8pPr>
            <a:lvl9pPr>
              <a:defRPr sz="2025" b="1">
                <a:solidFill>
                  <a:srgbClr val="087E8B"/>
                </a:solidFill>
                <a:latin typeface="Arial"/>
                <a:ea typeface="Arial"/>
                <a:cs typeface="Arial"/>
              </a:defRPr>
            </a:lvl9pPr>
          </a:lstStyle>
          <a:p xmlns:a="http://schemas.openxmlformats.org/drawingml/2006/main">
            <a:pPr>
              <a:lnSpc>
                <a:spcPct val="110000"/>
              </a:lnSpc>
              <a:buNone/>
              <a:defRPr sz="2025" b="1">
                <a:solidFill>
                  <a:srgbClr val="087E8B"/>
                </a:solidFill>
                <a:latin typeface="Arial"/>
                <a:ea typeface="Arial"/>
                <a:cs typeface="Arial"/>
              </a:defRPr>
            </a:pPr>
            <a:r>
              <a:rPr sz="2025" b="1">
                <a:solidFill>
                  <a:srgbClr val="087E8B"/>
                </a:solidFill>
                <a:latin typeface="Arial"/>
                <a:ea typeface="Arial"/>
                <a:cs typeface="Arial"/>
              </a:rPr>
              <a:t>The term μθ promotes rotation. Nozzle feedback and damping oppose it.</a:t>
            </a:r>
          </a:p>
        </p:txBody>
      </p:sp>
    </p:spTree>
    <p:extLst>
      <p:ext uri="{BB962C8B-B14F-4D97-AF65-F5344CB8AC3E}">
        <p14:creationId xmlns:p14="http://schemas.microsoft.com/office/powerpoint/2010/main" val="2264722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Procedimiento">
            <a:extLst xmlns:a="http://schemas.openxmlformats.org/drawingml/2006/main">
              <a:ext uri="{FF2B5EF4-FFF2-40B4-BE49-F238E27FC236}">
                <a16:creationId xmlns:a16="http://schemas.microsoft.com/office/drawing/2014/main" id="{6542940C-1DAB-47C0-B41B-CE08D3804AA9}"/>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Method</a:t>
            </a:r>
          </a:p>
        </p:txBody>
      </p:sp>
      <p:sp>
        <p:nvSpPr>
          <p:cNvPr id="3" name="04 / 16">
            <a:extLst xmlns:a="http://schemas.openxmlformats.org/drawingml/2006/main">
              <a:ext uri="{FF2B5EF4-FFF2-40B4-BE49-F238E27FC236}">
                <a16:creationId xmlns:a16="http://schemas.microsoft.com/office/drawing/2014/main" id="{A7416159-94D9-40F1-873E-D573D8053981}"/>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05 / 19</a:t>
            </a:r>
          </a:p>
        </p:txBody>
      </p:sp>
      <p:sp>
        <p:nvSpPr>
          <p:cNvPr id="4" name="Construimos el modelo y comprobamos sus trayecto">
            <a:extLst xmlns:a="http://schemas.openxmlformats.org/drawingml/2006/main">
              <a:ext uri="{FF2B5EF4-FFF2-40B4-BE49-F238E27FC236}">
                <a16:creationId xmlns:a16="http://schemas.microsoft.com/office/drawing/2014/main" id="{4B5C68A6-B29C-4A5F-8E90-EBC01C6CA285}"/>
              </a:ext>
            </a:extLst>
          </p:cNvPr>
          <p:cNvSpPr>
            <a:spLocks xmlns:a="http://schemas.openxmlformats.org/drawingml/2006/main" noGrp="1"/>
          </p:cNvSpPr>
          <p:nvPr/>
        </p:nvSpPr>
        <p:spPr>
          <a:xfrm xmlns:a="http://schemas.openxmlformats.org/drawingml/2006/main">
            <a:off x="590550" y="1314450"/>
            <a:ext cx="666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087E8B"/>
                </a:solidFill>
                <a:latin typeface="Arial"/>
                <a:ea typeface="Arial"/>
                <a:cs typeface="Arial"/>
              </a:defRPr>
            </a:defPPr>
            <a:lvl1pPr algn="l">
              <a:defRPr sz="2400" b="1">
                <a:solidFill>
                  <a:srgbClr val="087E8B"/>
                </a:solidFill>
                <a:latin typeface="Arial"/>
                <a:ea typeface="Arial"/>
                <a:cs typeface="Arial"/>
              </a:defRPr>
            </a:lvl1pPr>
            <a:lvl2pPr algn="l">
              <a:defRPr sz="2400" b="1">
                <a:solidFill>
                  <a:srgbClr val="087E8B"/>
                </a:solidFill>
                <a:latin typeface="Arial"/>
                <a:ea typeface="Arial"/>
                <a:cs typeface="Arial"/>
              </a:defRPr>
            </a:lvl2pPr>
            <a:lvl3pPr algn="l">
              <a:defRPr sz="2400" b="1">
                <a:solidFill>
                  <a:srgbClr val="087E8B"/>
                </a:solidFill>
                <a:latin typeface="Arial"/>
                <a:ea typeface="Arial"/>
                <a:cs typeface="Arial"/>
              </a:defRPr>
            </a:lvl3pPr>
            <a:lvl4pPr algn="l">
              <a:defRPr sz="2400" b="1">
                <a:solidFill>
                  <a:srgbClr val="087E8B"/>
                </a:solidFill>
                <a:latin typeface="Arial"/>
                <a:ea typeface="Arial"/>
                <a:cs typeface="Arial"/>
              </a:defRPr>
            </a:lvl4pPr>
            <a:lvl5pPr algn="l">
              <a:defRPr sz="2400" b="1">
                <a:solidFill>
                  <a:srgbClr val="087E8B"/>
                </a:solidFill>
                <a:latin typeface="Arial"/>
                <a:ea typeface="Arial"/>
                <a:cs typeface="Arial"/>
              </a:defRPr>
            </a:lvl5pPr>
            <a:lvl6pPr algn="l">
              <a:defRPr sz="2400" b="1">
                <a:solidFill>
                  <a:srgbClr val="087E8B"/>
                </a:solidFill>
                <a:latin typeface="Arial"/>
                <a:ea typeface="Arial"/>
                <a:cs typeface="Arial"/>
              </a:defRPr>
            </a:lvl6pPr>
            <a:lvl7pPr algn="l">
              <a:defRPr sz="2400" b="1">
                <a:solidFill>
                  <a:srgbClr val="087E8B"/>
                </a:solidFill>
                <a:latin typeface="Arial"/>
                <a:ea typeface="Arial"/>
                <a:cs typeface="Arial"/>
              </a:defRPr>
            </a:lvl7pPr>
            <a:lvl8pPr algn="l">
              <a:defRPr sz="2400" b="1">
                <a:solidFill>
                  <a:srgbClr val="087E8B"/>
                </a:solidFill>
                <a:latin typeface="Arial"/>
                <a:ea typeface="Arial"/>
                <a:cs typeface="Arial"/>
              </a:defRPr>
            </a:lvl8pPr>
            <a:lvl9pPr algn="l">
              <a:defRPr sz="2400" b="1">
                <a:solidFill>
                  <a:srgbClr val="087E8B"/>
                </a:solidFill>
                <a:latin typeface="Arial"/>
                <a:ea typeface="Arial"/>
                <a:cs typeface="Arial"/>
              </a:defRPr>
            </a:lvl9pPr>
          </a:lstStyle>
          <a:p xmlns:a="http://schemas.openxmlformats.org/drawingml/2006/main">
            <a:pPr algn="l">
              <a:lnSpc>
                <a:spcPct val="110000"/>
              </a:lnSpc>
              <a:buNone/>
              <a:defRPr sz="2400" b="1">
                <a:solidFill>
                  <a:srgbClr val="087E8B"/>
                </a:solidFill>
                <a:latin typeface="Arial"/>
                <a:ea typeface="Arial"/>
                <a:cs typeface="Arial"/>
              </a:defRPr>
            </a:pPr>
            <a:r>
              <a:rPr sz="2400" b="1">
                <a:solidFill>
                  <a:srgbClr val="087E8B"/>
                </a:solidFill>
                <a:latin typeface="Arial"/>
                <a:ea typeface="Arial"/>
                <a:cs typeface="Arial"/>
              </a:rPr>
              <a:t>We built the model and checked each signal path</a:t>
            </a:r>
          </a:p>
        </p:txBody>
      </p:sp>
      <p:sp>
        <p:nvSpPr>
          <p:cNvPr id="5" name="01  Estados y matriz de transferencia">
            <a:extLst xmlns:a="http://schemas.openxmlformats.org/drawingml/2006/main">
              <a:ext uri="{FF2B5EF4-FFF2-40B4-BE49-F238E27FC236}">
                <a16:creationId xmlns:a16="http://schemas.microsoft.com/office/drawing/2014/main" id="{6FD76CC2-3F89-466C-AB62-75762A03E15C}"/>
              </a:ext>
            </a:extLst>
          </p:cNvPr>
          <p:cNvSpPr>
            <a:spLocks xmlns:a="http://schemas.openxmlformats.org/drawingml/2006/main" noGrp="1"/>
          </p:cNvSpPr>
          <p:nvPr/>
        </p:nvSpPr>
        <p:spPr>
          <a:xfrm xmlns:a="http://schemas.openxmlformats.org/drawingml/2006/main">
            <a:off x="590550" y="2619375"/>
            <a:ext cx="666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01  States and transfer matrix</a:t>
            </a:r>
          </a:p>
        </p:txBody>
      </p:sp>
      <p:sp>
        <p:nvSpPr>
          <p:cNvPr id="6" name="02  Polos y pruebas temporales">
            <a:extLst xmlns:a="http://schemas.openxmlformats.org/drawingml/2006/main">
              <a:ext uri="{FF2B5EF4-FFF2-40B4-BE49-F238E27FC236}">
                <a16:creationId xmlns:a16="http://schemas.microsoft.com/office/drawing/2014/main" id="{D8E061AE-54F7-41A6-A4AA-3BF74F7C4C6A}"/>
              </a:ext>
            </a:extLst>
          </p:cNvPr>
          <p:cNvSpPr>
            <a:spLocks xmlns:a="http://schemas.openxmlformats.org/drawingml/2006/main" noGrp="1"/>
          </p:cNvSpPr>
          <p:nvPr/>
        </p:nvSpPr>
        <p:spPr>
          <a:xfrm xmlns:a="http://schemas.openxmlformats.org/drawingml/2006/main">
            <a:off x="590550" y="3352800"/>
            <a:ext cx="666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02  Poles and time responses</a:t>
            </a:r>
          </a:p>
        </p:txBody>
      </p:sp>
      <p:sp>
        <p:nvSpPr>
          <p:cNvPr id="7" name="03  Frecuencia, sensores y actuadores">
            <a:extLst xmlns:a="http://schemas.openxmlformats.org/drawingml/2006/main">
              <a:ext uri="{FF2B5EF4-FFF2-40B4-BE49-F238E27FC236}">
                <a16:creationId xmlns:a16="http://schemas.microsoft.com/office/drawing/2014/main" id="{B068E4AA-A5D6-4BC5-A78C-E727D69ABE32}"/>
              </a:ext>
            </a:extLst>
          </p:cNvPr>
          <p:cNvSpPr>
            <a:spLocks xmlns:a="http://schemas.openxmlformats.org/drawingml/2006/main" noGrp="1"/>
          </p:cNvSpPr>
          <p:nvPr/>
        </p:nvSpPr>
        <p:spPr>
          <a:xfrm xmlns:a="http://schemas.openxmlformats.org/drawingml/2006/main">
            <a:off x="590550" y="4086225"/>
            <a:ext cx="666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03  Frequency response, sensors and actuators</a:t>
            </a:r>
          </a:p>
        </p:txBody>
      </p:sp>
      <p:sp>
        <p:nvSpPr>
          <p:cNvPr id="8" name="04  Ganancias y controlador digital">
            <a:extLst xmlns:a="http://schemas.openxmlformats.org/drawingml/2006/main">
              <a:ext uri="{FF2B5EF4-FFF2-40B4-BE49-F238E27FC236}">
                <a16:creationId xmlns:a16="http://schemas.microsoft.com/office/drawing/2014/main" id="{2D78B3BA-E25A-4402-A3B6-15DE00EA220E}"/>
              </a:ext>
            </a:extLst>
          </p:cNvPr>
          <p:cNvSpPr>
            <a:spLocks xmlns:a="http://schemas.openxmlformats.org/drawingml/2006/main" noGrp="1"/>
          </p:cNvSpPr>
          <p:nvPr/>
        </p:nvSpPr>
        <p:spPr>
          <a:xfrm xmlns:a="http://schemas.openxmlformats.org/drawingml/2006/main">
            <a:off x="590550" y="4819650"/>
            <a:ext cx="666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04  Gains and digital controller</a:t>
            </a:r>
          </a:p>
        </p:txBody>
      </p:sp>
      <p:sp>
        <p:nvSpPr>
          <p:cNvPr id="9" name="K₁: corrección axial&#10;K₂: corrección de actitud">
            <a:extLst xmlns:a="http://schemas.openxmlformats.org/drawingml/2006/main">
              <a:ext uri="{FF2B5EF4-FFF2-40B4-BE49-F238E27FC236}">
                <a16:creationId xmlns:a16="http://schemas.microsoft.com/office/drawing/2014/main" id="{B3FACF71-66B8-49D8-8758-F4FC5353545D}"/>
              </a:ext>
            </a:extLst>
          </p:cNvPr>
          <p:cNvSpPr>
            <a:spLocks xmlns:a="http://schemas.openxmlformats.org/drawingml/2006/main" noGrp="1"/>
          </p:cNvSpPr>
          <p:nvPr/>
        </p:nvSpPr>
        <p:spPr>
          <a:xfrm xmlns:a="http://schemas.openxmlformats.org/drawingml/2006/main">
            <a:off x="590550" y="5715000"/>
            <a:ext cx="6667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xmlns:a="http://schemas.openxmlformats.org/drawingml/2006/main">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K₁: axial correction</a:t>
            </a:r>
          </a:p>
          <a:p xmlns:a="http://schemas.openxmlformats.org/drawingml/2006/main">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K₂: attitude correction</a:t>
            </a:r>
          </a:p>
        </p:txBody>
      </p:sp>
      <p:pic>
        <p:nvPicPr>
          <p:cNvPr id="10" name="">
            <a:extLst xmlns:a="http://schemas.openxmlformats.org/drawingml/2006/main">
              <a:ext uri="{FF2B5EF4-FFF2-40B4-BE49-F238E27FC236}">
                <a16:creationId xmlns:a16="http://schemas.microsoft.com/office/drawing/2014/main" id="{9971085D-94A2-483E-90E8-3DC0CC13776E}"/>
              </a:ext>
            </a:extLst>
          </p:cNvPr>
          <p:cNvPicPr>
            <a:picLocks xmlns:a="http://schemas.openxmlformats.org/drawingml/2006/main" noChangeAspect="1"/>
          </p:cNvPicPr>
          <p:nvPr/>
        </p:nvPicPr>
        <p:blipFill>
          <a:blip xmlns:r="http://schemas.openxmlformats.org/officeDocument/2006/relationships" xmlns:a="http://schemas.openxmlformats.org/drawingml/2006/main" r:embed="Rb96c4127d43747b9"/>
          <a:stretch xmlns:a="http://schemas.openxmlformats.org/drawingml/2006/main"/>
        </p:blipFill>
        <p:spPr>
          <a:xfrm xmlns:a="http://schemas.openxmlformats.org/drawingml/2006/main">
            <a:off x="8003619" y="1295400"/>
            <a:ext cx="3471388" cy="4695825"/>
          </a:xfrm>
          <a:prstGeom xmlns:a="http://schemas.openxmlformats.org/drawingml/2006/main" prst="rect">
            <a:avLst/>
          </a:prstGeom>
        </p:spPr>
      </p:pic>
    </p:spTree>
    <p:extLst>
      <p:ext uri="{BB962C8B-B14F-4D97-AF65-F5344CB8AC3E}">
        <p14:creationId xmlns:p14="http://schemas.microsoft.com/office/powerpoint/2010/main" val="1728911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stabilidad">
            <a:extLst xmlns:a="http://schemas.openxmlformats.org/drawingml/2006/main">
              <a:ext uri="{FF2B5EF4-FFF2-40B4-BE49-F238E27FC236}">
                <a16:creationId xmlns:a16="http://schemas.microsoft.com/office/drawing/2014/main" id="{D6E5FFA5-C63B-44E9-8CF7-A44E7DC5760D}"/>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Stability</a:t>
            </a:r>
          </a:p>
        </p:txBody>
      </p:sp>
      <p:sp>
        <p:nvSpPr>
          <p:cNvPr id="3" name="05 / 16">
            <a:extLst xmlns:a="http://schemas.openxmlformats.org/drawingml/2006/main">
              <a:ext uri="{FF2B5EF4-FFF2-40B4-BE49-F238E27FC236}">
                <a16:creationId xmlns:a16="http://schemas.microsoft.com/office/drawing/2014/main" id="{5E65FC0F-553E-468D-83A1-905140EF9DE0}"/>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06 / 19</a:t>
            </a:r>
          </a:p>
        </p:txBody>
      </p:sp>
      <p:graphicFrame>
        <p:nvGraphicFramePr>
          <p:cNvPr id="4" name="Chart">
            <a:extLst xmlns:a="http://schemas.openxmlformats.org/drawingml/2006/main">
              <a:ext uri="{FF2B5EF4-FFF2-40B4-BE49-F238E27FC236}">
                <a16:creationId xmlns:a16="http://schemas.microsoft.com/office/drawing/2014/main" id="{DD6D0B88-E032-4F99-A83D-5A94684E9D11}"/>
              </a:ext>
            </a:extLst>
          </p:cNvPr>
          <p:cNvGraphicFramePr/>
          <p:nvPr/>
        </p:nvGraphicFramePr>
        <p:xfrm>
          <a:off xmlns:a="http://schemas.openxmlformats.org/drawingml/2006/main" x="476250" y="1619250"/>
          <a:ext xmlns:a="http://schemas.openxmlformats.org/drawingml/2006/main" cx="7334250" cy="4000500"/>
        </p:xfrm>
        <a:graphic xmlns:a="http://schemas.openxmlformats.org/drawingml/2006/main">
          <a:graphicData uri="http://schemas.openxmlformats.org/drawingml/2006/chart">
            <c:chart xmlns:r="http://schemas.openxmlformats.org/officeDocument/2006/relationships" xmlns:c="http://schemas.openxmlformats.org/drawingml/2006/chart" r:id="Rc63c7e0a75564ae4"/>
          </a:graphicData>
        </a:graphic>
      </p:graphicFrame>
      <p:sp>
        <p:nvSpPr>
          <p:cNvPr id="5" name="Todos los polos nominales&#10;tienen parte real nega">
            <a:extLst xmlns:a="http://schemas.openxmlformats.org/drawingml/2006/main">
              <a:ext uri="{FF2B5EF4-FFF2-40B4-BE49-F238E27FC236}">
                <a16:creationId xmlns:a16="http://schemas.microsoft.com/office/drawing/2014/main" id="{59D111A0-2434-402F-9615-2AA294F851B5}"/>
              </a:ext>
            </a:extLst>
          </p:cNvPr>
          <p:cNvSpPr>
            <a:spLocks xmlns:a="http://schemas.openxmlformats.org/drawingml/2006/main" noGrp="1"/>
          </p:cNvSpPr>
          <p:nvPr/>
        </p:nvSpPr>
        <p:spPr>
          <a:xfrm xmlns:a="http://schemas.openxmlformats.org/drawingml/2006/main">
            <a:off x="8096250" y="1714500"/>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087E8B"/>
                </a:solidFill>
                <a:latin typeface="Arial"/>
                <a:ea typeface="Arial"/>
                <a:cs typeface="Arial"/>
              </a:defRPr>
            </a:defPPr>
            <a:lvl1pPr algn="l">
              <a:defRPr sz="2175" b="1">
                <a:solidFill>
                  <a:srgbClr val="087E8B"/>
                </a:solidFill>
                <a:latin typeface="Arial"/>
                <a:ea typeface="Arial"/>
                <a:cs typeface="Arial"/>
              </a:defRPr>
            </a:lvl1pPr>
            <a:lvl2pPr algn="l">
              <a:defRPr sz="2175" b="1">
                <a:solidFill>
                  <a:srgbClr val="087E8B"/>
                </a:solidFill>
                <a:latin typeface="Arial"/>
                <a:ea typeface="Arial"/>
                <a:cs typeface="Arial"/>
              </a:defRPr>
            </a:lvl2pPr>
            <a:lvl3pPr algn="l">
              <a:defRPr sz="2175" b="1">
                <a:solidFill>
                  <a:srgbClr val="087E8B"/>
                </a:solidFill>
                <a:latin typeface="Arial"/>
                <a:ea typeface="Arial"/>
                <a:cs typeface="Arial"/>
              </a:defRPr>
            </a:lvl3pPr>
            <a:lvl4pPr algn="l">
              <a:defRPr sz="2175" b="1">
                <a:solidFill>
                  <a:srgbClr val="087E8B"/>
                </a:solidFill>
                <a:latin typeface="Arial"/>
                <a:ea typeface="Arial"/>
                <a:cs typeface="Arial"/>
              </a:defRPr>
            </a:lvl4pPr>
            <a:lvl5pPr algn="l">
              <a:defRPr sz="2175" b="1">
                <a:solidFill>
                  <a:srgbClr val="087E8B"/>
                </a:solidFill>
                <a:latin typeface="Arial"/>
                <a:ea typeface="Arial"/>
                <a:cs typeface="Arial"/>
              </a:defRPr>
            </a:lvl5pPr>
            <a:lvl6pPr algn="l">
              <a:defRPr sz="2175" b="1">
                <a:solidFill>
                  <a:srgbClr val="087E8B"/>
                </a:solidFill>
                <a:latin typeface="Arial"/>
                <a:ea typeface="Arial"/>
                <a:cs typeface="Arial"/>
              </a:defRPr>
            </a:lvl6pPr>
            <a:lvl7pPr algn="l">
              <a:defRPr sz="2175" b="1">
                <a:solidFill>
                  <a:srgbClr val="087E8B"/>
                </a:solidFill>
                <a:latin typeface="Arial"/>
                <a:ea typeface="Arial"/>
                <a:cs typeface="Arial"/>
              </a:defRPr>
            </a:lvl7pPr>
            <a:lvl8pPr algn="l">
              <a:defRPr sz="2175" b="1">
                <a:solidFill>
                  <a:srgbClr val="087E8B"/>
                </a:solidFill>
                <a:latin typeface="Arial"/>
                <a:ea typeface="Arial"/>
                <a:cs typeface="Arial"/>
              </a:defRPr>
            </a:lvl8pPr>
            <a:lvl9pPr algn="l">
              <a:defRPr sz="2175" b="1">
                <a:solidFill>
                  <a:srgbClr val="087E8B"/>
                </a:solidFill>
                <a:latin typeface="Arial"/>
                <a:ea typeface="Arial"/>
                <a:cs typeface="Arial"/>
              </a:defRPr>
            </a:lvl9pPr>
          </a:lstStyle>
          <a:p xmlns:a="http://schemas.openxmlformats.org/drawingml/2006/main">
            <a:pPr algn="l">
              <a:lnSpc>
                <a:spcPct val="110000"/>
              </a:lnSpc>
              <a:buNone/>
              <a:defRPr sz="2175" b="1">
                <a:solidFill>
                  <a:srgbClr val="087E8B"/>
                </a:solidFill>
                <a:latin typeface="Arial"/>
                <a:ea typeface="Arial"/>
                <a:cs typeface="Arial"/>
              </a:defRPr>
            </a:pPr>
            <a:r>
              <a:rPr sz="2175" b="1">
                <a:solidFill>
                  <a:srgbClr val="087E8B"/>
                </a:solidFill>
                <a:latin typeface="Arial"/>
                <a:ea typeface="Arial"/>
                <a:cs typeface="Arial"/>
              </a:rPr>
              <a:t>All nominal poles</a:t>
            </a:r>
          </a:p>
          <a:p xmlns:a="http://schemas.openxmlformats.org/drawingml/2006/main">
            <a:pPr algn="l">
              <a:lnSpc>
                <a:spcPct val="110000"/>
              </a:lnSpc>
              <a:buNone/>
              <a:defRPr sz="2175" b="1">
                <a:solidFill>
                  <a:srgbClr val="087E8B"/>
                </a:solidFill>
                <a:latin typeface="Arial"/>
                <a:ea typeface="Arial"/>
                <a:cs typeface="Arial"/>
              </a:defRPr>
            </a:pPr>
            <a:r>
              <a:rPr sz="2175" b="1">
                <a:solidFill>
                  <a:srgbClr val="087E8B"/>
                </a:solidFill>
                <a:latin typeface="Arial"/>
                <a:ea typeface="Arial"/>
                <a:cs typeface="Arial"/>
              </a:rPr>
              <a:t>have negative real parts</a:t>
            </a:r>
          </a:p>
        </p:txBody>
      </p:sp>
      <p:sp>
        <p:nvSpPr>
          <p:cNvPr id="6" name="K₁ = 1&#10;Umbral: K₂ ≈ 0,081">
            <a:extLst xmlns:a="http://schemas.openxmlformats.org/drawingml/2006/main">
              <a:ext uri="{FF2B5EF4-FFF2-40B4-BE49-F238E27FC236}">
                <a16:creationId xmlns:a16="http://schemas.microsoft.com/office/drawing/2014/main" id="{D3F29772-F235-450D-8DFF-6C7241294703}"/>
              </a:ext>
            </a:extLst>
          </p:cNvPr>
          <p:cNvSpPr>
            <a:spLocks xmlns:a="http://schemas.openxmlformats.org/drawingml/2006/main" noGrp="1"/>
          </p:cNvSpPr>
          <p:nvPr/>
        </p:nvSpPr>
        <p:spPr>
          <a:xfrm xmlns:a="http://schemas.openxmlformats.org/drawingml/2006/main">
            <a:off x="8096250" y="3238500"/>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K₁ = 1</a:t>
            </a:r>
          </a:p>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Threshold: K₂ ≈ 0.081</a:t>
            </a:r>
          </a:p>
        </p:txBody>
      </p:sp>
      <p:sp>
        <p:nvSpPr>
          <p:cNvPr id="7" name="K₂ = 0&#10;Un polo positivo: +0,557">
            <a:extLst xmlns:a="http://schemas.openxmlformats.org/drawingml/2006/main">
              <a:ext uri="{FF2B5EF4-FFF2-40B4-BE49-F238E27FC236}">
                <a16:creationId xmlns:a16="http://schemas.microsoft.com/office/drawing/2014/main" id="{E2A89D3B-DB8F-4626-B9C7-323DA60E3C23}"/>
              </a:ext>
            </a:extLst>
          </p:cNvPr>
          <p:cNvSpPr>
            <a:spLocks xmlns:a="http://schemas.openxmlformats.org/drawingml/2006/main" noGrp="1"/>
          </p:cNvSpPr>
          <p:nvPr/>
        </p:nvSpPr>
        <p:spPr>
          <a:xfrm xmlns:a="http://schemas.openxmlformats.org/drawingml/2006/main">
            <a:off x="8096250" y="4543425"/>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B53A35"/>
                </a:solidFill>
                <a:latin typeface="Arial"/>
                <a:ea typeface="Arial"/>
                <a:cs typeface="Arial"/>
              </a:defRPr>
            </a:defPPr>
            <a:lvl1pPr algn="l">
              <a:defRPr sz="2100" b="0">
                <a:solidFill>
                  <a:srgbClr val="B53A35"/>
                </a:solidFill>
                <a:latin typeface="Arial"/>
                <a:ea typeface="Arial"/>
                <a:cs typeface="Arial"/>
              </a:defRPr>
            </a:lvl1pPr>
            <a:lvl2pPr algn="l">
              <a:defRPr sz="2100" b="0">
                <a:solidFill>
                  <a:srgbClr val="B53A35"/>
                </a:solidFill>
                <a:latin typeface="Arial"/>
                <a:ea typeface="Arial"/>
                <a:cs typeface="Arial"/>
              </a:defRPr>
            </a:lvl2pPr>
            <a:lvl3pPr algn="l">
              <a:defRPr sz="2100" b="0">
                <a:solidFill>
                  <a:srgbClr val="B53A35"/>
                </a:solidFill>
                <a:latin typeface="Arial"/>
                <a:ea typeface="Arial"/>
                <a:cs typeface="Arial"/>
              </a:defRPr>
            </a:lvl3pPr>
            <a:lvl4pPr algn="l">
              <a:defRPr sz="2100" b="0">
                <a:solidFill>
                  <a:srgbClr val="B53A35"/>
                </a:solidFill>
                <a:latin typeface="Arial"/>
                <a:ea typeface="Arial"/>
                <a:cs typeface="Arial"/>
              </a:defRPr>
            </a:lvl4pPr>
            <a:lvl5pPr algn="l">
              <a:defRPr sz="2100" b="0">
                <a:solidFill>
                  <a:srgbClr val="B53A35"/>
                </a:solidFill>
                <a:latin typeface="Arial"/>
                <a:ea typeface="Arial"/>
                <a:cs typeface="Arial"/>
              </a:defRPr>
            </a:lvl5pPr>
            <a:lvl6pPr algn="l">
              <a:defRPr sz="2100" b="0">
                <a:solidFill>
                  <a:srgbClr val="B53A35"/>
                </a:solidFill>
                <a:latin typeface="Arial"/>
                <a:ea typeface="Arial"/>
                <a:cs typeface="Arial"/>
              </a:defRPr>
            </a:lvl6pPr>
            <a:lvl7pPr algn="l">
              <a:defRPr sz="2100" b="0">
                <a:solidFill>
                  <a:srgbClr val="B53A35"/>
                </a:solidFill>
                <a:latin typeface="Arial"/>
                <a:ea typeface="Arial"/>
                <a:cs typeface="Arial"/>
              </a:defRPr>
            </a:lvl7pPr>
            <a:lvl8pPr algn="l">
              <a:defRPr sz="2100" b="0">
                <a:solidFill>
                  <a:srgbClr val="B53A35"/>
                </a:solidFill>
                <a:latin typeface="Arial"/>
                <a:ea typeface="Arial"/>
                <a:cs typeface="Arial"/>
              </a:defRPr>
            </a:lvl8pPr>
            <a:lvl9pPr algn="l">
              <a:defRPr sz="2100" b="0">
                <a:solidFill>
                  <a:srgbClr val="B53A35"/>
                </a:solidFill>
                <a:latin typeface="Arial"/>
                <a:ea typeface="Arial"/>
                <a:cs typeface="Arial"/>
              </a:defRPr>
            </a:lvl9pPr>
          </a:lstStyle>
          <a:p xmlns:a="http://schemas.openxmlformats.org/drawingml/2006/main">
            <a:pPr algn="l">
              <a:lnSpc>
                <a:spcPct val="110000"/>
              </a:lnSpc>
              <a:buNone/>
              <a:defRPr sz="2100" b="0">
                <a:solidFill>
                  <a:srgbClr val="B53A35"/>
                </a:solidFill>
                <a:latin typeface="Arial"/>
                <a:ea typeface="Arial"/>
                <a:cs typeface="Arial"/>
              </a:defRPr>
            </a:pPr>
            <a:r>
              <a:rPr sz="2100" b="0">
                <a:solidFill>
                  <a:srgbClr val="B53A35"/>
                </a:solidFill>
                <a:latin typeface="Arial"/>
                <a:ea typeface="Arial"/>
                <a:cs typeface="Arial"/>
              </a:rPr>
              <a:t>K₂ = 0</a:t>
            </a:r>
          </a:p>
          <a:p xmlns:a="http://schemas.openxmlformats.org/drawingml/2006/main">
            <a:pPr algn="l">
              <a:lnSpc>
                <a:spcPct val="110000"/>
              </a:lnSpc>
              <a:buNone/>
              <a:defRPr sz="2100" b="0">
                <a:solidFill>
                  <a:srgbClr val="B53A35"/>
                </a:solidFill>
                <a:latin typeface="Arial"/>
                <a:ea typeface="Arial"/>
                <a:cs typeface="Arial"/>
              </a:defRPr>
            </a:pPr>
            <a:r>
              <a:rPr sz="2100" b="0">
                <a:solidFill>
                  <a:srgbClr val="B53A35"/>
                </a:solidFill>
                <a:latin typeface="Arial"/>
                <a:ea typeface="Arial"/>
                <a:cs typeface="Arial"/>
              </a:rPr>
              <a:t>One positive pole: +0.557</a:t>
            </a:r>
          </a:p>
        </p:txBody>
      </p:sp>
      <p:sp>
        <p:nvSpPr>
          <p:cNvPr id="8" name="La corrección de dirección estabiliza el modelo ">
            <a:extLst xmlns:a="http://schemas.openxmlformats.org/drawingml/2006/main">
              <a:ext uri="{FF2B5EF4-FFF2-40B4-BE49-F238E27FC236}">
                <a16:creationId xmlns:a16="http://schemas.microsoft.com/office/drawing/2014/main" id="{BDE9C4B0-4D3A-416C-9578-C6F74A5974D5}"/>
              </a:ext>
            </a:extLst>
          </p:cNvPr>
          <p:cNvSpPr>
            <a:spLocks xmlns:a="http://schemas.openxmlformats.org/drawingml/2006/main" noGrp="1"/>
          </p:cNvSpPr>
          <p:nvPr/>
        </p:nvSpPr>
        <p:spPr>
          <a:xfrm xmlns:a="http://schemas.openxmlformats.org/drawingml/2006/main">
            <a:off x="590550" y="58102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xmlns:a="http://schemas.openxmlformats.org/drawingml/2006/main">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Attitude feedback stabilizes the model with the controller studied</a:t>
            </a:r>
          </a:p>
        </p:txBody>
      </p:sp>
      <p:sp>
        <p:nvSpPr>
          <p:cNvPr id="9" name="Asymptotic stability: deviations from equilibriu">
            <a:extLst xmlns:a="http://schemas.openxmlformats.org/drawingml/2006/main">
              <a:ext uri="{FF2B5EF4-FFF2-40B4-BE49-F238E27FC236}">
                <a16:creationId xmlns:a16="http://schemas.microsoft.com/office/drawing/2014/main" id="{EF4F8ED4-E90E-4789-8695-F7462524236F}"/>
              </a:ext>
            </a:extLst>
          </p:cNvPr>
          <p:cNvSpPr>
            <a:spLocks xmlns:a="http://schemas.openxmlformats.org/drawingml/2006/main" noGrp="1"/>
          </p:cNvSpPr>
          <p:nvPr/>
        </p:nvSpPr>
        <p:spPr>
          <a:xfrm xmlns:a="http://schemas.openxmlformats.org/drawingml/2006/main">
            <a:off x="590550" y="1257300"/>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516474"/>
                </a:solidFill>
                <a:latin typeface="Arial"/>
                <a:ea typeface="Arial"/>
                <a:cs typeface="Arial"/>
              </a:defRPr>
            </a:defPPr>
            <a:lvl1pPr>
              <a:defRPr sz="1875" b="0">
                <a:solidFill>
                  <a:srgbClr val="516474"/>
                </a:solidFill>
                <a:latin typeface="Arial"/>
                <a:ea typeface="Arial"/>
                <a:cs typeface="Arial"/>
              </a:defRPr>
            </a:lvl1pPr>
            <a:lvl2pPr>
              <a:defRPr sz="1875" b="0">
                <a:solidFill>
                  <a:srgbClr val="516474"/>
                </a:solidFill>
                <a:latin typeface="Arial"/>
                <a:ea typeface="Arial"/>
                <a:cs typeface="Arial"/>
              </a:defRPr>
            </a:lvl2pPr>
            <a:lvl3pPr>
              <a:defRPr sz="1875" b="0">
                <a:solidFill>
                  <a:srgbClr val="516474"/>
                </a:solidFill>
                <a:latin typeface="Arial"/>
                <a:ea typeface="Arial"/>
                <a:cs typeface="Arial"/>
              </a:defRPr>
            </a:lvl3pPr>
            <a:lvl4pPr>
              <a:defRPr sz="1875" b="0">
                <a:solidFill>
                  <a:srgbClr val="516474"/>
                </a:solidFill>
                <a:latin typeface="Arial"/>
                <a:ea typeface="Arial"/>
                <a:cs typeface="Arial"/>
              </a:defRPr>
            </a:lvl4pPr>
            <a:lvl5pPr>
              <a:defRPr sz="1875" b="0">
                <a:solidFill>
                  <a:srgbClr val="516474"/>
                </a:solidFill>
                <a:latin typeface="Arial"/>
                <a:ea typeface="Arial"/>
                <a:cs typeface="Arial"/>
              </a:defRPr>
            </a:lvl5pPr>
            <a:lvl6pPr>
              <a:defRPr sz="1875" b="0">
                <a:solidFill>
                  <a:srgbClr val="516474"/>
                </a:solidFill>
                <a:latin typeface="Arial"/>
                <a:ea typeface="Arial"/>
                <a:cs typeface="Arial"/>
              </a:defRPr>
            </a:lvl6pPr>
            <a:lvl7pPr>
              <a:defRPr sz="1875" b="0">
                <a:solidFill>
                  <a:srgbClr val="516474"/>
                </a:solidFill>
                <a:latin typeface="Arial"/>
                <a:ea typeface="Arial"/>
                <a:cs typeface="Arial"/>
              </a:defRPr>
            </a:lvl7pPr>
            <a:lvl8pPr>
              <a:defRPr sz="1875" b="0">
                <a:solidFill>
                  <a:srgbClr val="516474"/>
                </a:solidFill>
                <a:latin typeface="Arial"/>
                <a:ea typeface="Arial"/>
                <a:cs typeface="Arial"/>
              </a:defRPr>
            </a:lvl8pPr>
            <a:lvl9pPr>
              <a:defRPr sz="1875" b="0">
                <a:solidFill>
                  <a:srgbClr val="516474"/>
                </a:solidFill>
                <a:latin typeface="Arial"/>
                <a:ea typeface="Arial"/>
                <a:cs typeface="Arial"/>
              </a:defRPr>
            </a:lvl9pPr>
          </a:lstStyle>
          <a:p xmlns:a="http://schemas.openxmlformats.org/drawingml/2006/main">
            <a:pPr>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Asymptotic stability: deviations from equilibrium decay over time</a:t>
            </a:r>
          </a:p>
        </p:txBody>
      </p:sp>
    </p:spTree>
    <p:extLst>
      <p:ext uri="{BB962C8B-B14F-4D97-AF65-F5344CB8AC3E}">
        <p14:creationId xmlns:p14="http://schemas.microsoft.com/office/powerpoint/2010/main" val="84685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Pulse: the channels interact">
            <a:extLst xmlns:a="http://schemas.openxmlformats.org/drawingml/2006/main">
              <a:ext uri="{FF2B5EF4-FFF2-40B4-BE49-F238E27FC236}">
                <a16:creationId xmlns:a16="http://schemas.microsoft.com/office/drawing/2014/main" id="{BC396F97-A328-48A7-86D0-74BF8DC43426}"/>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xmlns:a="http://schemas.openxmlformats.org/drawingml/2006/main">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Pulse: the channels interact</a:t>
            </a:r>
          </a:p>
        </p:txBody>
      </p:sp>
      <p:sp>
        <p:nvSpPr>
          <p:cNvPr id="3" name="The same pulse applied to each input and to both">
            <a:extLst xmlns:a="http://schemas.openxmlformats.org/drawingml/2006/main">
              <a:ext uri="{FF2B5EF4-FFF2-40B4-BE49-F238E27FC236}">
                <a16:creationId xmlns:a16="http://schemas.microsoft.com/office/drawing/2014/main" id="{7CE3E2E4-9A1D-4C91-9CFD-3FCB4004F4FF}"/>
              </a:ext>
            </a:extLst>
          </p:cNvPr>
          <p:cNvSpPr>
            <a:spLocks xmlns:a="http://schemas.openxmlformats.org/drawingml/2006/main" noGrp="1"/>
          </p:cNvSpPr>
          <p:nvPr/>
        </p:nvSpPr>
        <p:spPr>
          <a:xfrm xmlns:a="http://schemas.openxmlformats.org/drawingml/2006/main">
            <a:off x="590550" y="1304925"/>
            <a:ext cx="11010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The same pulse applied to each input and to both</a:t>
            </a:r>
          </a:p>
        </p:txBody>
      </p:sp>
      <p:sp>
        <p:nvSpPr>
          <p:cNvPr id="4" name="">
            <a:extLst xmlns:a="http://schemas.openxmlformats.org/drawingml/2006/main">
              <a:ext uri="{FF2B5EF4-FFF2-40B4-BE49-F238E27FC236}">
                <a16:creationId xmlns:a16="http://schemas.microsoft.com/office/drawing/2014/main" id="{B257540D-3F99-4500-9D85-E9033BB8A55B}"/>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defRPr sz="1275" b="0">
                <a:solidFill>
                  <a:srgbClr val="516474"/>
                </a:solidFill>
                <a:latin typeface="Arial"/>
                <a:ea typeface="Arial"/>
                <a:cs typeface="Arial"/>
              </a:defRPr>
            </a:pPr>
            <a:r>
              <a:t>07 / 19</a:t>
            </a:r>
          </a:p>
        </p:txBody>
      </p:sp>
      <p:pic>
        <p:nvPicPr>
          <p:cNvPr id="5" name="">
            <a:extLst xmlns:a="http://schemas.openxmlformats.org/drawingml/2006/main">
              <a:ext uri="{FF2B5EF4-FFF2-40B4-BE49-F238E27FC236}">
                <a16:creationId xmlns:a16="http://schemas.microsoft.com/office/drawing/2014/main" id="{47570C66-2EBD-408F-A909-C336C73654E1}"/>
              </a:ext>
            </a:extLst>
          </p:cNvPr>
          <p:cNvPicPr>
            <a:picLocks xmlns:a="http://schemas.openxmlformats.org/drawingml/2006/main" noChangeAspect="1"/>
          </p:cNvPicPr>
          <p:nvPr/>
        </p:nvPicPr>
        <p:blipFill>
          <a:blip xmlns:r="http://schemas.openxmlformats.org/officeDocument/2006/relationships" xmlns:a="http://schemas.openxmlformats.org/drawingml/2006/main" r:embed="R0ca0efb8899a455d"/>
          <a:stretch xmlns:a="http://schemas.openxmlformats.org/drawingml/2006/main"/>
        </p:blipFill>
        <p:spPr>
          <a:xfrm xmlns:a="http://schemas.openxmlformats.org/drawingml/2006/main">
            <a:off x="209550" y="1954045"/>
            <a:ext cx="11772900" cy="3302335"/>
          </a:xfrm>
          <a:prstGeom xmlns:a="http://schemas.openxmlformats.org/drawingml/2006/main" prst="rect">
            <a:avLst/>
          </a:prstGeom>
        </p:spPr>
      </p:pic>
      <p:sp>
        <p:nvSpPr>
          <p:cNvPr id="6" name="Tilting the rocket reduces a. Both commands comb">
            <a:extLst xmlns:a="http://schemas.openxmlformats.org/drawingml/2006/main">
              <a:ext uri="{FF2B5EF4-FFF2-40B4-BE49-F238E27FC236}">
                <a16:creationId xmlns:a16="http://schemas.microsoft.com/office/drawing/2014/main" id="{84C01E60-A24F-4504-8D86-90C2B4321669}"/>
              </a:ext>
            </a:extLst>
          </p:cNvPr>
          <p:cNvSpPr>
            <a:spLocks xmlns:a="http://schemas.openxmlformats.org/drawingml/2006/main" noGrp="1"/>
          </p:cNvSpPr>
          <p:nvPr/>
        </p:nvSpPr>
        <p:spPr>
          <a:xfrm xmlns:a="http://schemas.openxmlformats.org/drawingml/2006/main">
            <a:off x="590550" y="5429250"/>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xmlns:a="http://schemas.openxmlformats.org/drawingml/2006/main">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Tilting the rocket reduces a. Both commands combine by superposition.</a:t>
            </a:r>
          </a:p>
        </p:txBody>
      </p:sp>
      <p:sp>
        <p:nvSpPr>
          <p:cNvPr id="7" name="After 5 s, the command turns off and the outputs">
            <a:extLst xmlns:a="http://schemas.openxmlformats.org/drawingml/2006/main">
              <a:ext uri="{FF2B5EF4-FFF2-40B4-BE49-F238E27FC236}">
                <a16:creationId xmlns:a16="http://schemas.microsoft.com/office/drawing/2014/main" id="{5F20D943-718D-41E2-B66C-4E480FBBDF6E}"/>
              </a:ext>
            </a:extLst>
          </p:cNvPr>
          <p:cNvSpPr>
            <a:spLocks xmlns:a="http://schemas.openxmlformats.org/drawingml/2006/main" noGrp="1"/>
          </p:cNvSpPr>
          <p:nvPr/>
        </p:nvSpPr>
        <p:spPr>
          <a:xfrm xmlns:a="http://schemas.openxmlformats.org/drawingml/2006/main">
            <a:off x="590550" y="5838825"/>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xmlns:a="http://schemas.openxmlformats.org/drawingml/2006/main">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After 5 s, the command turns off and the outputs decay toward zero.</a:t>
            </a:r>
          </a:p>
        </p:txBody>
      </p:sp>
      <p:sp>
        <p:nvSpPr>
          <p:cNvPr id="8" name="Nominal gains (1, 0.5). Blue: a, left axis. Red:">
            <a:extLst xmlns:a="http://schemas.openxmlformats.org/drawingml/2006/main">
              <a:ext uri="{FF2B5EF4-FFF2-40B4-BE49-F238E27FC236}">
                <a16:creationId xmlns:a16="http://schemas.microsoft.com/office/drawing/2014/main" id="{619F13DA-7383-45BA-A042-1F56FBD809F5}"/>
              </a:ext>
            </a:extLst>
          </p:cNvPr>
          <p:cNvSpPr>
            <a:spLocks xmlns:a="http://schemas.openxmlformats.org/drawingml/2006/main" noGrp="1"/>
          </p:cNvSpPr>
          <p:nvPr/>
        </p:nvSpPr>
        <p:spPr>
          <a:xfrm xmlns:a="http://schemas.openxmlformats.org/drawingml/2006/main">
            <a:off x="590550" y="62198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16474"/>
                </a:solidFill>
                <a:latin typeface="Arial"/>
                <a:ea typeface="Arial"/>
                <a:cs typeface="Arial"/>
              </a:defRPr>
            </a:defPPr>
            <a:lvl1pPr>
              <a:defRPr sz="1425" b="0">
                <a:solidFill>
                  <a:srgbClr val="516474"/>
                </a:solidFill>
                <a:latin typeface="Arial"/>
                <a:ea typeface="Arial"/>
                <a:cs typeface="Arial"/>
              </a:defRPr>
            </a:lvl1pPr>
            <a:lvl2pPr>
              <a:defRPr sz="1425" b="0">
                <a:solidFill>
                  <a:srgbClr val="516474"/>
                </a:solidFill>
                <a:latin typeface="Arial"/>
                <a:ea typeface="Arial"/>
                <a:cs typeface="Arial"/>
              </a:defRPr>
            </a:lvl2pPr>
            <a:lvl3pPr>
              <a:defRPr sz="1425" b="0">
                <a:solidFill>
                  <a:srgbClr val="516474"/>
                </a:solidFill>
                <a:latin typeface="Arial"/>
                <a:ea typeface="Arial"/>
                <a:cs typeface="Arial"/>
              </a:defRPr>
            </a:lvl3pPr>
            <a:lvl4pPr>
              <a:defRPr sz="1425" b="0">
                <a:solidFill>
                  <a:srgbClr val="516474"/>
                </a:solidFill>
                <a:latin typeface="Arial"/>
                <a:ea typeface="Arial"/>
                <a:cs typeface="Arial"/>
              </a:defRPr>
            </a:lvl4pPr>
            <a:lvl5pPr>
              <a:defRPr sz="1425" b="0">
                <a:solidFill>
                  <a:srgbClr val="516474"/>
                </a:solidFill>
                <a:latin typeface="Arial"/>
                <a:ea typeface="Arial"/>
                <a:cs typeface="Arial"/>
              </a:defRPr>
            </a:lvl5pPr>
            <a:lvl6pPr>
              <a:defRPr sz="1425" b="0">
                <a:solidFill>
                  <a:srgbClr val="516474"/>
                </a:solidFill>
                <a:latin typeface="Arial"/>
                <a:ea typeface="Arial"/>
                <a:cs typeface="Arial"/>
              </a:defRPr>
            </a:lvl6pPr>
            <a:lvl7pPr>
              <a:defRPr sz="1425" b="0">
                <a:solidFill>
                  <a:srgbClr val="516474"/>
                </a:solidFill>
                <a:latin typeface="Arial"/>
                <a:ea typeface="Arial"/>
                <a:cs typeface="Arial"/>
              </a:defRPr>
            </a:lvl7pPr>
            <a:lvl8pPr>
              <a:defRPr sz="1425" b="0">
                <a:solidFill>
                  <a:srgbClr val="516474"/>
                </a:solidFill>
                <a:latin typeface="Arial"/>
                <a:ea typeface="Arial"/>
                <a:cs typeface="Arial"/>
              </a:defRPr>
            </a:lvl8pPr>
            <a:lvl9pPr>
              <a:defRPr sz="1425" b="0">
                <a:solidFill>
                  <a:srgbClr val="516474"/>
                </a:solidFill>
                <a:latin typeface="Arial"/>
                <a:ea typeface="Arial"/>
                <a:cs typeface="Arial"/>
              </a:defRPr>
            </a:lvl9pPr>
          </a:lstStyle>
          <a:p xmlns:a="http://schemas.openxmlformats.org/drawingml/2006/main">
            <a:pPr>
              <a:lnSpc>
                <a:spcPct val="110000"/>
              </a:lnSpc>
              <a:buNone/>
              <a:defRPr sz="1425" b="0">
                <a:solidFill>
                  <a:srgbClr val="516474"/>
                </a:solidFill>
                <a:latin typeface="Arial"/>
                <a:ea typeface="Arial"/>
                <a:cs typeface="Arial"/>
              </a:defRPr>
            </a:pPr>
            <a:r>
              <a:rPr sz="1425" b="0">
                <a:solidFill>
                  <a:srgbClr val="516474"/>
                </a:solidFill>
                <a:latin typeface="Arial"/>
                <a:ea typeface="Arial"/>
                <a:cs typeface="Arial"/>
              </a:rPr>
              <a:t>Notebook figure (non-editable image). Nominal (1, 0.5). Unit inputs. Blue: a (left). Red: θ (right).</a:t>
            </a:r>
          </a:p>
        </p:txBody>
      </p:sp>
    </p:spTree>
    <p:extLst>
      <p:ext uri="{BB962C8B-B14F-4D97-AF65-F5344CB8AC3E}">
        <p14:creationId xmlns:p14="http://schemas.microsoft.com/office/powerpoint/2010/main" val="20038854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ine wave: amplitude and phase">
            <a:extLst xmlns:a="http://schemas.openxmlformats.org/drawingml/2006/main">
              <a:ext uri="{FF2B5EF4-FFF2-40B4-BE49-F238E27FC236}">
                <a16:creationId xmlns:a16="http://schemas.microsoft.com/office/drawing/2014/main" id="{DD0D3339-A2C1-46DC-BD72-8CA1FBAE9141}"/>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xmlns:a="http://schemas.openxmlformats.org/drawingml/2006/main">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Sine wave: amplitude and phase</a:t>
            </a:r>
          </a:p>
        </p:txBody>
      </p:sp>
      <p:sp>
        <p:nvSpPr>
          <p:cNvPr id="3" name="At ω = 1 rad/s, the period is 2π seconds">
            <a:extLst xmlns:a="http://schemas.openxmlformats.org/drawingml/2006/main">
              <a:ext uri="{FF2B5EF4-FFF2-40B4-BE49-F238E27FC236}">
                <a16:creationId xmlns:a16="http://schemas.microsoft.com/office/drawing/2014/main" id="{8B6AC735-60A8-4380-8148-585B53636E27}"/>
              </a:ext>
            </a:extLst>
          </p:cNvPr>
          <p:cNvSpPr>
            <a:spLocks xmlns:a="http://schemas.openxmlformats.org/drawingml/2006/main" noGrp="1"/>
          </p:cNvSpPr>
          <p:nvPr/>
        </p:nvSpPr>
        <p:spPr>
          <a:xfrm xmlns:a="http://schemas.openxmlformats.org/drawingml/2006/main">
            <a:off x="590550" y="1304925"/>
            <a:ext cx="11010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At ω = 1 rad/s, the period is 2π seconds</a:t>
            </a:r>
          </a:p>
        </p:txBody>
      </p:sp>
      <p:sp>
        <p:nvSpPr>
          <p:cNvPr id="4" name="">
            <a:extLst xmlns:a="http://schemas.openxmlformats.org/drawingml/2006/main">
              <a:ext uri="{FF2B5EF4-FFF2-40B4-BE49-F238E27FC236}">
                <a16:creationId xmlns:a16="http://schemas.microsoft.com/office/drawing/2014/main" id="{E8AE09C9-9EE9-4253-BDD8-9CA956F25DC1}"/>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defRPr sz="1275" b="0">
                <a:solidFill>
                  <a:srgbClr val="516474"/>
                </a:solidFill>
                <a:latin typeface="Arial"/>
                <a:ea typeface="Arial"/>
                <a:cs typeface="Arial"/>
              </a:defRPr>
            </a:pPr>
            <a:r>
              <a:t>08 / 19</a:t>
            </a:r>
          </a:p>
        </p:txBody>
      </p:sp>
      <p:pic>
        <p:nvPicPr>
          <p:cNvPr id="5" name="">
            <a:extLst xmlns:a="http://schemas.openxmlformats.org/drawingml/2006/main">
              <a:ext uri="{FF2B5EF4-FFF2-40B4-BE49-F238E27FC236}">
                <a16:creationId xmlns:a16="http://schemas.microsoft.com/office/drawing/2014/main" id="{E79F9D61-E568-4DB7-97CD-2F188B6AD222}"/>
              </a:ext>
            </a:extLst>
          </p:cNvPr>
          <p:cNvPicPr>
            <a:picLocks xmlns:a="http://schemas.openxmlformats.org/drawingml/2006/main" noChangeAspect="1"/>
          </p:cNvPicPr>
          <p:nvPr/>
        </p:nvPicPr>
        <p:blipFill>
          <a:blip xmlns:r="http://schemas.openxmlformats.org/officeDocument/2006/relationships" xmlns:a="http://schemas.openxmlformats.org/drawingml/2006/main" r:embed="R6abc913328574708"/>
          <a:stretch xmlns:a="http://schemas.openxmlformats.org/drawingml/2006/main"/>
        </p:blipFill>
        <p:spPr>
          <a:xfrm xmlns:a="http://schemas.openxmlformats.org/drawingml/2006/main">
            <a:off x="209550" y="1954045"/>
            <a:ext cx="11772900" cy="3302335"/>
          </a:xfrm>
          <a:prstGeom xmlns:a="http://schemas.openxmlformats.org/drawingml/2006/main" prst="rect">
            <a:avLst/>
          </a:prstGeom>
        </p:spPr>
      </p:pic>
      <p:sp>
        <p:nvSpPr>
          <p:cNvPr id="6" name="After the transient, both outputs oscillate at t">
            <a:extLst xmlns:a="http://schemas.openxmlformats.org/drawingml/2006/main">
              <a:ext uri="{FF2B5EF4-FFF2-40B4-BE49-F238E27FC236}">
                <a16:creationId xmlns:a16="http://schemas.microsoft.com/office/drawing/2014/main" id="{B175FFC1-0586-48FE-A547-FA3CFEAF7AE0}"/>
              </a:ext>
            </a:extLst>
          </p:cNvPr>
          <p:cNvSpPr>
            <a:spLocks xmlns:a="http://schemas.openxmlformats.org/drawingml/2006/main" noGrp="1"/>
          </p:cNvSpPr>
          <p:nvPr/>
        </p:nvSpPr>
        <p:spPr>
          <a:xfrm xmlns:a="http://schemas.openxmlformats.org/drawingml/2006/main">
            <a:off x="590550" y="5429250"/>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xmlns:a="http://schemas.openxmlformats.org/drawingml/2006/main">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After the transient, both outputs oscillate at the input frequency.</a:t>
            </a:r>
          </a:p>
        </p:txBody>
      </p:sp>
      <p:sp>
        <p:nvSpPr>
          <p:cNvPr id="7" name="For u₂ only: |G₁₂(j1)| ≈ 7.85 and |G₂₂(j1)| ≈ 1.">
            <a:extLst xmlns:a="http://schemas.openxmlformats.org/drawingml/2006/main">
              <a:ext uri="{FF2B5EF4-FFF2-40B4-BE49-F238E27FC236}">
                <a16:creationId xmlns:a16="http://schemas.microsoft.com/office/drawing/2014/main" id="{3852315E-41CA-440A-A8BC-A318D5DD71BF}"/>
              </a:ext>
            </a:extLst>
          </p:cNvPr>
          <p:cNvSpPr>
            <a:spLocks xmlns:a="http://schemas.openxmlformats.org/drawingml/2006/main" noGrp="1"/>
          </p:cNvSpPr>
          <p:nvPr/>
        </p:nvSpPr>
        <p:spPr>
          <a:xfrm xmlns:a="http://schemas.openxmlformats.org/drawingml/2006/main">
            <a:off x="590550" y="5838825"/>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xmlns:a="http://schemas.openxmlformats.org/drawingml/2006/main">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For u₂ only: |G₁₂(j1)| ≈ 7.85 and |G₂₂(j1)| ≈ 1.21.</a:t>
            </a:r>
          </a:p>
        </p:txBody>
      </p:sp>
      <p:sp>
        <p:nvSpPr>
          <p:cNvPr id="8" name="Nominal gains (1, 0.5). Blue: a, left axis. Red:">
            <a:extLst xmlns:a="http://schemas.openxmlformats.org/drawingml/2006/main">
              <a:ext uri="{FF2B5EF4-FFF2-40B4-BE49-F238E27FC236}">
                <a16:creationId xmlns:a16="http://schemas.microsoft.com/office/drawing/2014/main" id="{8C6A35C1-9603-47DC-AAD2-AFE78FFB6246}"/>
              </a:ext>
            </a:extLst>
          </p:cNvPr>
          <p:cNvSpPr>
            <a:spLocks xmlns:a="http://schemas.openxmlformats.org/drawingml/2006/main" noGrp="1"/>
          </p:cNvSpPr>
          <p:nvPr/>
        </p:nvSpPr>
        <p:spPr>
          <a:xfrm xmlns:a="http://schemas.openxmlformats.org/drawingml/2006/main">
            <a:off x="590550" y="62198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16474"/>
                </a:solidFill>
                <a:latin typeface="Arial"/>
                <a:ea typeface="Arial"/>
                <a:cs typeface="Arial"/>
              </a:defRPr>
            </a:defPPr>
            <a:lvl1pPr>
              <a:defRPr sz="1425" b="0">
                <a:solidFill>
                  <a:srgbClr val="516474"/>
                </a:solidFill>
                <a:latin typeface="Arial"/>
                <a:ea typeface="Arial"/>
                <a:cs typeface="Arial"/>
              </a:defRPr>
            </a:lvl1pPr>
            <a:lvl2pPr>
              <a:defRPr sz="1425" b="0">
                <a:solidFill>
                  <a:srgbClr val="516474"/>
                </a:solidFill>
                <a:latin typeface="Arial"/>
                <a:ea typeface="Arial"/>
                <a:cs typeface="Arial"/>
              </a:defRPr>
            </a:lvl2pPr>
            <a:lvl3pPr>
              <a:defRPr sz="1425" b="0">
                <a:solidFill>
                  <a:srgbClr val="516474"/>
                </a:solidFill>
                <a:latin typeface="Arial"/>
                <a:ea typeface="Arial"/>
                <a:cs typeface="Arial"/>
              </a:defRPr>
            </a:lvl3pPr>
            <a:lvl4pPr>
              <a:defRPr sz="1425" b="0">
                <a:solidFill>
                  <a:srgbClr val="516474"/>
                </a:solidFill>
                <a:latin typeface="Arial"/>
                <a:ea typeface="Arial"/>
                <a:cs typeface="Arial"/>
              </a:defRPr>
            </a:lvl4pPr>
            <a:lvl5pPr>
              <a:defRPr sz="1425" b="0">
                <a:solidFill>
                  <a:srgbClr val="516474"/>
                </a:solidFill>
                <a:latin typeface="Arial"/>
                <a:ea typeface="Arial"/>
                <a:cs typeface="Arial"/>
              </a:defRPr>
            </a:lvl5pPr>
            <a:lvl6pPr>
              <a:defRPr sz="1425" b="0">
                <a:solidFill>
                  <a:srgbClr val="516474"/>
                </a:solidFill>
                <a:latin typeface="Arial"/>
                <a:ea typeface="Arial"/>
                <a:cs typeface="Arial"/>
              </a:defRPr>
            </a:lvl6pPr>
            <a:lvl7pPr>
              <a:defRPr sz="1425" b="0">
                <a:solidFill>
                  <a:srgbClr val="516474"/>
                </a:solidFill>
                <a:latin typeface="Arial"/>
                <a:ea typeface="Arial"/>
                <a:cs typeface="Arial"/>
              </a:defRPr>
            </a:lvl7pPr>
            <a:lvl8pPr>
              <a:defRPr sz="1425" b="0">
                <a:solidFill>
                  <a:srgbClr val="516474"/>
                </a:solidFill>
                <a:latin typeface="Arial"/>
                <a:ea typeface="Arial"/>
                <a:cs typeface="Arial"/>
              </a:defRPr>
            </a:lvl8pPr>
            <a:lvl9pPr>
              <a:defRPr sz="1425" b="0">
                <a:solidFill>
                  <a:srgbClr val="516474"/>
                </a:solidFill>
                <a:latin typeface="Arial"/>
                <a:ea typeface="Arial"/>
                <a:cs typeface="Arial"/>
              </a:defRPr>
            </a:lvl9pPr>
          </a:lstStyle>
          <a:p xmlns:a="http://schemas.openxmlformats.org/drawingml/2006/main">
            <a:pPr>
              <a:lnSpc>
                <a:spcPct val="110000"/>
              </a:lnSpc>
              <a:buNone/>
              <a:defRPr sz="1425" b="0">
                <a:solidFill>
                  <a:srgbClr val="516474"/>
                </a:solidFill>
                <a:latin typeface="Arial"/>
                <a:ea typeface="Arial"/>
                <a:cs typeface="Arial"/>
              </a:defRPr>
            </a:pPr>
            <a:r>
              <a:rPr sz="1425" b="0">
                <a:solidFill>
                  <a:srgbClr val="516474"/>
                </a:solidFill>
                <a:latin typeface="Arial"/>
                <a:ea typeface="Arial"/>
                <a:cs typeface="Arial"/>
              </a:rPr>
              <a:t>Notebook figure (non-editable image). Nominal (1, 0.5). Unit inputs. Blue: a (left). Red: θ (right).</a:t>
            </a:r>
          </a:p>
        </p:txBody>
      </p:sp>
    </p:spTree>
    <p:extLst>
      <p:ext uri="{BB962C8B-B14F-4D97-AF65-F5344CB8AC3E}">
        <p14:creationId xmlns:p14="http://schemas.microsoft.com/office/powerpoint/2010/main" val="119772633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Impulse: natural modes decay">
            <a:extLst xmlns:a="http://schemas.openxmlformats.org/drawingml/2006/main">
              <a:ext uri="{FF2B5EF4-FFF2-40B4-BE49-F238E27FC236}">
                <a16:creationId xmlns:a16="http://schemas.microsoft.com/office/drawing/2014/main" id="{16410661-7110-4AAB-9BAB-A2B4CE31FFD2}"/>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xmlns:a="http://schemas.openxmlformats.org/drawingml/2006/main">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Impulse: natural modes decay</a:t>
            </a:r>
          </a:p>
        </p:txBody>
      </p:sp>
      <p:sp>
        <p:nvSpPr>
          <p:cNvPr id="3" name="A brief ideal input reveals the transient dynami">
            <a:extLst xmlns:a="http://schemas.openxmlformats.org/drawingml/2006/main">
              <a:ext uri="{FF2B5EF4-FFF2-40B4-BE49-F238E27FC236}">
                <a16:creationId xmlns:a16="http://schemas.microsoft.com/office/drawing/2014/main" id="{E96D79BB-1AD9-4940-B33A-D6696D7966AD}"/>
              </a:ext>
            </a:extLst>
          </p:cNvPr>
          <p:cNvSpPr>
            <a:spLocks xmlns:a="http://schemas.openxmlformats.org/drawingml/2006/main" noGrp="1"/>
          </p:cNvSpPr>
          <p:nvPr/>
        </p:nvSpPr>
        <p:spPr>
          <a:xfrm xmlns:a="http://schemas.openxmlformats.org/drawingml/2006/main">
            <a:off x="590550" y="1304925"/>
            <a:ext cx="11010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A brief ideal input reveals the transient dynamics</a:t>
            </a:r>
          </a:p>
        </p:txBody>
      </p:sp>
      <p:sp>
        <p:nvSpPr>
          <p:cNvPr id="4" name="">
            <a:extLst xmlns:a="http://schemas.openxmlformats.org/drawingml/2006/main">
              <a:ext uri="{FF2B5EF4-FFF2-40B4-BE49-F238E27FC236}">
                <a16:creationId xmlns:a16="http://schemas.microsoft.com/office/drawing/2014/main" id="{B416E242-1D78-46AB-8CC3-F6788C3C88EF}"/>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defRPr sz="1275" b="0">
                <a:solidFill>
                  <a:srgbClr val="516474"/>
                </a:solidFill>
                <a:latin typeface="Arial"/>
                <a:ea typeface="Arial"/>
                <a:cs typeface="Arial"/>
              </a:defRPr>
            </a:pPr>
            <a:r>
              <a:t>09 / 19</a:t>
            </a:r>
          </a:p>
        </p:txBody>
      </p:sp>
      <p:pic>
        <p:nvPicPr>
          <p:cNvPr id="5" name="">
            <a:extLst xmlns:a="http://schemas.openxmlformats.org/drawingml/2006/main">
              <a:ext uri="{FF2B5EF4-FFF2-40B4-BE49-F238E27FC236}">
                <a16:creationId xmlns:a16="http://schemas.microsoft.com/office/drawing/2014/main" id="{BB51FB56-F930-4C74-9751-185EC74723CF}"/>
              </a:ext>
            </a:extLst>
          </p:cNvPr>
          <p:cNvPicPr>
            <a:picLocks xmlns:a="http://schemas.openxmlformats.org/drawingml/2006/main" noChangeAspect="1"/>
          </p:cNvPicPr>
          <p:nvPr/>
        </p:nvPicPr>
        <p:blipFill>
          <a:blip xmlns:r="http://schemas.openxmlformats.org/officeDocument/2006/relationships" xmlns:a="http://schemas.openxmlformats.org/drawingml/2006/main" r:embed="Rc4ed922a1de14285"/>
          <a:stretch xmlns:a="http://schemas.openxmlformats.org/drawingml/2006/main"/>
        </p:blipFill>
        <p:spPr>
          <a:xfrm xmlns:a="http://schemas.openxmlformats.org/drawingml/2006/main">
            <a:off x="209550" y="1954045"/>
            <a:ext cx="11772900" cy="3302335"/>
          </a:xfrm>
          <a:prstGeom xmlns:a="http://schemas.openxmlformats.org/drawingml/2006/main" prst="rect">
            <a:avLst/>
          </a:prstGeom>
        </p:spPr>
      </p:pic>
      <p:sp>
        <p:nvSpPr>
          <p:cNvPr id="6" name="An axial impulse gives a an immediate jump of ab">
            <a:extLst xmlns:a="http://schemas.openxmlformats.org/drawingml/2006/main">
              <a:ext uri="{FF2B5EF4-FFF2-40B4-BE49-F238E27FC236}">
                <a16:creationId xmlns:a16="http://schemas.microsoft.com/office/drawing/2014/main" id="{055E8AB0-E165-43C8-8F51-DD521F4564D2}"/>
              </a:ext>
            </a:extLst>
          </p:cNvPr>
          <p:cNvSpPr>
            <a:spLocks xmlns:a="http://schemas.openxmlformats.org/drawingml/2006/main" noGrp="1"/>
          </p:cNvSpPr>
          <p:nvPr/>
        </p:nvSpPr>
        <p:spPr>
          <a:xfrm xmlns:a="http://schemas.openxmlformats.org/drawingml/2006/main">
            <a:off x="590550" y="5429250"/>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xmlns:a="http://schemas.openxmlformats.org/drawingml/2006/main">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An axial impulse gives a an immediate jump of about 0.070.</a:t>
            </a:r>
          </a:p>
        </p:txBody>
      </p:sp>
      <p:sp>
        <p:nvSpPr>
          <p:cNvPr id="7" name="The remaining response decays with the stable no">
            <a:extLst xmlns:a="http://schemas.openxmlformats.org/drawingml/2006/main">
              <a:ext uri="{FF2B5EF4-FFF2-40B4-BE49-F238E27FC236}">
                <a16:creationId xmlns:a16="http://schemas.microsoft.com/office/drawing/2014/main" id="{885B2BC7-6DE8-43A9-AC38-788DB9D86E57}"/>
              </a:ext>
            </a:extLst>
          </p:cNvPr>
          <p:cNvSpPr>
            <a:spLocks xmlns:a="http://schemas.openxmlformats.org/drawingml/2006/main" noGrp="1"/>
          </p:cNvSpPr>
          <p:nvPr/>
        </p:nvSpPr>
        <p:spPr>
          <a:xfrm xmlns:a="http://schemas.openxmlformats.org/drawingml/2006/main">
            <a:off x="590550" y="5838825"/>
            <a:ext cx="11010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xmlns:a="http://schemas.openxmlformats.org/drawingml/2006/main">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The remaining response decays with the stable nominal modes.</a:t>
            </a:r>
          </a:p>
        </p:txBody>
      </p:sp>
      <p:sp>
        <p:nvSpPr>
          <p:cNvPr id="8" name="Nominal gains (1, 0.5). Blue: a, left axis. Red:">
            <a:extLst xmlns:a="http://schemas.openxmlformats.org/drawingml/2006/main">
              <a:ext uri="{FF2B5EF4-FFF2-40B4-BE49-F238E27FC236}">
                <a16:creationId xmlns:a16="http://schemas.microsoft.com/office/drawing/2014/main" id="{6BF0252A-87D4-4ECA-AFC3-7DC7AC460CC4}"/>
              </a:ext>
            </a:extLst>
          </p:cNvPr>
          <p:cNvSpPr>
            <a:spLocks xmlns:a="http://schemas.openxmlformats.org/drawingml/2006/main" noGrp="1"/>
          </p:cNvSpPr>
          <p:nvPr/>
        </p:nvSpPr>
        <p:spPr>
          <a:xfrm xmlns:a="http://schemas.openxmlformats.org/drawingml/2006/main">
            <a:off x="590550" y="62198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16474"/>
                </a:solidFill>
                <a:latin typeface="Arial"/>
                <a:ea typeface="Arial"/>
                <a:cs typeface="Arial"/>
              </a:defRPr>
            </a:defPPr>
            <a:lvl1pPr>
              <a:defRPr sz="1425" b="0">
                <a:solidFill>
                  <a:srgbClr val="516474"/>
                </a:solidFill>
                <a:latin typeface="Arial"/>
                <a:ea typeface="Arial"/>
                <a:cs typeface="Arial"/>
              </a:defRPr>
            </a:lvl1pPr>
            <a:lvl2pPr>
              <a:defRPr sz="1425" b="0">
                <a:solidFill>
                  <a:srgbClr val="516474"/>
                </a:solidFill>
                <a:latin typeface="Arial"/>
                <a:ea typeface="Arial"/>
                <a:cs typeface="Arial"/>
              </a:defRPr>
            </a:lvl2pPr>
            <a:lvl3pPr>
              <a:defRPr sz="1425" b="0">
                <a:solidFill>
                  <a:srgbClr val="516474"/>
                </a:solidFill>
                <a:latin typeface="Arial"/>
                <a:ea typeface="Arial"/>
                <a:cs typeface="Arial"/>
              </a:defRPr>
            </a:lvl3pPr>
            <a:lvl4pPr>
              <a:defRPr sz="1425" b="0">
                <a:solidFill>
                  <a:srgbClr val="516474"/>
                </a:solidFill>
                <a:latin typeface="Arial"/>
                <a:ea typeface="Arial"/>
                <a:cs typeface="Arial"/>
              </a:defRPr>
            </a:lvl4pPr>
            <a:lvl5pPr>
              <a:defRPr sz="1425" b="0">
                <a:solidFill>
                  <a:srgbClr val="516474"/>
                </a:solidFill>
                <a:latin typeface="Arial"/>
                <a:ea typeface="Arial"/>
                <a:cs typeface="Arial"/>
              </a:defRPr>
            </a:lvl5pPr>
            <a:lvl6pPr>
              <a:defRPr sz="1425" b="0">
                <a:solidFill>
                  <a:srgbClr val="516474"/>
                </a:solidFill>
                <a:latin typeface="Arial"/>
                <a:ea typeface="Arial"/>
                <a:cs typeface="Arial"/>
              </a:defRPr>
            </a:lvl6pPr>
            <a:lvl7pPr>
              <a:defRPr sz="1425" b="0">
                <a:solidFill>
                  <a:srgbClr val="516474"/>
                </a:solidFill>
                <a:latin typeface="Arial"/>
                <a:ea typeface="Arial"/>
                <a:cs typeface="Arial"/>
              </a:defRPr>
            </a:lvl7pPr>
            <a:lvl8pPr>
              <a:defRPr sz="1425" b="0">
                <a:solidFill>
                  <a:srgbClr val="516474"/>
                </a:solidFill>
                <a:latin typeface="Arial"/>
                <a:ea typeface="Arial"/>
                <a:cs typeface="Arial"/>
              </a:defRPr>
            </a:lvl8pPr>
            <a:lvl9pPr>
              <a:defRPr sz="1425" b="0">
                <a:solidFill>
                  <a:srgbClr val="516474"/>
                </a:solidFill>
                <a:latin typeface="Arial"/>
                <a:ea typeface="Arial"/>
                <a:cs typeface="Arial"/>
              </a:defRPr>
            </a:lvl9pPr>
          </a:lstStyle>
          <a:p xmlns:a="http://schemas.openxmlformats.org/drawingml/2006/main">
            <a:pPr>
              <a:lnSpc>
                <a:spcPct val="110000"/>
              </a:lnSpc>
              <a:buNone/>
              <a:defRPr sz="1425" b="0">
                <a:solidFill>
                  <a:srgbClr val="516474"/>
                </a:solidFill>
                <a:latin typeface="Arial"/>
                <a:ea typeface="Arial"/>
                <a:cs typeface="Arial"/>
              </a:defRPr>
            </a:pPr>
            <a:r>
              <a:rPr sz="1425" b="0">
                <a:solidFill>
                  <a:srgbClr val="516474"/>
                </a:solidFill>
                <a:latin typeface="Arial"/>
                <a:ea typeface="Arial"/>
                <a:cs typeface="Arial"/>
              </a:rPr>
              <a:t>Notebook figure (non-editable image). Nominal (1, 0.5). Unit inputs. Blue: a (left). Red: θ (right).</a:t>
            </a:r>
          </a:p>
        </p:txBody>
      </p:sp>
    </p:spTree>
    <p:extLst>
      <p:ext uri="{BB962C8B-B14F-4D97-AF65-F5344CB8AC3E}">
        <p14:creationId xmlns:p14="http://schemas.microsoft.com/office/powerpoint/2010/main" val="9405877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Acoplamiento temporal">
            <a:extLst xmlns:a="http://schemas.openxmlformats.org/drawingml/2006/main">
              <a:ext uri="{FF2B5EF4-FFF2-40B4-BE49-F238E27FC236}">
                <a16:creationId xmlns:a16="http://schemas.microsoft.com/office/drawing/2014/main" id="{7437EAFB-D09D-420F-987E-2341DDEDBF0D}"/>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Coupling in time</a:t>
            </a:r>
          </a:p>
        </p:txBody>
      </p:sp>
      <p:sp>
        <p:nvSpPr>
          <p:cNvPr id="3" name="07 / 16">
            <a:extLst xmlns:a="http://schemas.openxmlformats.org/drawingml/2006/main">
              <a:ext uri="{FF2B5EF4-FFF2-40B4-BE49-F238E27FC236}">
                <a16:creationId xmlns:a16="http://schemas.microsoft.com/office/drawing/2014/main" id="{450252F2-2BC9-4DB4-A893-9FC63730F47C}"/>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10 / 19</a:t>
            </a:r>
          </a:p>
        </p:txBody>
      </p:sp>
      <p:graphicFrame>
        <p:nvGraphicFramePr>
          <p:cNvPr id="4" name="Chart">
            <a:extLst xmlns:a="http://schemas.openxmlformats.org/drawingml/2006/main">
              <a:ext uri="{FF2B5EF4-FFF2-40B4-BE49-F238E27FC236}">
                <a16:creationId xmlns:a16="http://schemas.microsoft.com/office/drawing/2014/main" id="{6F703653-6CDB-4BF1-8E8D-1FD231C622D7}"/>
              </a:ext>
            </a:extLst>
          </p:cNvPr>
          <p:cNvGraphicFramePr/>
          <p:nvPr/>
        </p:nvGraphicFramePr>
        <p:xfrm>
          <a:off xmlns:a="http://schemas.openxmlformats.org/drawingml/2006/main" x="476250" y="1714500"/>
          <a:ext xmlns:a="http://schemas.openxmlformats.org/drawingml/2006/main" cx="7096125" cy="4048125"/>
        </p:xfrm>
        <a:graphic xmlns:a="http://schemas.openxmlformats.org/drawingml/2006/main">
          <a:graphicData uri="http://schemas.openxmlformats.org/drawingml/2006/chart">
            <c:chart xmlns:r="http://schemas.openxmlformats.org/officeDocument/2006/relationships" xmlns:c="http://schemas.openxmlformats.org/drawingml/2006/chart" r:id="Rf5a6d6aefb644a8f"/>
          </a:graphicData>
        </a:graphic>
      </p:graphicFrame>
      <p:sp>
        <p:nvSpPr>
          <p:cNvPr id="5" name="La inclinación domina&#10;el efecto cruzado">
            <a:extLst xmlns:a="http://schemas.openxmlformats.org/drawingml/2006/main">
              <a:ext uri="{FF2B5EF4-FFF2-40B4-BE49-F238E27FC236}">
                <a16:creationId xmlns:a16="http://schemas.microsoft.com/office/drawing/2014/main" id="{96788302-BA94-4B5C-8218-0B3ED12A0ACA}"/>
              </a:ext>
            </a:extLst>
          </p:cNvPr>
          <p:cNvSpPr>
            <a:spLocks xmlns:a="http://schemas.openxmlformats.org/drawingml/2006/main" noGrp="1"/>
          </p:cNvSpPr>
          <p:nvPr/>
        </p:nvSpPr>
        <p:spPr>
          <a:xfrm xmlns:a="http://schemas.openxmlformats.org/drawingml/2006/main">
            <a:off x="8048625" y="1828800"/>
            <a:ext cx="3524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087E8B"/>
                </a:solidFill>
                <a:latin typeface="Arial"/>
                <a:ea typeface="Arial"/>
                <a:cs typeface="Arial"/>
              </a:defRPr>
            </a:defPPr>
            <a:lvl1pPr algn="l">
              <a:defRPr sz="2400" b="1">
                <a:solidFill>
                  <a:srgbClr val="087E8B"/>
                </a:solidFill>
                <a:latin typeface="Arial"/>
                <a:ea typeface="Arial"/>
                <a:cs typeface="Arial"/>
              </a:defRPr>
            </a:lvl1pPr>
            <a:lvl2pPr algn="l">
              <a:defRPr sz="2400" b="1">
                <a:solidFill>
                  <a:srgbClr val="087E8B"/>
                </a:solidFill>
                <a:latin typeface="Arial"/>
                <a:ea typeface="Arial"/>
                <a:cs typeface="Arial"/>
              </a:defRPr>
            </a:lvl2pPr>
            <a:lvl3pPr algn="l">
              <a:defRPr sz="2400" b="1">
                <a:solidFill>
                  <a:srgbClr val="087E8B"/>
                </a:solidFill>
                <a:latin typeface="Arial"/>
                <a:ea typeface="Arial"/>
                <a:cs typeface="Arial"/>
              </a:defRPr>
            </a:lvl3pPr>
            <a:lvl4pPr algn="l">
              <a:defRPr sz="2400" b="1">
                <a:solidFill>
                  <a:srgbClr val="087E8B"/>
                </a:solidFill>
                <a:latin typeface="Arial"/>
                <a:ea typeface="Arial"/>
                <a:cs typeface="Arial"/>
              </a:defRPr>
            </a:lvl4pPr>
            <a:lvl5pPr algn="l">
              <a:defRPr sz="2400" b="1">
                <a:solidFill>
                  <a:srgbClr val="087E8B"/>
                </a:solidFill>
                <a:latin typeface="Arial"/>
                <a:ea typeface="Arial"/>
                <a:cs typeface="Arial"/>
              </a:defRPr>
            </a:lvl5pPr>
            <a:lvl6pPr algn="l">
              <a:defRPr sz="2400" b="1">
                <a:solidFill>
                  <a:srgbClr val="087E8B"/>
                </a:solidFill>
                <a:latin typeface="Arial"/>
                <a:ea typeface="Arial"/>
                <a:cs typeface="Arial"/>
              </a:defRPr>
            </a:lvl6pPr>
            <a:lvl7pPr algn="l">
              <a:defRPr sz="2400" b="1">
                <a:solidFill>
                  <a:srgbClr val="087E8B"/>
                </a:solidFill>
                <a:latin typeface="Arial"/>
                <a:ea typeface="Arial"/>
                <a:cs typeface="Arial"/>
              </a:defRPr>
            </a:lvl7pPr>
            <a:lvl8pPr algn="l">
              <a:defRPr sz="2400" b="1">
                <a:solidFill>
                  <a:srgbClr val="087E8B"/>
                </a:solidFill>
                <a:latin typeface="Arial"/>
                <a:ea typeface="Arial"/>
                <a:cs typeface="Arial"/>
              </a:defRPr>
            </a:lvl8pPr>
            <a:lvl9pPr algn="l">
              <a:defRPr sz="2400" b="1">
                <a:solidFill>
                  <a:srgbClr val="087E8B"/>
                </a:solidFill>
                <a:latin typeface="Arial"/>
                <a:ea typeface="Arial"/>
                <a:cs typeface="Arial"/>
              </a:defRPr>
            </a:lvl9pPr>
          </a:lstStyle>
          <a:p xmlns:a="http://schemas.openxmlformats.org/drawingml/2006/main">
            <a:pPr algn="l">
              <a:lnSpc>
                <a:spcPct val="110000"/>
              </a:lnSpc>
              <a:buNone/>
              <a:defRPr sz="2400" b="1">
                <a:solidFill>
                  <a:srgbClr val="087E8B"/>
                </a:solidFill>
                <a:latin typeface="Arial"/>
                <a:ea typeface="Arial"/>
                <a:cs typeface="Arial"/>
              </a:defRPr>
            </a:pPr>
            <a:r>
              <a:rPr sz="2400" b="1">
                <a:solidFill>
                  <a:srgbClr val="087E8B"/>
                </a:solidFill>
                <a:latin typeface="Arial"/>
                <a:ea typeface="Arial"/>
                <a:cs typeface="Arial"/>
              </a:rPr>
              <a:t>Pitch dominates</a:t>
            </a:r>
          </a:p>
          <a:p xmlns:a="http://schemas.openxmlformats.org/drawingml/2006/main">
            <a:pPr algn="l">
              <a:lnSpc>
                <a:spcPct val="110000"/>
              </a:lnSpc>
              <a:buNone/>
              <a:defRPr sz="2400" b="1">
                <a:solidFill>
                  <a:srgbClr val="087E8B"/>
                </a:solidFill>
                <a:latin typeface="Arial"/>
                <a:ea typeface="Arial"/>
                <a:cs typeface="Arial"/>
              </a:defRPr>
            </a:pPr>
            <a:r>
              <a:rPr sz="2400" b="1">
                <a:solidFill>
                  <a:srgbClr val="087E8B"/>
                </a:solidFill>
                <a:latin typeface="Arial"/>
                <a:ea typeface="Arial"/>
                <a:cs typeface="Arial"/>
              </a:rPr>
              <a:t>the cross-channel effect</a:t>
            </a:r>
          </a:p>
        </p:txBody>
      </p:sp>
      <p:sp>
        <p:nvSpPr>
          <p:cNvPr id="6" name="Desviación axial máxima:&#10;≈ 0,812 m/s²">
            <a:extLst xmlns:a="http://schemas.openxmlformats.org/drawingml/2006/main">
              <a:ext uri="{FF2B5EF4-FFF2-40B4-BE49-F238E27FC236}">
                <a16:creationId xmlns:a16="http://schemas.microsoft.com/office/drawing/2014/main" id="{85136827-0A1C-41E9-AF1A-99A91F7371EE}"/>
              </a:ext>
            </a:extLst>
          </p:cNvPr>
          <p:cNvSpPr>
            <a:spLocks xmlns:a="http://schemas.openxmlformats.org/drawingml/2006/main" noGrp="1"/>
          </p:cNvSpPr>
          <p:nvPr/>
        </p:nvSpPr>
        <p:spPr>
          <a:xfrm xmlns:a="http://schemas.openxmlformats.org/drawingml/2006/main">
            <a:off x="8048625" y="335280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Peak axial deviation:</a:t>
            </a:r>
          </a:p>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 0.812 m/s²</a:t>
            </a:r>
          </a:p>
        </p:txBody>
      </p:sp>
      <p:sp>
        <p:nvSpPr>
          <p:cNvPr id="7" name="Respuesta axial principal:&#10;≈ 0,459 m/s²">
            <a:extLst xmlns:a="http://schemas.openxmlformats.org/drawingml/2006/main">
              <a:ext uri="{FF2B5EF4-FFF2-40B4-BE49-F238E27FC236}">
                <a16:creationId xmlns:a16="http://schemas.microsoft.com/office/drawing/2014/main" id="{654AA7DE-BDCE-4FCF-875A-5EC3CD0EF1EF}"/>
              </a:ext>
            </a:extLst>
          </p:cNvPr>
          <p:cNvSpPr>
            <a:spLocks xmlns:a="http://schemas.openxmlformats.org/drawingml/2006/main" noGrp="1"/>
          </p:cNvSpPr>
          <p:nvPr/>
        </p:nvSpPr>
        <p:spPr>
          <a:xfrm xmlns:a="http://schemas.openxmlformats.org/drawingml/2006/main">
            <a:off x="8048625" y="455295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Main axial response:</a:t>
            </a:r>
          </a:p>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 0.459 m/s²</a:t>
            </a:r>
          </a:p>
        </p:txBody>
      </p:sp>
      <p:sp>
        <p:nvSpPr>
          <p:cNvPr id="8" name="Comparación para u₁ = 10 en la escala del modelo">
            <a:extLst xmlns:a="http://schemas.openxmlformats.org/drawingml/2006/main">
              <a:ext uri="{FF2B5EF4-FFF2-40B4-BE49-F238E27FC236}">
                <a16:creationId xmlns:a16="http://schemas.microsoft.com/office/drawing/2014/main" id="{031CD0D3-C2F4-460B-BE8D-61D9485A584A}"/>
              </a:ext>
            </a:extLst>
          </p:cNvPr>
          <p:cNvSpPr>
            <a:spLocks xmlns:a="http://schemas.openxmlformats.org/drawingml/2006/main" noGrp="1"/>
          </p:cNvSpPr>
          <p:nvPr/>
        </p:nvSpPr>
        <p:spPr>
          <a:xfrm xmlns:a="http://schemas.openxmlformats.org/drawingml/2006/main">
            <a:off x="590550" y="59531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xmlns:a="http://schemas.openxmlformats.org/drawingml/2006/main">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Comparison for u₁ = 10 in model units and u₂ = 5°</a:t>
            </a:r>
          </a:p>
        </p:txBody>
      </p:sp>
    </p:spTree>
    <p:extLst>
      <p:ext uri="{BB962C8B-B14F-4D97-AF65-F5344CB8AC3E}">
        <p14:creationId xmlns:p14="http://schemas.microsoft.com/office/powerpoint/2010/main" val="139957557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Respuesta en frecuencia">
            <a:extLst xmlns:a="http://schemas.openxmlformats.org/drawingml/2006/main">
              <a:ext uri="{FF2B5EF4-FFF2-40B4-BE49-F238E27FC236}">
                <a16:creationId xmlns:a16="http://schemas.microsoft.com/office/drawing/2014/main" id="{B05DF0B5-8351-400F-B0E8-04164A75AE3C}"/>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Frequency response</a:t>
            </a:r>
          </a:p>
        </p:txBody>
      </p:sp>
      <p:sp>
        <p:nvSpPr>
          <p:cNvPr id="3" name="08 / 16">
            <a:extLst xmlns:a="http://schemas.openxmlformats.org/drawingml/2006/main">
              <a:ext uri="{FF2B5EF4-FFF2-40B4-BE49-F238E27FC236}">
                <a16:creationId xmlns:a16="http://schemas.microsoft.com/office/drawing/2014/main" id="{F0B8B8D7-AED5-447A-A7C0-88F094AD92A2}"/>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11 / 19</a:t>
            </a:r>
          </a:p>
        </p:txBody>
      </p:sp>
      <p:graphicFrame>
        <p:nvGraphicFramePr>
          <p:cNvPr id="4" name="Chart">
            <a:extLst xmlns:a="http://schemas.openxmlformats.org/drawingml/2006/main">
              <a:ext uri="{FF2B5EF4-FFF2-40B4-BE49-F238E27FC236}">
                <a16:creationId xmlns:a16="http://schemas.microsoft.com/office/drawing/2014/main" id="{8447E917-3884-495D-9D8E-5D83E5D39C43}"/>
              </a:ext>
            </a:extLst>
          </p:cNvPr>
          <p:cNvGraphicFramePr/>
          <p:nvPr/>
        </p:nvGraphicFramePr>
        <p:xfrm>
          <a:off xmlns:a="http://schemas.openxmlformats.org/drawingml/2006/main" x="381000" y="1619250"/>
          <a:ext xmlns:a="http://schemas.openxmlformats.org/drawingml/2006/main" cx="7524750" cy="3667125"/>
        </p:xfrm>
        <a:graphic xmlns:a="http://schemas.openxmlformats.org/drawingml/2006/main">
          <a:graphicData uri="http://schemas.openxmlformats.org/drawingml/2006/chart">
            <c:chart xmlns:r="http://schemas.openxmlformats.org/officeDocument/2006/relationships" xmlns:c="http://schemas.openxmlformats.org/drawingml/2006/chart" r:id="R3aa33247d1e1421c"/>
          </a:graphicData>
        </a:graphic>
      </p:graphicFrame>
      <p:graphicFrame>
        <p:nvGraphicFramePr>
          <p:cNvPr id="5" name="">
            <a:extLst xmlns:a="http://schemas.openxmlformats.org/drawingml/2006/main">
              <a:ext uri="{FF2B5EF4-FFF2-40B4-BE49-F238E27FC236}">
                <a16:creationId xmlns:a16="http://schemas.microsoft.com/office/drawing/2014/main" id="{9295C474-A2F3-4E5B-8B37-A07681B3663A}"/>
              </a:ext>
            </a:extLst>
          </p:cNvPr>
          <p:cNvGraphicFramePr/>
          <p:nvPr/>
        </p:nvGraphicFramePr>
        <p:xfrm>
          <a:off xmlns:a="http://schemas.openxmlformats.org/drawingml/2006/main" x="8239125" y="1695450"/>
          <a:ext xmlns:a="http://schemas.openxmlformats.org/drawingml/2006/main" cx="3333750" cy="3209925"/>
        </p:xfrm>
        <a:graphic xmlns:a="http://schemas.openxmlformats.org/drawingml/2006/main">
          <a:graphicData uri="http://schemas.openxmlformats.org/drawingml/2006/table">
            <a:tbl>
              <a:tblPr/>
              <a:tblGrid>
                <a:gridCol w="1381125"/>
                <a:gridCol w="1952625"/>
              </a:tblGrid>
              <a:tr h="641985">
                <a:tc>
                  <a:txBody>
                    <a:bodyPr lIns="95250" tIns="95250" rIns="95250" bIns="95250"/>
                    <a:lstStyle/>
                    <a:p>
                      <a:r>
                        <a:rPr sz="1875" b="1">
                          <a:solidFill>
                            <a:srgbClr val="FFFFFF"/>
                          </a:solidFill>
                          <a:latin typeface="Arial"/>
                          <a:ea typeface="Arial"/>
                          <a:cs typeface="Arial"/>
                        </a:rPr>
                        <a:t>Channel</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875" b="1">
                          <a:solidFill>
                            <a:srgbClr val="FFFFFF"/>
                          </a:solidFill>
                          <a:latin typeface="Arial"/>
                          <a:ea typeface="Arial"/>
                          <a:cs typeface="Arial"/>
                        </a:rPr>
                        <a:t>BW (rad/s)</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641985">
                <a:tc>
                  <a:txBody>
                    <a:bodyPr lIns="95250" tIns="95250" rIns="95250" bIns="95250"/>
                    <a:lstStyle/>
                    <a:p>
                      <a:r>
                        <a:rPr sz="1875" b="0">
                          <a:solidFill>
                            <a:srgbClr val="13283C"/>
                          </a:solidFill>
                          <a:latin typeface="Arial"/>
                          <a:ea typeface="Arial"/>
                          <a:cs typeface="Arial"/>
                        </a:rPr>
                        <a:t>G₁₁</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875" b="0">
                          <a:solidFill>
                            <a:srgbClr val="13283C"/>
                          </a:solidFill>
                          <a:latin typeface="Arial"/>
                          <a:ea typeface="Arial"/>
                          <a:cs typeface="Arial"/>
                        </a:rPr>
                        <a:t>2.06</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41985">
                <a:tc>
                  <a:txBody>
                    <a:bodyPr lIns="95250" tIns="95250" rIns="95250" bIns="95250"/>
                    <a:lstStyle/>
                    <a:p>
                      <a:r>
                        <a:rPr sz="1875" b="0">
                          <a:solidFill>
                            <a:srgbClr val="13283C"/>
                          </a:solidFill>
                          <a:latin typeface="Arial"/>
                          <a:ea typeface="Arial"/>
                          <a:cs typeface="Arial"/>
                        </a:rPr>
                        <a:t>G₁₂</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875" b="0">
                          <a:solidFill>
                            <a:srgbClr val="13283C"/>
                          </a:solidFill>
                          <a:latin typeface="Arial"/>
                          <a:ea typeface="Arial"/>
                          <a:cs typeface="Arial"/>
                        </a:rPr>
                        <a:t>1.39</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641985">
                <a:tc>
                  <a:txBody>
                    <a:bodyPr lIns="95250" tIns="95250" rIns="95250" bIns="95250"/>
                    <a:lstStyle/>
                    <a:p>
                      <a:r>
                        <a:rPr sz="1875" b="0">
                          <a:solidFill>
                            <a:srgbClr val="13283C"/>
                          </a:solidFill>
                          <a:latin typeface="Arial"/>
                          <a:ea typeface="Arial"/>
                          <a:cs typeface="Arial"/>
                        </a:rPr>
                        <a:t>G₂₁</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875" b="0">
                          <a:solidFill>
                            <a:srgbClr val="13283C"/>
                          </a:solidFill>
                          <a:latin typeface="Arial"/>
                          <a:ea typeface="Arial"/>
                          <a:cs typeface="Arial"/>
                        </a:rPr>
                        <a:t>1.39</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41985">
                <a:tc>
                  <a:txBody>
                    <a:bodyPr lIns="95250" tIns="95250" rIns="95250" bIns="95250"/>
                    <a:lstStyle/>
                    <a:p>
                      <a:r>
                        <a:rPr sz="1875" b="0">
                          <a:solidFill>
                            <a:srgbClr val="13283C"/>
                          </a:solidFill>
                          <a:latin typeface="Arial"/>
                          <a:ea typeface="Arial"/>
                          <a:cs typeface="Arial"/>
                        </a:rPr>
                        <a:t>G₂₂</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875" b="0">
                          <a:solidFill>
                            <a:srgbClr val="13283C"/>
                          </a:solidFill>
                          <a:latin typeface="Arial"/>
                          <a:ea typeface="Arial"/>
                          <a:cs typeface="Arial"/>
                        </a:rPr>
                        <a:t>2.26</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6" name="Las interacciones importan en la banda útil de s">
            <a:extLst xmlns:a="http://schemas.openxmlformats.org/drawingml/2006/main">
              <a:ext uri="{FF2B5EF4-FFF2-40B4-BE49-F238E27FC236}">
                <a16:creationId xmlns:a16="http://schemas.microsoft.com/office/drawing/2014/main" id="{5F63887E-E1EB-4971-B481-B06C6365088F}"/>
              </a:ext>
            </a:extLst>
          </p:cNvPr>
          <p:cNvSpPr>
            <a:spLocks xmlns:a="http://schemas.openxmlformats.org/drawingml/2006/main" noGrp="1"/>
          </p:cNvSpPr>
          <p:nvPr/>
        </p:nvSpPr>
        <p:spPr>
          <a:xfrm xmlns:a="http://schemas.openxmlformats.org/drawingml/2006/main">
            <a:off x="590550" y="55435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3283C"/>
                </a:solidFill>
                <a:latin typeface="Arial"/>
                <a:ea typeface="Arial"/>
                <a:cs typeface="Arial"/>
              </a:defRPr>
            </a:defPPr>
            <a:lvl1pPr algn="l">
              <a:defRPr sz="2175" b="1">
                <a:solidFill>
                  <a:srgbClr val="13283C"/>
                </a:solidFill>
                <a:latin typeface="Arial"/>
                <a:ea typeface="Arial"/>
                <a:cs typeface="Arial"/>
              </a:defRPr>
            </a:lvl1pPr>
            <a:lvl2pPr algn="l">
              <a:defRPr sz="2175" b="1">
                <a:solidFill>
                  <a:srgbClr val="13283C"/>
                </a:solidFill>
                <a:latin typeface="Arial"/>
                <a:ea typeface="Arial"/>
                <a:cs typeface="Arial"/>
              </a:defRPr>
            </a:lvl2pPr>
            <a:lvl3pPr algn="l">
              <a:defRPr sz="2175" b="1">
                <a:solidFill>
                  <a:srgbClr val="13283C"/>
                </a:solidFill>
                <a:latin typeface="Arial"/>
                <a:ea typeface="Arial"/>
                <a:cs typeface="Arial"/>
              </a:defRPr>
            </a:lvl3pPr>
            <a:lvl4pPr algn="l">
              <a:defRPr sz="2175" b="1">
                <a:solidFill>
                  <a:srgbClr val="13283C"/>
                </a:solidFill>
                <a:latin typeface="Arial"/>
                <a:ea typeface="Arial"/>
                <a:cs typeface="Arial"/>
              </a:defRPr>
            </a:lvl4pPr>
            <a:lvl5pPr algn="l">
              <a:defRPr sz="2175" b="1">
                <a:solidFill>
                  <a:srgbClr val="13283C"/>
                </a:solidFill>
                <a:latin typeface="Arial"/>
                <a:ea typeface="Arial"/>
                <a:cs typeface="Arial"/>
              </a:defRPr>
            </a:lvl5pPr>
            <a:lvl6pPr algn="l">
              <a:defRPr sz="2175" b="1">
                <a:solidFill>
                  <a:srgbClr val="13283C"/>
                </a:solidFill>
                <a:latin typeface="Arial"/>
                <a:ea typeface="Arial"/>
                <a:cs typeface="Arial"/>
              </a:defRPr>
            </a:lvl6pPr>
            <a:lvl7pPr algn="l">
              <a:defRPr sz="2175" b="1">
                <a:solidFill>
                  <a:srgbClr val="13283C"/>
                </a:solidFill>
                <a:latin typeface="Arial"/>
                <a:ea typeface="Arial"/>
                <a:cs typeface="Arial"/>
              </a:defRPr>
            </a:lvl7pPr>
            <a:lvl8pPr algn="l">
              <a:defRPr sz="2175" b="1">
                <a:solidFill>
                  <a:srgbClr val="13283C"/>
                </a:solidFill>
                <a:latin typeface="Arial"/>
                <a:ea typeface="Arial"/>
                <a:cs typeface="Arial"/>
              </a:defRPr>
            </a:lvl8pPr>
            <a:lvl9pPr algn="l">
              <a:defRPr sz="2175" b="1">
                <a:solidFill>
                  <a:srgbClr val="13283C"/>
                </a:solidFill>
                <a:latin typeface="Arial"/>
                <a:ea typeface="Arial"/>
                <a:cs typeface="Arial"/>
              </a:defRPr>
            </a:lvl9pPr>
          </a:lstStyle>
          <a:p xmlns:a="http://schemas.openxmlformats.org/drawingml/2006/main">
            <a:pPr algn="l">
              <a:lnSpc>
                <a:spcPct val="110000"/>
              </a:lnSpc>
              <a:buNone/>
              <a:defRPr sz="2175" b="1">
                <a:solidFill>
                  <a:srgbClr val="13283C"/>
                </a:solidFill>
                <a:latin typeface="Arial"/>
                <a:ea typeface="Arial"/>
                <a:cs typeface="Arial"/>
              </a:defRPr>
            </a:pPr>
            <a:r>
              <a:rPr sz="2175" b="1">
                <a:solidFill>
                  <a:srgbClr val="13283C"/>
                </a:solidFill>
                <a:latin typeface="Arial"/>
                <a:ea typeface="Arial"/>
                <a:cs typeface="Arial"/>
              </a:rPr>
              <a:t>Interactions matter within the useful tracking bandwidth</a:t>
            </a:r>
          </a:p>
        </p:txBody>
      </p:sp>
      <p:sp>
        <p:nvSpPr>
          <p:cNvPr id="7" name="Nominal: ambos cocientes cruzados quedan bajo 10">
            <a:extLst xmlns:a="http://schemas.openxmlformats.org/drawingml/2006/main">
              <a:ext uri="{FF2B5EF4-FFF2-40B4-BE49-F238E27FC236}">
                <a16:creationId xmlns:a16="http://schemas.microsoft.com/office/drawing/2014/main" id="{1D6CA7FD-3C35-4E50-9217-D2BB0703AFA3}"/>
              </a:ext>
            </a:extLst>
          </p:cNvPr>
          <p:cNvSpPr>
            <a:spLocks xmlns:a="http://schemas.openxmlformats.org/drawingml/2006/main" noGrp="1"/>
          </p:cNvSpPr>
          <p:nvPr/>
        </p:nvSpPr>
        <p:spPr>
          <a:xfrm xmlns:a="http://schemas.openxmlformats.org/drawingml/2006/main">
            <a:off x="590550" y="602932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xmlns:a="http://schemas.openxmlformats.org/drawingml/2006/main">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Nominal: both cross-channel ratios fall below 10% for ω &gt; 7.36 rad/s</a:t>
            </a:r>
          </a:p>
        </p:txBody>
      </p:sp>
    </p:spTree>
    <p:extLst>
      <p:ext uri="{BB962C8B-B14F-4D97-AF65-F5344CB8AC3E}">
        <p14:creationId xmlns:p14="http://schemas.microsoft.com/office/powerpoint/2010/main" val="111761176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Observabilidad">
            <a:extLst xmlns:a="http://schemas.openxmlformats.org/drawingml/2006/main">
              <a:ext uri="{FF2B5EF4-FFF2-40B4-BE49-F238E27FC236}">
                <a16:creationId xmlns:a16="http://schemas.microsoft.com/office/drawing/2014/main" id="{50744E92-14F1-4B8F-805F-C91B629BD16E}"/>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Observability</a:t>
            </a:r>
          </a:p>
        </p:txBody>
      </p:sp>
      <p:sp>
        <p:nvSpPr>
          <p:cNvPr id="3" name="09 / 16">
            <a:extLst xmlns:a="http://schemas.openxmlformats.org/drawingml/2006/main">
              <a:ext uri="{FF2B5EF4-FFF2-40B4-BE49-F238E27FC236}">
                <a16:creationId xmlns:a16="http://schemas.microsoft.com/office/drawing/2014/main" id="{E2F419DF-333E-4296-A762-47D839075DA0}"/>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12 / 19</a:t>
            </a:r>
          </a:p>
        </p:txBody>
      </p:sp>
      <p:sp>
        <p:nvSpPr>
          <p:cNvPr id="4" name="¿Podemos reconstruir los estados con las medicio">
            <a:extLst xmlns:a="http://schemas.openxmlformats.org/drawingml/2006/main">
              <a:ext uri="{FF2B5EF4-FFF2-40B4-BE49-F238E27FC236}">
                <a16:creationId xmlns:a16="http://schemas.microsoft.com/office/drawing/2014/main" id="{46F0CA08-D08F-440E-B76C-507C73185FEB}"/>
              </a:ext>
            </a:extLst>
          </p:cNvPr>
          <p:cNvSpPr>
            <a:spLocks xmlns:a="http://schemas.openxmlformats.org/drawingml/2006/main" noGrp="1"/>
          </p:cNvSpPr>
          <p:nvPr/>
        </p:nvSpPr>
        <p:spPr>
          <a:xfrm xmlns:a="http://schemas.openxmlformats.org/drawingml/2006/main">
            <a:off x="590550" y="130492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Can we reconstruct the states from measurements?</a:t>
            </a:r>
          </a:p>
        </p:txBody>
      </p:sp>
      <p:graphicFrame>
        <p:nvGraphicFramePr>
          <p:cNvPr id="5" name="">
            <a:extLst xmlns:a="http://schemas.openxmlformats.org/drawingml/2006/main">
              <a:ext uri="{FF2B5EF4-FFF2-40B4-BE49-F238E27FC236}">
                <a16:creationId xmlns:a16="http://schemas.microsoft.com/office/drawing/2014/main" id="{072A9338-4703-43DD-9D09-ABEA6BA23AFF}"/>
              </a:ext>
            </a:extLst>
          </p:cNvPr>
          <p:cNvGraphicFramePr/>
          <p:nvPr/>
        </p:nvGraphicFramePr>
        <p:xfrm>
          <a:off xmlns:a="http://schemas.openxmlformats.org/drawingml/2006/main" x="590550" y="2305050"/>
          <a:ext xmlns:a="http://schemas.openxmlformats.org/drawingml/2006/main" cx="6191250" cy="2857500"/>
        </p:xfrm>
        <a:graphic xmlns:a="http://schemas.openxmlformats.org/drawingml/2006/main">
          <a:graphicData uri="http://schemas.openxmlformats.org/drawingml/2006/table">
            <a:tbl>
              <a:tblPr/>
              <a:tblGrid>
                <a:gridCol w="4381500"/>
                <a:gridCol w="1809750"/>
              </a:tblGrid>
              <a:tr h="714375">
                <a:tc>
                  <a:txBody>
                    <a:bodyPr lIns="95250" tIns="95250" rIns="95250" bIns="95250"/>
                    <a:lstStyle/>
                    <a:p>
                      <a:r>
                        <a:rPr sz="2025" b="1">
                          <a:solidFill>
                            <a:srgbClr val="FFFFFF"/>
                          </a:solidFill>
                          <a:latin typeface="Arial"/>
                          <a:ea typeface="Arial"/>
                          <a:cs typeface="Arial"/>
                        </a:rPr>
                        <a:t>Measurements used</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2025" b="1">
                          <a:solidFill>
                            <a:srgbClr val="FFFFFF"/>
                          </a:solidFill>
                          <a:latin typeface="Arial"/>
                          <a:ea typeface="Arial"/>
                          <a:cs typeface="Arial"/>
                        </a:rPr>
                        <a:t>Rank of O</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714375">
                <a:tc>
                  <a:txBody>
                    <a:bodyPr lIns="95250" tIns="95250" rIns="95250" bIns="95250"/>
                    <a:lstStyle/>
                    <a:p>
                      <a:r>
                        <a:rPr sz="2025" b="0">
                          <a:solidFill>
                            <a:srgbClr val="13283C"/>
                          </a:solidFill>
                          <a:latin typeface="Arial"/>
                          <a:ea typeface="Arial"/>
                          <a:cs typeface="Arial"/>
                        </a:rPr>
                        <a:t>Acceleration a only</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2025" b="0">
                          <a:solidFill>
                            <a:srgbClr val="13283C"/>
                          </a:solidFill>
                          <a:latin typeface="Arial"/>
                          <a:ea typeface="Arial"/>
                          <a:cs typeface="Arial"/>
                        </a:rPr>
                        <a:t>4</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714375">
                <a:tc>
                  <a:txBody>
                    <a:bodyPr lIns="95250" tIns="95250" rIns="95250" bIns="95250"/>
                    <a:lstStyle/>
                    <a:p>
                      <a:r>
                        <a:rPr sz="2025" b="0">
                          <a:solidFill>
                            <a:srgbClr val="13283C"/>
                          </a:solidFill>
                          <a:latin typeface="Arial"/>
                          <a:ea typeface="Arial"/>
                          <a:cs typeface="Arial"/>
                        </a:rPr>
                        <a:t>Angle θ only</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2025" b="0">
                          <a:solidFill>
                            <a:srgbClr val="13283C"/>
                          </a:solidFill>
                          <a:latin typeface="Arial"/>
                          <a:ea typeface="Arial"/>
                          <a:cs typeface="Arial"/>
                        </a:rPr>
                        <a:t>4</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714375">
                <a:tc>
                  <a:txBody>
                    <a:bodyPr lIns="95250" tIns="95250" rIns="95250" bIns="95250"/>
                    <a:lstStyle/>
                    <a:p>
                      <a:r>
                        <a:rPr sz="2025" b="0">
                          <a:solidFill>
                            <a:srgbClr val="13283C"/>
                          </a:solidFill>
                          <a:latin typeface="Arial"/>
                          <a:ea typeface="Arial"/>
                          <a:cs typeface="Arial"/>
                        </a:rPr>
                        <a:t>Acceleration and angle</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2025" b="0">
                          <a:solidFill>
                            <a:srgbClr val="13283C"/>
                          </a:solidFill>
                          <a:latin typeface="Arial"/>
                          <a:ea typeface="Arial"/>
                          <a:cs typeface="Arial"/>
                        </a:rPr>
                        <a:t>4</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bl>
          </a:graphicData>
        </a:graphic>
      </p:graphicFrame>
      <p:sp>
        <p:nvSpPr>
          <p:cNvPr id="6" name="O = [C; CA; CA²; CA³]">
            <a:extLst xmlns:a="http://schemas.openxmlformats.org/drawingml/2006/main">
              <a:ext uri="{FF2B5EF4-FFF2-40B4-BE49-F238E27FC236}">
                <a16:creationId xmlns:a16="http://schemas.microsoft.com/office/drawing/2014/main" id="{D3382DE5-86D7-48D0-81E8-F8C1483666BC}"/>
              </a:ext>
            </a:extLst>
          </p:cNvPr>
          <p:cNvSpPr>
            <a:spLocks xmlns:a="http://schemas.openxmlformats.org/drawingml/2006/main" noGrp="1"/>
          </p:cNvSpPr>
          <p:nvPr/>
        </p:nvSpPr>
        <p:spPr>
          <a:xfrm xmlns:a="http://schemas.openxmlformats.org/drawingml/2006/main">
            <a:off x="7334250" y="2362200"/>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13283C"/>
                </a:solidFill>
                <a:latin typeface="Arial"/>
                <a:ea typeface="Arial"/>
                <a:cs typeface="Arial"/>
              </a:defRPr>
            </a:defPPr>
            <a:lvl1pPr algn="l">
              <a:defRPr sz="2250" b="1">
                <a:solidFill>
                  <a:srgbClr val="13283C"/>
                </a:solidFill>
                <a:latin typeface="Arial"/>
                <a:ea typeface="Arial"/>
                <a:cs typeface="Arial"/>
              </a:defRPr>
            </a:lvl1pPr>
            <a:lvl2pPr algn="l">
              <a:defRPr sz="2250" b="1">
                <a:solidFill>
                  <a:srgbClr val="13283C"/>
                </a:solidFill>
                <a:latin typeface="Arial"/>
                <a:ea typeface="Arial"/>
                <a:cs typeface="Arial"/>
              </a:defRPr>
            </a:lvl2pPr>
            <a:lvl3pPr algn="l">
              <a:defRPr sz="2250" b="1">
                <a:solidFill>
                  <a:srgbClr val="13283C"/>
                </a:solidFill>
                <a:latin typeface="Arial"/>
                <a:ea typeface="Arial"/>
                <a:cs typeface="Arial"/>
              </a:defRPr>
            </a:lvl3pPr>
            <a:lvl4pPr algn="l">
              <a:defRPr sz="2250" b="1">
                <a:solidFill>
                  <a:srgbClr val="13283C"/>
                </a:solidFill>
                <a:latin typeface="Arial"/>
                <a:ea typeface="Arial"/>
                <a:cs typeface="Arial"/>
              </a:defRPr>
            </a:lvl4pPr>
            <a:lvl5pPr algn="l">
              <a:defRPr sz="2250" b="1">
                <a:solidFill>
                  <a:srgbClr val="13283C"/>
                </a:solidFill>
                <a:latin typeface="Arial"/>
                <a:ea typeface="Arial"/>
                <a:cs typeface="Arial"/>
              </a:defRPr>
            </a:lvl5pPr>
            <a:lvl6pPr algn="l">
              <a:defRPr sz="2250" b="1">
                <a:solidFill>
                  <a:srgbClr val="13283C"/>
                </a:solidFill>
                <a:latin typeface="Arial"/>
                <a:ea typeface="Arial"/>
                <a:cs typeface="Arial"/>
              </a:defRPr>
            </a:lvl6pPr>
            <a:lvl7pPr algn="l">
              <a:defRPr sz="2250" b="1">
                <a:solidFill>
                  <a:srgbClr val="13283C"/>
                </a:solidFill>
                <a:latin typeface="Arial"/>
                <a:ea typeface="Arial"/>
                <a:cs typeface="Arial"/>
              </a:defRPr>
            </a:lvl7pPr>
            <a:lvl8pPr algn="l">
              <a:defRPr sz="2250" b="1">
                <a:solidFill>
                  <a:srgbClr val="13283C"/>
                </a:solidFill>
                <a:latin typeface="Arial"/>
                <a:ea typeface="Arial"/>
                <a:cs typeface="Arial"/>
              </a:defRPr>
            </a:lvl8pPr>
            <a:lvl9pPr algn="l">
              <a:defRPr sz="2250" b="1">
                <a:solidFill>
                  <a:srgbClr val="13283C"/>
                </a:solidFill>
                <a:latin typeface="Arial"/>
                <a:ea typeface="Arial"/>
                <a:cs typeface="Arial"/>
              </a:defRPr>
            </a:lvl9pPr>
          </a:lstStyle>
          <a:p xmlns:a="http://schemas.openxmlformats.org/drawingml/2006/main">
            <a:pPr algn="l">
              <a:lnSpc>
                <a:spcPct val="110000"/>
              </a:lnSpc>
              <a:buNone/>
              <a:defRPr sz="2250" b="1">
                <a:solidFill>
                  <a:srgbClr val="13283C"/>
                </a:solidFill>
                <a:latin typeface="Arial"/>
                <a:ea typeface="Arial"/>
                <a:cs typeface="Arial"/>
              </a:defRPr>
            </a:pPr>
            <a:r>
              <a:rPr sz="2250" b="1">
                <a:solidFill>
                  <a:srgbClr val="13283C"/>
                </a:solidFill>
                <a:latin typeface="Arial"/>
                <a:ea typeface="Arial"/>
                <a:cs typeface="Arial"/>
              </a:rPr>
              <a:t>O = [C; CA; CA²; CA³]</a:t>
            </a:r>
          </a:p>
        </p:txBody>
      </p:sp>
      <p:sp>
        <p:nvSpPr>
          <p:cNvPr id="7" name="Rango 4:&#10;los cuatro estados&#10;son observables">
            <a:extLst xmlns:a="http://schemas.openxmlformats.org/drawingml/2006/main">
              <a:ext uri="{FF2B5EF4-FFF2-40B4-BE49-F238E27FC236}">
                <a16:creationId xmlns:a16="http://schemas.microsoft.com/office/drawing/2014/main" id="{5757E779-5F7E-4C9C-8A24-988AA20BD90F}"/>
              </a:ext>
            </a:extLst>
          </p:cNvPr>
          <p:cNvSpPr>
            <a:spLocks xmlns:a="http://schemas.openxmlformats.org/drawingml/2006/main" noGrp="1"/>
          </p:cNvSpPr>
          <p:nvPr/>
        </p:nvSpPr>
        <p:spPr>
          <a:xfrm xmlns:a="http://schemas.openxmlformats.org/drawingml/2006/main">
            <a:off x="7334250" y="3333750"/>
            <a:ext cx="4191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Rank 4:</a:t>
            </a:r>
          </a:p>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all four states</a:t>
            </a:r>
          </a:p>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are observable</a:t>
            </a:r>
          </a:p>
        </p:txBody>
      </p:sp>
      <p:sp>
        <p:nvSpPr>
          <p:cNvPr id="8" name="La precisión con ruido requiere normalización y ">
            <a:extLst xmlns:a="http://schemas.openxmlformats.org/drawingml/2006/main">
              <a:ext uri="{FF2B5EF4-FFF2-40B4-BE49-F238E27FC236}">
                <a16:creationId xmlns:a16="http://schemas.microsoft.com/office/drawing/2014/main" id="{4BFC0DFF-21BF-48D9-BDDF-13A7A4782EEE}"/>
              </a:ext>
            </a:extLst>
          </p:cNvPr>
          <p:cNvSpPr>
            <a:spLocks xmlns:a="http://schemas.openxmlformats.org/drawingml/2006/main" noGrp="1"/>
          </p:cNvSpPr>
          <p:nvPr/>
        </p:nvSpPr>
        <p:spPr>
          <a:xfrm xmlns:a="http://schemas.openxmlformats.org/drawingml/2006/main">
            <a:off x="590550" y="5753100"/>
            <a:ext cx="10858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xmlns:a="http://schemas.openxmlformats.org/drawingml/2006/main">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Accuracy in noise requires normalization and a sensor model</a:t>
            </a:r>
          </a:p>
        </p:txBody>
      </p:sp>
      <p:sp>
        <p:nvSpPr>
          <p:cNvPr id="9" name="Observable: known inputs and measured outputs re">
            <a:extLst xmlns:a="http://schemas.openxmlformats.org/drawingml/2006/main">
              <a:ext uri="{FF2B5EF4-FFF2-40B4-BE49-F238E27FC236}">
                <a16:creationId xmlns:a16="http://schemas.microsoft.com/office/drawing/2014/main" id="{5AF0BA0F-3FC7-4040-8107-F4386C2A80C3}"/>
              </a:ext>
            </a:extLst>
          </p:cNvPr>
          <p:cNvSpPr>
            <a:spLocks xmlns:a="http://schemas.openxmlformats.org/drawingml/2006/main" noGrp="1"/>
          </p:cNvSpPr>
          <p:nvPr/>
        </p:nvSpPr>
        <p:spPr>
          <a:xfrm xmlns:a="http://schemas.openxmlformats.org/drawingml/2006/main">
            <a:off x="590550" y="1905000"/>
            <a:ext cx="11010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516474"/>
                </a:solidFill>
                <a:latin typeface="Arial"/>
                <a:ea typeface="Arial"/>
                <a:cs typeface="Arial"/>
              </a:defRPr>
            </a:defPPr>
            <a:lvl1pPr>
              <a:defRPr sz="1800" b="0">
                <a:solidFill>
                  <a:srgbClr val="516474"/>
                </a:solidFill>
                <a:latin typeface="Arial"/>
                <a:ea typeface="Arial"/>
                <a:cs typeface="Arial"/>
              </a:defRPr>
            </a:lvl1pPr>
            <a:lvl2pPr>
              <a:defRPr sz="1800" b="0">
                <a:solidFill>
                  <a:srgbClr val="516474"/>
                </a:solidFill>
                <a:latin typeface="Arial"/>
                <a:ea typeface="Arial"/>
                <a:cs typeface="Arial"/>
              </a:defRPr>
            </a:lvl2pPr>
            <a:lvl3pPr>
              <a:defRPr sz="1800" b="0">
                <a:solidFill>
                  <a:srgbClr val="516474"/>
                </a:solidFill>
                <a:latin typeface="Arial"/>
                <a:ea typeface="Arial"/>
                <a:cs typeface="Arial"/>
              </a:defRPr>
            </a:lvl3pPr>
            <a:lvl4pPr>
              <a:defRPr sz="1800" b="0">
                <a:solidFill>
                  <a:srgbClr val="516474"/>
                </a:solidFill>
                <a:latin typeface="Arial"/>
                <a:ea typeface="Arial"/>
                <a:cs typeface="Arial"/>
              </a:defRPr>
            </a:lvl4pPr>
            <a:lvl5pPr>
              <a:defRPr sz="1800" b="0">
                <a:solidFill>
                  <a:srgbClr val="516474"/>
                </a:solidFill>
                <a:latin typeface="Arial"/>
                <a:ea typeface="Arial"/>
                <a:cs typeface="Arial"/>
              </a:defRPr>
            </a:lvl5pPr>
            <a:lvl6pPr>
              <a:defRPr sz="1800" b="0">
                <a:solidFill>
                  <a:srgbClr val="516474"/>
                </a:solidFill>
                <a:latin typeface="Arial"/>
                <a:ea typeface="Arial"/>
                <a:cs typeface="Arial"/>
              </a:defRPr>
            </a:lvl6pPr>
            <a:lvl7pPr>
              <a:defRPr sz="1800" b="0">
                <a:solidFill>
                  <a:srgbClr val="516474"/>
                </a:solidFill>
                <a:latin typeface="Arial"/>
                <a:ea typeface="Arial"/>
                <a:cs typeface="Arial"/>
              </a:defRPr>
            </a:lvl7pPr>
            <a:lvl8pPr>
              <a:defRPr sz="1800" b="0">
                <a:solidFill>
                  <a:srgbClr val="516474"/>
                </a:solidFill>
                <a:latin typeface="Arial"/>
                <a:ea typeface="Arial"/>
                <a:cs typeface="Arial"/>
              </a:defRPr>
            </a:lvl8pPr>
            <a:lvl9pPr>
              <a:defRPr sz="1800" b="0">
                <a:solidFill>
                  <a:srgbClr val="516474"/>
                </a:solidFill>
                <a:latin typeface="Arial"/>
                <a:ea typeface="Arial"/>
                <a:cs typeface="Arial"/>
              </a:defRPr>
            </a:lvl9pPr>
          </a:lstStyle>
          <a:p xmlns:a="http://schemas.openxmlformats.org/drawingml/2006/main">
            <a:pPr>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Observable: known inputs and measured outputs reveal the internal state</a:t>
            </a:r>
          </a:p>
        </p:txBody>
      </p:sp>
    </p:spTree>
    <p:extLst>
      <p:ext uri="{BB962C8B-B14F-4D97-AF65-F5344CB8AC3E}">
        <p14:creationId xmlns:p14="http://schemas.microsoft.com/office/powerpoint/2010/main" val="2032100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Controlabilidad">
            <a:extLst xmlns:a="http://schemas.openxmlformats.org/drawingml/2006/main">
              <a:ext uri="{FF2B5EF4-FFF2-40B4-BE49-F238E27FC236}">
                <a16:creationId xmlns:a16="http://schemas.microsoft.com/office/drawing/2014/main" id="{F2E58DB9-C2C2-411C-AB10-2FC4962F8807}"/>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Controllability</a:t>
            </a:r>
          </a:p>
        </p:txBody>
      </p:sp>
      <p:sp>
        <p:nvSpPr>
          <p:cNvPr id="3" name="10 / 16">
            <a:extLst xmlns:a="http://schemas.openxmlformats.org/drawingml/2006/main">
              <a:ext uri="{FF2B5EF4-FFF2-40B4-BE49-F238E27FC236}">
                <a16:creationId xmlns:a16="http://schemas.microsoft.com/office/drawing/2014/main" id="{F424B7C3-63DD-466A-B0DC-480C204FEC28}"/>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13 / 19</a:t>
            </a:r>
          </a:p>
        </p:txBody>
      </p:sp>
      <p:sp>
        <p:nvSpPr>
          <p:cNvPr id="4" name="¿Qué estados pueden alcanzar las entradas?">
            <a:extLst xmlns:a="http://schemas.openxmlformats.org/drawingml/2006/main">
              <a:ext uri="{FF2B5EF4-FFF2-40B4-BE49-F238E27FC236}">
                <a16:creationId xmlns:a16="http://schemas.microsoft.com/office/drawing/2014/main" id="{8A55C27B-7479-4E37-B7CB-E9A8E2D3AD09}"/>
              </a:ext>
            </a:extLst>
          </p:cNvPr>
          <p:cNvSpPr>
            <a:spLocks xmlns:a="http://schemas.openxmlformats.org/drawingml/2006/main" noGrp="1"/>
          </p:cNvSpPr>
          <p:nvPr/>
        </p:nvSpPr>
        <p:spPr>
          <a:xfrm xmlns:a="http://schemas.openxmlformats.org/drawingml/2006/main">
            <a:off x="590550" y="13049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Which states can the inputs reach?</a:t>
            </a:r>
          </a:p>
        </p:txBody>
      </p:sp>
      <p:graphicFrame>
        <p:nvGraphicFramePr>
          <p:cNvPr id="5" name="">
            <a:extLst xmlns:a="http://schemas.openxmlformats.org/drawingml/2006/main">
              <a:ext uri="{FF2B5EF4-FFF2-40B4-BE49-F238E27FC236}">
                <a16:creationId xmlns:a16="http://schemas.microsoft.com/office/drawing/2014/main" id="{C281BBB1-DF84-4623-8DBC-002646029595}"/>
              </a:ext>
            </a:extLst>
          </p:cNvPr>
          <p:cNvGraphicFramePr/>
          <p:nvPr/>
        </p:nvGraphicFramePr>
        <p:xfrm>
          <a:off xmlns:a="http://schemas.openxmlformats.org/drawingml/2006/main" x="590550" y="2266950"/>
          <a:ext xmlns:a="http://schemas.openxmlformats.org/drawingml/2006/main" cx="7286625" cy="3381375"/>
        </p:xfrm>
        <a:graphic xmlns:a="http://schemas.openxmlformats.org/drawingml/2006/main">
          <a:graphicData uri="http://schemas.openxmlformats.org/drawingml/2006/table">
            <a:tbl>
              <a:tblPr/>
              <a:tblGrid>
                <a:gridCol w="5953125"/>
                <a:gridCol w="1333500"/>
              </a:tblGrid>
              <a:tr h="676275">
                <a:tc>
                  <a:txBody>
                    <a:bodyPr lIns="95250" tIns="95250" rIns="95250" bIns="95250"/>
                    <a:lstStyle/>
                    <a:p>
                      <a:r>
                        <a:rPr sz="1875" b="1">
                          <a:solidFill>
                            <a:srgbClr val="FFFFFF"/>
                          </a:solidFill>
                          <a:latin typeface="Arial"/>
                          <a:ea typeface="Arial"/>
                          <a:cs typeface="Arial"/>
                        </a:rPr>
                        <a:t>Scenario</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875" b="1">
                          <a:solidFill>
                            <a:srgbClr val="FFFFFF"/>
                          </a:solidFill>
                          <a:latin typeface="Arial"/>
                          <a:ea typeface="Arial"/>
                          <a:cs typeface="Arial"/>
                        </a:rPr>
                        <a:t>Rank</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676275">
                <a:tc>
                  <a:txBody>
                    <a:bodyPr lIns="95250" tIns="95250" rIns="95250" bIns="95250"/>
                    <a:lstStyle/>
                    <a:p>
                      <a:r>
                        <a:rPr sz="1875" b="0">
                          <a:solidFill>
                            <a:srgbClr val="13283C"/>
                          </a:solidFill>
                          <a:latin typeface="Arial"/>
                          <a:ea typeface="Arial"/>
                          <a:cs typeface="Arial"/>
                        </a:rPr>
                        <a:t>Both inputs</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875" b="0">
                          <a:solidFill>
                            <a:srgbClr val="13283C"/>
                          </a:solidFill>
                          <a:latin typeface="Arial"/>
                          <a:ea typeface="Arial"/>
                          <a:cs typeface="Arial"/>
                        </a:rPr>
                        <a:t>4</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76275">
                <a:tc>
                  <a:txBody>
                    <a:bodyPr lIns="95250" tIns="95250" rIns="95250" bIns="95250"/>
                    <a:lstStyle/>
                    <a:p>
                      <a:r>
                        <a:rPr sz="1875" b="0">
                          <a:solidFill>
                            <a:srgbClr val="13283C"/>
                          </a:solidFill>
                          <a:latin typeface="Arial"/>
                          <a:ea typeface="Arial"/>
                          <a:cs typeface="Arial"/>
                        </a:rPr>
                        <a:t>One external command, nominal A</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875" b="0">
                          <a:solidFill>
                            <a:srgbClr val="13283C"/>
                          </a:solidFill>
                          <a:latin typeface="Arial"/>
                          <a:ea typeface="Arial"/>
                          <a:cs typeface="Arial"/>
                        </a:rPr>
                        <a:t>4</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676275">
                <a:tc>
                  <a:txBody>
                    <a:bodyPr lIns="95250" tIns="95250" rIns="95250" bIns="95250"/>
                    <a:lstStyle/>
                    <a:p>
                      <a:r>
                        <a:rPr sz="1875" b="0">
                          <a:solidFill>
                            <a:srgbClr val="13283C"/>
                          </a:solidFill>
                          <a:latin typeface="Arial"/>
                          <a:ea typeface="Arial"/>
                          <a:cs typeface="Arial"/>
                        </a:rPr>
                        <a:t>Jammed servo</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875" b="0">
                          <a:solidFill>
                            <a:srgbClr val="13283C"/>
                          </a:solidFill>
                          <a:latin typeface="Arial"/>
                          <a:ea typeface="Arial"/>
                          <a:cs typeface="Arial"/>
                        </a:rPr>
                        <a:t>3</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76275">
                <a:tc>
                  <a:txBody>
                    <a:bodyPr lIns="95250" tIns="95250" rIns="95250" bIns="95250"/>
                    <a:lstStyle/>
                    <a:p>
                      <a:r>
                        <a:rPr sz="1875" b="0">
                          <a:solidFill>
                            <a:srgbClr val="13283C"/>
                          </a:solidFill>
                          <a:latin typeface="Arial"/>
                          <a:ea typeface="Arial"/>
                          <a:cs typeface="Arial"/>
                        </a:rPr>
                        <a:t>K₂ = 0</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875" b="0">
                          <a:solidFill>
                            <a:srgbClr val="13283C"/>
                          </a:solidFill>
                          <a:latin typeface="Arial"/>
                          <a:ea typeface="Arial"/>
                          <a:cs typeface="Arial"/>
                        </a:rPr>
                        <a:t>3</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6" name="M = [B AB A²B A³B]">
            <a:extLst xmlns:a="http://schemas.openxmlformats.org/drawingml/2006/main">
              <a:ext uri="{FF2B5EF4-FFF2-40B4-BE49-F238E27FC236}">
                <a16:creationId xmlns:a16="http://schemas.microsoft.com/office/drawing/2014/main" id="{1A1E0396-8B7F-40CA-81FE-D97B89B31616}"/>
              </a:ext>
            </a:extLst>
          </p:cNvPr>
          <p:cNvSpPr>
            <a:spLocks xmlns:a="http://schemas.openxmlformats.org/drawingml/2006/main" noGrp="1"/>
          </p:cNvSpPr>
          <p:nvPr/>
        </p:nvSpPr>
        <p:spPr>
          <a:xfrm xmlns:a="http://schemas.openxmlformats.org/drawingml/2006/main">
            <a:off x="8334375" y="2333625"/>
            <a:ext cx="3286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3283C"/>
                </a:solidFill>
                <a:latin typeface="Arial"/>
                <a:ea typeface="Arial"/>
                <a:cs typeface="Arial"/>
              </a:defRPr>
            </a:defPPr>
            <a:lvl1pPr algn="l">
              <a:defRPr sz="2175" b="1">
                <a:solidFill>
                  <a:srgbClr val="13283C"/>
                </a:solidFill>
                <a:latin typeface="Arial"/>
                <a:ea typeface="Arial"/>
                <a:cs typeface="Arial"/>
              </a:defRPr>
            </a:lvl1pPr>
            <a:lvl2pPr algn="l">
              <a:defRPr sz="2175" b="1">
                <a:solidFill>
                  <a:srgbClr val="13283C"/>
                </a:solidFill>
                <a:latin typeface="Arial"/>
                <a:ea typeface="Arial"/>
                <a:cs typeface="Arial"/>
              </a:defRPr>
            </a:lvl2pPr>
            <a:lvl3pPr algn="l">
              <a:defRPr sz="2175" b="1">
                <a:solidFill>
                  <a:srgbClr val="13283C"/>
                </a:solidFill>
                <a:latin typeface="Arial"/>
                <a:ea typeface="Arial"/>
                <a:cs typeface="Arial"/>
              </a:defRPr>
            </a:lvl3pPr>
            <a:lvl4pPr algn="l">
              <a:defRPr sz="2175" b="1">
                <a:solidFill>
                  <a:srgbClr val="13283C"/>
                </a:solidFill>
                <a:latin typeface="Arial"/>
                <a:ea typeface="Arial"/>
                <a:cs typeface="Arial"/>
              </a:defRPr>
            </a:lvl4pPr>
            <a:lvl5pPr algn="l">
              <a:defRPr sz="2175" b="1">
                <a:solidFill>
                  <a:srgbClr val="13283C"/>
                </a:solidFill>
                <a:latin typeface="Arial"/>
                <a:ea typeface="Arial"/>
                <a:cs typeface="Arial"/>
              </a:defRPr>
            </a:lvl5pPr>
            <a:lvl6pPr algn="l">
              <a:defRPr sz="2175" b="1">
                <a:solidFill>
                  <a:srgbClr val="13283C"/>
                </a:solidFill>
                <a:latin typeface="Arial"/>
                <a:ea typeface="Arial"/>
                <a:cs typeface="Arial"/>
              </a:defRPr>
            </a:lvl6pPr>
            <a:lvl7pPr algn="l">
              <a:defRPr sz="2175" b="1">
                <a:solidFill>
                  <a:srgbClr val="13283C"/>
                </a:solidFill>
                <a:latin typeface="Arial"/>
                <a:ea typeface="Arial"/>
                <a:cs typeface="Arial"/>
              </a:defRPr>
            </a:lvl7pPr>
            <a:lvl8pPr algn="l">
              <a:defRPr sz="2175" b="1">
                <a:solidFill>
                  <a:srgbClr val="13283C"/>
                </a:solidFill>
                <a:latin typeface="Arial"/>
                <a:ea typeface="Arial"/>
                <a:cs typeface="Arial"/>
              </a:defRPr>
            </a:lvl8pPr>
            <a:lvl9pPr algn="l">
              <a:defRPr sz="2175" b="1">
                <a:solidFill>
                  <a:srgbClr val="13283C"/>
                </a:solidFill>
                <a:latin typeface="Arial"/>
                <a:ea typeface="Arial"/>
                <a:cs typeface="Arial"/>
              </a:defRPr>
            </a:lvl9pPr>
          </a:lstStyle>
          <a:p xmlns:a="http://schemas.openxmlformats.org/drawingml/2006/main">
            <a:pPr algn="l">
              <a:lnSpc>
                <a:spcPct val="110000"/>
              </a:lnSpc>
              <a:buNone/>
              <a:defRPr sz="2175" b="1">
                <a:solidFill>
                  <a:srgbClr val="13283C"/>
                </a:solidFill>
                <a:latin typeface="Arial"/>
                <a:ea typeface="Arial"/>
                <a:cs typeface="Arial"/>
              </a:defRPr>
            </a:pPr>
            <a:r>
              <a:rPr sz="2175" b="1">
                <a:solidFill>
                  <a:srgbClr val="13283C"/>
                </a:solidFill>
                <a:latin typeface="Arial"/>
                <a:ea typeface="Arial"/>
                <a:cs typeface="Arial"/>
              </a:rPr>
              <a:t>M = [B AB A²B A³B]</a:t>
            </a:r>
          </a:p>
        </p:txBody>
      </p:sp>
      <p:sp>
        <p:nvSpPr>
          <p:cNvPr id="7" name="Servo trabado:&#10;δ queda fija">
            <a:extLst xmlns:a="http://schemas.openxmlformats.org/drawingml/2006/main">
              <a:ext uri="{FF2B5EF4-FFF2-40B4-BE49-F238E27FC236}">
                <a16:creationId xmlns:a16="http://schemas.microsoft.com/office/drawing/2014/main" id="{2A9FEC81-D0A1-4454-AC79-F3305AADECBE}"/>
              </a:ext>
            </a:extLst>
          </p:cNvPr>
          <p:cNvSpPr>
            <a:spLocks xmlns:a="http://schemas.openxmlformats.org/drawingml/2006/main" noGrp="1"/>
          </p:cNvSpPr>
          <p:nvPr/>
        </p:nvSpPr>
        <p:spPr>
          <a:xfrm xmlns:a="http://schemas.openxmlformats.org/drawingml/2006/main">
            <a:off x="8334375" y="3762375"/>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D66A2C"/>
                </a:solidFill>
                <a:latin typeface="Arial"/>
                <a:ea typeface="Arial"/>
                <a:cs typeface="Arial"/>
              </a:defRPr>
            </a:defPPr>
            <a:lvl1pPr algn="l">
              <a:defRPr sz="2325" b="1">
                <a:solidFill>
                  <a:srgbClr val="D66A2C"/>
                </a:solidFill>
                <a:latin typeface="Arial"/>
                <a:ea typeface="Arial"/>
                <a:cs typeface="Arial"/>
              </a:defRPr>
            </a:lvl1pPr>
            <a:lvl2pPr algn="l">
              <a:defRPr sz="2325" b="1">
                <a:solidFill>
                  <a:srgbClr val="D66A2C"/>
                </a:solidFill>
                <a:latin typeface="Arial"/>
                <a:ea typeface="Arial"/>
                <a:cs typeface="Arial"/>
              </a:defRPr>
            </a:lvl2pPr>
            <a:lvl3pPr algn="l">
              <a:defRPr sz="2325" b="1">
                <a:solidFill>
                  <a:srgbClr val="D66A2C"/>
                </a:solidFill>
                <a:latin typeface="Arial"/>
                <a:ea typeface="Arial"/>
                <a:cs typeface="Arial"/>
              </a:defRPr>
            </a:lvl3pPr>
            <a:lvl4pPr algn="l">
              <a:defRPr sz="2325" b="1">
                <a:solidFill>
                  <a:srgbClr val="D66A2C"/>
                </a:solidFill>
                <a:latin typeface="Arial"/>
                <a:ea typeface="Arial"/>
                <a:cs typeface="Arial"/>
              </a:defRPr>
            </a:lvl4pPr>
            <a:lvl5pPr algn="l">
              <a:defRPr sz="2325" b="1">
                <a:solidFill>
                  <a:srgbClr val="D66A2C"/>
                </a:solidFill>
                <a:latin typeface="Arial"/>
                <a:ea typeface="Arial"/>
                <a:cs typeface="Arial"/>
              </a:defRPr>
            </a:lvl5pPr>
            <a:lvl6pPr algn="l">
              <a:defRPr sz="2325" b="1">
                <a:solidFill>
                  <a:srgbClr val="D66A2C"/>
                </a:solidFill>
                <a:latin typeface="Arial"/>
                <a:ea typeface="Arial"/>
                <a:cs typeface="Arial"/>
              </a:defRPr>
            </a:lvl6pPr>
            <a:lvl7pPr algn="l">
              <a:defRPr sz="2325" b="1">
                <a:solidFill>
                  <a:srgbClr val="D66A2C"/>
                </a:solidFill>
                <a:latin typeface="Arial"/>
                <a:ea typeface="Arial"/>
                <a:cs typeface="Arial"/>
              </a:defRPr>
            </a:lvl7pPr>
            <a:lvl8pPr algn="l">
              <a:defRPr sz="2325" b="1">
                <a:solidFill>
                  <a:srgbClr val="D66A2C"/>
                </a:solidFill>
                <a:latin typeface="Arial"/>
                <a:ea typeface="Arial"/>
                <a:cs typeface="Arial"/>
              </a:defRPr>
            </a:lvl8pPr>
            <a:lvl9pPr algn="l">
              <a:defRPr sz="2325" b="1">
                <a:solidFill>
                  <a:srgbClr val="D66A2C"/>
                </a:solidFill>
                <a:latin typeface="Arial"/>
                <a:ea typeface="Arial"/>
                <a:cs typeface="Arial"/>
              </a:defRPr>
            </a:lvl9pPr>
          </a:lstStyle>
          <a:p xmlns:a="http://schemas.openxmlformats.org/drawingml/2006/main">
            <a:pPr algn="l">
              <a:lnSpc>
                <a:spcPct val="110000"/>
              </a:lnSpc>
              <a:buNone/>
              <a:defRPr sz="2325" b="1">
                <a:solidFill>
                  <a:srgbClr val="D66A2C"/>
                </a:solidFill>
                <a:latin typeface="Arial"/>
                <a:ea typeface="Arial"/>
                <a:cs typeface="Arial"/>
              </a:defRPr>
            </a:pPr>
            <a:r>
              <a:rPr sz="2325" b="1">
                <a:solidFill>
                  <a:srgbClr val="D66A2C"/>
                </a:solidFill>
                <a:latin typeface="Arial"/>
                <a:ea typeface="Arial"/>
                <a:cs typeface="Arial"/>
              </a:rPr>
              <a:t>Jammed servo:</a:t>
            </a:r>
          </a:p>
          <a:p xmlns:a="http://schemas.openxmlformats.org/drawingml/2006/main">
            <a:pPr algn="l">
              <a:lnSpc>
                <a:spcPct val="110000"/>
              </a:lnSpc>
              <a:buNone/>
              <a:defRPr sz="2325" b="1">
                <a:solidFill>
                  <a:srgbClr val="D66A2C"/>
                </a:solidFill>
                <a:latin typeface="Arial"/>
                <a:ea typeface="Arial"/>
                <a:cs typeface="Arial"/>
              </a:defRPr>
            </a:pPr>
            <a:r>
              <a:rPr sz="2325" b="1">
                <a:solidFill>
                  <a:srgbClr val="D66A2C"/>
                </a:solidFill>
                <a:latin typeface="Arial"/>
                <a:ea typeface="Arial"/>
                <a:cs typeface="Arial"/>
              </a:rPr>
              <a:t>δ remains fixed</a:t>
            </a:r>
          </a:p>
        </p:txBody>
      </p:sp>
      <p:sp>
        <p:nvSpPr>
          <p:cNvPr id="8" name="El controlador original resulta inestable en las">
            <a:extLst xmlns:a="http://schemas.openxmlformats.org/drawingml/2006/main">
              <a:ext uri="{FF2B5EF4-FFF2-40B4-BE49-F238E27FC236}">
                <a16:creationId xmlns:a16="http://schemas.microsoft.com/office/drawing/2014/main" id="{BE21673E-8DEB-4FB4-A3A4-91992E8CCC8D}"/>
              </a:ext>
            </a:extLst>
          </p:cNvPr>
          <p:cNvSpPr>
            <a:spLocks xmlns:a="http://schemas.openxmlformats.org/drawingml/2006/main" noGrp="1"/>
          </p:cNvSpPr>
          <p:nvPr/>
        </p:nvSpPr>
        <p:spPr>
          <a:xfrm xmlns:a="http://schemas.openxmlformats.org/drawingml/2006/main">
            <a:off x="590550" y="59626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xmlns:a="http://schemas.openxmlformats.org/drawingml/2006/main">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The original controller is unstable under the steering failures studied</a:t>
            </a:r>
          </a:p>
        </p:txBody>
      </p:sp>
      <p:sp>
        <p:nvSpPr>
          <p:cNvPr id="9" name="Controllable: inputs can move the state between ">
            <a:extLst xmlns:a="http://schemas.openxmlformats.org/drawingml/2006/main">
              <a:ext uri="{FF2B5EF4-FFF2-40B4-BE49-F238E27FC236}">
                <a16:creationId xmlns:a16="http://schemas.microsoft.com/office/drawing/2014/main" id="{6F3BC935-6E32-42C8-B52A-860E56CDA3E5}"/>
              </a:ext>
            </a:extLst>
          </p:cNvPr>
          <p:cNvSpPr>
            <a:spLocks xmlns:a="http://schemas.openxmlformats.org/drawingml/2006/main" noGrp="1"/>
          </p:cNvSpPr>
          <p:nvPr/>
        </p:nvSpPr>
        <p:spPr>
          <a:xfrm xmlns:a="http://schemas.openxmlformats.org/drawingml/2006/main">
            <a:off x="590550" y="19050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516474"/>
                </a:solidFill>
                <a:latin typeface="Arial"/>
                <a:ea typeface="Arial"/>
                <a:cs typeface="Arial"/>
              </a:defRPr>
            </a:defPPr>
            <a:lvl1pPr>
              <a:defRPr sz="1800" b="0">
                <a:solidFill>
                  <a:srgbClr val="516474"/>
                </a:solidFill>
                <a:latin typeface="Arial"/>
                <a:ea typeface="Arial"/>
                <a:cs typeface="Arial"/>
              </a:defRPr>
            </a:lvl1pPr>
            <a:lvl2pPr>
              <a:defRPr sz="1800" b="0">
                <a:solidFill>
                  <a:srgbClr val="516474"/>
                </a:solidFill>
                <a:latin typeface="Arial"/>
                <a:ea typeface="Arial"/>
                <a:cs typeface="Arial"/>
              </a:defRPr>
            </a:lvl2pPr>
            <a:lvl3pPr>
              <a:defRPr sz="1800" b="0">
                <a:solidFill>
                  <a:srgbClr val="516474"/>
                </a:solidFill>
                <a:latin typeface="Arial"/>
                <a:ea typeface="Arial"/>
                <a:cs typeface="Arial"/>
              </a:defRPr>
            </a:lvl3pPr>
            <a:lvl4pPr>
              <a:defRPr sz="1800" b="0">
                <a:solidFill>
                  <a:srgbClr val="516474"/>
                </a:solidFill>
                <a:latin typeface="Arial"/>
                <a:ea typeface="Arial"/>
                <a:cs typeface="Arial"/>
              </a:defRPr>
            </a:lvl4pPr>
            <a:lvl5pPr>
              <a:defRPr sz="1800" b="0">
                <a:solidFill>
                  <a:srgbClr val="516474"/>
                </a:solidFill>
                <a:latin typeface="Arial"/>
                <a:ea typeface="Arial"/>
                <a:cs typeface="Arial"/>
              </a:defRPr>
            </a:lvl5pPr>
            <a:lvl6pPr>
              <a:defRPr sz="1800" b="0">
                <a:solidFill>
                  <a:srgbClr val="516474"/>
                </a:solidFill>
                <a:latin typeface="Arial"/>
                <a:ea typeface="Arial"/>
                <a:cs typeface="Arial"/>
              </a:defRPr>
            </a:lvl6pPr>
            <a:lvl7pPr>
              <a:defRPr sz="1800" b="0">
                <a:solidFill>
                  <a:srgbClr val="516474"/>
                </a:solidFill>
                <a:latin typeface="Arial"/>
                <a:ea typeface="Arial"/>
                <a:cs typeface="Arial"/>
              </a:defRPr>
            </a:lvl7pPr>
            <a:lvl8pPr>
              <a:defRPr sz="1800" b="0">
                <a:solidFill>
                  <a:srgbClr val="516474"/>
                </a:solidFill>
                <a:latin typeface="Arial"/>
                <a:ea typeface="Arial"/>
                <a:cs typeface="Arial"/>
              </a:defRPr>
            </a:lvl8pPr>
            <a:lvl9pPr>
              <a:defRPr sz="1800" b="0">
                <a:solidFill>
                  <a:srgbClr val="516474"/>
                </a:solidFill>
                <a:latin typeface="Arial"/>
                <a:ea typeface="Arial"/>
                <a:cs typeface="Arial"/>
              </a:defRPr>
            </a:lvl9pPr>
          </a:lstStyle>
          <a:p xmlns:a="http://schemas.openxmlformats.org/drawingml/2006/main">
            <a:pPr>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Controllable: inputs can move the state between arbitrary conditions in finite time</a:t>
            </a:r>
          </a:p>
        </p:txBody>
      </p:sp>
    </p:spTree>
    <p:extLst>
      <p:ext uri="{BB962C8B-B14F-4D97-AF65-F5344CB8AC3E}">
        <p14:creationId xmlns:p14="http://schemas.microsoft.com/office/powerpoint/2010/main" val="18964944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elección de ganancias">
            <a:extLst xmlns:a="http://schemas.openxmlformats.org/drawingml/2006/main">
              <a:ext uri="{FF2B5EF4-FFF2-40B4-BE49-F238E27FC236}">
                <a16:creationId xmlns:a16="http://schemas.microsoft.com/office/drawing/2014/main" id="{E99A892A-4564-44D8-BC7F-FA251ECD0F0E}"/>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Gain selection</a:t>
            </a:r>
          </a:p>
        </p:txBody>
      </p:sp>
      <p:sp>
        <p:nvSpPr>
          <p:cNvPr id="3" name="11 / 16">
            <a:extLst xmlns:a="http://schemas.openxmlformats.org/drawingml/2006/main">
              <a:ext uri="{FF2B5EF4-FFF2-40B4-BE49-F238E27FC236}">
                <a16:creationId xmlns:a16="http://schemas.microsoft.com/office/drawing/2014/main" id="{3FC684A2-12F8-46CC-9977-5CBE566B9D57}"/>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14 / 19</a:t>
            </a:r>
          </a:p>
        </p:txBody>
      </p:sp>
      <p:graphicFrame>
        <p:nvGraphicFramePr>
          <p:cNvPr id="4" name="Chart">
            <a:extLst xmlns:a="http://schemas.openxmlformats.org/drawingml/2006/main">
              <a:ext uri="{FF2B5EF4-FFF2-40B4-BE49-F238E27FC236}">
                <a16:creationId xmlns:a16="http://schemas.microsoft.com/office/drawing/2014/main" id="{CDFD0969-2550-4F7A-8DD1-656A1D41A862}"/>
              </a:ext>
            </a:extLst>
          </p:cNvPr>
          <p:cNvGraphicFramePr/>
          <p:nvPr/>
        </p:nvGraphicFramePr>
        <p:xfrm>
          <a:off xmlns:a="http://schemas.openxmlformats.org/drawingml/2006/main" x="400050" y="1619250"/>
          <a:ext xmlns:a="http://schemas.openxmlformats.org/drawingml/2006/main" cx="7239000" cy="4095750"/>
        </p:xfrm>
        <a:graphic xmlns:a="http://schemas.openxmlformats.org/drawingml/2006/main">
          <a:graphicData uri="http://schemas.openxmlformats.org/drawingml/2006/chart">
            <c:chart xmlns:r="http://schemas.openxmlformats.org/officeDocument/2006/relationships" xmlns:c="http://schemas.openxmlformats.org/drawingml/2006/chart" r:id="Rc423ac9d9f03418a"/>
          </a:graphicData>
        </a:graphic>
      </p:graphicFrame>
      <p:sp>
        <p:nvSpPr>
          <p:cNvPr id="5" name="Límites adoptados">
            <a:extLst xmlns:a="http://schemas.openxmlformats.org/drawingml/2006/main">
              <a:ext uri="{FF2B5EF4-FFF2-40B4-BE49-F238E27FC236}">
                <a16:creationId xmlns:a16="http://schemas.microsoft.com/office/drawing/2014/main" id="{6F372E1D-C444-4824-B8C5-9FE5A33FC0A4}"/>
              </a:ext>
            </a:extLst>
          </p:cNvPr>
          <p:cNvSpPr>
            <a:spLocks xmlns:a="http://schemas.openxmlformats.org/drawingml/2006/main" noGrp="1"/>
          </p:cNvSpPr>
          <p:nvPr/>
        </p:nvSpPr>
        <p:spPr>
          <a:xfrm xmlns:a="http://schemas.openxmlformats.org/drawingml/2006/main">
            <a:off x="8143875" y="17430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Design limits</a:t>
            </a:r>
          </a:p>
        </p:txBody>
      </p:sp>
      <p:sp>
        <p:nvSpPr>
          <p:cNvPr id="6" name="Sobrepaso ≤ 10 %">
            <a:extLst xmlns:a="http://schemas.openxmlformats.org/drawingml/2006/main">
              <a:ext uri="{FF2B5EF4-FFF2-40B4-BE49-F238E27FC236}">
                <a16:creationId xmlns:a16="http://schemas.microsoft.com/office/drawing/2014/main" id="{CB34D6E2-1B15-4B1C-BCFF-FB1D001C128C}"/>
              </a:ext>
            </a:extLst>
          </p:cNvPr>
          <p:cNvSpPr>
            <a:spLocks xmlns:a="http://schemas.openxmlformats.org/drawingml/2006/main" noGrp="1"/>
          </p:cNvSpPr>
          <p:nvPr/>
        </p:nvSpPr>
        <p:spPr>
          <a:xfrm xmlns:a="http://schemas.openxmlformats.org/drawingml/2006/main">
            <a:off x="8143875" y="250507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Overshoot ≤ 10%</a:t>
            </a:r>
          </a:p>
        </p:txBody>
      </p:sp>
      <p:sp>
        <p:nvSpPr>
          <p:cNvPr id="7" name="Asentamiento ≤ 3 s">
            <a:extLst xmlns:a="http://schemas.openxmlformats.org/drawingml/2006/main">
              <a:ext uri="{FF2B5EF4-FFF2-40B4-BE49-F238E27FC236}">
                <a16:creationId xmlns:a16="http://schemas.microsoft.com/office/drawing/2014/main" id="{757BDC0F-AE11-4B32-884F-1567309D1C41}"/>
              </a:ext>
            </a:extLst>
          </p:cNvPr>
          <p:cNvSpPr>
            <a:spLocks xmlns:a="http://schemas.openxmlformats.org/drawingml/2006/main" noGrp="1"/>
          </p:cNvSpPr>
          <p:nvPr/>
        </p:nvSpPr>
        <p:spPr>
          <a:xfrm xmlns:a="http://schemas.openxmlformats.org/drawingml/2006/main">
            <a:off x="8143875" y="30575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Settling time ≤ 3 s</a:t>
            </a:r>
          </a:p>
        </p:txBody>
      </p:sp>
      <p:sp>
        <p:nvSpPr>
          <p:cNvPr id="8" name="Error final ≤ 5 %">
            <a:extLst xmlns:a="http://schemas.openxmlformats.org/drawingml/2006/main">
              <a:ext uri="{FF2B5EF4-FFF2-40B4-BE49-F238E27FC236}">
                <a16:creationId xmlns:a16="http://schemas.microsoft.com/office/drawing/2014/main" id="{6D1B2B23-C8EE-458D-A718-5BC584CB5A7E}"/>
              </a:ext>
            </a:extLst>
          </p:cNvPr>
          <p:cNvSpPr>
            <a:spLocks xmlns:a="http://schemas.openxmlformats.org/drawingml/2006/main" noGrp="1"/>
          </p:cNvSpPr>
          <p:nvPr/>
        </p:nvSpPr>
        <p:spPr>
          <a:xfrm xmlns:a="http://schemas.openxmlformats.org/drawingml/2006/main">
            <a:off x="8143875" y="360997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Final error ≤ 5%</a:t>
            </a:r>
          </a:p>
        </p:txBody>
      </p:sp>
      <p:sp>
        <p:nvSpPr>
          <p:cNvPr id="9" name="Deflexión ≤ 5°">
            <a:extLst xmlns:a="http://schemas.openxmlformats.org/drawingml/2006/main">
              <a:ext uri="{FF2B5EF4-FFF2-40B4-BE49-F238E27FC236}">
                <a16:creationId xmlns:a16="http://schemas.microsoft.com/office/drawing/2014/main" id="{2C5094DE-5036-431F-B296-CBD508B6B33E}"/>
              </a:ext>
            </a:extLst>
          </p:cNvPr>
          <p:cNvSpPr>
            <a:spLocks xmlns:a="http://schemas.openxmlformats.org/drawingml/2006/main" noGrp="1"/>
          </p:cNvSpPr>
          <p:nvPr/>
        </p:nvSpPr>
        <p:spPr>
          <a:xfrm xmlns:a="http://schemas.openxmlformats.org/drawingml/2006/main">
            <a:off x="8143875" y="41624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Deflection ≤ 5°</a:t>
            </a:r>
          </a:p>
        </p:txBody>
      </p:sp>
      <p:sp>
        <p:nvSpPr>
          <p:cNvPr id="10" name="G₁₁(0) &gt; 0">
            <a:extLst xmlns:a="http://schemas.openxmlformats.org/drawingml/2006/main">
              <a:ext uri="{FF2B5EF4-FFF2-40B4-BE49-F238E27FC236}">
                <a16:creationId xmlns:a16="http://schemas.microsoft.com/office/drawing/2014/main" id="{506C46C6-31A6-46BA-8684-6D6FA69F8F13}"/>
              </a:ext>
            </a:extLst>
          </p:cNvPr>
          <p:cNvSpPr>
            <a:spLocks xmlns:a="http://schemas.openxmlformats.org/drawingml/2006/main" noGrp="1"/>
          </p:cNvSpPr>
          <p:nvPr/>
        </p:nvSpPr>
        <p:spPr>
          <a:xfrm xmlns:a="http://schemas.openxmlformats.org/drawingml/2006/main">
            <a:off x="8143875" y="471487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xmlns:a="http://schemas.openxmlformats.org/drawingml/2006/main">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G₁₁(0) &gt; 0</a:t>
            </a:r>
          </a:p>
        </p:txBody>
      </p:sp>
      <p:sp>
        <p:nvSpPr>
          <p:cNvPr id="11" name="Barrido: 2400 pares. La región recomendada conti">
            <a:extLst xmlns:a="http://schemas.openxmlformats.org/drawingml/2006/main">
              <a:ext uri="{FF2B5EF4-FFF2-40B4-BE49-F238E27FC236}">
                <a16:creationId xmlns:a16="http://schemas.microsoft.com/office/drawing/2014/main" id="{890A2B8D-9448-4D14-9267-E8FD7DC91793}"/>
              </a:ext>
            </a:extLst>
          </p:cNvPr>
          <p:cNvSpPr>
            <a:spLocks xmlns:a="http://schemas.openxmlformats.org/drawingml/2006/main" noGrp="1"/>
          </p:cNvSpPr>
          <p:nvPr/>
        </p:nvSpPr>
        <p:spPr>
          <a:xfrm xmlns:a="http://schemas.openxmlformats.org/drawingml/2006/main">
            <a:off x="590550" y="59626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xmlns:a="http://schemas.openxmlformats.org/drawingml/2006/main">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Grid search: 2400 pairs. The recommended region contains specific gain pairs</a:t>
            </a:r>
          </a:p>
        </p:txBody>
      </p:sp>
    </p:spTree>
    <p:extLst>
      <p:ext uri="{BB962C8B-B14F-4D97-AF65-F5344CB8AC3E}">
        <p14:creationId xmlns:p14="http://schemas.microsoft.com/office/powerpoint/2010/main" val="775784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Comparación de desempeño">
            <a:extLst xmlns:a="http://schemas.openxmlformats.org/drawingml/2006/main">
              <a:ext uri="{FF2B5EF4-FFF2-40B4-BE49-F238E27FC236}">
                <a16:creationId xmlns:a16="http://schemas.microsoft.com/office/drawing/2014/main" id="{1DEE57C1-EEEA-417E-AFF3-C4132DBDA6FD}"/>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Performance comparison</a:t>
            </a:r>
          </a:p>
        </p:txBody>
      </p:sp>
      <p:sp>
        <p:nvSpPr>
          <p:cNvPr id="3" name="12 / 16">
            <a:extLst xmlns:a="http://schemas.openxmlformats.org/drawingml/2006/main">
              <a:ext uri="{FF2B5EF4-FFF2-40B4-BE49-F238E27FC236}">
                <a16:creationId xmlns:a16="http://schemas.microsoft.com/office/drawing/2014/main" id="{9F61E919-7808-4B4B-A8F5-F69149B9F5AC}"/>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15 / 19</a:t>
            </a:r>
          </a:p>
        </p:txBody>
      </p:sp>
      <p:sp>
        <p:nvSpPr>
          <p:cNvPr id="4" name="Punto elegido: K₁ = 4,5 y K₂ = 1,3">
            <a:extLst xmlns:a="http://schemas.openxmlformats.org/drawingml/2006/main">
              <a:ext uri="{FF2B5EF4-FFF2-40B4-BE49-F238E27FC236}">
                <a16:creationId xmlns:a16="http://schemas.microsoft.com/office/drawing/2014/main" id="{D109E369-2426-44E6-832D-411726F8E21C}"/>
              </a:ext>
            </a:extLst>
          </p:cNvPr>
          <p:cNvSpPr>
            <a:spLocks xmlns:a="http://schemas.openxmlformats.org/drawingml/2006/main" noGrp="1"/>
          </p:cNvSpPr>
          <p:nvPr/>
        </p:nvSpPr>
        <p:spPr>
          <a:xfrm xmlns:a="http://schemas.openxmlformats.org/drawingml/2006/main">
            <a:off x="590550" y="127635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Chosen point: K₁ = 4.5 and K₂ = 1.3</a:t>
            </a:r>
          </a:p>
        </p:txBody>
      </p:sp>
      <p:graphicFrame>
        <p:nvGraphicFramePr>
          <p:cNvPr id="5" name="Chart">
            <a:extLst xmlns:a="http://schemas.openxmlformats.org/drawingml/2006/main">
              <a:ext uri="{FF2B5EF4-FFF2-40B4-BE49-F238E27FC236}">
                <a16:creationId xmlns:a16="http://schemas.microsoft.com/office/drawing/2014/main" id="{58F4012C-C2E4-4970-BA46-A68CA41A17F0}"/>
              </a:ext>
            </a:extLst>
          </p:cNvPr>
          <p:cNvGraphicFramePr/>
          <p:nvPr/>
        </p:nvGraphicFramePr>
        <p:xfrm>
          <a:off xmlns:a="http://schemas.openxmlformats.org/drawingml/2006/main" x="333375" y="2000250"/>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b9192475d103485d"/>
          </a:graphicData>
        </a:graphic>
      </p:graphicFrame>
      <p:graphicFrame>
        <p:nvGraphicFramePr>
          <p:cNvPr id="6" name="">
            <a:extLst xmlns:a="http://schemas.openxmlformats.org/drawingml/2006/main">
              <a:ext uri="{FF2B5EF4-FFF2-40B4-BE49-F238E27FC236}">
                <a16:creationId xmlns:a16="http://schemas.microsoft.com/office/drawing/2014/main" id="{595C3FDC-353E-4572-BDE3-053472F91C9B}"/>
              </a:ext>
            </a:extLst>
          </p:cNvPr>
          <p:cNvGraphicFramePr/>
          <p:nvPr/>
        </p:nvGraphicFramePr>
        <p:xfrm>
          <a:off xmlns:a="http://schemas.openxmlformats.org/drawingml/2006/main" x="7667625" y="2047875"/>
          <a:ext xmlns:a="http://schemas.openxmlformats.org/drawingml/2006/main" cx="3905250" cy="3095625"/>
        </p:xfrm>
        <a:graphic xmlns:a="http://schemas.openxmlformats.org/drawingml/2006/main">
          <a:graphicData uri="http://schemas.openxmlformats.org/drawingml/2006/table">
            <a:tbl>
              <a:tblPr/>
              <a:tblGrid>
                <a:gridCol w="1543050"/>
                <a:gridCol w="1181100"/>
                <a:gridCol w="1181100"/>
              </a:tblGrid>
              <a:tr h="619125">
                <a:tc>
                  <a:txBody>
                    <a:bodyPr lIns="95250" tIns="95250" rIns="95250" bIns="95250"/>
                    <a:lstStyle/>
                    <a:p>
                      <a:r>
                        <a:rPr sz="1650" b="1">
                          <a:solidFill>
                            <a:srgbClr val="FFFFFF"/>
                          </a:solidFill>
                          <a:latin typeface="Arial"/>
                          <a:ea typeface="Arial"/>
                          <a:cs typeface="Arial"/>
                        </a:rPr>
                        <a:t>Metric</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650" b="1">
                          <a:solidFill>
                            <a:srgbClr val="FFFFFF"/>
                          </a:solidFill>
                          <a:latin typeface="Arial"/>
                          <a:ea typeface="Arial"/>
                          <a:cs typeface="Arial"/>
                        </a:rPr>
                        <a:t>Nominal</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650" b="1">
                          <a:solidFill>
                            <a:srgbClr val="FFFFFF"/>
                          </a:solidFill>
                          <a:latin typeface="Arial"/>
                          <a:ea typeface="Arial"/>
                          <a:cs typeface="Arial"/>
                        </a:rPr>
                        <a:t>Chosen</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619125">
                <a:tc>
                  <a:txBody>
                    <a:bodyPr lIns="95250" tIns="95250" rIns="95250" bIns="95250"/>
                    <a:lstStyle/>
                    <a:p>
                      <a:r>
                        <a:rPr sz="1650" b="0">
                          <a:solidFill>
                            <a:srgbClr val="13283C"/>
                          </a:solidFill>
                          <a:latin typeface="Arial"/>
                          <a:ea typeface="Arial"/>
                          <a:cs typeface="Arial"/>
                        </a:rPr>
                        <a:t>Overshoot</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650" b="0">
                          <a:solidFill>
                            <a:srgbClr val="13283C"/>
                          </a:solidFill>
                          <a:latin typeface="Arial"/>
                          <a:ea typeface="Arial"/>
                          <a:cs typeface="Arial"/>
                        </a:rPr>
                        <a:t>16.39 %</a:t>
                      </a:r>
                    </a:p>
                  </a:txBody>
                  <a:tcPr marL="91440" marR="91440" marT="45720" marB="45720" anchor="ctr">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650" b="0">
                          <a:solidFill>
                            <a:srgbClr val="13283C"/>
                          </a:solidFill>
                          <a:latin typeface="Arial"/>
                          <a:ea typeface="Arial"/>
                          <a:cs typeface="Arial"/>
                        </a:rPr>
                        <a:t>0.82 %</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19125">
                <a:tc>
                  <a:txBody>
                    <a:bodyPr lIns="95250" tIns="95250" rIns="95250" bIns="95250"/>
                    <a:lstStyle/>
                    <a:p>
                      <a:r>
                        <a:rPr sz="1650" b="0">
                          <a:solidFill>
                            <a:srgbClr val="13283C"/>
                          </a:solidFill>
                          <a:latin typeface="Arial"/>
                          <a:ea typeface="Arial"/>
                          <a:cs typeface="Arial"/>
                        </a:rPr>
                        <a:t>Settling time</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650" b="0">
                          <a:solidFill>
                            <a:srgbClr val="13283C"/>
                          </a:solidFill>
                          <a:latin typeface="Arial"/>
                          <a:ea typeface="Arial"/>
                          <a:cs typeface="Arial"/>
                        </a:rPr>
                        <a:t>3.64 s</a:t>
                      </a:r>
                    </a:p>
                  </a:txBody>
                  <a:tcPr marL="91440" marR="91440" marT="45720" marB="45720" anchor="ctr">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650" b="0">
                          <a:solidFill>
                            <a:srgbClr val="13283C"/>
                          </a:solidFill>
                          <a:latin typeface="Arial"/>
                          <a:ea typeface="Arial"/>
                          <a:cs typeface="Arial"/>
                        </a:rPr>
                        <a:t>1.62 s</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619125">
                <a:tc>
                  <a:txBody>
                    <a:bodyPr lIns="95250" tIns="95250" rIns="95250" bIns="95250"/>
                    <a:lstStyle/>
                    <a:p>
                      <a:r>
                        <a:rPr sz="1650" b="0">
                          <a:solidFill>
                            <a:srgbClr val="13283C"/>
                          </a:solidFill>
                          <a:latin typeface="Arial"/>
                          <a:ea typeface="Arial"/>
                          <a:cs typeface="Arial"/>
                        </a:rPr>
                        <a:t>Final error</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650" b="0">
                          <a:solidFill>
                            <a:srgbClr val="13283C"/>
                          </a:solidFill>
                          <a:latin typeface="Arial"/>
                          <a:ea typeface="Arial"/>
                          <a:cs typeface="Arial"/>
                        </a:rPr>
                        <a:t>4.03 %</a:t>
                      </a:r>
                    </a:p>
                  </a:txBody>
                  <a:tcPr marL="91440" marR="91440" marT="45720" marB="45720" anchor="ctr">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650" b="0">
                          <a:solidFill>
                            <a:srgbClr val="13283C"/>
                          </a:solidFill>
                          <a:latin typeface="Arial"/>
                          <a:ea typeface="Arial"/>
                          <a:cs typeface="Arial"/>
                        </a:rPr>
                        <a:t>3.25 %</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19125">
                <a:tc>
                  <a:txBody>
                    <a:bodyPr lIns="95250" tIns="95250" rIns="95250" bIns="95250"/>
                    <a:lstStyle/>
                    <a:p>
                      <a:r>
                        <a:rPr sz="1650" b="0">
                          <a:solidFill>
                            <a:srgbClr val="13283C"/>
                          </a:solidFill>
                          <a:latin typeface="Arial"/>
                          <a:ea typeface="Arial"/>
                          <a:cs typeface="Arial"/>
                        </a:rPr>
                        <a:t>Nozzle peak</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650" b="0">
                          <a:solidFill>
                            <a:srgbClr val="13283C"/>
                          </a:solidFill>
                          <a:latin typeface="Arial"/>
                          <a:ea typeface="Arial"/>
                          <a:cs typeface="Arial"/>
                        </a:rPr>
                        <a:t>2.01°</a:t>
                      </a:r>
                    </a:p>
                  </a:txBody>
                  <a:tcPr marL="91440" marR="91440" marT="45720" marB="45720" anchor="ctr">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650" b="0">
                          <a:solidFill>
                            <a:srgbClr val="13283C"/>
                          </a:solidFill>
                          <a:latin typeface="Arial"/>
                          <a:ea typeface="Arial"/>
                          <a:cs typeface="Arial"/>
                        </a:rPr>
                        <a:t>4.49°</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7" name="Acoplamientos: 177 % / 21 % en el nominal y 31 %">
            <a:extLst xmlns:a="http://schemas.openxmlformats.org/drawingml/2006/main">
              <a:ext uri="{FF2B5EF4-FFF2-40B4-BE49-F238E27FC236}">
                <a16:creationId xmlns:a16="http://schemas.microsoft.com/office/drawing/2014/main" id="{3C92FADC-494B-490E-B18B-4DDDC1EB2DDD}"/>
              </a:ext>
            </a:extLst>
          </p:cNvPr>
          <p:cNvSpPr>
            <a:spLocks xmlns:a="http://schemas.openxmlformats.org/drawingml/2006/main" noGrp="1"/>
          </p:cNvSpPr>
          <p:nvPr/>
        </p:nvSpPr>
        <p:spPr>
          <a:xfrm xmlns:a="http://schemas.openxmlformats.org/drawingml/2006/main">
            <a:off x="590550" y="573405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13283C"/>
                </a:solidFill>
                <a:latin typeface="Arial"/>
                <a:ea typeface="Arial"/>
                <a:cs typeface="Arial"/>
              </a:defRPr>
            </a:defPPr>
            <a:lvl1pPr algn="l">
              <a:defRPr sz="1875" b="1">
                <a:solidFill>
                  <a:srgbClr val="13283C"/>
                </a:solidFill>
                <a:latin typeface="Arial"/>
                <a:ea typeface="Arial"/>
                <a:cs typeface="Arial"/>
              </a:defRPr>
            </a:lvl1pPr>
            <a:lvl2pPr algn="l">
              <a:defRPr sz="1875" b="1">
                <a:solidFill>
                  <a:srgbClr val="13283C"/>
                </a:solidFill>
                <a:latin typeface="Arial"/>
                <a:ea typeface="Arial"/>
                <a:cs typeface="Arial"/>
              </a:defRPr>
            </a:lvl2pPr>
            <a:lvl3pPr algn="l">
              <a:defRPr sz="1875" b="1">
                <a:solidFill>
                  <a:srgbClr val="13283C"/>
                </a:solidFill>
                <a:latin typeface="Arial"/>
                <a:ea typeface="Arial"/>
                <a:cs typeface="Arial"/>
              </a:defRPr>
            </a:lvl3pPr>
            <a:lvl4pPr algn="l">
              <a:defRPr sz="1875" b="1">
                <a:solidFill>
                  <a:srgbClr val="13283C"/>
                </a:solidFill>
                <a:latin typeface="Arial"/>
                <a:ea typeface="Arial"/>
                <a:cs typeface="Arial"/>
              </a:defRPr>
            </a:lvl4pPr>
            <a:lvl5pPr algn="l">
              <a:defRPr sz="1875" b="1">
                <a:solidFill>
                  <a:srgbClr val="13283C"/>
                </a:solidFill>
                <a:latin typeface="Arial"/>
                <a:ea typeface="Arial"/>
                <a:cs typeface="Arial"/>
              </a:defRPr>
            </a:lvl5pPr>
            <a:lvl6pPr algn="l">
              <a:defRPr sz="1875" b="1">
                <a:solidFill>
                  <a:srgbClr val="13283C"/>
                </a:solidFill>
                <a:latin typeface="Arial"/>
                <a:ea typeface="Arial"/>
                <a:cs typeface="Arial"/>
              </a:defRPr>
            </a:lvl6pPr>
            <a:lvl7pPr algn="l">
              <a:defRPr sz="1875" b="1">
                <a:solidFill>
                  <a:srgbClr val="13283C"/>
                </a:solidFill>
                <a:latin typeface="Arial"/>
                <a:ea typeface="Arial"/>
                <a:cs typeface="Arial"/>
              </a:defRPr>
            </a:lvl7pPr>
            <a:lvl8pPr algn="l">
              <a:defRPr sz="1875" b="1">
                <a:solidFill>
                  <a:srgbClr val="13283C"/>
                </a:solidFill>
                <a:latin typeface="Arial"/>
                <a:ea typeface="Arial"/>
                <a:cs typeface="Arial"/>
              </a:defRPr>
            </a:lvl8pPr>
            <a:lvl9pPr algn="l">
              <a:defRPr sz="1875" b="1">
                <a:solidFill>
                  <a:srgbClr val="13283C"/>
                </a:solidFill>
                <a:latin typeface="Arial"/>
                <a:ea typeface="Arial"/>
                <a:cs typeface="Arial"/>
              </a:defRPr>
            </a:lvl9pPr>
          </a:lstStyle>
          <a:p xmlns:a="http://schemas.openxmlformats.org/drawingml/2006/main">
            <a:pPr algn="l">
              <a:lnSpc>
                <a:spcPct val="110000"/>
              </a:lnSpc>
              <a:buNone/>
              <a:defRPr sz="1875" b="1">
                <a:solidFill>
                  <a:srgbClr val="13283C"/>
                </a:solidFill>
                <a:latin typeface="Arial"/>
                <a:ea typeface="Arial"/>
                <a:cs typeface="Arial"/>
              </a:defRPr>
            </a:pPr>
            <a:r>
              <a:rPr sz="1875" b="1">
                <a:solidFill>
                  <a:srgbClr val="13283C"/>
                </a:solidFill>
                <a:latin typeface="Arial"/>
                <a:ea typeface="Arial"/>
                <a:cs typeface="Arial"/>
              </a:rPr>
              <a:t>Coupling: 177% / 21% nominal and 31% / 28% at the chosen point</a:t>
            </a:r>
          </a:p>
        </p:txBody>
      </p:sp>
      <p:sp>
        <p:nvSpPr>
          <p:cNvPr id="8" name="Sobrepaso y asentamiento respecto al valor final">
            <a:extLst xmlns:a="http://schemas.openxmlformats.org/drawingml/2006/main">
              <a:ext uri="{FF2B5EF4-FFF2-40B4-BE49-F238E27FC236}">
                <a16:creationId xmlns:a16="http://schemas.microsoft.com/office/drawing/2014/main" id="{D54877B5-B21F-4C5D-9D53-06FF3D4B4E9D}"/>
              </a:ext>
            </a:extLst>
          </p:cNvPr>
          <p:cNvSpPr>
            <a:spLocks xmlns:a="http://schemas.openxmlformats.org/drawingml/2006/main" noGrp="1"/>
          </p:cNvSpPr>
          <p:nvPr/>
        </p:nvSpPr>
        <p:spPr>
          <a:xfrm xmlns:a="http://schemas.openxmlformats.org/drawingml/2006/main">
            <a:off x="590550" y="6162675"/>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516474"/>
                </a:solidFill>
                <a:latin typeface="Arial"/>
                <a:ea typeface="Arial"/>
                <a:cs typeface="Arial"/>
              </a:defRPr>
            </a:defPPr>
            <a:lvl1pPr algn="l">
              <a:defRPr sz="1575" b="0">
                <a:solidFill>
                  <a:srgbClr val="516474"/>
                </a:solidFill>
                <a:latin typeface="Arial"/>
                <a:ea typeface="Arial"/>
                <a:cs typeface="Arial"/>
              </a:defRPr>
            </a:lvl1pPr>
            <a:lvl2pPr algn="l">
              <a:defRPr sz="1575" b="0">
                <a:solidFill>
                  <a:srgbClr val="516474"/>
                </a:solidFill>
                <a:latin typeface="Arial"/>
                <a:ea typeface="Arial"/>
                <a:cs typeface="Arial"/>
              </a:defRPr>
            </a:lvl2pPr>
            <a:lvl3pPr algn="l">
              <a:defRPr sz="1575" b="0">
                <a:solidFill>
                  <a:srgbClr val="516474"/>
                </a:solidFill>
                <a:latin typeface="Arial"/>
                <a:ea typeface="Arial"/>
                <a:cs typeface="Arial"/>
              </a:defRPr>
            </a:lvl3pPr>
            <a:lvl4pPr algn="l">
              <a:defRPr sz="1575" b="0">
                <a:solidFill>
                  <a:srgbClr val="516474"/>
                </a:solidFill>
                <a:latin typeface="Arial"/>
                <a:ea typeface="Arial"/>
                <a:cs typeface="Arial"/>
              </a:defRPr>
            </a:lvl4pPr>
            <a:lvl5pPr algn="l">
              <a:defRPr sz="1575" b="0">
                <a:solidFill>
                  <a:srgbClr val="516474"/>
                </a:solidFill>
                <a:latin typeface="Arial"/>
                <a:ea typeface="Arial"/>
                <a:cs typeface="Arial"/>
              </a:defRPr>
            </a:lvl5pPr>
            <a:lvl6pPr algn="l">
              <a:defRPr sz="1575" b="0">
                <a:solidFill>
                  <a:srgbClr val="516474"/>
                </a:solidFill>
                <a:latin typeface="Arial"/>
                <a:ea typeface="Arial"/>
                <a:cs typeface="Arial"/>
              </a:defRPr>
            </a:lvl6pPr>
            <a:lvl7pPr algn="l">
              <a:defRPr sz="1575" b="0">
                <a:solidFill>
                  <a:srgbClr val="516474"/>
                </a:solidFill>
                <a:latin typeface="Arial"/>
                <a:ea typeface="Arial"/>
                <a:cs typeface="Arial"/>
              </a:defRPr>
            </a:lvl7pPr>
            <a:lvl8pPr algn="l">
              <a:defRPr sz="1575" b="0">
                <a:solidFill>
                  <a:srgbClr val="516474"/>
                </a:solidFill>
                <a:latin typeface="Arial"/>
                <a:ea typeface="Arial"/>
                <a:cs typeface="Arial"/>
              </a:defRPr>
            </a:lvl8pPr>
            <a:lvl9pPr algn="l">
              <a:defRPr sz="1575" b="0">
                <a:solidFill>
                  <a:srgbClr val="516474"/>
                </a:solidFill>
                <a:latin typeface="Arial"/>
                <a:ea typeface="Arial"/>
                <a:cs typeface="Arial"/>
              </a:defRPr>
            </a:lvl9pPr>
          </a:lstStyle>
          <a:p xmlns:a="http://schemas.openxmlformats.org/drawingml/2006/main">
            <a:pPr algn="l">
              <a:lnSpc>
                <a:spcPct val="110000"/>
              </a:lnSpc>
              <a:buNone/>
              <a:defRPr sz="1575" b="0">
                <a:solidFill>
                  <a:srgbClr val="516474"/>
                </a:solidFill>
                <a:latin typeface="Arial"/>
                <a:ea typeface="Arial"/>
                <a:cs typeface="Arial"/>
              </a:defRPr>
            </a:pPr>
            <a:r>
              <a:rPr sz="1575" b="0">
                <a:solidFill>
                  <a:srgbClr val="516474"/>
                </a:solidFill>
                <a:latin typeface="Arial"/>
                <a:ea typeface="Arial"/>
                <a:cs typeface="Arial"/>
              </a:rPr>
              <a:t>Overshoot and settling use the final value. Nozzle peak uses both steps</a:t>
            </a:r>
          </a:p>
        </p:txBody>
      </p:sp>
    </p:spTree>
    <p:extLst>
      <p:ext uri="{BB962C8B-B14F-4D97-AF65-F5344CB8AC3E}">
        <p14:creationId xmlns:p14="http://schemas.microsoft.com/office/powerpoint/2010/main" val="126747276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Muestreo y retardo">
            <a:extLst xmlns:a="http://schemas.openxmlformats.org/drawingml/2006/main">
              <a:ext uri="{FF2B5EF4-FFF2-40B4-BE49-F238E27FC236}">
                <a16:creationId xmlns:a16="http://schemas.microsoft.com/office/drawing/2014/main" id="{F2988F02-034F-4735-84EF-EBF5EE988D5C}"/>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Sampling and delay</a:t>
            </a:r>
          </a:p>
        </p:txBody>
      </p:sp>
      <p:sp>
        <p:nvSpPr>
          <p:cNvPr id="3" name="13 / 16">
            <a:extLst xmlns:a="http://schemas.openxmlformats.org/drawingml/2006/main">
              <a:ext uri="{FF2B5EF4-FFF2-40B4-BE49-F238E27FC236}">
                <a16:creationId xmlns:a16="http://schemas.microsoft.com/office/drawing/2014/main" id="{D12871C0-E7C5-4D09-A596-333B0AD77F87}"/>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16 / 19</a:t>
            </a:r>
          </a:p>
        </p:txBody>
      </p:sp>
      <p:graphicFrame>
        <p:nvGraphicFramePr>
          <p:cNvPr id="4" name="Chart">
            <a:extLst xmlns:a="http://schemas.openxmlformats.org/drawingml/2006/main">
              <a:ext uri="{FF2B5EF4-FFF2-40B4-BE49-F238E27FC236}">
                <a16:creationId xmlns:a16="http://schemas.microsoft.com/office/drawing/2014/main" id="{A7D00157-202E-4E94-A4FB-A4327E8C4F86}"/>
              </a:ext>
            </a:extLst>
          </p:cNvPr>
          <p:cNvGraphicFramePr/>
          <p:nvPr/>
        </p:nvGraphicFramePr>
        <p:xfrm>
          <a:off xmlns:a="http://schemas.openxmlformats.org/drawingml/2006/main" x="361950" y="1809750"/>
          <a:ext xmlns:a="http://schemas.openxmlformats.org/drawingml/2006/main" cx="7620000" cy="3857625"/>
        </p:xfrm>
        <a:graphic xmlns:a="http://schemas.openxmlformats.org/drawingml/2006/main">
          <a:graphicData uri="http://schemas.openxmlformats.org/drawingml/2006/chart">
            <c:chart xmlns:r="http://schemas.openxmlformats.org/officeDocument/2006/relationships" xmlns:c="http://schemas.openxmlformats.org/drawingml/2006/chart" r:id="R23eeda4a7d4a4113"/>
          </a:graphicData>
        </a:graphic>
      </p:graphicFrame>
      <p:sp>
        <p:nvSpPr>
          <p:cNvPr id="5" name="20 actualizaciones/s">
            <a:extLst xmlns:a="http://schemas.openxmlformats.org/drawingml/2006/main">
              <a:ext uri="{FF2B5EF4-FFF2-40B4-BE49-F238E27FC236}">
                <a16:creationId xmlns:a16="http://schemas.microsoft.com/office/drawing/2014/main" id="{7E98CE22-77C3-4B6D-9490-EBB38F1158B4}"/>
              </a:ext>
            </a:extLst>
          </p:cNvPr>
          <p:cNvSpPr>
            <a:spLocks xmlns:a="http://schemas.openxmlformats.org/drawingml/2006/main" noGrp="1"/>
          </p:cNvSpPr>
          <p:nvPr/>
        </p:nvSpPr>
        <p:spPr>
          <a:xfrm xmlns:a="http://schemas.openxmlformats.org/drawingml/2006/main">
            <a:off x="8334375" y="185737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20 updates/s</a:t>
            </a:r>
          </a:p>
        </p:txBody>
      </p:sp>
      <p:sp>
        <p:nvSpPr>
          <p:cNvPr id="6" name="T elegido&#10;0,05 s">
            <a:extLst xmlns:a="http://schemas.openxmlformats.org/drawingml/2006/main">
              <a:ext uri="{FF2B5EF4-FFF2-40B4-BE49-F238E27FC236}">
                <a16:creationId xmlns:a16="http://schemas.microsoft.com/office/drawing/2014/main" id="{3D60CE01-EC8A-42D7-9DB4-F16C7DBCA546}"/>
              </a:ext>
            </a:extLst>
          </p:cNvPr>
          <p:cNvSpPr>
            <a:spLocks xmlns:a="http://schemas.openxmlformats.org/drawingml/2006/main" noGrp="1"/>
          </p:cNvSpPr>
          <p:nvPr/>
        </p:nvSpPr>
        <p:spPr>
          <a:xfrm xmlns:a="http://schemas.openxmlformats.org/drawingml/2006/main">
            <a:off x="8334375" y="28765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0">
                <a:solidFill>
                  <a:srgbClr val="13283C"/>
                </a:solidFill>
                <a:latin typeface="Arial"/>
                <a:ea typeface="Arial"/>
                <a:cs typeface="Arial"/>
              </a:defRPr>
            </a:defPPr>
            <a:lvl1pPr algn="l">
              <a:defRPr sz="2325" b="0">
                <a:solidFill>
                  <a:srgbClr val="13283C"/>
                </a:solidFill>
                <a:latin typeface="Arial"/>
                <a:ea typeface="Arial"/>
                <a:cs typeface="Arial"/>
              </a:defRPr>
            </a:lvl1pPr>
            <a:lvl2pPr algn="l">
              <a:defRPr sz="2325" b="0">
                <a:solidFill>
                  <a:srgbClr val="13283C"/>
                </a:solidFill>
                <a:latin typeface="Arial"/>
                <a:ea typeface="Arial"/>
                <a:cs typeface="Arial"/>
              </a:defRPr>
            </a:lvl2pPr>
            <a:lvl3pPr algn="l">
              <a:defRPr sz="2325" b="0">
                <a:solidFill>
                  <a:srgbClr val="13283C"/>
                </a:solidFill>
                <a:latin typeface="Arial"/>
                <a:ea typeface="Arial"/>
                <a:cs typeface="Arial"/>
              </a:defRPr>
            </a:lvl3pPr>
            <a:lvl4pPr algn="l">
              <a:defRPr sz="2325" b="0">
                <a:solidFill>
                  <a:srgbClr val="13283C"/>
                </a:solidFill>
                <a:latin typeface="Arial"/>
                <a:ea typeface="Arial"/>
                <a:cs typeface="Arial"/>
              </a:defRPr>
            </a:lvl4pPr>
            <a:lvl5pPr algn="l">
              <a:defRPr sz="2325" b="0">
                <a:solidFill>
                  <a:srgbClr val="13283C"/>
                </a:solidFill>
                <a:latin typeface="Arial"/>
                <a:ea typeface="Arial"/>
                <a:cs typeface="Arial"/>
              </a:defRPr>
            </a:lvl5pPr>
            <a:lvl6pPr algn="l">
              <a:defRPr sz="2325" b="0">
                <a:solidFill>
                  <a:srgbClr val="13283C"/>
                </a:solidFill>
                <a:latin typeface="Arial"/>
                <a:ea typeface="Arial"/>
                <a:cs typeface="Arial"/>
              </a:defRPr>
            </a:lvl6pPr>
            <a:lvl7pPr algn="l">
              <a:defRPr sz="2325" b="0">
                <a:solidFill>
                  <a:srgbClr val="13283C"/>
                </a:solidFill>
                <a:latin typeface="Arial"/>
                <a:ea typeface="Arial"/>
                <a:cs typeface="Arial"/>
              </a:defRPr>
            </a:lvl7pPr>
            <a:lvl8pPr algn="l">
              <a:defRPr sz="2325" b="0">
                <a:solidFill>
                  <a:srgbClr val="13283C"/>
                </a:solidFill>
                <a:latin typeface="Arial"/>
                <a:ea typeface="Arial"/>
                <a:cs typeface="Arial"/>
              </a:defRPr>
            </a:lvl8pPr>
            <a:lvl9pPr algn="l">
              <a:defRPr sz="2325" b="0">
                <a:solidFill>
                  <a:srgbClr val="13283C"/>
                </a:solidFill>
                <a:latin typeface="Arial"/>
                <a:ea typeface="Arial"/>
                <a:cs typeface="Arial"/>
              </a:defRPr>
            </a:lvl9pPr>
          </a:lstStyle>
          <a:p xmlns:a="http://schemas.openxmlformats.org/drawingml/2006/main">
            <a:pPr algn="l">
              <a:lnSpc>
                <a:spcPct val="110000"/>
              </a:lnSpc>
              <a:buNone/>
              <a:defRPr sz="2325" b="0">
                <a:solidFill>
                  <a:srgbClr val="13283C"/>
                </a:solidFill>
                <a:latin typeface="Arial"/>
                <a:ea typeface="Arial"/>
                <a:cs typeface="Arial"/>
              </a:defRPr>
            </a:pPr>
            <a:r>
              <a:rPr sz="2325" b="0">
                <a:solidFill>
                  <a:srgbClr val="13283C"/>
                </a:solidFill>
                <a:latin typeface="Arial"/>
                <a:ea typeface="Arial"/>
                <a:cs typeface="Arial"/>
              </a:rPr>
              <a:t>Chosen T</a:t>
            </a:r>
          </a:p>
          <a:p xmlns:a="http://schemas.openxmlformats.org/drawingml/2006/main">
            <a:pPr algn="l">
              <a:lnSpc>
                <a:spcPct val="110000"/>
              </a:lnSpc>
              <a:buNone/>
              <a:defRPr sz="2325" b="0">
                <a:solidFill>
                  <a:srgbClr val="13283C"/>
                </a:solidFill>
                <a:latin typeface="Arial"/>
                <a:ea typeface="Arial"/>
                <a:cs typeface="Arial"/>
              </a:defRPr>
            </a:pPr>
            <a:r>
              <a:rPr sz="2325" b="0">
                <a:solidFill>
                  <a:srgbClr val="13283C"/>
                </a:solidFill>
                <a:latin typeface="Arial"/>
                <a:ea typeface="Arial"/>
                <a:cs typeface="Arial"/>
              </a:rPr>
              <a:t>0.05 s</a:t>
            </a:r>
          </a:p>
        </p:txBody>
      </p:sp>
      <p:sp>
        <p:nvSpPr>
          <p:cNvPr id="7" name="T máximo con retardo&#10;≈ 0,114 s">
            <a:extLst xmlns:a="http://schemas.openxmlformats.org/drawingml/2006/main">
              <a:ext uri="{FF2B5EF4-FFF2-40B4-BE49-F238E27FC236}">
                <a16:creationId xmlns:a16="http://schemas.microsoft.com/office/drawing/2014/main" id="{EA7539BB-8C68-4B9E-9867-9C0C5C56DFE1}"/>
              </a:ext>
            </a:extLst>
          </p:cNvPr>
          <p:cNvSpPr>
            <a:spLocks xmlns:a="http://schemas.openxmlformats.org/drawingml/2006/main" noGrp="1"/>
          </p:cNvSpPr>
          <p:nvPr/>
        </p:nvSpPr>
        <p:spPr>
          <a:xfrm xmlns:a="http://schemas.openxmlformats.org/drawingml/2006/main">
            <a:off x="8334375" y="4238625"/>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Maximum T with delay</a:t>
            </a:r>
          </a:p>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 0.114 s</a:t>
            </a:r>
          </a:p>
        </p:txBody>
      </p:sp>
      <p:sp>
        <p:nvSpPr>
          <p:cNvPr id="8" name="El límite es ≈ 2,27 veces el periodo elegido, ba">
            <a:extLst xmlns:a="http://schemas.openxmlformats.org/drawingml/2006/main">
              <a:ext uri="{FF2B5EF4-FFF2-40B4-BE49-F238E27FC236}">
                <a16:creationId xmlns:a16="http://schemas.microsoft.com/office/drawing/2014/main" id="{1B03EBEF-62A0-4D97-B51B-EC269C9886E9}"/>
              </a:ext>
            </a:extLst>
          </p:cNvPr>
          <p:cNvSpPr>
            <a:spLocks xmlns:a="http://schemas.openxmlformats.org/drawingml/2006/main" noGrp="1"/>
          </p:cNvSpPr>
          <p:nvPr/>
        </p:nvSpPr>
        <p:spPr>
          <a:xfrm xmlns:a="http://schemas.openxmlformats.org/drawingml/2006/main">
            <a:off x="590550" y="59817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xmlns:a="http://schemas.openxmlformats.org/drawingml/2006/main">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The limit is ≈ 2.27 times the chosen period under the assumed delay model</a:t>
            </a:r>
          </a:p>
        </p:txBody>
      </p:sp>
    </p:spTree>
    <p:extLst>
      <p:ext uri="{BB962C8B-B14F-4D97-AF65-F5344CB8AC3E}">
        <p14:creationId xmlns:p14="http://schemas.microsoft.com/office/powerpoint/2010/main" val="175291399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Masa variable">
            <a:extLst xmlns:a="http://schemas.openxmlformats.org/drawingml/2006/main">
              <a:ext uri="{FF2B5EF4-FFF2-40B4-BE49-F238E27FC236}">
                <a16:creationId xmlns:a16="http://schemas.microsoft.com/office/drawing/2014/main" id="{140D2A18-45B8-4DBB-A6BA-70FDD4CA61F5}"/>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Variable mass</a:t>
            </a:r>
          </a:p>
        </p:txBody>
      </p:sp>
      <p:sp>
        <p:nvSpPr>
          <p:cNvPr id="3" name="14 / 16">
            <a:extLst xmlns:a="http://schemas.openxmlformats.org/drawingml/2006/main">
              <a:ext uri="{FF2B5EF4-FFF2-40B4-BE49-F238E27FC236}">
                <a16:creationId xmlns:a16="http://schemas.microsoft.com/office/drawing/2014/main" id="{EBD08EC4-220E-4C4A-A849-A3ED3B01D56F}"/>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17 / 19</a:t>
            </a:r>
          </a:p>
        </p:txBody>
      </p:sp>
      <p:sp>
        <p:nvSpPr>
          <p:cNvPr id="4" name="El consumo de combustible cambia la dinámica">
            <a:extLst xmlns:a="http://schemas.openxmlformats.org/drawingml/2006/main">
              <a:ext uri="{FF2B5EF4-FFF2-40B4-BE49-F238E27FC236}">
                <a16:creationId xmlns:a16="http://schemas.microsoft.com/office/drawing/2014/main" id="{58989A3D-C3CB-4228-997B-FFAEBFE448CB}"/>
              </a:ext>
            </a:extLst>
          </p:cNvPr>
          <p:cNvSpPr>
            <a:spLocks xmlns:a="http://schemas.openxmlformats.org/drawingml/2006/main" noGrp="1"/>
          </p:cNvSpPr>
          <p:nvPr/>
        </p:nvSpPr>
        <p:spPr>
          <a:xfrm xmlns:a="http://schemas.openxmlformats.org/drawingml/2006/main">
            <a:off x="590550" y="1285875"/>
            <a:ext cx="1085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Fuel consumption changes the dynamics</a:t>
            </a:r>
          </a:p>
        </p:txBody>
      </p:sp>
      <p:graphicFrame>
        <p:nvGraphicFramePr>
          <p:cNvPr id="5" name="Chart">
            <a:extLst xmlns:a="http://schemas.openxmlformats.org/drawingml/2006/main">
              <a:ext uri="{FF2B5EF4-FFF2-40B4-BE49-F238E27FC236}">
                <a16:creationId xmlns:a16="http://schemas.microsoft.com/office/drawing/2014/main" id="{1DE53E56-59FF-45E7-A6D5-BCAEF2DBC35C}"/>
              </a:ext>
            </a:extLst>
          </p:cNvPr>
          <p:cNvGraphicFramePr/>
          <p:nvPr/>
        </p:nvGraphicFramePr>
        <p:xfrm>
          <a:off xmlns:a="http://schemas.openxmlformats.org/drawingml/2006/main" x="381000" y="2095500"/>
          <a:ext xmlns:a="http://schemas.openxmlformats.org/drawingml/2006/main" cx="7143750" cy="3524250"/>
        </p:xfrm>
        <a:graphic xmlns:a="http://schemas.openxmlformats.org/drawingml/2006/main">
          <a:graphicData uri="http://schemas.openxmlformats.org/drawingml/2006/chart">
            <c:chart xmlns:r="http://schemas.openxmlformats.org/officeDocument/2006/relationships" xmlns:c="http://schemas.openxmlformats.org/drawingml/2006/chart" r:id="Rb5c07894e1ab49fb"/>
          </a:graphicData>
        </a:graphic>
      </p:graphicFrame>
      <p:sp>
        <p:nvSpPr>
          <p:cNvPr id="6" name="ρ = m₀ / m(t)">
            <a:extLst xmlns:a="http://schemas.openxmlformats.org/drawingml/2006/main">
              <a:ext uri="{FF2B5EF4-FFF2-40B4-BE49-F238E27FC236}">
                <a16:creationId xmlns:a16="http://schemas.microsoft.com/office/drawing/2014/main" id="{2B54CA8F-E8EE-4D2C-AE44-B4380B7B3FE9}"/>
              </a:ext>
            </a:extLst>
          </p:cNvPr>
          <p:cNvSpPr>
            <a:spLocks xmlns:a="http://schemas.openxmlformats.org/drawingml/2006/main" noGrp="1"/>
          </p:cNvSpPr>
          <p:nvPr/>
        </p:nvSpPr>
        <p:spPr>
          <a:xfrm xmlns:a="http://schemas.openxmlformats.org/drawingml/2006/main">
            <a:off x="8096250" y="2257425"/>
            <a:ext cx="342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700" b="1">
                <a:solidFill>
                  <a:srgbClr val="13283C"/>
                </a:solidFill>
                <a:latin typeface="Arial"/>
                <a:ea typeface="Arial"/>
                <a:cs typeface="Arial"/>
              </a:defRPr>
            </a:defPPr>
            <a:lvl1pPr algn="l">
              <a:defRPr sz="2700" b="1">
                <a:solidFill>
                  <a:srgbClr val="13283C"/>
                </a:solidFill>
                <a:latin typeface="Arial"/>
                <a:ea typeface="Arial"/>
                <a:cs typeface="Arial"/>
              </a:defRPr>
            </a:lvl1pPr>
            <a:lvl2pPr algn="l">
              <a:defRPr sz="2700" b="1">
                <a:solidFill>
                  <a:srgbClr val="13283C"/>
                </a:solidFill>
                <a:latin typeface="Arial"/>
                <a:ea typeface="Arial"/>
                <a:cs typeface="Arial"/>
              </a:defRPr>
            </a:lvl2pPr>
            <a:lvl3pPr algn="l">
              <a:defRPr sz="2700" b="1">
                <a:solidFill>
                  <a:srgbClr val="13283C"/>
                </a:solidFill>
                <a:latin typeface="Arial"/>
                <a:ea typeface="Arial"/>
                <a:cs typeface="Arial"/>
              </a:defRPr>
            </a:lvl3pPr>
            <a:lvl4pPr algn="l">
              <a:defRPr sz="2700" b="1">
                <a:solidFill>
                  <a:srgbClr val="13283C"/>
                </a:solidFill>
                <a:latin typeface="Arial"/>
                <a:ea typeface="Arial"/>
                <a:cs typeface="Arial"/>
              </a:defRPr>
            </a:lvl4pPr>
            <a:lvl5pPr algn="l">
              <a:defRPr sz="2700" b="1">
                <a:solidFill>
                  <a:srgbClr val="13283C"/>
                </a:solidFill>
                <a:latin typeface="Arial"/>
                <a:ea typeface="Arial"/>
                <a:cs typeface="Arial"/>
              </a:defRPr>
            </a:lvl5pPr>
            <a:lvl6pPr algn="l">
              <a:defRPr sz="2700" b="1">
                <a:solidFill>
                  <a:srgbClr val="13283C"/>
                </a:solidFill>
                <a:latin typeface="Arial"/>
                <a:ea typeface="Arial"/>
                <a:cs typeface="Arial"/>
              </a:defRPr>
            </a:lvl6pPr>
            <a:lvl7pPr algn="l">
              <a:defRPr sz="2700" b="1">
                <a:solidFill>
                  <a:srgbClr val="13283C"/>
                </a:solidFill>
                <a:latin typeface="Arial"/>
                <a:ea typeface="Arial"/>
                <a:cs typeface="Arial"/>
              </a:defRPr>
            </a:lvl7pPr>
            <a:lvl8pPr algn="l">
              <a:defRPr sz="2700" b="1">
                <a:solidFill>
                  <a:srgbClr val="13283C"/>
                </a:solidFill>
                <a:latin typeface="Arial"/>
                <a:ea typeface="Arial"/>
                <a:cs typeface="Arial"/>
              </a:defRPr>
            </a:lvl8pPr>
            <a:lvl9pPr algn="l">
              <a:defRPr sz="2700" b="1">
                <a:solidFill>
                  <a:srgbClr val="13283C"/>
                </a:solidFill>
                <a:latin typeface="Arial"/>
                <a:ea typeface="Arial"/>
                <a:cs typeface="Arial"/>
              </a:defRPr>
            </a:lvl9pPr>
          </a:lstStyle>
          <a:p xmlns:a="http://schemas.openxmlformats.org/drawingml/2006/main">
            <a:pPr algn="l">
              <a:lnSpc>
                <a:spcPct val="110000"/>
              </a:lnSpc>
              <a:buNone/>
              <a:defRPr sz="2700" b="1">
                <a:solidFill>
                  <a:srgbClr val="13283C"/>
                </a:solidFill>
                <a:latin typeface="Arial"/>
                <a:ea typeface="Arial"/>
                <a:cs typeface="Arial"/>
              </a:defRPr>
            </a:pPr>
            <a:r>
              <a:rPr sz="2700" b="1">
                <a:solidFill>
                  <a:srgbClr val="13283C"/>
                </a:solidFill>
                <a:latin typeface="Arial"/>
                <a:ea typeface="Arial"/>
                <a:cs typeface="Arial"/>
              </a:rPr>
              <a:t>ρ = m₀ / m(t)</a:t>
            </a:r>
          </a:p>
        </p:txBody>
      </p:sp>
      <p:sp>
        <p:nvSpPr>
          <p:cNvPr id="7" name="dx/dt = A(t)x + B(t)u">
            <a:extLst xmlns:a="http://schemas.openxmlformats.org/drawingml/2006/main">
              <a:ext uri="{FF2B5EF4-FFF2-40B4-BE49-F238E27FC236}">
                <a16:creationId xmlns:a16="http://schemas.microsoft.com/office/drawing/2014/main" id="{12E374C9-3DB4-4118-80B2-E0E2F4C5B6E0}"/>
              </a:ext>
            </a:extLst>
          </p:cNvPr>
          <p:cNvSpPr>
            <a:spLocks xmlns:a="http://schemas.openxmlformats.org/drawingml/2006/main" noGrp="1"/>
          </p:cNvSpPr>
          <p:nvPr/>
        </p:nvSpPr>
        <p:spPr>
          <a:xfrm xmlns:a="http://schemas.openxmlformats.org/drawingml/2006/main">
            <a:off x="8096250" y="3333750"/>
            <a:ext cx="3429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dx/dt = A(t)x + B(t)u</a:t>
            </a:r>
          </a:p>
        </p:txBody>
      </p:sp>
      <p:sp>
        <p:nvSpPr>
          <p:cNvPr id="8" name="Programación propuesta:&#10;Kᵢ(t) = Kᵢ₀ / ρ">
            <a:extLst xmlns:a="http://schemas.openxmlformats.org/drawingml/2006/main">
              <a:ext uri="{FF2B5EF4-FFF2-40B4-BE49-F238E27FC236}">
                <a16:creationId xmlns:a16="http://schemas.microsoft.com/office/drawing/2014/main" id="{0F07475B-D443-407D-B996-29AEEA56836E}"/>
              </a:ext>
            </a:extLst>
          </p:cNvPr>
          <p:cNvSpPr>
            <a:spLocks xmlns:a="http://schemas.openxmlformats.org/drawingml/2006/main" noGrp="1"/>
          </p:cNvSpPr>
          <p:nvPr/>
        </p:nvSpPr>
        <p:spPr>
          <a:xfrm xmlns:a="http://schemas.openxmlformats.org/drawingml/2006/main">
            <a:off x="8096250" y="4600575"/>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Proposed gain schedule:</a:t>
            </a:r>
          </a:p>
          <a:p xmlns:a="http://schemas.openxmlformats.org/drawingml/2006/main">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Kᵢ(t) = Kᵢ₀ / ρ</a:t>
            </a:r>
          </a:p>
        </p:txBody>
      </p:sp>
      <p:sp>
        <p:nvSpPr>
          <p:cNvPr id="9" name="Resultados con coeficientes congelados y el esca">
            <a:extLst xmlns:a="http://schemas.openxmlformats.org/drawingml/2006/main">
              <a:ext uri="{FF2B5EF4-FFF2-40B4-BE49-F238E27FC236}">
                <a16:creationId xmlns:a16="http://schemas.microsoft.com/office/drawing/2014/main" id="{6BEB0602-12B0-4F25-9093-AE6532CC5CD4}"/>
              </a:ext>
            </a:extLst>
          </p:cNvPr>
          <p:cNvSpPr>
            <a:spLocks xmlns:a="http://schemas.openxmlformats.org/drawingml/2006/main" noGrp="1"/>
          </p:cNvSpPr>
          <p:nvPr/>
        </p:nvSpPr>
        <p:spPr>
          <a:xfrm xmlns:a="http://schemas.openxmlformats.org/drawingml/2006/main">
            <a:off x="590550" y="596265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xmlns:a="http://schemas.openxmlformats.org/drawingml/2006/main">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Results use frozen coefficients and the scaling assumed in the report</a:t>
            </a:r>
          </a:p>
        </p:txBody>
      </p:sp>
    </p:spTree>
    <p:extLst>
      <p:ext uri="{BB962C8B-B14F-4D97-AF65-F5344CB8AC3E}">
        <p14:creationId xmlns:p14="http://schemas.microsoft.com/office/powerpoint/2010/main" val="3475290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Guiñada">
            <a:extLst xmlns:a="http://schemas.openxmlformats.org/drawingml/2006/main">
              <a:ext uri="{FF2B5EF4-FFF2-40B4-BE49-F238E27FC236}">
                <a16:creationId xmlns:a16="http://schemas.microsoft.com/office/drawing/2014/main" id="{0572202F-DCF8-4ADA-B921-C0A0465CA7E0}"/>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Yaw</a:t>
            </a:r>
          </a:p>
        </p:txBody>
      </p:sp>
      <p:sp>
        <p:nvSpPr>
          <p:cNvPr id="3" name="15 / 16">
            <a:extLst xmlns:a="http://schemas.openxmlformats.org/drawingml/2006/main">
              <a:ext uri="{FF2B5EF4-FFF2-40B4-BE49-F238E27FC236}">
                <a16:creationId xmlns:a16="http://schemas.microsoft.com/office/drawing/2014/main" id="{CE57202B-E3C7-4120-8492-7CDF0F332330}"/>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18 / 19</a:t>
            </a:r>
          </a:p>
        </p:txBody>
      </p:sp>
      <p:sp>
        <p:nvSpPr>
          <p:cNvPr id="4" name="Un tercer canal para la orientación lateral">
            <a:extLst xmlns:a="http://schemas.openxmlformats.org/drawingml/2006/main">
              <a:ext uri="{FF2B5EF4-FFF2-40B4-BE49-F238E27FC236}">
                <a16:creationId xmlns:a16="http://schemas.microsoft.com/office/drawing/2014/main" id="{43A09112-68C3-4552-9AE8-3C346443DFDF}"/>
              </a:ext>
            </a:extLst>
          </p:cNvPr>
          <p:cNvSpPr>
            <a:spLocks xmlns:a="http://schemas.openxmlformats.org/drawingml/2006/main" noGrp="1"/>
          </p:cNvSpPr>
          <p:nvPr/>
        </p:nvSpPr>
        <p:spPr>
          <a:xfrm xmlns:a="http://schemas.openxmlformats.org/drawingml/2006/main">
            <a:off x="590550" y="12954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A third channel for lateral attitude</a:t>
            </a:r>
          </a:p>
        </p:txBody>
      </p:sp>
      <p:sp>
        <p:nvSpPr>
          <p:cNvPr id="5" name="Nuevos estados&#10;ψ, r y ζ">
            <a:extLst xmlns:a="http://schemas.openxmlformats.org/drawingml/2006/main">
              <a:ext uri="{FF2B5EF4-FFF2-40B4-BE49-F238E27FC236}">
                <a16:creationId xmlns:a16="http://schemas.microsoft.com/office/drawing/2014/main" id="{6EBC8522-1CC2-484B-AC7F-1092C44455AD}"/>
              </a:ext>
            </a:extLst>
          </p:cNvPr>
          <p:cNvSpPr>
            <a:spLocks xmlns:a="http://schemas.openxmlformats.org/drawingml/2006/main" noGrp="1"/>
          </p:cNvSpPr>
          <p:nvPr/>
        </p:nvSpPr>
        <p:spPr>
          <a:xfrm xmlns:a="http://schemas.openxmlformats.org/drawingml/2006/main">
            <a:off x="590550" y="2305050"/>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775" b="1">
                <a:solidFill>
                  <a:srgbClr val="13283C"/>
                </a:solidFill>
                <a:latin typeface="Arial"/>
                <a:ea typeface="Arial"/>
                <a:cs typeface="Arial"/>
              </a:defRPr>
            </a:defPPr>
            <a:lvl1pPr algn="l">
              <a:defRPr sz="2775" b="1">
                <a:solidFill>
                  <a:srgbClr val="13283C"/>
                </a:solidFill>
                <a:latin typeface="Arial"/>
                <a:ea typeface="Arial"/>
                <a:cs typeface="Arial"/>
              </a:defRPr>
            </a:lvl1pPr>
            <a:lvl2pPr algn="l">
              <a:defRPr sz="2775" b="1">
                <a:solidFill>
                  <a:srgbClr val="13283C"/>
                </a:solidFill>
                <a:latin typeface="Arial"/>
                <a:ea typeface="Arial"/>
                <a:cs typeface="Arial"/>
              </a:defRPr>
            </a:lvl2pPr>
            <a:lvl3pPr algn="l">
              <a:defRPr sz="2775" b="1">
                <a:solidFill>
                  <a:srgbClr val="13283C"/>
                </a:solidFill>
                <a:latin typeface="Arial"/>
                <a:ea typeface="Arial"/>
                <a:cs typeface="Arial"/>
              </a:defRPr>
            </a:lvl3pPr>
            <a:lvl4pPr algn="l">
              <a:defRPr sz="2775" b="1">
                <a:solidFill>
                  <a:srgbClr val="13283C"/>
                </a:solidFill>
                <a:latin typeface="Arial"/>
                <a:ea typeface="Arial"/>
                <a:cs typeface="Arial"/>
              </a:defRPr>
            </a:lvl4pPr>
            <a:lvl5pPr algn="l">
              <a:defRPr sz="2775" b="1">
                <a:solidFill>
                  <a:srgbClr val="13283C"/>
                </a:solidFill>
                <a:latin typeface="Arial"/>
                <a:ea typeface="Arial"/>
                <a:cs typeface="Arial"/>
              </a:defRPr>
            </a:lvl5pPr>
            <a:lvl6pPr algn="l">
              <a:defRPr sz="2775" b="1">
                <a:solidFill>
                  <a:srgbClr val="13283C"/>
                </a:solidFill>
                <a:latin typeface="Arial"/>
                <a:ea typeface="Arial"/>
                <a:cs typeface="Arial"/>
              </a:defRPr>
            </a:lvl6pPr>
            <a:lvl7pPr algn="l">
              <a:defRPr sz="2775" b="1">
                <a:solidFill>
                  <a:srgbClr val="13283C"/>
                </a:solidFill>
                <a:latin typeface="Arial"/>
                <a:ea typeface="Arial"/>
                <a:cs typeface="Arial"/>
              </a:defRPr>
            </a:lvl7pPr>
            <a:lvl8pPr algn="l">
              <a:defRPr sz="2775" b="1">
                <a:solidFill>
                  <a:srgbClr val="13283C"/>
                </a:solidFill>
                <a:latin typeface="Arial"/>
                <a:ea typeface="Arial"/>
                <a:cs typeface="Arial"/>
              </a:defRPr>
            </a:lvl8pPr>
            <a:lvl9pPr algn="l">
              <a:defRPr sz="2775" b="1">
                <a:solidFill>
                  <a:srgbClr val="13283C"/>
                </a:solidFill>
                <a:latin typeface="Arial"/>
                <a:ea typeface="Arial"/>
                <a:cs typeface="Arial"/>
              </a:defRPr>
            </a:lvl9pPr>
          </a:lstStyle>
          <a:p xmlns:a="http://schemas.openxmlformats.org/drawingml/2006/main">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Additional states</a:t>
            </a:r>
          </a:p>
          <a:p xmlns:a="http://schemas.openxmlformats.org/drawingml/2006/main">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ψ, r and ζ</a:t>
            </a:r>
          </a:p>
        </p:txBody>
      </p:sp>
      <p:sp>
        <p:nvSpPr>
          <p:cNvPr id="6" name="7 estados&#10;3 entradas y 3 salidas">
            <a:extLst xmlns:a="http://schemas.openxmlformats.org/drawingml/2006/main">
              <a:ext uri="{FF2B5EF4-FFF2-40B4-BE49-F238E27FC236}">
                <a16:creationId xmlns:a16="http://schemas.microsoft.com/office/drawing/2014/main" id="{4742E91D-5028-4204-AD07-D440C1181BC6}"/>
              </a:ext>
            </a:extLst>
          </p:cNvPr>
          <p:cNvSpPr>
            <a:spLocks xmlns:a="http://schemas.openxmlformats.org/drawingml/2006/main" noGrp="1"/>
          </p:cNvSpPr>
          <p:nvPr/>
        </p:nvSpPr>
        <p:spPr>
          <a:xfrm xmlns:a="http://schemas.openxmlformats.org/drawingml/2006/main">
            <a:off x="590550" y="3743325"/>
            <a:ext cx="6191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0">
                <a:solidFill>
                  <a:srgbClr val="13283C"/>
                </a:solidFill>
                <a:latin typeface="Arial"/>
                <a:ea typeface="Arial"/>
                <a:cs typeface="Arial"/>
              </a:defRPr>
            </a:defPPr>
            <a:lvl1pPr algn="l">
              <a:defRPr sz="2400" b="0">
                <a:solidFill>
                  <a:srgbClr val="13283C"/>
                </a:solidFill>
                <a:latin typeface="Arial"/>
                <a:ea typeface="Arial"/>
                <a:cs typeface="Arial"/>
              </a:defRPr>
            </a:lvl1pPr>
            <a:lvl2pPr algn="l">
              <a:defRPr sz="2400" b="0">
                <a:solidFill>
                  <a:srgbClr val="13283C"/>
                </a:solidFill>
                <a:latin typeface="Arial"/>
                <a:ea typeface="Arial"/>
                <a:cs typeface="Arial"/>
              </a:defRPr>
            </a:lvl2pPr>
            <a:lvl3pPr algn="l">
              <a:defRPr sz="2400" b="0">
                <a:solidFill>
                  <a:srgbClr val="13283C"/>
                </a:solidFill>
                <a:latin typeface="Arial"/>
                <a:ea typeface="Arial"/>
                <a:cs typeface="Arial"/>
              </a:defRPr>
            </a:lvl3pPr>
            <a:lvl4pPr algn="l">
              <a:defRPr sz="2400" b="0">
                <a:solidFill>
                  <a:srgbClr val="13283C"/>
                </a:solidFill>
                <a:latin typeface="Arial"/>
                <a:ea typeface="Arial"/>
                <a:cs typeface="Arial"/>
              </a:defRPr>
            </a:lvl4pPr>
            <a:lvl5pPr algn="l">
              <a:defRPr sz="2400" b="0">
                <a:solidFill>
                  <a:srgbClr val="13283C"/>
                </a:solidFill>
                <a:latin typeface="Arial"/>
                <a:ea typeface="Arial"/>
                <a:cs typeface="Arial"/>
              </a:defRPr>
            </a:lvl5pPr>
            <a:lvl6pPr algn="l">
              <a:defRPr sz="2400" b="0">
                <a:solidFill>
                  <a:srgbClr val="13283C"/>
                </a:solidFill>
                <a:latin typeface="Arial"/>
                <a:ea typeface="Arial"/>
                <a:cs typeface="Arial"/>
              </a:defRPr>
            </a:lvl6pPr>
            <a:lvl7pPr algn="l">
              <a:defRPr sz="2400" b="0">
                <a:solidFill>
                  <a:srgbClr val="13283C"/>
                </a:solidFill>
                <a:latin typeface="Arial"/>
                <a:ea typeface="Arial"/>
                <a:cs typeface="Arial"/>
              </a:defRPr>
            </a:lvl7pPr>
            <a:lvl8pPr algn="l">
              <a:defRPr sz="2400" b="0">
                <a:solidFill>
                  <a:srgbClr val="13283C"/>
                </a:solidFill>
                <a:latin typeface="Arial"/>
                <a:ea typeface="Arial"/>
                <a:cs typeface="Arial"/>
              </a:defRPr>
            </a:lvl8pPr>
            <a:lvl9pPr algn="l">
              <a:defRPr sz="2400" b="0">
                <a:solidFill>
                  <a:srgbClr val="13283C"/>
                </a:solidFill>
                <a:latin typeface="Arial"/>
                <a:ea typeface="Arial"/>
                <a:cs typeface="Arial"/>
              </a:defRPr>
            </a:lvl9pPr>
          </a:lstStyle>
          <a:p xmlns:a="http://schemas.openxmlformats.org/drawingml/2006/main">
            <a:pPr algn="l">
              <a:lnSpc>
                <a:spcPct val="110000"/>
              </a:lnSpc>
              <a:buNone/>
              <a:defRPr sz="2400" b="0">
                <a:solidFill>
                  <a:srgbClr val="13283C"/>
                </a:solidFill>
                <a:latin typeface="Arial"/>
                <a:ea typeface="Arial"/>
                <a:cs typeface="Arial"/>
              </a:defRPr>
            </a:pPr>
            <a:r>
              <a:rPr sz="2400" b="0">
                <a:solidFill>
                  <a:srgbClr val="13283C"/>
                </a:solidFill>
                <a:latin typeface="Arial"/>
                <a:ea typeface="Arial"/>
                <a:cs typeface="Arial"/>
              </a:rPr>
              <a:t>7 states</a:t>
            </a:r>
          </a:p>
          <a:p xmlns:a="http://schemas.openxmlformats.org/drawingml/2006/main">
            <a:pPr algn="l">
              <a:lnSpc>
                <a:spcPct val="110000"/>
              </a:lnSpc>
              <a:buNone/>
              <a:defRPr sz="2400" b="0">
                <a:solidFill>
                  <a:srgbClr val="13283C"/>
                </a:solidFill>
                <a:latin typeface="Arial"/>
                <a:ea typeface="Arial"/>
                <a:cs typeface="Arial"/>
              </a:defRPr>
            </a:pPr>
            <a:r>
              <a:rPr sz="2400" b="0">
                <a:solidFill>
                  <a:srgbClr val="13283C"/>
                </a:solidFill>
                <a:latin typeface="Arial"/>
                <a:ea typeface="Arial"/>
                <a:cs typeface="Arial"/>
              </a:rPr>
              <a:t>3 inputs and 3 outputs</a:t>
            </a:r>
          </a:p>
        </p:txBody>
      </p:sp>
      <p:sp>
        <p:nvSpPr>
          <p:cNvPr id="7" name="La aceleración perturba la guiñada&#10;en la extensi">
            <a:extLst xmlns:a="http://schemas.openxmlformats.org/drawingml/2006/main">
              <a:ext uri="{FF2B5EF4-FFF2-40B4-BE49-F238E27FC236}">
                <a16:creationId xmlns:a16="http://schemas.microsoft.com/office/drawing/2014/main" id="{D60C881C-F588-4790-9B76-34E37E82E44F}"/>
              </a:ext>
            </a:extLst>
          </p:cNvPr>
          <p:cNvSpPr>
            <a:spLocks xmlns:a="http://schemas.openxmlformats.org/drawingml/2006/main" noGrp="1"/>
          </p:cNvSpPr>
          <p:nvPr/>
        </p:nvSpPr>
        <p:spPr>
          <a:xfrm xmlns:a="http://schemas.openxmlformats.org/drawingml/2006/main">
            <a:off x="590550" y="5276850"/>
            <a:ext cx="6191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087E8B"/>
                </a:solidFill>
                <a:latin typeface="Arial"/>
                <a:ea typeface="Arial"/>
                <a:cs typeface="Arial"/>
              </a:defRPr>
            </a:defPPr>
            <a:lvl1pPr algn="l">
              <a:defRPr sz="2100" b="1">
                <a:solidFill>
                  <a:srgbClr val="087E8B"/>
                </a:solidFill>
                <a:latin typeface="Arial"/>
                <a:ea typeface="Arial"/>
                <a:cs typeface="Arial"/>
              </a:defRPr>
            </a:lvl1pPr>
            <a:lvl2pPr algn="l">
              <a:defRPr sz="2100" b="1">
                <a:solidFill>
                  <a:srgbClr val="087E8B"/>
                </a:solidFill>
                <a:latin typeface="Arial"/>
                <a:ea typeface="Arial"/>
                <a:cs typeface="Arial"/>
              </a:defRPr>
            </a:lvl2pPr>
            <a:lvl3pPr algn="l">
              <a:defRPr sz="2100" b="1">
                <a:solidFill>
                  <a:srgbClr val="087E8B"/>
                </a:solidFill>
                <a:latin typeface="Arial"/>
                <a:ea typeface="Arial"/>
                <a:cs typeface="Arial"/>
              </a:defRPr>
            </a:lvl3pPr>
            <a:lvl4pPr algn="l">
              <a:defRPr sz="2100" b="1">
                <a:solidFill>
                  <a:srgbClr val="087E8B"/>
                </a:solidFill>
                <a:latin typeface="Arial"/>
                <a:ea typeface="Arial"/>
                <a:cs typeface="Arial"/>
              </a:defRPr>
            </a:lvl4pPr>
            <a:lvl5pPr algn="l">
              <a:defRPr sz="2100" b="1">
                <a:solidFill>
                  <a:srgbClr val="087E8B"/>
                </a:solidFill>
                <a:latin typeface="Arial"/>
                <a:ea typeface="Arial"/>
                <a:cs typeface="Arial"/>
              </a:defRPr>
            </a:lvl5pPr>
            <a:lvl6pPr algn="l">
              <a:defRPr sz="2100" b="1">
                <a:solidFill>
                  <a:srgbClr val="087E8B"/>
                </a:solidFill>
                <a:latin typeface="Arial"/>
                <a:ea typeface="Arial"/>
                <a:cs typeface="Arial"/>
              </a:defRPr>
            </a:lvl6pPr>
            <a:lvl7pPr algn="l">
              <a:defRPr sz="2100" b="1">
                <a:solidFill>
                  <a:srgbClr val="087E8B"/>
                </a:solidFill>
                <a:latin typeface="Arial"/>
                <a:ea typeface="Arial"/>
                <a:cs typeface="Arial"/>
              </a:defRPr>
            </a:lvl7pPr>
            <a:lvl8pPr algn="l">
              <a:defRPr sz="2100" b="1">
                <a:solidFill>
                  <a:srgbClr val="087E8B"/>
                </a:solidFill>
                <a:latin typeface="Arial"/>
                <a:ea typeface="Arial"/>
                <a:cs typeface="Arial"/>
              </a:defRPr>
            </a:lvl8pPr>
            <a:lvl9pPr algn="l">
              <a:defRPr sz="2100" b="1">
                <a:solidFill>
                  <a:srgbClr val="087E8B"/>
                </a:solidFill>
                <a:latin typeface="Arial"/>
                <a:ea typeface="Arial"/>
                <a:cs typeface="Arial"/>
              </a:defRPr>
            </a:lvl9pPr>
          </a:lstStyle>
          <a:p xmlns:a="http://schemas.openxmlformats.org/drawingml/2006/main">
            <a:pPr algn="l">
              <a:lnSpc>
                <a:spcPct val="110000"/>
              </a:lnSpc>
              <a:buNone/>
              <a:defRPr sz="2100" b="1">
                <a:solidFill>
                  <a:srgbClr val="087E8B"/>
                </a:solidFill>
                <a:latin typeface="Arial"/>
                <a:ea typeface="Arial"/>
                <a:cs typeface="Arial"/>
              </a:defRPr>
            </a:pPr>
            <a:r>
              <a:rPr sz="2100" b="1">
                <a:solidFill>
                  <a:srgbClr val="087E8B"/>
                </a:solidFill>
                <a:latin typeface="Arial"/>
                <a:ea typeface="Arial"/>
                <a:cs typeface="Arial"/>
              </a:rPr>
              <a:t>Acceleration perturbs yaw</a:t>
            </a:r>
          </a:p>
          <a:p xmlns:a="http://schemas.openxmlformats.org/drawingml/2006/main">
            <a:pPr algn="l">
              <a:lnSpc>
                <a:spcPct val="110000"/>
              </a:lnSpc>
              <a:buNone/>
              <a:defRPr sz="2100" b="1">
                <a:solidFill>
                  <a:srgbClr val="087E8B"/>
                </a:solidFill>
                <a:latin typeface="Arial"/>
                <a:ea typeface="Arial"/>
                <a:cs typeface="Arial"/>
              </a:defRPr>
            </a:pPr>
            <a:r>
              <a:rPr sz="2100" b="1">
                <a:solidFill>
                  <a:srgbClr val="087E8B"/>
                </a:solidFill>
                <a:latin typeface="Arial"/>
                <a:ea typeface="Arial"/>
                <a:cs typeface="Arial"/>
              </a:rPr>
              <a:t>in the proposed extension</a:t>
            </a:r>
          </a:p>
        </p:txBody>
      </p:sp>
      <p:pic>
        <p:nvPicPr>
          <p:cNvPr id="8" name="">
            <a:extLst xmlns:a="http://schemas.openxmlformats.org/drawingml/2006/main">
              <a:ext uri="{FF2B5EF4-FFF2-40B4-BE49-F238E27FC236}">
                <a16:creationId xmlns:a16="http://schemas.microsoft.com/office/drawing/2014/main" id="{E0A75A0E-BCB9-418E-9C1F-62CEC6D432A8}"/>
              </a:ext>
            </a:extLst>
          </p:cNvPr>
          <p:cNvPicPr>
            <a:picLocks xmlns:a="http://schemas.openxmlformats.org/drawingml/2006/main" noChangeAspect="1"/>
          </p:cNvPicPr>
          <p:nvPr/>
        </p:nvPicPr>
        <p:blipFill>
          <a:blip xmlns:r="http://schemas.openxmlformats.org/officeDocument/2006/relationships" xmlns:a="http://schemas.openxmlformats.org/drawingml/2006/main" r:embed="Rf3b6c556b4544c2e"/>
          <a:stretch xmlns:a="http://schemas.openxmlformats.org/drawingml/2006/main"/>
        </p:blipFill>
        <p:spPr>
          <a:xfrm xmlns:a="http://schemas.openxmlformats.org/drawingml/2006/main">
            <a:off x="7654470" y="1685925"/>
            <a:ext cx="3836309" cy="4429125"/>
          </a:xfrm>
          <a:prstGeom xmlns:a="http://schemas.openxmlformats.org/drawingml/2006/main" prst="rect">
            <a:avLst/>
          </a:prstGeom>
        </p:spPr>
      </p:pic>
    </p:spTree>
    <p:extLst>
      <p:ext uri="{BB962C8B-B14F-4D97-AF65-F5344CB8AC3E}">
        <p14:creationId xmlns:p14="http://schemas.microsoft.com/office/powerpoint/2010/main" val="7382783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Conclusiones">
            <a:extLst xmlns:a="http://schemas.openxmlformats.org/drawingml/2006/main">
              <a:ext uri="{FF2B5EF4-FFF2-40B4-BE49-F238E27FC236}">
                <a16:creationId xmlns:a16="http://schemas.microsoft.com/office/drawing/2014/main" id="{0C7CDC7D-22CC-492B-9E08-8954D27A4706}"/>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Conclusions</a:t>
            </a:r>
          </a:p>
        </p:txBody>
      </p:sp>
      <p:sp>
        <p:nvSpPr>
          <p:cNvPr id="3" name="16 / 16">
            <a:extLst xmlns:a="http://schemas.openxmlformats.org/drawingml/2006/main">
              <a:ext uri="{FF2B5EF4-FFF2-40B4-BE49-F238E27FC236}">
                <a16:creationId xmlns:a16="http://schemas.microsoft.com/office/drawing/2014/main" id="{B46A2570-AB49-4149-BD08-8B06B9E7A1BE}"/>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19 / 19</a:t>
            </a:r>
          </a:p>
        </p:txBody>
      </p:sp>
      <p:sp>
        <p:nvSpPr>
          <p:cNvPr id="4" name="El punto elegido mejora la respuesta angular">
            <a:extLst xmlns:a="http://schemas.openxmlformats.org/drawingml/2006/main">
              <a:ext uri="{FF2B5EF4-FFF2-40B4-BE49-F238E27FC236}">
                <a16:creationId xmlns:a16="http://schemas.microsoft.com/office/drawing/2014/main" id="{00328AB0-A7EA-450F-83DA-0315BEEBEBB9}"/>
              </a:ext>
            </a:extLst>
          </p:cNvPr>
          <p:cNvSpPr>
            <a:spLocks xmlns:a="http://schemas.openxmlformats.org/drawingml/2006/main" noGrp="1"/>
          </p:cNvSpPr>
          <p:nvPr/>
        </p:nvSpPr>
        <p:spPr>
          <a:xfrm xmlns:a="http://schemas.openxmlformats.org/drawingml/2006/main">
            <a:off x="590550" y="14287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700" b="1">
                <a:solidFill>
                  <a:srgbClr val="087E8B"/>
                </a:solidFill>
                <a:latin typeface="Arial"/>
                <a:ea typeface="Arial"/>
                <a:cs typeface="Arial"/>
              </a:defRPr>
            </a:defPPr>
            <a:lvl1pPr algn="l">
              <a:defRPr sz="2700" b="1">
                <a:solidFill>
                  <a:srgbClr val="087E8B"/>
                </a:solidFill>
                <a:latin typeface="Arial"/>
                <a:ea typeface="Arial"/>
                <a:cs typeface="Arial"/>
              </a:defRPr>
            </a:lvl1pPr>
            <a:lvl2pPr algn="l">
              <a:defRPr sz="2700" b="1">
                <a:solidFill>
                  <a:srgbClr val="087E8B"/>
                </a:solidFill>
                <a:latin typeface="Arial"/>
                <a:ea typeface="Arial"/>
                <a:cs typeface="Arial"/>
              </a:defRPr>
            </a:lvl2pPr>
            <a:lvl3pPr algn="l">
              <a:defRPr sz="2700" b="1">
                <a:solidFill>
                  <a:srgbClr val="087E8B"/>
                </a:solidFill>
                <a:latin typeface="Arial"/>
                <a:ea typeface="Arial"/>
                <a:cs typeface="Arial"/>
              </a:defRPr>
            </a:lvl3pPr>
            <a:lvl4pPr algn="l">
              <a:defRPr sz="2700" b="1">
                <a:solidFill>
                  <a:srgbClr val="087E8B"/>
                </a:solidFill>
                <a:latin typeface="Arial"/>
                <a:ea typeface="Arial"/>
                <a:cs typeface="Arial"/>
              </a:defRPr>
            </a:lvl4pPr>
            <a:lvl5pPr algn="l">
              <a:defRPr sz="2700" b="1">
                <a:solidFill>
                  <a:srgbClr val="087E8B"/>
                </a:solidFill>
                <a:latin typeface="Arial"/>
                <a:ea typeface="Arial"/>
                <a:cs typeface="Arial"/>
              </a:defRPr>
            </a:lvl5pPr>
            <a:lvl6pPr algn="l">
              <a:defRPr sz="2700" b="1">
                <a:solidFill>
                  <a:srgbClr val="087E8B"/>
                </a:solidFill>
                <a:latin typeface="Arial"/>
                <a:ea typeface="Arial"/>
                <a:cs typeface="Arial"/>
              </a:defRPr>
            </a:lvl6pPr>
            <a:lvl7pPr algn="l">
              <a:defRPr sz="2700" b="1">
                <a:solidFill>
                  <a:srgbClr val="087E8B"/>
                </a:solidFill>
                <a:latin typeface="Arial"/>
                <a:ea typeface="Arial"/>
                <a:cs typeface="Arial"/>
              </a:defRPr>
            </a:lvl7pPr>
            <a:lvl8pPr algn="l">
              <a:defRPr sz="2700" b="1">
                <a:solidFill>
                  <a:srgbClr val="087E8B"/>
                </a:solidFill>
                <a:latin typeface="Arial"/>
                <a:ea typeface="Arial"/>
                <a:cs typeface="Arial"/>
              </a:defRPr>
            </a:lvl8pPr>
            <a:lvl9pPr algn="l">
              <a:defRPr sz="2700" b="1">
                <a:solidFill>
                  <a:srgbClr val="087E8B"/>
                </a:solidFill>
                <a:latin typeface="Arial"/>
                <a:ea typeface="Arial"/>
                <a:cs typeface="Arial"/>
              </a:defRPr>
            </a:lvl9pPr>
          </a:lstStyle>
          <a:p xmlns:a="http://schemas.openxmlformats.org/drawingml/2006/main">
            <a:pPr algn="l">
              <a:lnSpc>
                <a:spcPct val="110000"/>
              </a:lnSpc>
              <a:buNone/>
              <a:defRPr sz="2700" b="1">
                <a:solidFill>
                  <a:srgbClr val="087E8B"/>
                </a:solidFill>
                <a:latin typeface="Arial"/>
                <a:ea typeface="Arial"/>
                <a:cs typeface="Arial"/>
              </a:defRPr>
            </a:pPr>
            <a:r>
              <a:rPr sz="2700" b="1">
                <a:solidFill>
                  <a:srgbClr val="087E8B"/>
                </a:solidFill>
                <a:latin typeface="Arial"/>
                <a:ea typeface="Arial"/>
                <a:cs typeface="Arial"/>
              </a:rPr>
              <a:t>The chosen gains improve the pitch response</a:t>
            </a:r>
          </a:p>
        </p:txBody>
      </p:sp>
      <p:graphicFrame>
        <p:nvGraphicFramePr>
          <p:cNvPr id="5" name="">
            <a:extLst xmlns:a="http://schemas.openxmlformats.org/drawingml/2006/main">
              <a:ext uri="{FF2B5EF4-FFF2-40B4-BE49-F238E27FC236}">
                <a16:creationId xmlns:a16="http://schemas.microsoft.com/office/drawing/2014/main" id="{FEDB8FAE-2FEF-4EBA-8D67-D0281D34D751}"/>
              </a:ext>
            </a:extLst>
          </p:cNvPr>
          <p:cNvGraphicFramePr/>
          <p:nvPr/>
        </p:nvGraphicFramePr>
        <p:xfrm>
          <a:off xmlns:a="http://schemas.openxmlformats.org/drawingml/2006/main" x="590550" y="2390775"/>
          <a:ext xmlns:a="http://schemas.openxmlformats.org/drawingml/2006/main" cx="10858500" cy="3048000"/>
        </p:xfrm>
        <a:graphic xmlns:a="http://schemas.openxmlformats.org/drawingml/2006/main">
          <a:graphicData uri="http://schemas.openxmlformats.org/drawingml/2006/table">
            <a:tbl>
              <a:tblPr/>
              <a:tblGrid>
                <a:gridCol w="5095875"/>
                <a:gridCol w="5762625"/>
              </a:tblGrid>
              <a:tr h="609600">
                <a:tc>
                  <a:txBody>
                    <a:bodyPr lIns="95250" tIns="95250" rIns="95250" bIns="95250"/>
                    <a:lstStyle/>
                    <a:p>
                      <a:r>
                        <a:rPr sz="2100" b="1">
                          <a:solidFill>
                            <a:srgbClr val="FFFFFF"/>
                          </a:solidFill>
                          <a:latin typeface="Arial"/>
                          <a:ea typeface="Arial"/>
                          <a:cs typeface="Arial"/>
                        </a:rPr>
                        <a:t>Result</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2100" b="1">
                          <a:solidFill>
                            <a:srgbClr val="FFFFFF"/>
                          </a:solidFill>
                          <a:latin typeface="Arial"/>
                          <a:ea typeface="Arial"/>
                          <a:cs typeface="Arial"/>
                        </a:rPr>
                        <a:t>Recommended point</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609600">
                <a:tc>
                  <a:txBody>
                    <a:bodyPr lIns="95250" tIns="95250" rIns="95250" bIns="95250"/>
                    <a:lstStyle/>
                    <a:p>
                      <a:r>
                        <a:rPr sz="2100" b="0">
                          <a:solidFill>
                            <a:srgbClr val="13283C"/>
                          </a:solidFill>
                          <a:latin typeface="Arial"/>
                          <a:ea typeface="Arial"/>
                          <a:cs typeface="Arial"/>
                        </a:rPr>
                        <a:t>Gains</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2100" b="0">
                          <a:solidFill>
                            <a:srgbClr val="13283C"/>
                          </a:solidFill>
                          <a:latin typeface="Arial"/>
                          <a:ea typeface="Arial"/>
                          <a:cs typeface="Arial"/>
                        </a:rPr>
                        <a:t>K₁ = 4.5   K₂ = 1.3</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09600">
                <a:tc>
                  <a:txBody>
                    <a:bodyPr lIns="95250" tIns="95250" rIns="95250" bIns="95250"/>
                    <a:lstStyle/>
                    <a:p>
                      <a:r>
                        <a:rPr sz="2100" b="0">
                          <a:solidFill>
                            <a:srgbClr val="13283C"/>
                          </a:solidFill>
                          <a:latin typeface="Arial"/>
                          <a:ea typeface="Arial"/>
                          <a:cs typeface="Arial"/>
                        </a:rPr>
                        <a:t>Overshoot / settling time</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2100" b="0">
                          <a:solidFill>
                            <a:srgbClr val="13283C"/>
                          </a:solidFill>
                          <a:latin typeface="Arial"/>
                          <a:ea typeface="Arial"/>
                          <a:cs typeface="Arial"/>
                        </a:rPr>
                        <a:t>0.82 % / 1.62 s</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r h="609600">
                <a:tc>
                  <a:txBody>
                    <a:bodyPr lIns="95250" tIns="95250" rIns="95250" bIns="95250"/>
                    <a:lstStyle/>
                    <a:p>
                      <a:r>
                        <a:rPr sz="2100" b="0">
                          <a:solidFill>
                            <a:srgbClr val="13283C"/>
                          </a:solidFill>
                          <a:latin typeface="Arial"/>
                          <a:ea typeface="Arial"/>
                          <a:cs typeface="Arial"/>
                        </a:rPr>
                        <a:t>Coupling</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2100" b="0">
                          <a:solidFill>
                            <a:srgbClr val="13283C"/>
                          </a:solidFill>
                          <a:latin typeface="Arial"/>
                          <a:ea typeface="Arial"/>
                          <a:cs typeface="Arial"/>
                        </a:rPr>
                        <a:t>31 % / 28 %</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609600">
                <a:tc>
                  <a:txBody>
                    <a:bodyPr lIns="95250" tIns="95250" rIns="95250" bIns="95250"/>
                    <a:lstStyle/>
                    <a:p>
                      <a:r>
                        <a:rPr sz="2100" b="0">
                          <a:solidFill>
                            <a:srgbClr val="13283C"/>
                          </a:solidFill>
                          <a:latin typeface="Arial"/>
                          <a:ea typeface="Arial"/>
                          <a:cs typeface="Arial"/>
                        </a:rPr>
                        <a:t>Sampling period</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2100" b="0">
                          <a:solidFill>
                            <a:srgbClr val="13283C"/>
                          </a:solidFill>
                          <a:latin typeface="Arial"/>
                          <a:ea typeface="Arial"/>
                          <a:cs typeface="Arial"/>
                        </a:rPr>
                        <a:t>0.05 s</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6" name="La aceleración y la orientación deben analizarse">
            <a:extLst xmlns:a="http://schemas.openxmlformats.org/drawingml/2006/main">
              <a:ext uri="{FF2B5EF4-FFF2-40B4-BE49-F238E27FC236}">
                <a16:creationId xmlns:a16="http://schemas.microsoft.com/office/drawing/2014/main" id="{22FECD54-E01D-4B4A-B9C0-A6E272711B8B}"/>
              </a:ext>
            </a:extLst>
          </p:cNvPr>
          <p:cNvSpPr>
            <a:spLocks xmlns:a="http://schemas.openxmlformats.org/drawingml/2006/main" noGrp="1"/>
          </p:cNvSpPr>
          <p:nvPr/>
        </p:nvSpPr>
        <p:spPr>
          <a:xfrm xmlns:a="http://schemas.openxmlformats.org/drawingml/2006/main">
            <a:off x="590550" y="5838825"/>
            <a:ext cx="10858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3283C"/>
                </a:solidFill>
                <a:latin typeface="Arial"/>
                <a:ea typeface="Arial"/>
                <a:cs typeface="Arial"/>
              </a:defRPr>
            </a:defPPr>
            <a:lvl1pPr algn="l">
              <a:defRPr sz="2175" b="1">
                <a:solidFill>
                  <a:srgbClr val="13283C"/>
                </a:solidFill>
                <a:latin typeface="Arial"/>
                <a:ea typeface="Arial"/>
                <a:cs typeface="Arial"/>
              </a:defRPr>
            </a:lvl1pPr>
            <a:lvl2pPr algn="l">
              <a:defRPr sz="2175" b="1">
                <a:solidFill>
                  <a:srgbClr val="13283C"/>
                </a:solidFill>
                <a:latin typeface="Arial"/>
                <a:ea typeface="Arial"/>
                <a:cs typeface="Arial"/>
              </a:defRPr>
            </a:lvl2pPr>
            <a:lvl3pPr algn="l">
              <a:defRPr sz="2175" b="1">
                <a:solidFill>
                  <a:srgbClr val="13283C"/>
                </a:solidFill>
                <a:latin typeface="Arial"/>
                <a:ea typeface="Arial"/>
                <a:cs typeface="Arial"/>
              </a:defRPr>
            </a:lvl3pPr>
            <a:lvl4pPr algn="l">
              <a:defRPr sz="2175" b="1">
                <a:solidFill>
                  <a:srgbClr val="13283C"/>
                </a:solidFill>
                <a:latin typeface="Arial"/>
                <a:ea typeface="Arial"/>
                <a:cs typeface="Arial"/>
              </a:defRPr>
            </a:lvl4pPr>
            <a:lvl5pPr algn="l">
              <a:defRPr sz="2175" b="1">
                <a:solidFill>
                  <a:srgbClr val="13283C"/>
                </a:solidFill>
                <a:latin typeface="Arial"/>
                <a:ea typeface="Arial"/>
                <a:cs typeface="Arial"/>
              </a:defRPr>
            </a:lvl5pPr>
            <a:lvl6pPr algn="l">
              <a:defRPr sz="2175" b="1">
                <a:solidFill>
                  <a:srgbClr val="13283C"/>
                </a:solidFill>
                <a:latin typeface="Arial"/>
                <a:ea typeface="Arial"/>
                <a:cs typeface="Arial"/>
              </a:defRPr>
            </a:lvl6pPr>
            <a:lvl7pPr algn="l">
              <a:defRPr sz="2175" b="1">
                <a:solidFill>
                  <a:srgbClr val="13283C"/>
                </a:solidFill>
                <a:latin typeface="Arial"/>
                <a:ea typeface="Arial"/>
                <a:cs typeface="Arial"/>
              </a:defRPr>
            </a:lvl7pPr>
            <a:lvl8pPr algn="l">
              <a:defRPr sz="2175" b="1">
                <a:solidFill>
                  <a:srgbClr val="13283C"/>
                </a:solidFill>
                <a:latin typeface="Arial"/>
                <a:ea typeface="Arial"/>
                <a:cs typeface="Arial"/>
              </a:defRPr>
            </a:lvl8pPr>
            <a:lvl9pPr algn="l">
              <a:defRPr sz="2175" b="1">
                <a:solidFill>
                  <a:srgbClr val="13283C"/>
                </a:solidFill>
                <a:latin typeface="Arial"/>
                <a:ea typeface="Arial"/>
                <a:cs typeface="Arial"/>
              </a:defRPr>
            </a:lvl9pPr>
          </a:lstStyle>
          <a:p xmlns:a="http://schemas.openxmlformats.org/drawingml/2006/main">
            <a:pPr algn="l">
              <a:lnSpc>
                <a:spcPct val="110000"/>
              </a:lnSpc>
              <a:buNone/>
              <a:defRPr sz="2175" b="1">
                <a:solidFill>
                  <a:srgbClr val="13283C"/>
                </a:solidFill>
                <a:latin typeface="Arial"/>
                <a:ea typeface="Arial"/>
                <a:cs typeface="Arial"/>
              </a:defRPr>
            </a:pPr>
            <a:r>
              <a:rPr sz="2175" b="1">
                <a:solidFill>
                  <a:srgbClr val="13283C"/>
                </a:solidFill>
                <a:latin typeface="Arial"/>
                <a:ea typeface="Arial"/>
                <a:cs typeface="Arial"/>
              </a:rPr>
              <a:t>Acceleration and attitude require a combined analysis</a:t>
            </a:r>
          </a:p>
        </p:txBody>
      </p:sp>
    </p:spTree>
    <p:extLst>
      <p:ext uri="{BB962C8B-B14F-4D97-AF65-F5344CB8AC3E}">
        <p14:creationId xmlns:p14="http://schemas.microsoft.com/office/powerpoint/2010/main" val="5101704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Referencias">
            <a:extLst xmlns:a="http://schemas.openxmlformats.org/drawingml/2006/main">
              <a:ext uri="{FF2B5EF4-FFF2-40B4-BE49-F238E27FC236}">
                <a16:creationId xmlns:a16="http://schemas.microsoft.com/office/drawing/2014/main" id="{CDF0F84A-3D3B-4D0E-8FFB-AD0FC5BD4808}"/>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References</a:t>
            </a:r>
          </a:p>
        </p:txBody>
      </p:sp>
      <p:sp>
        <p:nvSpPr>
          <p:cNvPr id="3" name="Referencias">
            <a:extLst xmlns:a="http://schemas.openxmlformats.org/drawingml/2006/main">
              <a:ext uri="{FF2B5EF4-FFF2-40B4-BE49-F238E27FC236}">
                <a16:creationId xmlns:a16="http://schemas.microsoft.com/office/drawing/2014/main" id="{D70775BC-C700-4C10-BC5F-10BBAA340AD7}"/>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References</a:t>
            </a:r>
          </a:p>
        </p:txBody>
      </p:sp>
      <p:sp>
        <p:nvSpPr>
          <p:cNvPr id="4" name="Fuentes del proyecto">
            <a:extLst xmlns:a="http://schemas.openxmlformats.org/drawingml/2006/main">
              <a:ext uri="{FF2B5EF4-FFF2-40B4-BE49-F238E27FC236}">
                <a16:creationId xmlns:a16="http://schemas.microsoft.com/office/drawing/2014/main" id="{C9239DB6-2728-4B98-94B4-28E887359EE0}"/>
              </a:ext>
            </a:extLst>
          </p:cNvPr>
          <p:cNvSpPr>
            <a:spLocks xmlns:a="http://schemas.openxmlformats.org/drawingml/2006/main" noGrp="1"/>
          </p:cNvSpPr>
          <p:nvPr/>
        </p:nvSpPr>
        <p:spPr>
          <a:xfrm xmlns:a="http://schemas.openxmlformats.org/drawingml/2006/main">
            <a:off x="590550" y="13620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xmlns:a="http://schemas.openxmlformats.org/drawingml/2006/main">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Project sources</a:t>
            </a:r>
          </a:p>
        </p:txBody>
      </p:sp>
      <p:sp>
        <p:nvSpPr>
          <p:cNvPr id="5" name="Reporte del grupo: Reporte_ES.pdf, 14 páginas">
            <a:extLst xmlns:a="http://schemas.openxmlformats.org/drawingml/2006/main">
              <a:ext uri="{FF2B5EF4-FFF2-40B4-BE49-F238E27FC236}">
                <a16:creationId xmlns:a16="http://schemas.microsoft.com/office/drawing/2014/main" id="{4CC6C6A9-FA3E-40E5-BF1A-BE1E36CBF61F}"/>
              </a:ext>
            </a:extLst>
          </p:cNvPr>
          <p:cNvSpPr>
            <a:spLocks xmlns:a="http://schemas.openxmlformats.org/drawingml/2006/main" noGrp="1"/>
          </p:cNvSpPr>
          <p:nvPr/>
        </p:nvSpPr>
        <p:spPr>
          <a:xfrm xmlns:a="http://schemas.openxmlformats.org/drawingml/2006/main">
            <a:off x="590550" y="21526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3283C"/>
                </a:solidFill>
                <a:latin typeface="Arial"/>
                <a:ea typeface="Arial"/>
                <a:cs typeface="Arial"/>
              </a:defRPr>
            </a:defPPr>
            <a:lvl1pPr algn="l">
              <a:defRPr sz="1950" b="0">
                <a:solidFill>
                  <a:srgbClr val="13283C"/>
                </a:solidFill>
                <a:latin typeface="Arial"/>
                <a:ea typeface="Arial"/>
                <a:cs typeface="Arial"/>
              </a:defRPr>
            </a:lvl1pPr>
            <a:lvl2pPr algn="l">
              <a:defRPr sz="1950" b="0">
                <a:solidFill>
                  <a:srgbClr val="13283C"/>
                </a:solidFill>
                <a:latin typeface="Arial"/>
                <a:ea typeface="Arial"/>
                <a:cs typeface="Arial"/>
              </a:defRPr>
            </a:lvl2pPr>
            <a:lvl3pPr algn="l">
              <a:defRPr sz="1950" b="0">
                <a:solidFill>
                  <a:srgbClr val="13283C"/>
                </a:solidFill>
                <a:latin typeface="Arial"/>
                <a:ea typeface="Arial"/>
                <a:cs typeface="Arial"/>
              </a:defRPr>
            </a:lvl3pPr>
            <a:lvl4pPr algn="l">
              <a:defRPr sz="1950" b="0">
                <a:solidFill>
                  <a:srgbClr val="13283C"/>
                </a:solidFill>
                <a:latin typeface="Arial"/>
                <a:ea typeface="Arial"/>
                <a:cs typeface="Arial"/>
              </a:defRPr>
            </a:lvl4pPr>
            <a:lvl5pPr algn="l">
              <a:defRPr sz="1950" b="0">
                <a:solidFill>
                  <a:srgbClr val="13283C"/>
                </a:solidFill>
                <a:latin typeface="Arial"/>
                <a:ea typeface="Arial"/>
                <a:cs typeface="Arial"/>
              </a:defRPr>
            </a:lvl5pPr>
            <a:lvl6pPr algn="l">
              <a:defRPr sz="1950" b="0">
                <a:solidFill>
                  <a:srgbClr val="13283C"/>
                </a:solidFill>
                <a:latin typeface="Arial"/>
                <a:ea typeface="Arial"/>
                <a:cs typeface="Arial"/>
              </a:defRPr>
            </a:lvl6pPr>
            <a:lvl7pPr algn="l">
              <a:defRPr sz="1950" b="0">
                <a:solidFill>
                  <a:srgbClr val="13283C"/>
                </a:solidFill>
                <a:latin typeface="Arial"/>
                <a:ea typeface="Arial"/>
                <a:cs typeface="Arial"/>
              </a:defRPr>
            </a:lvl7pPr>
            <a:lvl8pPr algn="l">
              <a:defRPr sz="1950" b="0">
                <a:solidFill>
                  <a:srgbClr val="13283C"/>
                </a:solidFill>
                <a:latin typeface="Arial"/>
                <a:ea typeface="Arial"/>
                <a:cs typeface="Arial"/>
              </a:defRPr>
            </a:lvl8pPr>
            <a:lvl9pPr algn="l">
              <a:defRPr sz="1950" b="0">
                <a:solidFill>
                  <a:srgbClr val="13283C"/>
                </a:solidFill>
                <a:latin typeface="Arial"/>
                <a:ea typeface="Arial"/>
                <a:cs typeface="Arial"/>
              </a:defRPr>
            </a:lvl9pPr>
          </a:lstStyle>
          <a:p xmlns:a="http://schemas.openxmlformats.org/drawingml/2006/main">
            <a:pPr algn="l">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Group report: Reporte_ES.pdf, 14 pages</a:t>
            </a:r>
          </a:p>
        </p:txBody>
      </p:sp>
      <p:sp>
        <p:nvSpPr>
          <p:cNvPr id="6" name="Enunciado: proyectoCohete.pdf">
            <a:extLst xmlns:a="http://schemas.openxmlformats.org/drawingml/2006/main">
              <a:ext uri="{FF2B5EF4-FFF2-40B4-BE49-F238E27FC236}">
                <a16:creationId xmlns:a16="http://schemas.microsoft.com/office/drawing/2014/main" id="{0EB67C18-6D52-4CE8-BBF1-9E7C3065C0B8}"/>
              </a:ext>
            </a:extLst>
          </p:cNvPr>
          <p:cNvSpPr>
            <a:spLocks xmlns:a="http://schemas.openxmlformats.org/drawingml/2006/main" noGrp="1"/>
          </p:cNvSpPr>
          <p:nvPr/>
        </p:nvSpPr>
        <p:spPr>
          <a:xfrm xmlns:a="http://schemas.openxmlformats.org/drawingml/2006/main">
            <a:off x="590550" y="27146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3283C"/>
                </a:solidFill>
                <a:latin typeface="Arial"/>
                <a:ea typeface="Arial"/>
                <a:cs typeface="Arial"/>
              </a:defRPr>
            </a:defPPr>
            <a:lvl1pPr algn="l">
              <a:defRPr sz="1950" b="0">
                <a:solidFill>
                  <a:srgbClr val="13283C"/>
                </a:solidFill>
                <a:latin typeface="Arial"/>
                <a:ea typeface="Arial"/>
                <a:cs typeface="Arial"/>
              </a:defRPr>
            </a:lvl1pPr>
            <a:lvl2pPr algn="l">
              <a:defRPr sz="1950" b="0">
                <a:solidFill>
                  <a:srgbClr val="13283C"/>
                </a:solidFill>
                <a:latin typeface="Arial"/>
                <a:ea typeface="Arial"/>
                <a:cs typeface="Arial"/>
              </a:defRPr>
            </a:lvl2pPr>
            <a:lvl3pPr algn="l">
              <a:defRPr sz="1950" b="0">
                <a:solidFill>
                  <a:srgbClr val="13283C"/>
                </a:solidFill>
                <a:latin typeface="Arial"/>
                <a:ea typeface="Arial"/>
                <a:cs typeface="Arial"/>
              </a:defRPr>
            </a:lvl3pPr>
            <a:lvl4pPr algn="l">
              <a:defRPr sz="1950" b="0">
                <a:solidFill>
                  <a:srgbClr val="13283C"/>
                </a:solidFill>
                <a:latin typeface="Arial"/>
                <a:ea typeface="Arial"/>
                <a:cs typeface="Arial"/>
              </a:defRPr>
            </a:lvl4pPr>
            <a:lvl5pPr algn="l">
              <a:defRPr sz="1950" b="0">
                <a:solidFill>
                  <a:srgbClr val="13283C"/>
                </a:solidFill>
                <a:latin typeface="Arial"/>
                <a:ea typeface="Arial"/>
                <a:cs typeface="Arial"/>
              </a:defRPr>
            </a:lvl5pPr>
            <a:lvl6pPr algn="l">
              <a:defRPr sz="1950" b="0">
                <a:solidFill>
                  <a:srgbClr val="13283C"/>
                </a:solidFill>
                <a:latin typeface="Arial"/>
                <a:ea typeface="Arial"/>
                <a:cs typeface="Arial"/>
              </a:defRPr>
            </a:lvl6pPr>
            <a:lvl7pPr algn="l">
              <a:defRPr sz="1950" b="0">
                <a:solidFill>
                  <a:srgbClr val="13283C"/>
                </a:solidFill>
                <a:latin typeface="Arial"/>
                <a:ea typeface="Arial"/>
                <a:cs typeface="Arial"/>
              </a:defRPr>
            </a:lvl7pPr>
            <a:lvl8pPr algn="l">
              <a:defRPr sz="1950" b="0">
                <a:solidFill>
                  <a:srgbClr val="13283C"/>
                </a:solidFill>
                <a:latin typeface="Arial"/>
                <a:ea typeface="Arial"/>
                <a:cs typeface="Arial"/>
              </a:defRPr>
            </a:lvl8pPr>
            <a:lvl9pPr algn="l">
              <a:defRPr sz="1950" b="0">
                <a:solidFill>
                  <a:srgbClr val="13283C"/>
                </a:solidFill>
                <a:latin typeface="Arial"/>
                <a:ea typeface="Arial"/>
                <a:cs typeface="Arial"/>
              </a:defRPr>
            </a:lvl9pPr>
          </a:lstStyle>
          <a:p xmlns:a="http://schemas.openxmlformats.org/drawingml/2006/main">
            <a:pPr algn="l">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Project assignment: proyectoCohete.pdf</a:t>
            </a:r>
          </a:p>
        </p:txBody>
      </p:sp>
      <p:sp>
        <p:nvSpPr>
          <p:cNvPr id="7" name="Nise, Control Systems Engineering, 7.ª ed.">
            <a:extLst xmlns:a="http://schemas.openxmlformats.org/drawingml/2006/main">
              <a:ext uri="{FF2B5EF4-FFF2-40B4-BE49-F238E27FC236}">
                <a16:creationId xmlns:a16="http://schemas.microsoft.com/office/drawing/2014/main" id="{384C18B8-6BBE-4C56-9932-4ABA4F6B6E75}"/>
              </a:ext>
            </a:extLst>
          </p:cNvPr>
          <p:cNvSpPr>
            <a:spLocks xmlns:a="http://schemas.openxmlformats.org/drawingml/2006/main" noGrp="1"/>
          </p:cNvSpPr>
          <p:nvPr/>
        </p:nvSpPr>
        <p:spPr>
          <a:xfrm xmlns:a="http://schemas.openxmlformats.org/drawingml/2006/main">
            <a:off x="590550" y="327660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3283C"/>
                </a:solidFill>
                <a:latin typeface="Arial"/>
                <a:ea typeface="Arial"/>
                <a:cs typeface="Arial"/>
              </a:defRPr>
            </a:defPPr>
            <a:lvl1pPr algn="l">
              <a:defRPr sz="1950" b="0">
                <a:solidFill>
                  <a:srgbClr val="13283C"/>
                </a:solidFill>
                <a:latin typeface="Arial"/>
                <a:ea typeface="Arial"/>
                <a:cs typeface="Arial"/>
              </a:defRPr>
            </a:lvl1pPr>
            <a:lvl2pPr algn="l">
              <a:defRPr sz="1950" b="0">
                <a:solidFill>
                  <a:srgbClr val="13283C"/>
                </a:solidFill>
                <a:latin typeface="Arial"/>
                <a:ea typeface="Arial"/>
                <a:cs typeface="Arial"/>
              </a:defRPr>
            </a:lvl2pPr>
            <a:lvl3pPr algn="l">
              <a:defRPr sz="1950" b="0">
                <a:solidFill>
                  <a:srgbClr val="13283C"/>
                </a:solidFill>
                <a:latin typeface="Arial"/>
                <a:ea typeface="Arial"/>
                <a:cs typeface="Arial"/>
              </a:defRPr>
            </a:lvl3pPr>
            <a:lvl4pPr algn="l">
              <a:defRPr sz="1950" b="0">
                <a:solidFill>
                  <a:srgbClr val="13283C"/>
                </a:solidFill>
                <a:latin typeface="Arial"/>
                <a:ea typeface="Arial"/>
                <a:cs typeface="Arial"/>
              </a:defRPr>
            </a:lvl4pPr>
            <a:lvl5pPr algn="l">
              <a:defRPr sz="1950" b="0">
                <a:solidFill>
                  <a:srgbClr val="13283C"/>
                </a:solidFill>
                <a:latin typeface="Arial"/>
                <a:ea typeface="Arial"/>
                <a:cs typeface="Arial"/>
              </a:defRPr>
            </a:lvl5pPr>
            <a:lvl6pPr algn="l">
              <a:defRPr sz="1950" b="0">
                <a:solidFill>
                  <a:srgbClr val="13283C"/>
                </a:solidFill>
                <a:latin typeface="Arial"/>
                <a:ea typeface="Arial"/>
                <a:cs typeface="Arial"/>
              </a:defRPr>
            </a:lvl6pPr>
            <a:lvl7pPr algn="l">
              <a:defRPr sz="1950" b="0">
                <a:solidFill>
                  <a:srgbClr val="13283C"/>
                </a:solidFill>
                <a:latin typeface="Arial"/>
                <a:ea typeface="Arial"/>
                <a:cs typeface="Arial"/>
              </a:defRPr>
            </a:lvl7pPr>
            <a:lvl8pPr algn="l">
              <a:defRPr sz="1950" b="0">
                <a:solidFill>
                  <a:srgbClr val="13283C"/>
                </a:solidFill>
                <a:latin typeface="Arial"/>
                <a:ea typeface="Arial"/>
                <a:cs typeface="Arial"/>
              </a:defRPr>
            </a:lvl8pPr>
            <a:lvl9pPr algn="l">
              <a:defRPr sz="1950" b="0">
                <a:solidFill>
                  <a:srgbClr val="13283C"/>
                </a:solidFill>
                <a:latin typeface="Arial"/>
                <a:ea typeface="Arial"/>
                <a:cs typeface="Arial"/>
              </a:defRPr>
            </a:lvl9pPr>
          </a:lstStyle>
          <a:p xmlns:a="http://schemas.openxmlformats.org/drawingml/2006/main">
            <a:pPr algn="l">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Nise, Control Systems Engineering, 7th ed.</a:t>
            </a:r>
          </a:p>
        </p:txBody>
      </p:sp>
      <p:sp>
        <p:nvSpPr>
          <p:cNvPr id="8" name="Ogata, Modern Control Engineering, 5.ª ed.">
            <a:extLst xmlns:a="http://schemas.openxmlformats.org/drawingml/2006/main">
              <a:ext uri="{FF2B5EF4-FFF2-40B4-BE49-F238E27FC236}">
                <a16:creationId xmlns:a16="http://schemas.microsoft.com/office/drawing/2014/main" id="{AC24FF34-E036-471B-8606-4E9E081AA10C}"/>
              </a:ext>
            </a:extLst>
          </p:cNvPr>
          <p:cNvSpPr>
            <a:spLocks xmlns:a="http://schemas.openxmlformats.org/drawingml/2006/main" noGrp="1"/>
          </p:cNvSpPr>
          <p:nvPr/>
        </p:nvSpPr>
        <p:spPr>
          <a:xfrm xmlns:a="http://schemas.openxmlformats.org/drawingml/2006/main">
            <a:off x="590550" y="383857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3283C"/>
                </a:solidFill>
                <a:latin typeface="Arial"/>
                <a:ea typeface="Arial"/>
                <a:cs typeface="Arial"/>
              </a:defRPr>
            </a:defPPr>
            <a:lvl1pPr algn="l">
              <a:defRPr sz="1950" b="0">
                <a:solidFill>
                  <a:srgbClr val="13283C"/>
                </a:solidFill>
                <a:latin typeface="Arial"/>
                <a:ea typeface="Arial"/>
                <a:cs typeface="Arial"/>
              </a:defRPr>
            </a:lvl1pPr>
            <a:lvl2pPr algn="l">
              <a:defRPr sz="1950" b="0">
                <a:solidFill>
                  <a:srgbClr val="13283C"/>
                </a:solidFill>
                <a:latin typeface="Arial"/>
                <a:ea typeface="Arial"/>
                <a:cs typeface="Arial"/>
              </a:defRPr>
            </a:lvl2pPr>
            <a:lvl3pPr algn="l">
              <a:defRPr sz="1950" b="0">
                <a:solidFill>
                  <a:srgbClr val="13283C"/>
                </a:solidFill>
                <a:latin typeface="Arial"/>
                <a:ea typeface="Arial"/>
                <a:cs typeface="Arial"/>
              </a:defRPr>
            </a:lvl3pPr>
            <a:lvl4pPr algn="l">
              <a:defRPr sz="1950" b="0">
                <a:solidFill>
                  <a:srgbClr val="13283C"/>
                </a:solidFill>
                <a:latin typeface="Arial"/>
                <a:ea typeface="Arial"/>
                <a:cs typeface="Arial"/>
              </a:defRPr>
            </a:lvl4pPr>
            <a:lvl5pPr algn="l">
              <a:defRPr sz="1950" b="0">
                <a:solidFill>
                  <a:srgbClr val="13283C"/>
                </a:solidFill>
                <a:latin typeface="Arial"/>
                <a:ea typeface="Arial"/>
                <a:cs typeface="Arial"/>
              </a:defRPr>
            </a:lvl5pPr>
            <a:lvl6pPr algn="l">
              <a:defRPr sz="1950" b="0">
                <a:solidFill>
                  <a:srgbClr val="13283C"/>
                </a:solidFill>
                <a:latin typeface="Arial"/>
                <a:ea typeface="Arial"/>
                <a:cs typeface="Arial"/>
              </a:defRPr>
            </a:lvl6pPr>
            <a:lvl7pPr algn="l">
              <a:defRPr sz="1950" b="0">
                <a:solidFill>
                  <a:srgbClr val="13283C"/>
                </a:solidFill>
                <a:latin typeface="Arial"/>
                <a:ea typeface="Arial"/>
                <a:cs typeface="Arial"/>
              </a:defRPr>
            </a:lvl7pPr>
            <a:lvl8pPr algn="l">
              <a:defRPr sz="1950" b="0">
                <a:solidFill>
                  <a:srgbClr val="13283C"/>
                </a:solidFill>
                <a:latin typeface="Arial"/>
                <a:ea typeface="Arial"/>
                <a:cs typeface="Arial"/>
              </a:defRPr>
            </a:lvl8pPr>
            <a:lvl9pPr algn="l">
              <a:defRPr sz="1950" b="0">
                <a:solidFill>
                  <a:srgbClr val="13283C"/>
                </a:solidFill>
                <a:latin typeface="Arial"/>
                <a:ea typeface="Arial"/>
                <a:cs typeface="Arial"/>
              </a:defRPr>
            </a:lvl9pPr>
          </a:lstStyle>
          <a:p xmlns:a="http://schemas.openxmlformats.org/drawingml/2006/main">
            <a:pPr algn="l">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Ogata, Modern Control Engineering, 5th ed.</a:t>
            </a:r>
          </a:p>
        </p:txBody>
      </p:sp>
      <p:sp>
        <p:nvSpPr>
          <p:cNvPr id="9" name="Franklin, Powell y Workman, Digital Control of D">
            <a:extLst xmlns:a="http://schemas.openxmlformats.org/drawingml/2006/main">
              <a:ext uri="{FF2B5EF4-FFF2-40B4-BE49-F238E27FC236}">
                <a16:creationId xmlns:a16="http://schemas.microsoft.com/office/drawing/2014/main" id="{EB431EFC-8910-4492-BB13-E7C0AA9DBF13}"/>
              </a:ext>
            </a:extLst>
          </p:cNvPr>
          <p:cNvSpPr>
            <a:spLocks xmlns:a="http://schemas.openxmlformats.org/drawingml/2006/main" noGrp="1"/>
          </p:cNvSpPr>
          <p:nvPr/>
        </p:nvSpPr>
        <p:spPr>
          <a:xfrm xmlns:a="http://schemas.openxmlformats.org/drawingml/2006/main">
            <a:off x="590550" y="44005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3283C"/>
                </a:solidFill>
                <a:latin typeface="Arial"/>
                <a:ea typeface="Arial"/>
                <a:cs typeface="Arial"/>
              </a:defRPr>
            </a:defPPr>
            <a:lvl1pPr algn="l">
              <a:defRPr sz="1950" b="0">
                <a:solidFill>
                  <a:srgbClr val="13283C"/>
                </a:solidFill>
                <a:latin typeface="Arial"/>
                <a:ea typeface="Arial"/>
                <a:cs typeface="Arial"/>
              </a:defRPr>
            </a:lvl1pPr>
            <a:lvl2pPr algn="l">
              <a:defRPr sz="1950" b="0">
                <a:solidFill>
                  <a:srgbClr val="13283C"/>
                </a:solidFill>
                <a:latin typeface="Arial"/>
                <a:ea typeface="Arial"/>
                <a:cs typeface="Arial"/>
              </a:defRPr>
            </a:lvl2pPr>
            <a:lvl3pPr algn="l">
              <a:defRPr sz="1950" b="0">
                <a:solidFill>
                  <a:srgbClr val="13283C"/>
                </a:solidFill>
                <a:latin typeface="Arial"/>
                <a:ea typeface="Arial"/>
                <a:cs typeface="Arial"/>
              </a:defRPr>
            </a:lvl3pPr>
            <a:lvl4pPr algn="l">
              <a:defRPr sz="1950" b="0">
                <a:solidFill>
                  <a:srgbClr val="13283C"/>
                </a:solidFill>
                <a:latin typeface="Arial"/>
                <a:ea typeface="Arial"/>
                <a:cs typeface="Arial"/>
              </a:defRPr>
            </a:lvl4pPr>
            <a:lvl5pPr algn="l">
              <a:defRPr sz="1950" b="0">
                <a:solidFill>
                  <a:srgbClr val="13283C"/>
                </a:solidFill>
                <a:latin typeface="Arial"/>
                <a:ea typeface="Arial"/>
                <a:cs typeface="Arial"/>
              </a:defRPr>
            </a:lvl5pPr>
            <a:lvl6pPr algn="l">
              <a:defRPr sz="1950" b="0">
                <a:solidFill>
                  <a:srgbClr val="13283C"/>
                </a:solidFill>
                <a:latin typeface="Arial"/>
                <a:ea typeface="Arial"/>
                <a:cs typeface="Arial"/>
              </a:defRPr>
            </a:lvl6pPr>
            <a:lvl7pPr algn="l">
              <a:defRPr sz="1950" b="0">
                <a:solidFill>
                  <a:srgbClr val="13283C"/>
                </a:solidFill>
                <a:latin typeface="Arial"/>
                <a:ea typeface="Arial"/>
                <a:cs typeface="Arial"/>
              </a:defRPr>
            </a:lvl7pPr>
            <a:lvl8pPr algn="l">
              <a:defRPr sz="1950" b="0">
                <a:solidFill>
                  <a:srgbClr val="13283C"/>
                </a:solidFill>
                <a:latin typeface="Arial"/>
                <a:ea typeface="Arial"/>
                <a:cs typeface="Arial"/>
              </a:defRPr>
            </a:lvl8pPr>
            <a:lvl9pPr algn="l">
              <a:defRPr sz="1950" b="0">
                <a:solidFill>
                  <a:srgbClr val="13283C"/>
                </a:solidFill>
                <a:latin typeface="Arial"/>
                <a:ea typeface="Arial"/>
                <a:cs typeface="Arial"/>
              </a:defRPr>
            </a:lvl9pPr>
          </a:lstStyle>
          <a:p xmlns:a="http://schemas.openxmlformats.org/drawingml/2006/main">
            <a:pPr algn="l">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Franklin, Powell and Workman, Digital Control of Dynamic Systems</a:t>
            </a:r>
          </a:p>
        </p:txBody>
      </p:sp>
      <p:sp>
        <p:nvSpPr>
          <p:cNvPr id="10" name="Skogestad y Postlethwaite, Multivariable Feedbac">
            <a:extLst xmlns:a="http://schemas.openxmlformats.org/drawingml/2006/main">
              <a:ext uri="{FF2B5EF4-FFF2-40B4-BE49-F238E27FC236}">
                <a16:creationId xmlns:a16="http://schemas.microsoft.com/office/drawing/2014/main" id="{E2D71BE4-9E14-48EC-8994-5275C01B27CA}"/>
              </a:ext>
            </a:extLst>
          </p:cNvPr>
          <p:cNvSpPr>
            <a:spLocks xmlns:a="http://schemas.openxmlformats.org/drawingml/2006/main" noGrp="1"/>
          </p:cNvSpPr>
          <p:nvPr/>
        </p:nvSpPr>
        <p:spPr>
          <a:xfrm xmlns:a="http://schemas.openxmlformats.org/drawingml/2006/main">
            <a:off x="590550" y="49625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3283C"/>
                </a:solidFill>
                <a:latin typeface="Arial"/>
                <a:ea typeface="Arial"/>
                <a:cs typeface="Arial"/>
              </a:defRPr>
            </a:defPPr>
            <a:lvl1pPr algn="l">
              <a:defRPr sz="1950" b="0">
                <a:solidFill>
                  <a:srgbClr val="13283C"/>
                </a:solidFill>
                <a:latin typeface="Arial"/>
                <a:ea typeface="Arial"/>
                <a:cs typeface="Arial"/>
              </a:defRPr>
            </a:lvl1pPr>
            <a:lvl2pPr algn="l">
              <a:defRPr sz="1950" b="0">
                <a:solidFill>
                  <a:srgbClr val="13283C"/>
                </a:solidFill>
                <a:latin typeface="Arial"/>
                <a:ea typeface="Arial"/>
                <a:cs typeface="Arial"/>
              </a:defRPr>
            </a:lvl2pPr>
            <a:lvl3pPr algn="l">
              <a:defRPr sz="1950" b="0">
                <a:solidFill>
                  <a:srgbClr val="13283C"/>
                </a:solidFill>
                <a:latin typeface="Arial"/>
                <a:ea typeface="Arial"/>
                <a:cs typeface="Arial"/>
              </a:defRPr>
            </a:lvl3pPr>
            <a:lvl4pPr algn="l">
              <a:defRPr sz="1950" b="0">
                <a:solidFill>
                  <a:srgbClr val="13283C"/>
                </a:solidFill>
                <a:latin typeface="Arial"/>
                <a:ea typeface="Arial"/>
                <a:cs typeface="Arial"/>
              </a:defRPr>
            </a:lvl4pPr>
            <a:lvl5pPr algn="l">
              <a:defRPr sz="1950" b="0">
                <a:solidFill>
                  <a:srgbClr val="13283C"/>
                </a:solidFill>
                <a:latin typeface="Arial"/>
                <a:ea typeface="Arial"/>
                <a:cs typeface="Arial"/>
              </a:defRPr>
            </a:lvl5pPr>
            <a:lvl6pPr algn="l">
              <a:defRPr sz="1950" b="0">
                <a:solidFill>
                  <a:srgbClr val="13283C"/>
                </a:solidFill>
                <a:latin typeface="Arial"/>
                <a:ea typeface="Arial"/>
                <a:cs typeface="Arial"/>
              </a:defRPr>
            </a:lvl6pPr>
            <a:lvl7pPr algn="l">
              <a:defRPr sz="1950" b="0">
                <a:solidFill>
                  <a:srgbClr val="13283C"/>
                </a:solidFill>
                <a:latin typeface="Arial"/>
                <a:ea typeface="Arial"/>
                <a:cs typeface="Arial"/>
              </a:defRPr>
            </a:lvl7pPr>
            <a:lvl8pPr algn="l">
              <a:defRPr sz="1950" b="0">
                <a:solidFill>
                  <a:srgbClr val="13283C"/>
                </a:solidFill>
                <a:latin typeface="Arial"/>
                <a:ea typeface="Arial"/>
                <a:cs typeface="Arial"/>
              </a:defRPr>
            </a:lvl8pPr>
            <a:lvl9pPr algn="l">
              <a:defRPr sz="1950" b="0">
                <a:solidFill>
                  <a:srgbClr val="13283C"/>
                </a:solidFill>
                <a:latin typeface="Arial"/>
                <a:ea typeface="Arial"/>
                <a:cs typeface="Arial"/>
              </a:defRPr>
            </a:lvl9pPr>
          </a:lstStyle>
          <a:p xmlns:a="http://schemas.openxmlformats.org/drawingml/2006/main">
            <a:pPr algn="l">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Skogestad and Postlethwaite, Multivariable Feedback Control</a:t>
            </a:r>
          </a:p>
        </p:txBody>
      </p:sp>
      <p:sp>
        <p:nvSpPr>
          <p:cNvPr id="11" name="Bibliografía teórica citada en el reporte. Crédi">
            <a:extLst xmlns:a="http://schemas.openxmlformats.org/drawingml/2006/main">
              <a:ext uri="{FF2B5EF4-FFF2-40B4-BE49-F238E27FC236}">
                <a16:creationId xmlns:a16="http://schemas.microsoft.com/office/drawing/2014/main" id="{FB216D9A-E480-48E9-A970-CDF8A62D004B}"/>
              </a:ext>
            </a:extLst>
          </p:cNvPr>
          <p:cNvSpPr>
            <a:spLocks xmlns:a="http://schemas.openxmlformats.org/drawingml/2006/main" noGrp="1"/>
          </p:cNvSpPr>
          <p:nvPr/>
        </p:nvSpPr>
        <p:spPr>
          <a:xfrm xmlns:a="http://schemas.openxmlformats.org/drawingml/2006/main">
            <a:off x="590550" y="601027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xmlns:a="http://schemas.openxmlformats.org/drawingml/2006/main">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Theory references follow the report. Image credits appear in the notes</a:t>
            </a:r>
          </a:p>
        </p:txBody>
      </p:sp>
      <p:sp>
        <p:nvSpPr>
          <p:cNvPr id="12" name="Notebook: TSII-PROJECT-NB.ipynb">
            <a:extLst xmlns:a="http://schemas.openxmlformats.org/drawingml/2006/main">
              <a:ext uri="{FF2B5EF4-FFF2-40B4-BE49-F238E27FC236}">
                <a16:creationId xmlns:a16="http://schemas.microsoft.com/office/drawing/2014/main" id="{37997909-E007-4F6D-B749-0FF141181FE8}"/>
              </a:ext>
            </a:extLst>
          </p:cNvPr>
          <p:cNvSpPr>
            <a:spLocks xmlns:a="http://schemas.openxmlformats.org/drawingml/2006/main" noGrp="1"/>
          </p:cNvSpPr>
          <p:nvPr/>
        </p:nvSpPr>
        <p:spPr>
          <a:xfrm xmlns:a="http://schemas.openxmlformats.org/drawingml/2006/main">
            <a:off x="590550" y="5524500"/>
            <a:ext cx="1101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3283C"/>
                </a:solidFill>
                <a:latin typeface="Arial"/>
                <a:ea typeface="Arial"/>
                <a:cs typeface="Arial"/>
              </a:defRPr>
            </a:defPPr>
            <a:lvl1pPr>
              <a:defRPr sz="1950" b="0">
                <a:solidFill>
                  <a:srgbClr val="13283C"/>
                </a:solidFill>
                <a:latin typeface="Arial"/>
                <a:ea typeface="Arial"/>
                <a:cs typeface="Arial"/>
              </a:defRPr>
            </a:lvl1pPr>
            <a:lvl2pPr>
              <a:defRPr sz="1950" b="0">
                <a:solidFill>
                  <a:srgbClr val="13283C"/>
                </a:solidFill>
                <a:latin typeface="Arial"/>
                <a:ea typeface="Arial"/>
                <a:cs typeface="Arial"/>
              </a:defRPr>
            </a:lvl2pPr>
            <a:lvl3pPr>
              <a:defRPr sz="1950" b="0">
                <a:solidFill>
                  <a:srgbClr val="13283C"/>
                </a:solidFill>
                <a:latin typeface="Arial"/>
                <a:ea typeface="Arial"/>
                <a:cs typeface="Arial"/>
              </a:defRPr>
            </a:lvl3pPr>
            <a:lvl4pPr>
              <a:defRPr sz="1950" b="0">
                <a:solidFill>
                  <a:srgbClr val="13283C"/>
                </a:solidFill>
                <a:latin typeface="Arial"/>
                <a:ea typeface="Arial"/>
                <a:cs typeface="Arial"/>
              </a:defRPr>
            </a:lvl4pPr>
            <a:lvl5pPr>
              <a:defRPr sz="1950" b="0">
                <a:solidFill>
                  <a:srgbClr val="13283C"/>
                </a:solidFill>
                <a:latin typeface="Arial"/>
                <a:ea typeface="Arial"/>
                <a:cs typeface="Arial"/>
              </a:defRPr>
            </a:lvl5pPr>
            <a:lvl6pPr>
              <a:defRPr sz="1950" b="0">
                <a:solidFill>
                  <a:srgbClr val="13283C"/>
                </a:solidFill>
                <a:latin typeface="Arial"/>
                <a:ea typeface="Arial"/>
                <a:cs typeface="Arial"/>
              </a:defRPr>
            </a:lvl6pPr>
            <a:lvl7pPr>
              <a:defRPr sz="1950" b="0">
                <a:solidFill>
                  <a:srgbClr val="13283C"/>
                </a:solidFill>
                <a:latin typeface="Arial"/>
                <a:ea typeface="Arial"/>
                <a:cs typeface="Arial"/>
              </a:defRPr>
            </a:lvl7pPr>
            <a:lvl8pPr>
              <a:defRPr sz="1950" b="0">
                <a:solidFill>
                  <a:srgbClr val="13283C"/>
                </a:solidFill>
                <a:latin typeface="Arial"/>
                <a:ea typeface="Arial"/>
                <a:cs typeface="Arial"/>
              </a:defRPr>
            </a:lvl8pPr>
            <a:lvl9pPr>
              <a:defRPr sz="1950" b="0">
                <a:solidFill>
                  <a:srgbClr val="13283C"/>
                </a:solidFill>
                <a:latin typeface="Arial"/>
                <a:ea typeface="Arial"/>
                <a:cs typeface="Arial"/>
              </a:defRPr>
            </a:lvl9pPr>
          </a:lstStyle>
          <a:p xmlns:a="http://schemas.openxmlformats.org/drawingml/2006/main">
            <a:pPr>
              <a:lnSpc>
                <a:spcPct val="110000"/>
              </a:lnSpc>
              <a:buNone/>
              <a:defRPr sz="1950" b="0">
                <a:solidFill>
                  <a:srgbClr val="13283C"/>
                </a:solidFill>
                <a:latin typeface="Arial"/>
                <a:ea typeface="Arial"/>
                <a:cs typeface="Arial"/>
              </a:defRPr>
            </a:pPr>
            <a:r>
              <a:rPr sz="1950" b="0">
                <a:solidFill>
                  <a:srgbClr val="13283C"/>
                </a:solidFill>
                <a:latin typeface="Arial"/>
                <a:ea typeface="Arial"/>
                <a:cs typeface="Arial"/>
              </a:rPr>
              <a:t>Notebook: TSII-PROJECT-NB.ipynb</a:t>
            </a:r>
          </a:p>
        </p:txBody>
      </p:sp>
    </p:spTree>
    <p:extLst>
      <p:ext uri="{BB962C8B-B14F-4D97-AF65-F5344CB8AC3E}">
        <p14:creationId xmlns:p14="http://schemas.microsoft.com/office/powerpoint/2010/main" val="211305206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Apoyo: ecuaciones">
            <a:extLst xmlns:a="http://schemas.openxmlformats.org/drawingml/2006/main">
              <a:ext uri="{FF2B5EF4-FFF2-40B4-BE49-F238E27FC236}">
                <a16:creationId xmlns:a16="http://schemas.microsoft.com/office/drawing/2014/main" id="{20BD5DC1-5859-4801-A29D-FE1D5DB849BF}"/>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Backup: equations</a:t>
            </a:r>
          </a:p>
        </p:txBody>
      </p:sp>
      <p:sp>
        <p:nvSpPr>
          <p:cNvPr id="3" name="Apoyo A">
            <a:extLst xmlns:a="http://schemas.openxmlformats.org/drawingml/2006/main">
              <a:ext uri="{FF2B5EF4-FFF2-40B4-BE49-F238E27FC236}">
                <a16:creationId xmlns:a16="http://schemas.microsoft.com/office/drawing/2014/main" id="{650E6D82-8F47-4B50-8ACB-EE08CE251DF4}"/>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Backup A</a:t>
            </a:r>
          </a:p>
        </p:txBody>
      </p:sp>
      <p:sp>
        <p:nvSpPr>
          <p:cNvPr id="4" name="Modelo lineal del plano de cabeceo">
            <a:extLst xmlns:a="http://schemas.openxmlformats.org/drawingml/2006/main">
              <a:ext uri="{FF2B5EF4-FFF2-40B4-BE49-F238E27FC236}">
                <a16:creationId xmlns:a16="http://schemas.microsoft.com/office/drawing/2014/main" id="{B5C04105-F24F-48CE-83BF-1AB7E2FE8FCD}"/>
              </a:ext>
            </a:extLst>
          </p:cNvPr>
          <p:cNvSpPr>
            <a:spLocks xmlns:a="http://schemas.openxmlformats.org/drawingml/2006/main" noGrp="1"/>
          </p:cNvSpPr>
          <p:nvPr/>
        </p:nvSpPr>
        <p:spPr>
          <a:xfrm xmlns:a="http://schemas.openxmlformats.org/drawingml/2006/main">
            <a:off x="590550" y="12858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Linear model in the pitch plane</a:t>
            </a:r>
          </a:p>
        </p:txBody>
      </p:sp>
      <p:sp>
        <p:nvSpPr>
          <p:cNvPr id="5" name="da/dt = −[(1 + K₁kₐ)/τₘ]a − c_θ θ + (K₁kₐ/τₘ)u₁">
            <a:extLst xmlns:a="http://schemas.openxmlformats.org/drawingml/2006/main">
              <a:ext uri="{FF2B5EF4-FFF2-40B4-BE49-F238E27FC236}">
                <a16:creationId xmlns:a16="http://schemas.microsoft.com/office/drawing/2014/main" id="{B12D0B55-9BC2-4C6F-8B51-554EF442C714}"/>
              </a:ext>
            </a:extLst>
          </p:cNvPr>
          <p:cNvSpPr>
            <a:spLocks xmlns:a="http://schemas.openxmlformats.org/drawingml/2006/main" noGrp="1"/>
          </p:cNvSpPr>
          <p:nvPr/>
        </p:nvSpPr>
        <p:spPr>
          <a:xfrm xmlns:a="http://schemas.openxmlformats.org/drawingml/2006/main">
            <a:off x="590550" y="2219325"/>
            <a:ext cx="10953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0">
                <a:solidFill>
                  <a:srgbClr val="13283C"/>
                </a:solidFill>
                <a:latin typeface="Arial"/>
                <a:ea typeface="Arial"/>
                <a:cs typeface="Arial"/>
              </a:defRPr>
            </a:defPPr>
            <a:lvl1pPr algn="l">
              <a:defRPr sz="2475" b="0">
                <a:solidFill>
                  <a:srgbClr val="13283C"/>
                </a:solidFill>
                <a:latin typeface="Arial"/>
                <a:ea typeface="Arial"/>
                <a:cs typeface="Arial"/>
              </a:defRPr>
            </a:lvl1pPr>
            <a:lvl2pPr algn="l">
              <a:defRPr sz="2475" b="0">
                <a:solidFill>
                  <a:srgbClr val="13283C"/>
                </a:solidFill>
                <a:latin typeface="Arial"/>
                <a:ea typeface="Arial"/>
                <a:cs typeface="Arial"/>
              </a:defRPr>
            </a:lvl2pPr>
            <a:lvl3pPr algn="l">
              <a:defRPr sz="2475" b="0">
                <a:solidFill>
                  <a:srgbClr val="13283C"/>
                </a:solidFill>
                <a:latin typeface="Arial"/>
                <a:ea typeface="Arial"/>
                <a:cs typeface="Arial"/>
              </a:defRPr>
            </a:lvl3pPr>
            <a:lvl4pPr algn="l">
              <a:defRPr sz="2475" b="0">
                <a:solidFill>
                  <a:srgbClr val="13283C"/>
                </a:solidFill>
                <a:latin typeface="Arial"/>
                <a:ea typeface="Arial"/>
                <a:cs typeface="Arial"/>
              </a:defRPr>
            </a:lvl4pPr>
            <a:lvl5pPr algn="l">
              <a:defRPr sz="2475" b="0">
                <a:solidFill>
                  <a:srgbClr val="13283C"/>
                </a:solidFill>
                <a:latin typeface="Arial"/>
                <a:ea typeface="Arial"/>
                <a:cs typeface="Arial"/>
              </a:defRPr>
            </a:lvl5pPr>
            <a:lvl6pPr algn="l">
              <a:defRPr sz="2475" b="0">
                <a:solidFill>
                  <a:srgbClr val="13283C"/>
                </a:solidFill>
                <a:latin typeface="Arial"/>
                <a:ea typeface="Arial"/>
                <a:cs typeface="Arial"/>
              </a:defRPr>
            </a:lvl6pPr>
            <a:lvl7pPr algn="l">
              <a:defRPr sz="2475" b="0">
                <a:solidFill>
                  <a:srgbClr val="13283C"/>
                </a:solidFill>
                <a:latin typeface="Arial"/>
                <a:ea typeface="Arial"/>
                <a:cs typeface="Arial"/>
              </a:defRPr>
            </a:lvl7pPr>
            <a:lvl8pPr algn="l">
              <a:defRPr sz="2475" b="0">
                <a:solidFill>
                  <a:srgbClr val="13283C"/>
                </a:solidFill>
                <a:latin typeface="Arial"/>
                <a:ea typeface="Arial"/>
                <a:cs typeface="Arial"/>
              </a:defRPr>
            </a:lvl8pPr>
            <a:lvl9pPr algn="l">
              <a:defRPr sz="2475" b="0">
                <a:solidFill>
                  <a:srgbClr val="13283C"/>
                </a:solidFill>
                <a:latin typeface="Arial"/>
                <a:ea typeface="Arial"/>
                <a:cs typeface="Arial"/>
              </a:defRPr>
            </a:lvl9pPr>
          </a:lstStyle>
          <a:p xmlns:a="http://schemas.openxmlformats.org/drawingml/2006/main">
            <a:pPr algn="l">
              <a:lnSpc>
                <a:spcPct val="110000"/>
              </a:lnSpc>
              <a:buNone/>
              <a:defRPr sz="2475" b="0">
                <a:solidFill>
                  <a:srgbClr val="13283C"/>
                </a:solidFill>
                <a:latin typeface="Arial"/>
                <a:ea typeface="Arial"/>
                <a:cs typeface="Arial"/>
              </a:defRPr>
            </a:pPr>
            <a:r>
              <a:rPr sz="2475" b="0">
                <a:solidFill>
                  <a:srgbClr val="13283C"/>
                </a:solidFill>
                <a:latin typeface="Arial"/>
                <a:ea typeface="Arial"/>
                <a:cs typeface="Arial"/>
              </a:rPr>
              <a:t>da/dt = −[(1 + K₁kₐ)/τₘ]a − c_θ θ + (K₁kₐ/τₘ)u₁</a:t>
            </a:r>
          </a:p>
        </p:txBody>
      </p:sp>
      <p:sp>
        <p:nvSpPr>
          <p:cNvPr id="6" name="dθ/dt = ω">
            <a:extLst xmlns:a="http://schemas.openxmlformats.org/drawingml/2006/main">
              <a:ext uri="{FF2B5EF4-FFF2-40B4-BE49-F238E27FC236}">
                <a16:creationId xmlns:a16="http://schemas.microsoft.com/office/drawing/2014/main" id="{AD085324-7700-4EC5-BA4C-9D18F057FA48}"/>
              </a:ext>
            </a:extLst>
          </p:cNvPr>
          <p:cNvSpPr>
            <a:spLocks xmlns:a="http://schemas.openxmlformats.org/drawingml/2006/main" noGrp="1"/>
          </p:cNvSpPr>
          <p:nvPr/>
        </p:nvSpPr>
        <p:spPr>
          <a:xfrm xmlns:a="http://schemas.openxmlformats.org/drawingml/2006/main">
            <a:off x="590550" y="3124200"/>
            <a:ext cx="10953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0">
                <a:solidFill>
                  <a:srgbClr val="13283C"/>
                </a:solidFill>
                <a:latin typeface="Arial"/>
                <a:ea typeface="Arial"/>
                <a:cs typeface="Arial"/>
              </a:defRPr>
            </a:defPPr>
            <a:lvl1pPr algn="l">
              <a:defRPr sz="2475" b="0">
                <a:solidFill>
                  <a:srgbClr val="13283C"/>
                </a:solidFill>
                <a:latin typeface="Arial"/>
                <a:ea typeface="Arial"/>
                <a:cs typeface="Arial"/>
              </a:defRPr>
            </a:lvl1pPr>
            <a:lvl2pPr algn="l">
              <a:defRPr sz="2475" b="0">
                <a:solidFill>
                  <a:srgbClr val="13283C"/>
                </a:solidFill>
                <a:latin typeface="Arial"/>
                <a:ea typeface="Arial"/>
                <a:cs typeface="Arial"/>
              </a:defRPr>
            </a:lvl2pPr>
            <a:lvl3pPr algn="l">
              <a:defRPr sz="2475" b="0">
                <a:solidFill>
                  <a:srgbClr val="13283C"/>
                </a:solidFill>
                <a:latin typeface="Arial"/>
                <a:ea typeface="Arial"/>
                <a:cs typeface="Arial"/>
              </a:defRPr>
            </a:lvl3pPr>
            <a:lvl4pPr algn="l">
              <a:defRPr sz="2475" b="0">
                <a:solidFill>
                  <a:srgbClr val="13283C"/>
                </a:solidFill>
                <a:latin typeface="Arial"/>
                <a:ea typeface="Arial"/>
                <a:cs typeface="Arial"/>
              </a:defRPr>
            </a:lvl4pPr>
            <a:lvl5pPr algn="l">
              <a:defRPr sz="2475" b="0">
                <a:solidFill>
                  <a:srgbClr val="13283C"/>
                </a:solidFill>
                <a:latin typeface="Arial"/>
                <a:ea typeface="Arial"/>
                <a:cs typeface="Arial"/>
              </a:defRPr>
            </a:lvl5pPr>
            <a:lvl6pPr algn="l">
              <a:defRPr sz="2475" b="0">
                <a:solidFill>
                  <a:srgbClr val="13283C"/>
                </a:solidFill>
                <a:latin typeface="Arial"/>
                <a:ea typeface="Arial"/>
                <a:cs typeface="Arial"/>
              </a:defRPr>
            </a:lvl6pPr>
            <a:lvl7pPr algn="l">
              <a:defRPr sz="2475" b="0">
                <a:solidFill>
                  <a:srgbClr val="13283C"/>
                </a:solidFill>
                <a:latin typeface="Arial"/>
                <a:ea typeface="Arial"/>
                <a:cs typeface="Arial"/>
              </a:defRPr>
            </a:lvl7pPr>
            <a:lvl8pPr algn="l">
              <a:defRPr sz="2475" b="0">
                <a:solidFill>
                  <a:srgbClr val="13283C"/>
                </a:solidFill>
                <a:latin typeface="Arial"/>
                <a:ea typeface="Arial"/>
                <a:cs typeface="Arial"/>
              </a:defRPr>
            </a:lvl8pPr>
            <a:lvl9pPr algn="l">
              <a:defRPr sz="2475" b="0">
                <a:solidFill>
                  <a:srgbClr val="13283C"/>
                </a:solidFill>
                <a:latin typeface="Arial"/>
                <a:ea typeface="Arial"/>
                <a:cs typeface="Arial"/>
              </a:defRPr>
            </a:lvl9pPr>
          </a:lstStyle>
          <a:p xmlns:a="http://schemas.openxmlformats.org/drawingml/2006/main">
            <a:pPr algn="l">
              <a:lnSpc>
                <a:spcPct val="110000"/>
              </a:lnSpc>
              <a:buNone/>
              <a:defRPr sz="2475" b="0">
                <a:solidFill>
                  <a:srgbClr val="13283C"/>
                </a:solidFill>
                <a:latin typeface="Arial"/>
                <a:ea typeface="Arial"/>
                <a:cs typeface="Arial"/>
              </a:defRPr>
            </a:pPr>
            <a:r>
              <a:rPr sz="2475" b="0">
                <a:solidFill>
                  <a:srgbClr val="13283C"/>
                </a:solidFill>
                <a:latin typeface="Arial"/>
                <a:ea typeface="Arial"/>
                <a:cs typeface="Arial"/>
              </a:rPr>
              <a:t>dθ/dt = ω</a:t>
            </a:r>
          </a:p>
        </p:txBody>
      </p:sp>
      <p:sp>
        <p:nvSpPr>
          <p:cNvPr id="7" name="dω/dt = μθ − a_d ω + k_δ δ + k_ε a">
            <a:extLst xmlns:a="http://schemas.openxmlformats.org/drawingml/2006/main">
              <a:ext uri="{FF2B5EF4-FFF2-40B4-BE49-F238E27FC236}">
                <a16:creationId xmlns:a16="http://schemas.microsoft.com/office/drawing/2014/main" id="{40FF8B72-A26F-4C9C-9EB4-45B64D5C971A}"/>
              </a:ext>
            </a:extLst>
          </p:cNvPr>
          <p:cNvSpPr>
            <a:spLocks xmlns:a="http://schemas.openxmlformats.org/drawingml/2006/main" noGrp="1"/>
          </p:cNvSpPr>
          <p:nvPr/>
        </p:nvSpPr>
        <p:spPr>
          <a:xfrm xmlns:a="http://schemas.openxmlformats.org/drawingml/2006/main">
            <a:off x="590550" y="4029075"/>
            <a:ext cx="10953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0">
                <a:solidFill>
                  <a:srgbClr val="13283C"/>
                </a:solidFill>
                <a:latin typeface="Arial"/>
                <a:ea typeface="Arial"/>
                <a:cs typeface="Arial"/>
              </a:defRPr>
            </a:defPPr>
            <a:lvl1pPr algn="l">
              <a:defRPr sz="2475" b="0">
                <a:solidFill>
                  <a:srgbClr val="13283C"/>
                </a:solidFill>
                <a:latin typeface="Arial"/>
                <a:ea typeface="Arial"/>
                <a:cs typeface="Arial"/>
              </a:defRPr>
            </a:lvl1pPr>
            <a:lvl2pPr algn="l">
              <a:defRPr sz="2475" b="0">
                <a:solidFill>
                  <a:srgbClr val="13283C"/>
                </a:solidFill>
                <a:latin typeface="Arial"/>
                <a:ea typeface="Arial"/>
                <a:cs typeface="Arial"/>
              </a:defRPr>
            </a:lvl2pPr>
            <a:lvl3pPr algn="l">
              <a:defRPr sz="2475" b="0">
                <a:solidFill>
                  <a:srgbClr val="13283C"/>
                </a:solidFill>
                <a:latin typeface="Arial"/>
                <a:ea typeface="Arial"/>
                <a:cs typeface="Arial"/>
              </a:defRPr>
            </a:lvl3pPr>
            <a:lvl4pPr algn="l">
              <a:defRPr sz="2475" b="0">
                <a:solidFill>
                  <a:srgbClr val="13283C"/>
                </a:solidFill>
                <a:latin typeface="Arial"/>
                <a:ea typeface="Arial"/>
                <a:cs typeface="Arial"/>
              </a:defRPr>
            </a:lvl4pPr>
            <a:lvl5pPr algn="l">
              <a:defRPr sz="2475" b="0">
                <a:solidFill>
                  <a:srgbClr val="13283C"/>
                </a:solidFill>
                <a:latin typeface="Arial"/>
                <a:ea typeface="Arial"/>
                <a:cs typeface="Arial"/>
              </a:defRPr>
            </a:lvl5pPr>
            <a:lvl6pPr algn="l">
              <a:defRPr sz="2475" b="0">
                <a:solidFill>
                  <a:srgbClr val="13283C"/>
                </a:solidFill>
                <a:latin typeface="Arial"/>
                <a:ea typeface="Arial"/>
                <a:cs typeface="Arial"/>
              </a:defRPr>
            </a:lvl6pPr>
            <a:lvl7pPr algn="l">
              <a:defRPr sz="2475" b="0">
                <a:solidFill>
                  <a:srgbClr val="13283C"/>
                </a:solidFill>
                <a:latin typeface="Arial"/>
                <a:ea typeface="Arial"/>
                <a:cs typeface="Arial"/>
              </a:defRPr>
            </a:lvl7pPr>
            <a:lvl8pPr algn="l">
              <a:defRPr sz="2475" b="0">
                <a:solidFill>
                  <a:srgbClr val="13283C"/>
                </a:solidFill>
                <a:latin typeface="Arial"/>
                <a:ea typeface="Arial"/>
                <a:cs typeface="Arial"/>
              </a:defRPr>
            </a:lvl8pPr>
            <a:lvl9pPr algn="l">
              <a:defRPr sz="2475" b="0">
                <a:solidFill>
                  <a:srgbClr val="13283C"/>
                </a:solidFill>
                <a:latin typeface="Arial"/>
                <a:ea typeface="Arial"/>
                <a:cs typeface="Arial"/>
              </a:defRPr>
            </a:lvl9pPr>
          </a:lstStyle>
          <a:p xmlns:a="http://schemas.openxmlformats.org/drawingml/2006/main">
            <a:pPr algn="l">
              <a:lnSpc>
                <a:spcPct val="110000"/>
              </a:lnSpc>
              <a:buNone/>
              <a:defRPr sz="2475" b="0">
                <a:solidFill>
                  <a:srgbClr val="13283C"/>
                </a:solidFill>
                <a:latin typeface="Arial"/>
                <a:ea typeface="Arial"/>
                <a:cs typeface="Arial"/>
              </a:defRPr>
            </a:pPr>
            <a:r>
              <a:rPr sz="2475" b="0">
                <a:solidFill>
                  <a:srgbClr val="13283C"/>
                </a:solidFill>
                <a:latin typeface="Arial"/>
                <a:ea typeface="Arial"/>
                <a:cs typeface="Arial"/>
              </a:rPr>
              <a:t>dω/dt = μθ − a_d ω + k_δ δ + k_ε a</a:t>
            </a:r>
          </a:p>
        </p:txBody>
      </p:sp>
      <p:sp>
        <p:nvSpPr>
          <p:cNvPr id="8" name="dδ/dt = −δ/τₛ + (K₂/τₛ)(u₂ − θ − λω)">
            <a:extLst xmlns:a="http://schemas.openxmlformats.org/drawingml/2006/main">
              <a:ext uri="{FF2B5EF4-FFF2-40B4-BE49-F238E27FC236}">
                <a16:creationId xmlns:a16="http://schemas.microsoft.com/office/drawing/2014/main" id="{02FD1C97-1D80-4C7A-9B27-2AFE3FA05959}"/>
              </a:ext>
            </a:extLst>
          </p:cNvPr>
          <p:cNvSpPr>
            <a:spLocks xmlns:a="http://schemas.openxmlformats.org/drawingml/2006/main" noGrp="1"/>
          </p:cNvSpPr>
          <p:nvPr/>
        </p:nvSpPr>
        <p:spPr>
          <a:xfrm xmlns:a="http://schemas.openxmlformats.org/drawingml/2006/main">
            <a:off x="590550" y="4933950"/>
            <a:ext cx="10953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0">
                <a:solidFill>
                  <a:srgbClr val="13283C"/>
                </a:solidFill>
                <a:latin typeface="Arial"/>
                <a:ea typeface="Arial"/>
                <a:cs typeface="Arial"/>
              </a:defRPr>
            </a:defPPr>
            <a:lvl1pPr algn="l">
              <a:defRPr sz="2475" b="0">
                <a:solidFill>
                  <a:srgbClr val="13283C"/>
                </a:solidFill>
                <a:latin typeface="Arial"/>
                <a:ea typeface="Arial"/>
                <a:cs typeface="Arial"/>
              </a:defRPr>
            </a:lvl1pPr>
            <a:lvl2pPr algn="l">
              <a:defRPr sz="2475" b="0">
                <a:solidFill>
                  <a:srgbClr val="13283C"/>
                </a:solidFill>
                <a:latin typeface="Arial"/>
                <a:ea typeface="Arial"/>
                <a:cs typeface="Arial"/>
              </a:defRPr>
            </a:lvl2pPr>
            <a:lvl3pPr algn="l">
              <a:defRPr sz="2475" b="0">
                <a:solidFill>
                  <a:srgbClr val="13283C"/>
                </a:solidFill>
                <a:latin typeface="Arial"/>
                <a:ea typeface="Arial"/>
                <a:cs typeface="Arial"/>
              </a:defRPr>
            </a:lvl3pPr>
            <a:lvl4pPr algn="l">
              <a:defRPr sz="2475" b="0">
                <a:solidFill>
                  <a:srgbClr val="13283C"/>
                </a:solidFill>
                <a:latin typeface="Arial"/>
                <a:ea typeface="Arial"/>
                <a:cs typeface="Arial"/>
              </a:defRPr>
            </a:lvl4pPr>
            <a:lvl5pPr algn="l">
              <a:defRPr sz="2475" b="0">
                <a:solidFill>
                  <a:srgbClr val="13283C"/>
                </a:solidFill>
                <a:latin typeface="Arial"/>
                <a:ea typeface="Arial"/>
                <a:cs typeface="Arial"/>
              </a:defRPr>
            </a:lvl5pPr>
            <a:lvl6pPr algn="l">
              <a:defRPr sz="2475" b="0">
                <a:solidFill>
                  <a:srgbClr val="13283C"/>
                </a:solidFill>
                <a:latin typeface="Arial"/>
                <a:ea typeface="Arial"/>
                <a:cs typeface="Arial"/>
              </a:defRPr>
            </a:lvl6pPr>
            <a:lvl7pPr algn="l">
              <a:defRPr sz="2475" b="0">
                <a:solidFill>
                  <a:srgbClr val="13283C"/>
                </a:solidFill>
                <a:latin typeface="Arial"/>
                <a:ea typeface="Arial"/>
                <a:cs typeface="Arial"/>
              </a:defRPr>
            </a:lvl7pPr>
            <a:lvl8pPr algn="l">
              <a:defRPr sz="2475" b="0">
                <a:solidFill>
                  <a:srgbClr val="13283C"/>
                </a:solidFill>
                <a:latin typeface="Arial"/>
                <a:ea typeface="Arial"/>
                <a:cs typeface="Arial"/>
              </a:defRPr>
            </a:lvl8pPr>
            <a:lvl9pPr algn="l">
              <a:defRPr sz="2475" b="0">
                <a:solidFill>
                  <a:srgbClr val="13283C"/>
                </a:solidFill>
                <a:latin typeface="Arial"/>
                <a:ea typeface="Arial"/>
                <a:cs typeface="Arial"/>
              </a:defRPr>
            </a:lvl9pPr>
          </a:lstStyle>
          <a:p xmlns:a="http://schemas.openxmlformats.org/drawingml/2006/main">
            <a:pPr algn="l">
              <a:lnSpc>
                <a:spcPct val="110000"/>
              </a:lnSpc>
              <a:buNone/>
              <a:defRPr sz="2475" b="0">
                <a:solidFill>
                  <a:srgbClr val="13283C"/>
                </a:solidFill>
                <a:latin typeface="Arial"/>
                <a:ea typeface="Arial"/>
                <a:cs typeface="Arial"/>
              </a:defRPr>
            </a:pPr>
            <a:r>
              <a:rPr sz="2475" b="0">
                <a:solidFill>
                  <a:srgbClr val="13283C"/>
                </a:solidFill>
                <a:latin typeface="Arial"/>
                <a:ea typeface="Arial"/>
                <a:cs typeface="Arial"/>
              </a:rPr>
              <a:t>dδ/dt = −δ/τₛ + (K₂/τₛ)(u₂ − θ − λω)</a:t>
            </a:r>
          </a:p>
        </p:txBody>
      </p:sp>
      <p:sp>
        <p:nvSpPr>
          <p:cNvPr id="9" name="x = [a, θ, ω, δ]ᵀ     y = [a, θ]ᵀ">
            <a:extLst xmlns:a="http://schemas.openxmlformats.org/drawingml/2006/main">
              <a:ext uri="{FF2B5EF4-FFF2-40B4-BE49-F238E27FC236}">
                <a16:creationId xmlns:a16="http://schemas.microsoft.com/office/drawing/2014/main" id="{6B01379C-27FA-4052-A2D0-5CB734BAF600}"/>
              </a:ext>
            </a:extLst>
          </p:cNvPr>
          <p:cNvSpPr>
            <a:spLocks xmlns:a="http://schemas.openxmlformats.org/drawingml/2006/main" noGrp="1"/>
          </p:cNvSpPr>
          <p:nvPr/>
        </p:nvSpPr>
        <p:spPr>
          <a:xfrm xmlns:a="http://schemas.openxmlformats.org/drawingml/2006/main">
            <a:off x="590550" y="59626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516474"/>
                </a:solidFill>
                <a:latin typeface="Arial"/>
                <a:ea typeface="Arial"/>
                <a:cs typeface="Arial"/>
              </a:defRPr>
            </a:defPPr>
            <a:lvl1pPr algn="l">
              <a:defRPr sz="2175" b="0">
                <a:solidFill>
                  <a:srgbClr val="516474"/>
                </a:solidFill>
                <a:latin typeface="Arial"/>
                <a:ea typeface="Arial"/>
                <a:cs typeface="Arial"/>
              </a:defRPr>
            </a:lvl1pPr>
            <a:lvl2pPr algn="l">
              <a:defRPr sz="2175" b="0">
                <a:solidFill>
                  <a:srgbClr val="516474"/>
                </a:solidFill>
                <a:latin typeface="Arial"/>
                <a:ea typeface="Arial"/>
                <a:cs typeface="Arial"/>
              </a:defRPr>
            </a:lvl2pPr>
            <a:lvl3pPr algn="l">
              <a:defRPr sz="2175" b="0">
                <a:solidFill>
                  <a:srgbClr val="516474"/>
                </a:solidFill>
                <a:latin typeface="Arial"/>
                <a:ea typeface="Arial"/>
                <a:cs typeface="Arial"/>
              </a:defRPr>
            </a:lvl3pPr>
            <a:lvl4pPr algn="l">
              <a:defRPr sz="2175" b="0">
                <a:solidFill>
                  <a:srgbClr val="516474"/>
                </a:solidFill>
                <a:latin typeface="Arial"/>
                <a:ea typeface="Arial"/>
                <a:cs typeface="Arial"/>
              </a:defRPr>
            </a:lvl4pPr>
            <a:lvl5pPr algn="l">
              <a:defRPr sz="2175" b="0">
                <a:solidFill>
                  <a:srgbClr val="516474"/>
                </a:solidFill>
                <a:latin typeface="Arial"/>
                <a:ea typeface="Arial"/>
                <a:cs typeface="Arial"/>
              </a:defRPr>
            </a:lvl5pPr>
            <a:lvl6pPr algn="l">
              <a:defRPr sz="2175" b="0">
                <a:solidFill>
                  <a:srgbClr val="516474"/>
                </a:solidFill>
                <a:latin typeface="Arial"/>
                <a:ea typeface="Arial"/>
                <a:cs typeface="Arial"/>
              </a:defRPr>
            </a:lvl6pPr>
            <a:lvl7pPr algn="l">
              <a:defRPr sz="2175" b="0">
                <a:solidFill>
                  <a:srgbClr val="516474"/>
                </a:solidFill>
                <a:latin typeface="Arial"/>
                <a:ea typeface="Arial"/>
                <a:cs typeface="Arial"/>
              </a:defRPr>
            </a:lvl7pPr>
            <a:lvl8pPr algn="l">
              <a:defRPr sz="2175" b="0">
                <a:solidFill>
                  <a:srgbClr val="516474"/>
                </a:solidFill>
                <a:latin typeface="Arial"/>
                <a:ea typeface="Arial"/>
                <a:cs typeface="Arial"/>
              </a:defRPr>
            </a:lvl8pPr>
            <a:lvl9pPr algn="l">
              <a:defRPr sz="2175" b="0">
                <a:solidFill>
                  <a:srgbClr val="516474"/>
                </a:solidFill>
                <a:latin typeface="Arial"/>
                <a:ea typeface="Arial"/>
                <a:cs typeface="Arial"/>
              </a:defRPr>
            </a:lvl9pPr>
          </a:lstStyle>
          <a:p xmlns:a="http://schemas.openxmlformats.org/drawingml/2006/main">
            <a:pPr algn="l">
              <a:lnSpc>
                <a:spcPct val="110000"/>
              </a:lnSpc>
              <a:buNone/>
              <a:defRPr sz="2175" b="0">
                <a:solidFill>
                  <a:srgbClr val="516474"/>
                </a:solidFill>
                <a:latin typeface="Arial"/>
                <a:ea typeface="Arial"/>
                <a:cs typeface="Arial"/>
              </a:defRPr>
            </a:pPr>
            <a:r>
              <a:rPr sz="2175" b="0">
                <a:solidFill>
                  <a:srgbClr val="516474"/>
                </a:solidFill>
                <a:latin typeface="Arial"/>
                <a:ea typeface="Arial"/>
                <a:cs typeface="Arial"/>
              </a:rPr>
              <a:t>x = [a, θ, ω, δ]ᵀ     y = [a, θ]ᵀ</a:t>
            </a:r>
          </a:p>
        </p:txBody>
      </p:sp>
    </p:spTree>
    <p:extLst>
      <p:ext uri="{BB962C8B-B14F-4D97-AF65-F5344CB8AC3E}">
        <p14:creationId xmlns:p14="http://schemas.microsoft.com/office/powerpoint/2010/main" val="184629993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Apoyo: transferencia">
            <a:extLst xmlns:a="http://schemas.openxmlformats.org/drawingml/2006/main">
              <a:ext uri="{FF2B5EF4-FFF2-40B4-BE49-F238E27FC236}">
                <a16:creationId xmlns:a16="http://schemas.microsoft.com/office/drawing/2014/main" id="{C2903726-3071-4D91-BD18-422322F85258}"/>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Backup: transfer matrix</a:t>
            </a:r>
          </a:p>
        </p:txBody>
      </p:sp>
      <p:sp>
        <p:nvSpPr>
          <p:cNvPr id="3" name="Apoyo B">
            <a:extLst xmlns:a="http://schemas.openxmlformats.org/drawingml/2006/main">
              <a:ext uri="{FF2B5EF4-FFF2-40B4-BE49-F238E27FC236}">
                <a16:creationId xmlns:a16="http://schemas.microsoft.com/office/drawing/2014/main" id="{744755C5-E2B7-40A6-A5F3-61B33AB9CD20}"/>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Backup B</a:t>
            </a:r>
          </a:p>
        </p:txBody>
      </p:sp>
      <p:sp>
        <p:nvSpPr>
          <p:cNvPr id="4" name="Polinomio característico y matriz de transferenc">
            <a:extLst xmlns:a="http://schemas.openxmlformats.org/drawingml/2006/main">
              <a:ext uri="{FF2B5EF4-FFF2-40B4-BE49-F238E27FC236}">
                <a16:creationId xmlns:a16="http://schemas.microsoft.com/office/drawing/2014/main" id="{90AD3AD3-976E-4D90-B77E-98CE50C529E9}"/>
              </a:ext>
            </a:extLst>
          </p:cNvPr>
          <p:cNvSpPr>
            <a:spLocks xmlns:a="http://schemas.openxmlformats.org/drawingml/2006/main" noGrp="1"/>
          </p:cNvSpPr>
          <p:nvPr/>
        </p:nvSpPr>
        <p:spPr>
          <a:xfrm xmlns:a="http://schemas.openxmlformats.org/drawingml/2006/main">
            <a:off x="590550" y="1285875"/>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xmlns:a="http://schemas.openxmlformats.org/drawingml/2006/main">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Characteristic polynomial and transfer matrix</a:t>
            </a:r>
          </a:p>
        </p:txBody>
      </p:sp>
      <p:sp>
        <p:nvSpPr>
          <p:cNvPr id="5" name="α = 1,0672 + 0,0699016K₁        β = 0,0699016K₁">
            <a:extLst xmlns:a="http://schemas.openxmlformats.org/drawingml/2006/main">
              <a:ext uri="{FF2B5EF4-FFF2-40B4-BE49-F238E27FC236}">
                <a16:creationId xmlns:a16="http://schemas.microsoft.com/office/drawing/2014/main" id="{D6439D74-8AAA-4539-AC7E-EA21BC6927CA}"/>
              </a:ext>
            </a:extLst>
          </p:cNvPr>
          <p:cNvSpPr>
            <a:spLocks xmlns:a="http://schemas.openxmlformats.org/drawingml/2006/main" noGrp="1"/>
          </p:cNvSpPr>
          <p:nvPr/>
        </p:nvSpPr>
        <p:spPr>
          <a:xfrm xmlns:a="http://schemas.openxmlformats.org/drawingml/2006/main">
            <a:off x="590550" y="20669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α = 1.0672 + 0.0699016K₁        β = 0.0699016K₁</a:t>
            </a:r>
          </a:p>
        </p:txBody>
      </p:sp>
      <p:sp>
        <p:nvSpPr>
          <p:cNvPr id="6" name="Q(s) = s³ + 20,35s² + (5,8 + 102K₂)s + 170K₂ − 2">
            <a:extLst xmlns:a="http://schemas.openxmlformats.org/drawingml/2006/main">
              <a:ext uri="{FF2B5EF4-FFF2-40B4-BE49-F238E27FC236}">
                <a16:creationId xmlns:a16="http://schemas.microsoft.com/office/drawing/2014/main" id="{32EE77B9-64AF-41BF-AC0F-D7D814C2E449}"/>
              </a:ext>
            </a:extLst>
          </p:cNvPr>
          <p:cNvSpPr>
            <a:spLocks xmlns:a="http://schemas.openxmlformats.org/drawingml/2006/main" noGrp="1"/>
          </p:cNvSpPr>
          <p:nvPr/>
        </p:nvSpPr>
        <p:spPr>
          <a:xfrm xmlns:a="http://schemas.openxmlformats.org/drawingml/2006/main">
            <a:off x="590550" y="276225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xmlns:a="http://schemas.openxmlformats.org/drawingml/2006/main">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Q(s) = s³ + 20.35s² + (5.8 + 102K₂)s + 170K₂ − 24</a:t>
            </a:r>
          </a:p>
        </p:txBody>
      </p:sp>
      <p:sp>
        <p:nvSpPr>
          <p:cNvPr id="7" name="P(s) = (s + α)Q(s) + 1,1772(s + 20)">
            <a:extLst xmlns:a="http://schemas.openxmlformats.org/drawingml/2006/main">
              <a:ext uri="{FF2B5EF4-FFF2-40B4-BE49-F238E27FC236}">
                <a16:creationId xmlns:a16="http://schemas.microsoft.com/office/drawing/2014/main" id="{867CBD00-678B-4D77-90EE-B33C5275A22C}"/>
              </a:ext>
            </a:extLst>
          </p:cNvPr>
          <p:cNvSpPr>
            <a:spLocks xmlns:a="http://schemas.openxmlformats.org/drawingml/2006/main" noGrp="1"/>
          </p:cNvSpPr>
          <p:nvPr/>
        </p:nvSpPr>
        <p:spPr>
          <a:xfrm xmlns:a="http://schemas.openxmlformats.org/drawingml/2006/main">
            <a:off x="590550" y="3457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087E8B"/>
                </a:solidFill>
                <a:latin typeface="Arial"/>
                <a:ea typeface="Arial"/>
                <a:cs typeface="Arial"/>
              </a:defRPr>
            </a:defPPr>
            <a:lvl1pPr algn="l">
              <a:defRPr sz="2175" b="1">
                <a:solidFill>
                  <a:srgbClr val="087E8B"/>
                </a:solidFill>
                <a:latin typeface="Arial"/>
                <a:ea typeface="Arial"/>
                <a:cs typeface="Arial"/>
              </a:defRPr>
            </a:lvl1pPr>
            <a:lvl2pPr algn="l">
              <a:defRPr sz="2175" b="1">
                <a:solidFill>
                  <a:srgbClr val="087E8B"/>
                </a:solidFill>
                <a:latin typeface="Arial"/>
                <a:ea typeface="Arial"/>
                <a:cs typeface="Arial"/>
              </a:defRPr>
            </a:lvl2pPr>
            <a:lvl3pPr algn="l">
              <a:defRPr sz="2175" b="1">
                <a:solidFill>
                  <a:srgbClr val="087E8B"/>
                </a:solidFill>
                <a:latin typeface="Arial"/>
                <a:ea typeface="Arial"/>
                <a:cs typeface="Arial"/>
              </a:defRPr>
            </a:lvl3pPr>
            <a:lvl4pPr algn="l">
              <a:defRPr sz="2175" b="1">
                <a:solidFill>
                  <a:srgbClr val="087E8B"/>
                </a:solidFill>
                <a:latin typeface="Arial"/>
                <a:ea typeface="Arial"/>
                <a:cs typeface="Arial"/>
              </a:defRPr>
            </a:lvl4pPr>
            <a:lvl5pPr algn="l">
              <a:defRPr sz="2175" b="1">
                <a:solidFill>
                  <a:srgbClr val="087E8B"/>
                </a:solidFill>
                <a:latin typeface="Arial"/>
                <a:ea typeface="Arial"/>
                <a:cs typeface="Arial"/>
              </a:defRPr>
            </a:lvl5pPr>
            <a:lvl6pPr algn="l">
              <a:defRPr sz="2175" b="1">
                <a:solidFill>
                  <a:srgbClr val="087E8B"/>
                </a:solidFill>
                <a:latin typeface="Arial"/>
                <a:ea typeface="Arial"/>
                <a:cs typeface="Arial"/>
              </a:defRPr>
            </a:lvl6pPr>
            <a:lvl7pPr algn="l">
              <a:defRPr sz="2175" b="1">
                <a:solidFill>
                  <a:srgbClr val="087E8B"/>
                </a:solidFill>
                <a:latin typeface="Arial"/>
                <a:ea typeface="Arial"/>
                <a:cs typeface="Arial"/>
              </a:defRPr>
            </a:lvl7pPr>
            <a:lvl8pPr algn="l">
              <a:defRPr sz="2175" b="1">
                <a:solidFill>
                  <a:srgbClr val="087E8B"/>
                </a:solidFill>
                <a:latin typeface="Arial"/>
                <a:ea typeface="Arial"/>
                <a:cs typeface="Arial"/>
              </a:defRPr>
            </a:lvl8pPr>
            <a:lvl9pPr algn="l">
              <a:defRPr sz="2175" b="1">
                <a:solidFill>
                  <a:srgbClr val="087E8B"/>
                </a:solidFill>
                <a:latin typeface="Arial"/>
                <a:ea typeface="Arial"/>
                <a:cs typeface="Arial"/>
              </a:defRPr>
            </a:lvl9pPr>
          </a:lstStyle>
          <a:p xmlns:a="http://schemas.openxmlformats.org/drawingml/2006/main">
            <a:pPr algn="l">
              <a:lnSpc>
                <a:spcPct val="110000"/>
              </a:lnSpc>
              <a:buNone/>
              <a:defRPr sz="2175" b="1">
                <a:solidFill>
                  <a:srgbClr val="087E8B"/>
                </a:solidFill>
                <a:latin typeface="Arial"/>
                <a:ea typeface="Arial"/>
                <a:cs typeface="Arial"/>
              </a:defRPr>
            </a:pPr>
            <a:r>
              <a:rPr sz="2175" b="1">
                <a:solidFill>
                  <a:srgbClr val="087E8B"/>
                </a:solidFill>
                <a:latin typeface="Arial"/>
                <a:ea typeface="Arial"/>
                <a:cs typeface="Arial"/>
              </a:rPr>
              <a:t>P(s) = (s + α)Q(s) + 1.1772(s + 20)</a:t>
            </a:r>
          </a:p>
        </p:txBody>
      </p:sp>
      <p:graphicFrame>
        <p:nvGraphicFramePr>
          <p:cNvPr id="8" name="">
            <a:extLst xmlns:a="http://schemas.openxmlformats.org/drawingml/2006/main">
              <a:ext uri="{FF2B5EF4-FFF2-40B4-BE49-F238E27FC236}">
                <a16:creationId xmlns:a16="http://schemas.microsoft.com/office/drawing/2014/main" id="{E1AFBFE7-8716-4A65-9735-583409F7E1BA}"/>
              </a:ext>
            </a:extLst>
          </p:cNvPr>
          <p:cNvGraphicFramePr/>
          <p:nvPr/>
        </p:nvGraphicFramePr>
        <p:xfrm>
          <a:off xmlns:a="http://schemas.openxmlformats.org/drawingml/2006/main" x="590550" y="4295775"/>
          <a:ext xmlns:a="http://schemas.openxmlformats.org/drawingml/2006/main" cx="10858500" cy="1600200"/>
        </p:xfrm>
        <a:graphic xmlns:a="http://schemas.openxmlformats.org/drawingml/2006/main">
          <a:graphicData uri="http://schemas.openxmlformats.org/drawingml/2006/table">
            <a:tbl>
              <a:tblPr/>
              <a:tblGrid>
                <a:gridCol w="5143500"/>
                <a:gridCol w="2857500"/>
                <a:gridCol w="2857500"/>
              </a:tblGrid>
              <a:tr h="533400">
                <a:tc>
                  <a:txBody>
                    <a:bodyPr lIns="95250" tIns="95250" rIns="95250" bIns="95250"/>
                    <a:lstStyle/>
                    <a:p>
                      <a:r>
                        <a:rPr sz="1875" b="1">
                          <a:solidFill>
                            <a:srgbClr val="FFFFFF"/>
                          </a:solidFill>
                          <a:latin typeface="Arial"/>
                          <a:ea typeface="Arial"/>
                          <a:cs typeface="Arial"/>
                        </a:rPr>
                        <a:t>Numerators of G(s) = N(s) / P(s)</a:t>
                      </a:r>
                    </a:p>
                  </a:txBody>
                  <a:tcPr marL="91440" marR="91440" marT="45720" marB="45720"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875" b="1">
                          <a:solidFill>
                            <a:srgbClr val="FFFFFF"/>
                          </a:solidFill>
                          <a:latin typeface="Arial"/>
                          <a:ea typeface="Arial"/>
                          <a:cs typeface="Arial"/>
                        </a:rPr>
                        <a:t>Input u₁</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lIns="95250" tIns="95250" rIns="95250" bIns="95250"/>
                    <a:lstStyle/>
                    <a:p>
                      <a:r>
                        <a:rPr sz="1875" b="1">
                          <a:solidFill>
                            <a:srgbClr val="FFFFFF"/>
                          </a:solidFill>
                          <a:latin typeface="Arial"/>
                          <a:ea typeface="Arial"/>
                          <a:cs typeface="Arial"/>
                        </a:rPr>
                        <a:t>Input u₂</a:t>
                      </a:r>
                    </a:p>
                  </a:txBody>
                  <a:tcPr marL="91440" marR="91440" marT="45720" marB="45720" anchor="ctr">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r>
              <a:tr h="533400">
                <a:tc>
                  <a:txBody>
                    <a:bodyPr lIns="95250" tIns="95250" rIns="95250" bIns="95250"/>
                    <a:lstStyle/>
                    <a:p>
                      <a:r>
                        <a:rPr sz="1875" b="0">
                          <a:solidFill>
                            <a:srgbClr val="13283C"/>
                          </a:solidFill>
                          <a:latin typeface="Arial"/>
                          <a:ea typeface="Arial"/>
                          <a:cs typeface="Arial"/>
                        </a:rPr>
                        <a:t>Output a</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875" b="0">
                          <a:solidFill>
                            <a:srgbClr val="13283C"/>
                          </a:solidFill>
                          <a:latin typeface="Arial"/>
                          <a:ea typeface="Arial"/>
                          <a:cs typeface="Arial"/>
                        </a:rPr>
                        <a:t>βQ(s)</a:t>
                      </a:r>
                    </a:p>
                  </a:txBody>
                  <a:tcPr marL="91440" marR="91440" marT="45720" marB="45720" anchor="ctr">
                    <a:lnR w="5715">
                      <a:solidFill>
                        <a:srgbClr val="DFE6EB"/>
                      </a:solidFill>
                      <a:prstDash val="solid"/>
                    </a:lnR>
                    <a:lnB w="5715">
                      <a:solidFill>
                        <a:srgbClr val="DFE6EB"/>
                      </a:solidFill>
                      <a:prstDash val="solid"/>
                    </a:lnB>
                    <a:solidFill>
                      <a:srgbClr val="FFFFFF"/>
                    </a:solidFill>
                  </a:tcPr>
                </a:tc>
                <a:tc>
                  <a:txBody>
                    <a:bodyPr lIns="95250" tIns="95250" rIns="95250" bIns="95250"/>
                    <a:lstStyle/>
                    <a:p>
                      <a:r>
                        <a:rPr sz="1875" b="0">
                          <a:solidFill>
                            <a:srgbClr val="13283C"/>
                          </a:solidFill>
                          <a:latin typeface="Arial"/>
                          <a:ea typeface="Arial"/>
                          <a:cs typeface="Arial"/>
                        </a:rPr>
                        <a:t>−1667.7K₂</a:t>
                      </a:r>
                    </a:p>
                  </a:txBody>
                  <a:tcPr marL="91440" marR="91440" marT="45720" marB="45720" anchor="ctr">
                    <a:lnR w="5715">
                      <a:solidFill>
                        <a:srgbClr val="DFE6EB"/>
                      </a:solidFill>
                      <a:prstDash val="solid"/>
                    </a:lnR>
                    <a:lnB w="5715">
                      <a:solidFill>
                        <a:srgbClr val="DFE6EB"/>
                      </a:solidFill>
                      <a:prstDash val="solid"/>
                    </a:lnB>
                    <a:solidFill>
                      <a:srgbClr val="FFFFFF"/>
                    </a:solidFill>
                  </a:tcPr>
                </a:tc>
              </a:tr>
              <a:tr h="533400">
                <a:tc>
                  <a:txBody>
                    <a:bodyPr lIns="95250" tIns="95250" rIns="95250" bIns="95250"/>
                    <a:lstStyle/>
                    <a:p>
                      <a:r>
                        <a:rPr sz="1875" b="0">
                          <a:solidFill>
                            <a:srgbClr val="13283C"/>
                          </a:solidFill>
                          <a:latin typeface="Arial"/>
                          <a:ea typeface="Arial"/>
                          <a:cs typeface="Arial"/>
                        </a:rPr>
                        <a:t>Output θ</a:t>
                      </a:r>
                    </a:p>
                  </a:txBody>
                  <a:tcPr marL="91440" marR="91440" marT="45720" marB="45720" anchor="ctr">
                    <a:lnL w="5715">
                      <a:solidFill>
                        <a:srgbClr val="DFE6EB"/>
                      </a:solidFill>
                      <a:prstDash val="solid"/>
                    </a:lnL>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875" b="0">
                          <a:solidFill>
                            <a:srgbClr val="13283C"/>
                          </a:solidFill>
                          <a:latin typeface="Arial"/>
                          <a:ea typeface="Arial"/>
                          <a:cs typeface="Arial"/>
                        </a:rPr>
                        <a:t>0.12β(s + 20)</a:t>
                      </a:r>
                    </a:p>
                  </a:txBody>
                  <a:tcPr marL="91440" marR="91440" marT="45720" marB="45720" anchor="ctr">
                    <a:lnR w="5715">
                      <a:solidFill>
                        <a:srgbClr val="DFE6EB"/>
                      </a:solidFill>
                      <a:prstDash val="solid"/>
                    </a:lnR>
                    <a:lnB w="5715">
                      <a:solidFill>
                        <a:srgbClr val="DFE6EB"/>
                      </a:solidFill>
                      <a:prstDash val="solid"/>
                    </a:lnB>
                    <a:solidFill>
                      <a:srgbClr val="F3F6F8"/>
                    </a:solidFill>
                  </a:tcPr>
                </a:tc>
                <a:tc>
                  <a:txBody>
                    <a:bodyPr lIns="95250" tIns="95250" rIns="95250" bIns="95250"/>
                    <a:lstStyle/>
                    <a:p>
                      <a:r>
                        <a:rPr sz="1875" b="0">
                          <a:solidFill>
                            <a:srgbClr val="13283C"/>
                          </a:solidFill>
                          <a:latin typeface="Arial"/>
                          <a:ea typeface="Arial"/>
                          <a:cs typeface="Arial"/>
                        </a:rPr>
                        <a:t>170K₂(s + α)</a:t>
                      </a:r>
                    </a:p>
                  </a:txBody>
                  <a:tcPr marL="91440" marR="91440" marT="45720" marB="45720" anchor="ctr">
                    <a:lnR w="5715">
                      <a:solidFill>
                        <a:srgbClr val="DFE6EB"/>
                      </a:solidFill>
                      <a:prstDash val="solid"/>
                    </a:lnR>
                    <a:lnB w="5715">
                      <a:solidFill>
                        <a:srgbClr val="DFE6EB"/>
                      </a:solidFill>
                      <a:prstDash val="solid"/>
                    </a:lnB>
                    <a:solidFill>
                      <a:srgbClr val="F3F6F8"/>
                    </a:solidFill>
                  </a:tcPr>
                </a:tc>
              </a:tr>
            </a:tbl>
          </a:graphicData>
        </a:graphic>
      </p:graphicFrame>
      <p:sp>
        <p:nvSpPr>
          <p:cNvPr id="9" name="Nominal: P(s) = s⁴ + 21,4871s³ + 79,9400s² + 126">
            <a:extLst xmlns:a="http://schemas.openxmlformats.org/drawingml/2006/main">
              <a:ext uri="{FF2B5EF4-FFF2-40B4-BE49-F238E27FC236}">
                <a16:creationId xmlns:a16="http://schemas.microsoft.com/office/drawing/2014/main" id="{15E2EF34-AC6B-4095-B34B-5F73877B8EF3}"/>
              </a:ext>
            </a:extLst>
          </p:cNvPr>
          <p:cNvSpPr>
            <a:spLocks xmlns:a="http://schemas.openxmlformats.org/drawingml/2006/main" noGrp="1"/>
          </p:cNvSpPr>
          <p:nvPr/>
        </p:nvSpPr>
        <p:spPr>
          <a:xfrm xmlns:a="http://schemas.openxmlformats.org/drawingml/2006/main">
            <a:off x="590550" y="61055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0">
                <a:solidFill>
                  <a:srgbClr val="516474"/>
                </a:solidFill>
                <a:latin typeface="Arial"/>
                <a:ea typeface="Arial"/>
                <a:cs typeface="Arial"/>
              </a:defRPr>
            </a:defPPr>
            <a:lvl1pPr algn="l">
              <a:defRPr sz="1650" b="0">
                <a:solidFill>
                  <a:srgbClr val="516474"/>
                </a:solidFill>
                <a:latin typeface="Arial"/>
                <a:ea typeface="Arial"/>
                <a:cs typeface="Arial"/>
              </a:defRPr>
            </a:lvl1pPr>
            <a:lvl2pPr algn="l">
              <a:defRPr sz="1650" b="0">
                <a:solidFill>
                  <a:srgbClr val="516474"/>
                </a:solidFill>
                <a:latin typeface="Arial"/>
                <a:ea typeface="Arial"/>
                <a:cs typeface="Arial"/>
              </a:defRPr>
            </a:lvl2pPr>
            <a:lvl3pPr algn="l">
              <a:defRPr sz="1650" b="0">
                <a:solidFill>
                  <a:srgbClr val="516474"/>
                </a:solidFill>
                <a:latin typeface="Arial"/>
                <a:ea typeface="Arial"/>
                <a:cs typeface="Arial"/>
              </a:defRPr>
            </a:lvl3pPr>
            <a:lvl4pPr algn="l">
              <a:defRPr sz="1650" b="0">
                <a:solidFill>
                  <a:srgbClr val="516474"/>
                </a:solidFill>
                <a:latin typeface="Arial"/>
                <a:ea typeface="Arial"/>
                <a:cs typeface="Arial"/>
              </a:defRPr>
            </a:lvl4pPr>
            <a:lvl5pPr algn="l">
              <a:defRPr sz="1650" b="0">
                <a:solidFill>
                  <a:srgbClr val="516474"/>
                </a:solidFill>
                <a:latin typeface="Arial"/>
                <a:ea typeface="Arial"/>
                <a:cs typeface="Arial"/>
              </a:defRPr>
            </a:lvl5pPr>
            <a:lvl6pPr algn="l">
              <a:defRPr sz="1650" b="0">
                <a:solidFill>
                  <a:srgbClr val="516474"/>
                </a:solidFill>
                <a:latin typeface="Arial"/>
                <a:ea typeface="Arial"/>
                <a:cs typeface="Arial"/>
              </a:defRPr>
            </a:lvl6pPr>
            <a:lvl7pPr algn="l">
              <a:defRPr sz="1650" b="0">
                <a:solidFill>
                  <a:srgbClr val="516474"/>
                </a:solidFill>
                <a:latin typeface="Arial"/>
                <a:ea typeface="Arial"/>
                <a:cs typeface="Arial"/>
              </a:defRPr>
            </a:lvl7pPr>
            <a:lvl8pPr algn="l">
              <a:defRPr sz="1650" b="0">
                <a:solidFill>
                  <a:srgbClr val="516474"/>
                </a:solidFill>
                <a:latin typeface="Arial"/>
                <a:ea typeface="Arial"/>
                <a:cs typeface="Arial"/>
              </a:defRPr>
            </a:lvl8pPr>
            <a:lvl9pPr algn="l">
              <a:defRPr sz="1650" b="0">
                <a:solidFill>
                  <a:srgbClr val="516474"/>
                </a:solidFill>
                <a:latin typeface="Arial"/>
                <a:ea typeface="Arial"/>
                <a:cs typeface="Arial"/>
              </a:defRPr>
            </a:lvl9pPr>
          </a:lstStyle>
          <a:p xmlns:a="http://schemas.openxmlformats.org/drawingml/2006/main">
            <a:pPr algn="l">
              <a:lnSpc>
                <a:spcPct val="110000"/>
              </a:lnSpc>
              <a:buNone/>
              <a:defRPr sz="1650" b="0">
                <a:solidFill>
                  <a:srgbClr val="516474"/>
                </a:solidFill>
                <a:latin typeface="Arial"/>
                <a:ea typeface="Arial"/>
                <a:cs typeface="Arial"/>
              </a:defRPr>
            </a:pPr>
            <a:r>
              <a:rPr sz="1650" b="0">
                <a:solidFill>
                  <a:srgbClr val="516474"/>
                </a:solidFill>
                <a:latin typeface="Arial"/>
                <a:ea typeface="Arial"/>
                <a:cs typeface="Arial"/>
              </a:rPr>
              <a:t>Nominal: P(s) = s⁴ + 21.4871s³ + 79.9400s² + 126.7646s + 92.9072</a:t>
            </a:r>
          </a:p>
        </p:txBody>
      </p:sp>
    </p:spTree>
    <p:extLst>
      <p:ext uri="{BB962C8B-B14F-4D97-AF65-F5344CB8AC3E}">
        <p14:creationId xmlns:p14="http://schemas.microsoft.com/office/powerpoint/2010/main" val="10967753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Pruebas temporales">
            <a:extLst xmlns:a="http://schemas.openxmlformats.org/drawingml/2006/main">
              <a:ext uri="{FF2B5EF4-FFF2-40B4-BE49-F238E27FC236}">
                <a16:creationId xmlns:a16="http://schemas.microsoft.com/office/drawing/2014/main" id="{1B45C471-5D73-493F-BB93-440ED761A860}"/>
              </a:ext>
            </a:extLst>
          </p:cNvPr>
          <p:cNvSpPr>
            <a:spLocks xmlns:a="http://schemas.openxmlformats.org/drawingml/2006/main" noGrp="1"/>
          </p:cNvSpPr>
          <p:nvPr/>
        </p:nvSpPr>
        <p:spPr>
          <a:xfrm xmlns:a="http://schemas.openxmlformats.org/drawingml/2006/main">
            <a:off x="590550" y="400050"/>
            <a:ext cx="1101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xmlns:a="http://schemas.openxmlformats.org/drawingml/2006/main">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Backup: unit-response overview</a:t>
            </a:r>
          </a:p>
        </p:txBody>
      </p:sp>
      <p:sp>
        <p:nvSpPr>
          <p:cNvPr id="3" name="06 / 16">
            <a:extLst xmlns:a="http://schemas.openxmlformats.org/drawingml/2006/main">
              <a:ext uri="{FF2B5EF4-FFF2-40B4-BE49-F238E27FC236}">
                <a16:creationId xmlns:a16="http://schemas.microsoft.com/office/drawing/2014/main" id="{A8F4FC17-99EC-48EE-ABDC-71C29909DACF}"/>
              </a:ext>
            </a:extLst>
          </p:cNvPr>
          <p:cNvSpPr>
            <a:spLocks xmlns:a="http://schemas.openxmlformats.org/drawingml/2006/main" noGrp="1"/>
          </p:cNvSpPr>
          <p:nvPr/>
        </p:nvSpPr>
        <p:spPr>
          <a:xfrm xmlns:a="http://schemas.openxmlformats.org/drawingml/2006/main">
            <a:off x="10429875" y="642937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xmlns:a="http://schemas.openxmlformats.org/drawingml/2006/main">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Backup C</a:t>
            </a:r>
          </a:p>
        </p:txBody>
      </p:sp>
      <p:sp>
        <p:nvSpPr>
          <p:cNvPr id="4" name="Ejemplos de θ con u₂ unitario y estado inicial n">
            <a:extLst xmlns:a="http://schemas.openxmlformats.org/drawingml/2006/main">
              <a:ext uri="{FF2B5EF4-FFF2-40B4-BE49-F238E27FC236}">
                <a16:creationId xmlns:a16="http://schemas.microsoft.com/office/drawing/2014/main" id="{29EB31C6-7970-4C4E-956E-5D0DBBB7B7FD}"/>
              </a:ext>
            </a:extLst>
          </p:cNvPr>
          <p:cNvSpPr>
            <a:spLocks xmlns:a="http://schemas.openxmlformats.org/drawingml/2006/main" noGrp="1"/>
          </p:cNvSpPr>
          <p:nvPr/>
        </p:nvSpPr>
        <p:spPr>
          <a:xfrm xmlns:a="http://schemas.openxmlformats.org/drawingml/2006/main">
            <a:off x="590550" y="127635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516474"/>
                </a:solidFill>
                <a:latin typeface="Arial"/>
                <a:ea typeface="Arial"/>
                <a:cs typeface="Arial"/>
              </a:defRPr>
            </a:defPPr>
            <a:lvl1pPr algn="l">
              <a:defRPr sz="2025" b="0">
                <a:solidFill>
                  <a:srgbClr val="516474"/>
                </a:solidFill>
                <a:latin typeface="Arial"/>
                <a:ea typeface="Arial"/>
                <a:cs typeface="Arial"/>
              </a:defRPr>
            </a:lvl1pPr>
            <a:lvl2pPr algn="l">
              <a:defRPr sz="2025" b="0">
                <a:solidFill>
                  <a:srgbClr val="516474"/>
                </a:solidFill>
                <a:latin typeface="Arial"/>
                <a:ea typeface="Arial"/>
                <a:cs typeface="Arial"/>
              </a:defRPr>
            </a:lvl2pPr>
            <a:lvl3pPr algn="l">
              <a:defRPr sz="2025" b="0">
                <a:solidFill>
                  <a:srgbClr val="516474"/>
                </a:solidFill>
                <a:latin typeface="Arial"/>
                <a:ea typeface="Arial"/>
                <a:cs typeface="Arial"/>
              </a:defRPr>
            </a:lvl3pPr>
            <a:lvl4pPr algn="l">
              <a:defRPr sz="2025" b="0">
                <a:solidFill>
                  <a:srgbClr val="516474"/>
                </a:solidFill>
                <a:latin typeface="Arial"/>
                <a:ea typeface="Arial"/>
                <a:cs typeface="Arial"/>
              </a:defRPr>
            </a:lvl4pPr>
            <a:lvl5pPr algn="l">
              <a:defRPr sz="2025" b="0">
                <a:solidFill>
                  <a:srgbClr val="516474"/>
                </a:solidFill>
                <a:latin typeface="Arial"/>
                <a:ea typeface="Arial"/>
                <a:cs typeface="Arial"/>
              </a:defRPr>
            </a:lvl5pPr>
            <a:lvl6pPr algn="l">
              <a:defRPr sz="2025" b="0">
                <a:solidFill>
                  <a:srgbClr val="516474"/>
                </a:solidFill>
                <a:latin typeface="Arial"/>
                <a:ea typeface="Arial"/>
                <a:cs typeface="Arial"/>
              </a:defRPr>
            </a:lvl6pPr>
            <a:lvl7pPr algn="l">
              <a:defRPr sz="2025" b="0">
                <a:solidFill>
                  <a:srgbClr val="516474"/>
                </a:solidFill>
                <a:latin typeface="Arial"/>
                <a:ea typeface="Arial"/>
                <a:cs typeface="Arial"/>
              </a:defRPr>
            </a:lvl7pPr>
            <a:lvl8pPr algn="l">
              <a:defRPr sz="2025" b="0">
                <a:solidFill>
                  <a:srgbClr val="516474"/>
                </a:solidFill>
                <a:latin typeface="Arial"/>
                <a:ea typeface="Arial"/>
                <a:cs typeface="Arial"/>
              </a:defRPr>
            </a:lvl8pPr>
            <a:lvl9pPr algn="l">
              <a:defRPr sz="2025" b="0">
                <a:solidFill>
                  <a:srgbClr val="516474"/>
                </a:solidFill>
                <a:latin typeface="Arial"/>
                <a:ea typeface="Arial"/>
                <a:cs typeface="Arial"/>
              </a:defRPr>
            </a:lvl9pPr>
          </a:lstStyle>
          <a:p xmlns:a="http://schemas.openxmlformats.org/drawingml/2006/main">
            <a:pPr algn="l">
              <a:lnSpc>
                <a:spcPct val="110000"/>
              </a:lnSpc>
              <a:buNone/>
              <a:defRPr sz="2025" b="0">
                <a:solidFill>
                  <a:srgbClr val="516474"/>
                </a:solidFill>
                <a:latin typeface="Arial"/>
                <a:ea typeface="Arial"/>
                <a:cs typeface="Arial"/>
              </a:defRPr>
            </a:pPr>
            <a:r>
              <a:rPr sz="2025" b="0">
                <a:solidFill>
                  <a:srgbClr val="516474"/>
                </a:solidFill>
                <a:latin typeface="Arial"/>
                <a:ea typeface="Arial"/>
                <a:cs typeface="Arial"/>
              </a:rPr>
              <a:t>Examples of θ with unit u₂ and zero initial state</a:t>
            </a:r>
          </a:p>
        </p:txBody>
      </p:sp>
      <p:graphicFrame>
        <p:nvGraphicFramePr>
          <p:cNvPr id="5" name="Chart">
            <a:extLst xmlns:a="http://schemas.openxmlformats.org/drawingml/2006/main">
              <a:ext uri="{FF2B5EF4-FFF2-40B4-BE49-F238E27FC236}">
                <a16:creationId xmlns:a16="http://schemas.microsoft.com/office/drawing/2014/main" id="{62F81E22-8770-4984-9869-904D4E5095B0}"/>
              </a:ext>
            </a:extLst>
          </p:cNvPr>
          <p:cNvGraphicFramePr/>
          <p:nvPr/>
        </p:nvGraphicFramePr>
        <p:xfrm>
          <a:off xmlns:a="http://schemas.openxmlformats.org/drawingml/2006/main" x="400050" y="1952625"/>
          <a:ext xmlns:a="http://schemas.openxmlformats.org/drawingml/2006/main" cx="3781425" cy="3257550"/>
        </p:xfrm>
        <a:graphic xmlns:a="http://schemas.openxmlformats.org/drawingml/2006/main">
          <a:graphicData uri="http://schemas.openxmlformats.org/drawingml/2006/chart">
            <c:chart xmlns:r="http://schemas.openxmlformats.org/officeDocument/2006/relationships" xmlns:c="http://schemas.openxmlformats.org/drawingml/2006/chart" r:id="Ra1011a9c02a445f2"/>
          </a:graphicData>
        </a:graphic>
      </p:graphicFrame>
      <p:graphicFrame>
        <p:nvGraphicFramePr>
          <p:cNvPr id="6" name="Chart">
            <a:extLst xmlns:a="http://schemas.openxmlformats.org/drawingml/2006/main">
              <a:ext uri="{FF2B5EF4-FFF2-40B4-BE49-F238E27FC236}">
                <a16:creationId xmlns:a16="http://schemas.microsoft.com/office/drawing/2014/main" id="{1BBF0D9D-9D45-4265-8E3A-48CC83D82D20}"/>
              </a:ext>
            </a:extLst>
          </p:cNvPr>
          <p:cNvGraphicFramePr/>
          <p:nvPr/>
        </p:nvGraphicFramePr>
        <p:xfrm>
          <a:off xmlns:a="http://schemas.openxmlformats.org/drawingml/2006/main" x="4276725" y="1952625"/>
          <a:ext xmlns:a="http://schemas.openxmlformats.org/drawingml/2006/main" cx="3781425" cy="3257550"/>
        </p:xfrm>
        <a:graphic xmlns:a="http://schemas.openxmlformats.org/drawingml/2006/main">
          <a:graphicData uri="http://schemas.openxmlformats.org/drawingml/2006/chart">
            <c:chart xmlns:r="http://schemas.openxmlformats.org/officeDocument/2006/relationships" xmlns:c="http://schemas.openxmlformats.org/drawingml/2006/chart" r:id="R9ca9d2b6f4044cb0"/>
          </a:graphicData>
        </a:graphic>
      </p:graphicFrame>
      <p:graphicFrame>
        <p:nvGraphicFramePr>
          <p:cNvPr id="7" name="Chart">
            <a:extLst xmlns:a="http://schemas.openxmlformats.org/drawingml/2006/main">
              <a:ext uri="{FF2B5EF4-FFF2-40B4-BE49-F238E27FC236}">
                <a16:creationId xmlns:a16="http://schemas.microsoft.com/office/drawing/2014/main" id="{AE121583-C181-4E42-A192-ACEB04BF859A}"/>
              </a:ext>
            </a:extLst>
          </p:cNvPr>
          <p:cNvGraphicFramePr/>
          <p:nvPr/>
        </p:nvGraphicFramePr>
        <p:xfrm>
          <a:off xmlns:a="http://schemas.openxmlformats.org/drawingml/2006/main" x="8153400" y="1952625"/>
          <a:ext xmlns:a="http://schemas.openxmlformats.org/drawingml/2006/main" cx="3781425" cy="3257550"/>
        </p:xfrm>
        <a:graphic xmlns:a="http://schemas.openxmlformats.org/drawingml/2006/main">
          <a:graphicData uri="http://schemas.openxmlformats.org/drawingml/2006/chart">
            <c:chart xmlns:r="http://schemas.openxmlformats.org/officeDocument/2006/relationships" xmlns:c="http://schemas.openxmlformats.org/drawingml/2006/chart" r:id="Rc77e08ae3b1648d8"/>
          </a:graphicData>
        </a:graphic>
      </p:graphicFrame>
      <p:sp>
        <p:nvSpPr>
          <p:cNvPr id="8" name="El reporte estudia nueve combinaciones de señale">
            <a:extLst xmlns:a="http://schemas.openxmlformats.org/drawingml/2006/main">
              <a:ext uri="{FF2B5EF4-FFF2-40B4-BE49-F238E27FC236}">
                <a16:creationId xmlns:a16="http://schemas.microsoft.com/office/drawing/2014/main" id="{79065E17-5701-4774-A686-322F45A252ED}"/>
              </a:ext>
            </a:extLst>
          </p:cNvPr>
          <p:cNvSpPr>
            <a:spLocks xmlns:a="http://schemas.openxmlformats.org/drawingml/2006/main" noGrp="1"/>
          </p:cNvSpPr>
          <p:nvPr/>
        </p:nvSpPr>
        <p:spPr>
          <a:xfrm xmlns:a="http://schemas.openxmlformats.org/drawingml/2006/main">
            <a:off x="590550" y="56483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3283C"/>
                </a:solidFill>
                <a:latin typeface="Arial"/>
                <a:ea typeface="Arial"/>
                <a:cs typeface="Arial"/>
              </a:defRPr>
            </a:defPPr>
            <a:lvl1pPr algn="l">
              <a:defRPr sz="2025" b="1">
                <a:solidFill>
                  <a:srgbClr val="13283C"/>
                </a:solidFill>
                <a:latin typeface="Arial"/>
                <a:ea typeface="Arial"/>
                <a:cs typeface="Arial"/>
              </a:defRPr>
            </a:lvl1pPr>
            <a:lvl2pPr algn="l">
              <a:defRPr sz="2025" b="1">
                <a:solidFill>
                  <a:srgbClr val="13283C"/>
                </a:solidFill>
                <a:latin typeface="Arial"/>
                <a:ea typeface="Arial"/>
                <a:cs typeface="Arial"/>
              </a:defRPr>
            </a:lvl2pPr>
            <a:lvl3pPr algn="l">
              <a:defRPr sz="2025" b="1">
                <a:solidFill>
                  <a:srgbClr val="13283C"/>
                </a:solidFill>
                <a:latin typeface="Arial"/>
                <a:ea typeface="Arial"/>
                <a:cs typeface="Arial"/>
              </a:defRPr>
            </a:lvl3pPr>
            <a:lvl4pPr algn="l">
              <a:defRPr sz="2025" b="1">
                <a:solidFill>
                  <a:srgbClr val="13283C"/>
                </a:solidFill>
                <a:latin typeface="Arial"/>
                <a:ea typeface="Arial"/>
                <a:cs typeface="Arial"/>
              </a:defRPr>
            </a:lvl4pPr>
            <a:lvl5pPr algn="l">
              <a:defRPr sz="2025" b="1">
                <a:solidFill>
                  <a:srgbClr val="13283C"/>
                </a:solidFill>
                <a:latin typeface="Arial"/>
                <a:ea typeface="Arial"/>
                <a:cs typeface="Arial"/>
              </a:defRPr>
            </a:lvl5pPr>
            <a:lvl6pPr algn="l">
              <a:defRPr sz="2025" b="1">
                <a:solidFill>
                  <a:srgbClr val="13283C"/>
                </a:solidFill>
                <a:latin typeface="Arial"/>
                <a:ea typeface="Arial"/>
                <a:cs typeface="Arial"/>
              </a:defRPr>
            </a:lvl6pPr>
            <a:lvl7pPr algn="l">
              <a:defRPr sz="2025" b="1">
                <a:solidFill>
                  <a:srgbClr val="13283C"/>
                </a:solidFill>
                <a:latin typeface="Arial"/>
                <a:ea typeface="Arial"/>
                <a:cs typeface="Arial"/>
              </a:defRPr>
            </a:lvl7pPr>
            <a:lvl8pPr algn="l">
              <a:defRPr sz="2025" b="1">
                <a:solidFill>
                  <a:srgbClr val="13283C"/>
                </a:solidFill>
                <a:latin typeface="Arial"/>
                <a:ea typeface="Arial"/>
                <a:cs typeface="Arial"/>
              </a:defRPr>
            </a:lvl8pPr>
            <a:lvl9pPr algn="l">
              <a:defRPr sz="2025" b="1">
                <a:solidFill>
                  <a:srgbClr val="13283C"/>
                </a:solidFill>
                <a:latin typeface="Arial"/>
                <a:ea typeface="Arial"/>
                <a:cs typeface="Arial"/>
              </a:defRPr>
            </a:lvl9pPr>
          </a:lstStyle>
          <a:p xmlns:a="http://schemas.openxmlformats.org/drawingml/2006/main">
            <a:pPr algn="l">
              <a:lnSpc>
                <a:spcPct val="110000"/>
              </a:lnSpc>
              <a:buNone/>
              <a:defRPr sz="2025" b="1">
                <a:solidFill>
                  <a:srgbClr val="13283C"/>
                </a:solidFill>
                <a:latin typeface="Arial"/>
                <a:ea typeface="Arial"/>
                <a:cs typeface="Arial"/>
              </a:defRPr>
            </a:pPr>
            <a:r>
              <a:rPr sz="2025" b="1">
                <a:solidFill>
                  <a:srgbClr val="13283C"/>
                </a:solidFill>
                <a:latin typeface="Arial"/>
                <a:ea typeface="Arial"/>
                <a:cs typeface="Arial"/>
              </a:rPr>
              <a:t>The report studies nine combinations of signals and inputs</a:t>
            </a:r>
          </a:p>
        </p:txBody>
      </p:sp>
      <p:sp>
        <p:nvSpPr>
          <p:cNvPr id="9" name="Las señales unitarias permiten estudiar el model">
            <a:extLst xmlns:a="http://schemas.openxmlformats.org/drawingml/2006/main">
              <a:ext uri="{FF2B5EF4-FFF2-40B4-BE49-F238E27FC236}">
                <a16:creationId xmlns:a16="http://schemas.microsoft.com/office/drawing/2014/main" id="{084F5F66-13FD-4AAE-8704-F3EBE78D89CA}"/>
              </a:ext>
            </a:extLst>
          </p:cNvPr>
          <p:cNvSpPr>
            <a:spLocks xmlns:a="http://schemas.openxmlformats.org/drawingml/2006/main" noGrp="1"/>
          </p:cNvSpPr>
          <p:nvPr/>
        </p:nvSpPr>
        <p:spPr>
          <a:xfrm xmlns:a="http://schemas.openxmlformats.org/drawingml/2006/main">
            <a:off x="590550" y="610552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0">
                <a:solidFill>
                  <a:srgbClr val="516474"/>
                </a:solidFill>
                <a:latin typeface="Arial"/>
                <a:ea typeface="Arial"/>
                <a:cs typeface="Arial"/>
              </a:defRPr>
            </a:defPPr>
            <a:lvl1pPr algn="l">
              <a:defRPr sz="1650" b="0">
                <a:solidFill>
                  <a:srgbClr val="516474"/>
                </a:solidFill>
                <a:latin typeface="Arial"/>
                <a:ea typeface="Arial"/>
                <a:cs typeface="Arial"/>
              </a:defRPr>
            </a:lvl1pPr>
            <a:lvl2pPr algn="l">
              <a:defRPr sz="1650" b="0">
                <a:solidFill>
                  <a:srgbClr val="516474"/>
                </a:solidFill>
                <a:latin typeface="Arial"/>
                <a:ea typeface="Arial"/>
                <a:cs typeface="Arial"/>
              </a:defRPr>
            </a:lvl2pPr>
            <a:lvl3pPr algn="l">
              <a:defRPr sz="1650" b="0">
                <a:solidFill>
                  <a:srgbClr val="516474"/>
                </a:solidFill>
                <a:latin typeface="Arial"/>
                <a:ea typeface="Arial"/>
                <a:cs typeface="Arial"/>
              </a:defRPr>
            </a:lvl3pPr>
            <a:lvl4pPr algn="l">
              <a:defRPr sz="1650" b="0">
                <a:solidFill>
                  <a:srgbClr val="516474"/>
                </a:solidFill>
                <a:latin typeface="Arial"/>
                <a:ea typeface="Arial"/>
                <a:cs typeface="Arial"/>
              </a:defRPr>
            </a:lvl4pPr>
            <a:lvl5pPr algn="l">
              <a:defRPr sz="1650" b="0">
                <a:solidFill>
                  <a:srgbClr val="516474"/>
                </a:solidFill>
                <a:latin typeface="Arial"/>
                <a:ea typeface="Arial"/>
                <a:cs typeface="Arial"/>
              </a:defRPr>
            </a:lvl5pPr>
            <a:lvl6pPr algn="l">
              <a:defRPr sz="1650" b="0">
                <a:solidFill>
                  <a:srgbClr val="516474"/>
                </a:solidFill>
                <a:latin typeface="Arial"/>
                <a:ea typeface="Arial"/>
                <a:cs typeface="Arial"/>
              </a:defRPr>
            </a:lvl6pPr>
            <a:lvl7pPr algn="l">
              <a:defRPr sz="1650" b="0">
                <a:solidFill>
                  <a:srgbClr val="516474"/>
                </a:solidFill>
                <a:latin typeface="Arial"/>
                <a:ea typeface="Arial"/>
                <a:cs typeface="Arial"/>
              </a:defRPr>
            </a:lvl7pPr>
            <a:lvl8pPr algn="l">
              <a:defRPr sz="1650" b="0">
                <a:solidFill>
                  <a:srgbClr val="516474"/>
                </a:solidFill>
                <a:latin typeface="Arial"/>
                <a:ea typeface="Arial"/>
                <a:cs typeface="Arial"/>
              </a:defRPr>
            </a:lvl8pPr>
            <a:lvl9pPr algn="l">
              <a:defRPr sz="1650" b="0">
                <a:solidFill>
                  <a:srgbClr val="516474"/>
                </a:solidFill>
                <a:latin typeface="Arial"/>
                <a:ea typeface="Arial"/>
                <a:cs typeface="Arial"/>
              </a:defRPr>
            </a:lvl9pPr>
          </a:lstStyle>
          <a:p xmlns:a="http://schemas.openxmlformats.org/drawingml/2006/main">
            <a:pPr algn="l">
              <a:lnSpc>
                <a:spcPct val="110000"/>
              </a:lnSpc>
              <a:buNone/>
              <a:defRPr sz="1650" b="0">
                <a:solidFill>
                  <a:srgbClr val="516474"/>
                </a:solidFill>
                <a:latin typeface="Arial"/>
                <a:ea typeface="Arial"/>
                <a:cs typeface="Arial"/>
              </a:defRPr>
            </a:pPr>
            <a:r>
              <a:rPr sz="1650" b="0">
                <a:solidFill>
                  <a:srgbClr val="516474"/>
                </a:solidFill>
                <a:latin typeface="Arial"/>
                <a:ea typeface="Arial"/>
                <a:cs typeface="Arial"/>
              </a:rPr>
              <a:t>Unit signals test the linear model. Gain selection uses u₂ = 5°</a:t>
            </a:r>
          </a:p>
        </p:txBody>
      </p:sp>
    </p:spTree>
    <p:extLst>
      <p:ext uri="{BB962C8B-B14F-4D97-AF65-F5344CB8AC3E}">
        <p14:creationId xmlns:p14="http://schemas.microsoft.com/office/powerpoint/2010/main" val="14888925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2026-10-29T20:30:13.6380000Z</dcterms:created>
  <dcterms:modified xsi:type="dcterms:W3CDTF">2026-10-29T20:30:13.6380000Z</dcterms:modified>
</coreProperties>
</file>