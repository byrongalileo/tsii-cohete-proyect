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charts/chart7.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Nominal poles</a:t>
            </a:r>
          </a:p>
        </c:rich>
      </c:tx>
      <c:overlay val="0"/>
    </c:title>
    <c:autoTitleDeleted val="0"/>
    <c:plotArea>
      <c:layout/>
      <c:scatterChart>
        <c:scatterStyle val="lineMarker"/>
        <c:varyColors val="0"/>
        <c:ser>
          <c:idx val="0"/>
          <c:order val="0"/>
          <c:tx>
            <c:v>Nominal poles</c:v>
          </c:tx>
          <c:spPr>
            <a:ln w="0">
              <a:noFill/>
            </a:ln>
          </c:spPr>
          <c:marker>
            <c:symbol val="x"/>
            <c:size val="14"/>
            <c:spPr>
              <a:solidFill>
                <a:srgbClr val="087E8B"/>
              </a:solidFill>
            </c:spPr>
          </c:marker>
          <c:xVal>
            <c:numRef>
              <c:f>'Chart Data'!$A$2:$A$5</c:f>
              <c:numCache>
                <c:formatCode>General</c:formatCode>
                <c:ptCount val="4"/>
                <c:pt idx="0">
                  <c:v>-17.263895649999998</c:v>
                </c:pt>
                <c:pt idx="1">
                  <c:v>-2.0919273710000001</c:v>
                </c:pt>
                <c:pt idx="2">
                  <c:v>-1.0656392880000001</c:v>
                </c:pt>
                <c:pt idx="3">
                  <c:v>-1.0656392880000001</c:v>
                </c:pt>
              </c:numCache>
            </c:numRef>
          </c:xVal>
          <c:yVal>
            <c:numRef>
              <c:f>'Chart Data'!$B$2:$B$5</c:f>
              <c:numCache>
                <c:formatCode>0.0</c:formatCode>
                <c:ptCount val="4"/>
                <c:pt idx="0">
                  <c:v>0</c:v>
                </c:pt>
                <c:pt idx="1">
                  <c:v>0</c:v>
                </c:pt>
                <c:pt idx="2">
                  <c:v>1.1987342009999999</c:v>
                </c:pt>
                <c:pt idx="3">
                  <c:v>-1.1987342009999999</c:v>
                </c:pt>
              </c:numCache>
            </c:numRef>
          </c:yVal>
          <c:smooth val="1"/>
          <c:extLst>
            <c:ext xmlns:c16="http://schemas.microsoft.com/office/drawing/2014/chart" uri="{C3380CC4-5D6E-409C-BE32-E72D297353CC}">
              <c16:uniqueId val="{00000000-E359-43B2-A393-772D34FAFA72}"/>
            </c:ext>
          </c:extLst>
        </c:ser>
        <c:dLbls>
          <c:showLegendKey val="0"/>
          <c:showVal val="0"/>
          <c:showCatName val="0"/>
          <c:showSerName val="0"/>
          <c:showPercent val="0"/>
          <c:showBubbleSize val="0"/>
        </c:dLbls>
        <c:axId val="48650112"/>
        <c:axId val="48672768"/>
      </c:scatterChart>
      <c:valAx>
        <c:axId val="48672768"/>
        <c:scaling>
          <c:orientation val="minMax"/>
          <c:max val="2"/>
          <c:min val="-2"/>
        </c:scaling>
        <c:delete val="0"/>
        <c:axPos val="l"/>
        <c:majorGridlines>
          <c:spPr>
            <a:ln w="9525">
              <a:solidFill>
                <a:srgbClr val="DFE6EB"/>
              </a:solidFill>
            </a:ln>
          </c:spPr>
        </c:majorGridlines>
        <c:title>
          <c:tx>
            <c:rich>
              <a:bodyPr/>
              <a:lstStyle/>
              <a:p>
                <a:r>
                  <a:rPr sz="1575">
                    <a:solidFill>
                      <a:srgbClr val="516474"/>
                    </a:solidFill>
                    <a:latin typeface="Arial"/>
                    <a:ea typeface="Arial"/>
                    <a:cs typeface="Arial"/>
                  </a:rPr>
                  <a:t>Imaginary part (s⁻¹)</a:t>
                </a:r>
              </a:p>
            </c:rich>
          </c:tx>
          <c:overlay val="0"/>
        </c:title>
        <c:numFmt formatCode="0.0" sourceLinked="1"/>
        <c:majorTickMark val="none"/>
        <c:minorTickMark val="none"/>
        <c:tickLblPos val="nextTo"/>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50112"/>
        <c:crossesAt val="0"/>
        <c:crossBetween val="midCat"/>
        <c:majorUnit val="1"/>
      </c:valAx>
      <c:valAx>
        <c:axId val="48650112"/>
        <c:scaling>
          <c:orientation val="minMax"/>
          <c:max val="1"/>
          <c:min val="-20"/>
        </c:scaling>
        <c:delete val="0"/>
        <c:axPos val="b"/>
        <c:title>
          <c:tx>
            <c:rich>
              <a:bodyPr/>
              <a:lstStyle/>
              <a:p>
                <a:r>
                  <a:rPr sz="1575">
                    <a:solidFill>
                      <a:srgbClr val="516474"/>
                    </a:solidFill>
                    <a:latin typeface="Arial"/>
                    <a:ea typeface="Arial"/>
                    <a:cs typeface="Arial"/>
                  </a:rPr>
                  <a:t>Real part (s⁻¹)</a:t>
                </a:r>
              </a:p>
            </c:rich>
          </c:tx>
          <c:overlay val="0"/>
        </c:title>
        <c:numFmt formatCode="General" sourceLinked="1"/>
        <c:majorTickMark val="none"/>
        <c:minorTickMark val="none"/>
        <c:tickLblPos val="low"/>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72768"/>
        <c:crossesAt val="0"/>
        <c:crossBetween val="midCat"/>
        <c:majorUnit val="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Coupling under the test steps</a:t>
            </a:r>
          </a:p>
        </c:rich>
      </c:tx>
      <c:overlay val="0"/>
    </c:title>
    <c:autoTitleDeleted val="0"/>
    <c:plotArea>
      <c:layout/>
      <c:barChart>
        <c:barDir val="col"/>
        <c:grouping val="clustered"/>
        <c:varyColors val="0"/>
        <c:ser>
          <c:idx val="0"/>
          <c:order val="0"/>
          <c:tx>
            <c:v>Nominal coupling</c:v>
          </c:tx>
          <c:spPr>
            <a:solidFill>
              <a:srgbClr val="087E8B"/>
            </a:solidFill>
          </c:spPr>
          <c:invertIfNegative val="0"/>
          <c:dLbls>
            <c:numFmt formatCode="0%" sourceLinked="0"/>
            <c:spPr>
              <a:noFill/>
              <a:ln>
                <a:noFill/>
              </a:ln>
              <a:effectLst/>
            </c:spPr>
            <c:txPr>
              <a:bodyPr anchorCtr="1"/>
              <a:lstStyle/>
              <a:p>
                <a:pPr>
                  <a:defRPr sz="2175" b="1">
                    <a:solidFill>
                      <a:srgbClr val="13283C"/>
                    </a:solidFill>
                    <a:latin typeface="Arial"/>
                    <a:ea typeface="Arial"/>
                    <a:cs typeface="Arial"/>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Pitch command on acceleration</c:v>
                </c:pt>
                <c:pt idx="1">
                  <c:v>Axial command on pitch</c:v>
                </c:pt>
              </c:strCache>
            </c:strRef>
          </c:cat>
          <c:val>
            <c:numRef>
              <c:f>'Chart Data'!$B$2:$B$3</c:f>
              <c:numCache>
                <c:formatCode>0%</c:formatCode>
                <c:ptCount val="2"/>
                <c:pt idx="0">
                  <c:v>1.769006605</c:v>
                </c:pt>
                <c:pt idx="1">
                  <c:v>0.20620457119999999</c:v>
                </c:pt>
              </c:numCache>
            </c:numRef>
          </c:val>
          <c:extLst>
            <c:ext xmlns:c16="http://schemas.microsoft.com/office/drawing/2014/chart" uri="{C3380CC4-5D6E-409C-BE32-E72D297353CC}">
              <c16:uniqueId val="{00000000-3E2C-4EEF-86D7-CDD5076D8FB4}"/>
            </c:ext>
          </c:extLst>
        </c:ser>
        <c:dLbls>
          <c:dLblPos val="outEnd"/>
          <c:showLegendKey val="0"/>
          <c:showVal val="1"/>
          <c:showCatName val="0"/>
          <c:showSerName val="0"/>
          <c:showPercent val="0"/>
          <c:showBubbleSize val="0"/>
        </c:dLbls>
        <c:gapWidth val="130"/>
        <c:axId val="48650112"/>
        <c:axId val="48672768"/>
      </c:barChart>
      <c:catAx>
        <c:axId val="48650112"/>
        <c:scaling>
          <c:orientation val="minMax"/>
        </c:scaling>
        <c:delete val="0"/>
        <c:axPos val="b"/>
        <c:title>
          <c:overlay val="1"/>
          <c:txPr>
            <a:bodyPr anchorCtr="1"/>
            <a:lstStyle/>
            <a:p>
              <a:pPr>
                <a:defRPr>
                  <a:latin typeface="Arial"/>
                  <a:ea typeface="Arial"/>
                  <a:cs typeface="Arial"/>
                </a:defRPr>
              </a:pPr>
              <a:endParaRPr lang="es-ES"/>
            </a:p>
          </c:txPr>
        </c:title>
        <c:numFmt formatCode="General" sourceLinked="1"/>
        <c:majorTickMark val="none"/>
        <c:minorTickMark val="none"/>
        <c:tickLblPos val="nextTo"/>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72768"/>
        <c:crosses val="autoZero"/>
        <c:auto val="1"/>
        <c:lblAlgn val="ctr"/>
        <c:lblOffset val="100"/>
        <c:noMultiLvlLbl val="1"/>
      </c:catAx>
      <c:valAx>
        <c:axId val="48672768"/>
        <c:scaling>
          <c:orientation val="minMax"/>
          <c:max val="2"/>
          <c:min val="0"/>
        </c:scaling>
        <c:delete val="0"/>
        <c:axPos val="l"/>
        <c:majorGridlines>
          <c:spPr>
            <a:ln w="9525">
              <a:solidFill>
                <a:srgbClr val="DFE6EB"/>
              </a:solidFill>
            </a:ln>
          </c:spPr>
        </c:majorGridlines>
        <c:title>
          <c:overlay val="1"/>
          <c:txPr>
            <a:bodyPr anchorCtr="1"/>
            <a:lstStyle/>
            <a:p>
              <a:pPr>
                <a:defRPr>
                  <a:latin typeface="Arial"/>
                  <a:ea typeface="Arial"/>
                  <a:cs typeface="Arial"/>
                </a:defRPr>
              </a:pPr>
              <a:endParaRPr lang="es-ES"/>
            </a:p>
          </c:txPr>
        </c:title>
        <c:numFmt formatCode="0%" sourceLinked="1"/>
        <c:majorTickMark val="none"/>
        <c:minorTickMark val="none"/>
        <c:tickLblPos val="nextTo"/>
        <c:spPr>
          <a:ln w="9525">
            <a:solidFill>
              <a:srgbClr val="D4D4D4"/>
            </a:solidFill>
            <a:prstDash val="solid"/>
          </a:ln>
        </c:spPr>
        <c:txPr>
          <a:bodyPr anchorCtr="1"/>
          <a:lstStyle/>
          <a:p>
            <a:pPr>
              <a:defRPr sz="1500">
                <a:solidFill>
                  <a:srgbClr val="516474"/>
                </a:solidFill>
                <a:latin typeface="Arial"/>
                <a:ea typeface="Arial"/>
                <a:cs typeface="Arial"/>
              </a:defRPr>
            </a:pPr>
            <a:endParaRPr lang="es-ES"/>
          </a:p>
        </c:txPr>
        <c:crossAx val="48650112"/>
        <c:crosses val="autoZero"/>
        <c:crossBetween val="between"/>
        <c:majorUnit val="0.5"/>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Main channels, normalized gain</a:t>
            </a:r>
          </a:p>
        </c:rich>
      </c:tx>
      <c:overlay val="0"/>
    </c:title>
    <c:autoTitleDeleted val="0"/>
    <c:plotArea>
      <c:layout/>
      <c:scatterChart>
        <c:scatterStyle val="lineMarker"/>
        <c:varyColors val="0"/>
        <c:ser>
          <c:idx val="0"/>
          <c:order val="0"/>
          <c:tx>
            <c:v>G₁₁, acceleration</c:v>
          </c:tx>
          <c:spPr>
            <a:ln w="28575">
              <a:solidFill>
                <a:srgbClr val="087E8B"/>
              </a:solidFill>
              <a:prstDash val="solid"/>
            </a:ln>
          </c:spPr>
          <c:marker>
            <c:symbol val="none"/>
          </c:marker>
          <c:xVal>
            <c:numRef>
              <c:f>'Chart Data'!$A$2:$A$162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Data'!$B$2:$B$162</c:f>
              <c:numCache>
                <c:formatCode>0.0</c:formatCode>
                <c:ptCount val="161"/>
                <c:pt idx="0">
                  <c:v>0</c:v>
                </c:pt>
                <c:pt idx="1">
                  <c:v>6.393235313E-4</c:v>
                </c:pt>
                <c:pt idx="2">
                  <c:v>2.5376128170000001E-3</c:v>
                </c:pt>
                <c:pt idx="3">
                  <c:v>5.6350829389999997E-3</c:v>
                </c:pt>
                <c:pt idx="4">
                  <c:v>9.8296585129999999E-3</c:v>
                </c:pt>
                <c:pt idx="5">
                  <c:v>1.4973451170000001E-2</c:v>
                </c:pt>
                <c:pt idx="6">
                  <c:v>2.086809102E-2</c:v>
                </c:pt>
                <c:pt idx="7">
                  <c:v>2.725918922E-2</c:v>
                </c:pt>
                <c:pt idx="8">
                  <c:v>3.3830305220000002E-2</c:v>
                </c:pt>
                <c:pt idx="9">
                  <c:v>4.0196897500000002E-2</c:v>
                </c:pt>
                <c:pt idx="10">
                  <c:v>4.5900845490000002E-2</c:v>
                </c:pt>
                <c:pt idx="11">
                  <c:v>5.0406235959999997E-2</c:v>
                </c:pt>
                <c:pt idx="12">
                  <c:v>5.3097196169999999E-2</c:v>
                </c:pt>
                <c:pt idx="13">
                  <c:v>5.3278611369999999E-2</c:v>
                </c:pt>
                <c:pt idx="14">
                  <c:v>5.0180563189999999E-2</c:v>
                </c:pt>
                <c:pt idx="15">
                  <c:v>4.2967244930000002E-2</c:v>
                </c:pt>
                <c:pt idx="16">
                  <c:v>3.0750925759999999E-2</c:v>
                </c:pt>
                <c:pt idx="17">
                  <c:v>1.261123387E-2</c:v>
                </c:pt>
                <c:pt idx="18">
                  <c:v>-1.238039321E-2</c:v>
                </c:pt>
                <c:pt idx="19">
                  <c:v>-4.5131764009999999E-2</c:v>
                </c:pt>
                <c:pt idx="20">
                  <c:v>-8.6497740830000003E-2</c:v>
                </c:pt>
                <c:pt idx="21">
                  <c:v>-0.13724659989999999</c:v>
                </c:pt>
                <c:pt idx="22">
                  <c:v>-0.19802718499999999</c:v>
                </c:pt>
                <c:pt idx="23">
                  <c:v>-0.2693393321</c:v>
                </c:pt>
                <c:pt idx="24">
                  <c:v>-0.35150999430000002</c:v>
                </c:pt>
                <c:pt idx="25">
                  <c:v>-0.44467713920000002</c:v>
                </c:pt>
                <c:pt idx="26">
                  <c:v>-0.54878283790000004</c:v>
                </c:pt>
                <c:pt idx="27">
                  <c:v>-0.66357611149999995</c:v>
                </c:pt>
                <c:pt idx="28">
                  <c:v>-0.78862516309999997</c:v>
                </c:pt>
                <c:pt idx="29">
                  <c:v>-0.92333776150000002</c:v>
                </c:pt>
                <c:pt idx="30">
                  <c:v>-1.066987868</c:v>
                </c:pt>
                <c:pt idx="31">
                  <c:v>-1.2187462069999999</c:v>
                </c:pt>
                <c:pt idx="32">
                  <c:v>-1.377712405</c:v>
                </c:pt>
                <c:pt idx="33">
                  <c:v>-1.542946489</c:v>
                </c:pt>
                <c:pt idx="34">
                  <c:v>-1.713497973</c:v>
                </c:pt>
                <c:pt idx="35">
                  <c:v>-1.888431204</c:v>
                </c:pt>
                <c:pt idx="36">
                  <c:v>-2.0668462390000002</c:v>
                </c:pt>
                <c:pt idx="37">
                  <c:v>-2.2478949510000001</c:v>
                </c:pt>
                <c:pt idx="38">
                  <c:v>-2.4307924939999999</c:v>
                </c:pt>
                <c:pt idx="39">
                  <c:v>-2.614824525</c:v>
                </c:pt>
                <c:pt idx="40">
                  <c:v>-2.7993507609999999</c:v>
                </c:pt>
                <c:pt idx="41">
                  <c:v>-2.9838055259999998</c:v>
                </c:pt>
                <c:pt idx="42">
                  <c:v>-3.1676959619999998</c:v>
                </c:pt>
                <c:pt idx="43">
                  <c:v>-3.3505985210000002</c:v>
                </c:pt>
                <c:pt idx="44">
                  <c:v>-3.532154287</c:v>
                </c:pt>
                <c:pt idx="45">
                  <c:v>-3.7120635860000002</c:v>
                </c:pt>
                <c:pt idx="46">
                  <c:v>-3.8900802529999998</c:v>
                </c:pt>
                <c:pt idx="47">
                  <c:v>-4.066005841</c:v>
                </c:pt>
                <c:pt idx="48">
                  <c:v>-4.239683973</c:v>
                </c:pt>
                <c:pt idx="49">
                  <c:v>-4.4109949820000001</c:v>
                </c:pt>
                <c:pt idx="50">
                  <c:v>-4.5798509269999998</c:v>
                </c:pt>
                <c:pt idx="51">
                  <c:v>-4.7461910459999999</c:v>
                </c:pt>
                <c:pt idx="52">
                  <c:v>-4.9099776500000001</c:v>
                </c:pt>
                <c:pt idx="53">
                  <c:v>-5.0711924670000004</c:v>
                </c:pt>
                <c:pt idx="54">
                  <c:v>-5.2298334229999996</c:v>
                </c:pt>
                <c:pt idx="55">
                  <c:v>-5.3859118160000001</c:v>
                </c:pt>
                <c:pt idx="56">
                  <c:v>-5.539449877</c:v>
                </c:pt>
                <c:pt idx="57">
                  <c:v>-5.6904786590000001</c:v>
                </c:pt>
                <c:pt idx="58">
                  <c:v>-5.8390362339999999</c:v>
                </c:pt>
                <c:pt idx="59">
                  <c:v>-5.9851661549999999</c:v>
                </c:pt>
                <c:pt idx="60">
                  <c:v>-6.1289161610000003</c:v>
                </c:pt>
                <c:pt idx="61">
                  <c:v>-6.2703370810000001</c:v>
                </c:pt>
                <c:pt idx="62">
                  <c:v>-6.4094819200000002</c:v>
                </c:pt>
                <c:pt idx="63">
                  <c:v>-6.5464051019999996</c:v>
                </c:pt>
                <c:pt idx="64">
                  <c:v>-6.6811618380000004</c:v>
                </c:pt>
                <c:pt idx="65">
                  <c:v>-6.8138076139999999</c:v>
                </c:pt>
                <c:pt idx="66">
                  <c:v>-6.9443977730000004</c:v>
                </c:pt>
                <c:pt idx="67">
                  <c:v>-7.0729871790000001</c:v>
                </c:pt>
                <c:pt idx="68">
                  <c:v>-7.1996299449999999</c:v>
                </c:pt>
                <c:pt idx="69">
                  <c:v>-7.3243792230000002</c:v>
                </c:pt>
                <c:pt idx="70">
                  <c:v>-7.4472870459999996</c:v>
                </c:pt>
                <c:pt idx="71">
                  <c:v>-7.5684041999999998</c:v>
                </c:pt>
                <c:pt idx="72">
                  <c:v>-7.6877801410000002</c:v>
                </c:pt>
                <c:pt idx="73">
                  <c:v>-7.8054629269999998</c:v>
                </c:pt>
                <c:pt idx="74">
                  <c:v>-7.9214991880000003</c:v>
                </c:pt>
                <c:pt idx="75">
                  <c:v>-8.0359340960000001</c:v>
                </c:pt>
                <c:pt idx="76">
                  <c:v>-8.1488113710000007</c:v>
                </c:pt>
                <c:pt idx="77">
                  <c:v>-8.260173279</c:v>
                </c:pt>
                <c:pt idx="78">
                  <c:v>-8.3700606539999995</c:v>
                </c:pt>
                <c:pt idx="79">
                  <c:v>-8.4785129210000001</c:v>
                </c:pt>
                <c:pt idx="80">
                  <c:v>-8.5855681239999999</c:v>
                </c:pt>
                <c:pt idx="81">
                  <c:v>-8.691262965</c:v>
                </c:pt>
                <c:pt idx="82">
                  <c:v>-8.7956328379999995</c:v>
                </c:pt>
                <c:pt idx="83">
                  <c:v>-8.8987118699999996</c:v>
                </c:pt>
                <c:pt idx="84">
                  <c:v>-9.0005329639999996</c:v>
                </c:pt>
                <c:pt idx="85">
                  <c:v>-9.1011278400000002</c:v>
                </c:pt>
                <c:pt idx="86">
                  <c:v>-9.2005270790000004</c:v>
                </c:pt>
                <c:pt idx="87">
                  <c:v>-9.2987601630000007</c:v>
                </c:pt>
                <c:pt idx="88">
                  <c:v>-9.3958555199999996</c:v>
                </c:pt>
                <c:pt idx="89">
                  <c:v>-9.4918405660000005</c:v>
                </c:pt>
                <c:pt idx="90">
                  <c:v>-9.5867417410000009</c:v>
                </c:pt>
                <c:pt idx="91">
                  <c:v>-9.6805845559999995</c:v>
                </c:pt>
                <c:pt idx="92">
                  <c:v>-9.7733936230000005</c:v>
                </c:pt>
                <c:pt idx="93">
                  <c:v>-9.8651926989999996</c:v>
                </c:pt>
                <c:pt idx="94">
                  <c:v>-9.9560047170000008</c:v>
                </c:pt>
                <c:pt idx="95">
                  <c:v>-10.04585183</c:v>
                </c:pt>
                <c:pt idx="96">
                  <c:v>-10.134755419999999</c:v>
                </c:pt>
                <c:pt idx="97">
                  <c:v>-10.22273616</c:v>
                </c:pt>
                <c:pt idx="98">
                  <c:v>-10.309814039999999</c:v>
                </c:pt>
                <c:pt idx="99">
                  <c:v>-10.39600836</c:v>
                </c:pt>
                <c:pt idx="100">
                  <c:v>-10.481337809999999</c:v>
                </c:pt>
                <c:pt idx="101">
                  <c:v>-10.56582047</c:v>
                </c:pt>
                <c:pt idx="102">
                  <c:v>-10.64947381</c:v>
                </c:pt>
                <c:pt idx="103">
                  <c:v>-10.732314779999999</c:v>
                </c:pt>
                <c:pt idx="104">
                  <c:v>-10.81435978</c:v>
                </c:pt>
                <c:pt idx="105">
                  <c:v>-10.895624679999999</c:v>
                </c:pt>
                <c:pt idx="106">
                  <c:v>-10.97612488</c:v>
                </c:pt>
                <c:pt idx="107">
                  <c:v>-11.0558753</c:v>
                </c:pt>
                <c:pt idx="108">
                  <c:v>-11.134890410000001</c:v>
                </c:pt>
                <c:pt idx="109">
                  <c:v>-11.21318424</c:v>
                </c:pt>
                <c:pt idx="110">
                  <c:v>-11.290770419999999</c:v>
                </c:pt>
                <c:pt idx="111">
                  <c:v>-11.367662149999999</c:v>
                </c:pt>
                <c:pt idx="112">
                  <c:v>-11.44387227</c:v>
                </c:pt>
                <c:pt idx="113">
                  <c:v>-11.519413249999999</c:v>
                </c:pt>
                <c:pt idx="114">
                  <c:v>-11.59429718</c:v>
                </c:pt>
                <c:pt idx="115">
                  <c:v>-11.668535840000001</c:v>
                </c:pt>
                <c:pt idx="116">
                  <c:v>-11.74214067</c:v>
                </c:pt>
                <c:pt idx="117">
                  <c:v>-11.815122779999999</c:v>
                </c:pt>
                <c:pt idx="118">
                  <c:v>-11.88749299</c:v>
                </c:pt>
                <c:pt idx="119">
                  <c:v>-11.95926184</c:v>
                </c:pt>
                <c:pt idx="120">
                  <c:v>-12.03043956</c:v>
                </c:pt>
                <c:pt idx="121">
                  <c:v>-12.10103612</c:v>
                </c:pt>
                <c:pt idx="122">
                  <c:v>-12.171061229999999</c:v>
                </c:pt>
                <c:pt idx="123">
                  <c:v>-12.240524349999999</c:v>
                </c:pt>
                <c:pt idx="124">
                  <c:v>-12.309434700000001</c:v>
                </c:pt>
                <c:pt idx="125">
                  <c:v>-12.377801249999999</c:v>
                </c:pt>
                <c:pt idx="126">
                  <c:v>-12.445632760000001</c:v>
                </c:pt>
                <c:pt idx="127">
                  <c:v>-12.512937750000001</c:v>
                </c:pt>
                <c:pt idx="128">
                  <c:v>-12.579724560000001</c:v>
                </c:pt>
                <c:pt idx="129">
                  <c:v>-12.646001289999999</c:v>
                </c:pt>
                <c:pt idx="130">
                  <c:v>-12.71177587</c:v>
                </c:pt>
                <c:pt idx="131">
                  <c:v>-12.77705604</c:v>
                </c:pt>
                <c:pt idx="132">
                  <c:v>-12.841849330000001</c:v>
                </c:pt>
                <c:pt idx="133">
                  <c:v>-12.90616312</c:v>
                </c:pt>
                <c:pt idx="134">
                  <c:v>-12.97000459</c:v>
                </c:pt>
                <c:pt idx="135">
                  <c:v>-13.03338078</c:v>
                </c:pt>
                <c:pt idx="136">
                  <c:v>-13.096298559999999</c:v>
                </c:pt>
                <c:pt idx="137">
                  <c:v>-13.158764639999999</c:v>
                </c:pt>
                <c:pt idx="138">
                  <c:v>-13.220785559999999</c:v>
                </c:pt>
                <c:pt idx="139">
                  <c:v>-13.28236776</c:v>
                </c:pt>
                <c:pt idx="140">
                  <c:v>-13.34351749</c:v>
                </c:pt>
                <c:pt idx="141">
                  <c:v>-13.404240890000001</c:v>
                </c:pt>
                <c:pt idx="142">
                  <c:v>-13.464543949999999</c:v>
                </c:pt>
                <c:pt idx="143">
                  <c:v>-13.52443255</c:v>
                </c:pt>
                <c:pt idx="144">
                  <c:v>-13.58391243</c:v>
                </c:pt>
                <c:pt idx="145">
                  <c:v>-13.642989200000001</c:v>
                </c:pt>
                <c:pt idx="146">
                  <c:v>-13.70166837</c:v>
                </c:pt>
                <c:pt idx="147">
                  <c:v>-13.75995532</c:v>
                </c:pt>
                <c:pt idx="148">
                  <c:v>-13.81785533</c:v>
                </c:pt>
                <c:pt idx="149">
                  <c:v>-13.875373570000001</c:v>
                </c:pt>
                <c:pt idx="150">
                  <c:v>-13.932515090000001</c:v>
                </c:pt>
                <c:pt idx="151">
                  <c:v>-13.989284850000001</c:v>
                </c:pt>
                <c:pt idx="152">
                  <c:v>-14.04568772</c:v>
                </c:pt>
                <c:pt idx="153">
                  <c:v>-14.10172844</c:v>
                </c:pt>
                <c:pt idx="154">
                  <c:v>-14.15741169</c:v>
                </c:pt>
                <c:pt idx="155">
                  <c:v>-14.212742029999999</c:v>
                </c:pt>
                <c:pt idx="156">
                  <c:v>-14.26772397</c:v>
                </c:pt>
                <c:pt idx="157">
                  <c:v>-14.32236189</c:v>
                </c:pt>
                <c:pt idx="158">
                  <c:v>-14.3766601</c:v>
                </c:pt>
                <c:pt idx="159">
                  <c:v>-14.430622850000001</c:v>
                </c:pt>
                <c:pt idx="160">
                  <c:v>-14.484254269999999</c:v>
                </c:pt>
              </c:numCache>
            </c:numRef>
          </c:yVal>
          <c:smooth val="1"/>
          <c:extLst>
            <c:ext xmlns:c16="http://schemas.microsoft.com/office/drawing/2014/chart" uri="{C3380CC4-5D6E-409C-BE32-E72D297353CC}">
              <c16:uniqueId val="{00000000-C1F3-45A7-8D60-1B84C2E92D1C}"/>
            </c:ext>
          </c:extLst>
        </c:ser>
        <c:ser>
          <c:idx val="1"/>
          <c:order val="1"/>
          <c:tx>
            <c:v>G₂₂, pitch</c:v>
          </c:tx>
          <c:spPr>
            <a:ln w="28575">
              <a:solidFill>
                <a:srgbClr val="D66A2C"/>
              </a:solidFill>
              <a:prstDash val="solid"/>
            </a:ln>
          </c:spPr>
          <c:marker>
            <c:symbol val="none"/>
          </c:marker>
          <c:xVal>
            <c:numRef>
              <c:f>'Chart Data'!$C$2:$C$162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Data'!$D$2:$D$162</c:f>
              <c:numCache>
                <c:formatCode>0.0</c:formatCode>
                <c:ptCount val="161"/>
                <c:pt idx="0">
                  <c:v>0</c:v>
                </c:pt>
                <c:pt idx="1">
                  <c:v>6.8570516039999996E-3</c:v>
                </c:pt>
                <c:pt idx="2">
                  <c:v>2.7291985960000001E-2</c:v>
                </c:pt>
                <c:pt idx="3">
                  <c:v>6.0899415530000001E-2</c:v>
                </c:pt>
                <c:pt idx="4">
                  <c:v>0.1070143526</c:v>
                </c:pt>
                <c:pt idx="5">
                  <c:v>0.16472734580000001</c:v>
                </c:pt>
                <c:pt idx="6">
                  <c:v>0.23290410780000001</c:v>
                </c:pt>
                <c:pt idx="7">
                  <c:v>0.31020836130000001</c:v>
                </c:pt>
                <c:pt idx="8">
                  <c:v>0.39512662659999997</c:v>
                </c:pt>
                <c:pt idx="9">
                  <c:v>0.48599383390000001</c:v>
                </c:pt>
                <c:pt idx="10">
                  <c:v>0.58101894710000002</c:v>
                </c:pt>
                <c:pt idx="11">
                  <c:v>0.6783101654</c:v>
                </c:pt>
                <c:pt idx="12">
                  <c:v>0.77589966990000003</c:v>
                </c:pt>
                <c:pt idx="13">
                  <c:v>0.87176823849999996</c:v>
                </c:pt>
                <c:pt idx="14">
                  <c:v>0.96387031869999995</c:v>
                </c:pt>
                <c:pt idx="15">
                  <c:v>1.050160271</c:v>
                </c:pt>
                <c:pt idx="16">
                  <c:v>1.1286204630000001</c:v>
                </c:pt>
                <c:pt idx="17">
                  <c:v>1.1972916709999999</c:v>
                </c:pt>
                <c:pt idx="18">
                  <c:v>1.2543058819999999</c:v>
                </c:pt>
                <c:pt idx="19">
                  <c:v>1.297921058</c:v>
                </c:pt>
                <c:pt idx="20">
                  <c:v>1.326556855</c:v>
                </c:pt>
                <c:pt idx="21">
                  <c:v>1.33882971</c:v>
                </c:pt>
                <c:pt idx="22">
                  <c:v>1.333585255</c:v>
                </c:pt>
                <c:pt idx="23">
                  <c:v>1.3099257470000001</c:v>
                </c:pt>
                <c:pt idx="24">
                  <c:v>1.267230292</c:v>
                </c:pt>
                <c:pt idx="25">
                  <c:v>1.205165944</c:v>
                </c:pt>
                <c:pt idx="26">
                  <c:v>1.123688469</c:v>
                </c:pt>
                <c:pt idx="27">
                  <c:v>1.0230323969999999</c:v>
                </c:pt>
                <c:pt idx="28">
                  <c:v>0.90369095519999998</c:v>
                </c:pt>
                <c:pt idx="29">
                  <c:v>0.76638732919999997</c:v>
                </c:pt>
                <c:pt idx="30">
                  <c:v>0.61203937939999997</c:v>
                </c:pt>
                <c:pt idx="31">
                  <c:v>0.4417203233</c:v>
                </c:pt>
                <c:pt idx="32">
                  <c:v>0.2566179616</c:v>
                </c:pt>
                <c:pt idx="33">
                  <c:v>5.7994817509999998E-2</c:v>
                </c:pt>
                <c:pt idx="34">
                  <c:v>-0.152848862</c:v>
                </c:pt>
                <c:pt idx="35">
                  <c:v>-0.374607831</c:v>
                </c:pt>
                <c:pt idx="36">
                  <c:v>-0.60599944400000005</c:v>
                </c:pt>
                <c:pt idx="37">
                  <c:v>-0.84578579340000004</c:v>
                </c:pt>
                <c:pt idx="38">
                  <c:v>-1.0927904749999999</c:v>
                </c:pt>
                <c:pt idx="39">
                  <c:v>-1.3459103750000001</c:v>
                </c:pt>
                <c:pt idx="40">
                  <c:v>-1.604123084</c:v>
                </c:pt>
                <c:pt idx="41">
                  <c:v>-1.8664906160000001</c:v>
                </c:pt>
                <c:pt idx="42">
                  <c:v>-2.1321601600000002</c:v>
                </c:pt>
                <c:pt idx="43">
                  <c:v>-2.4003625340000001</c:v>
                </c:pt>
                <c:pt idx="44">
                  <c:v>-2.6704089560000002</c:v>
                </c:pt>
                <c:pt idx="45">
                  <c:v>-2.9416866480000001</c:v>
                </c:pt>
                <c:pt idx="46">
                  <c:v>-3.2136537079999998</c:v>
                </c:pt>
                <c:pt idx="47">
                  <c:v>-3.485833591</c:v>
                </c:pt>
                <c:pt idx="48">
                  <c:v>-3.7578094520000001</c:v>
                </c:pt>
                <c:pt idx="49">
                  <c:v>-4.029218567</c:v>
                </c:pt>
                <c:pt idx="50">
                  <c:v>-4.2997469380000002</c:v>
                </c:pt>
                <c:pt idx="51">
                  <c:v>-4.569124199</c:v>
                </c:pt>
                <c:pt idx="52">
                  <c:v>-4.8371188610000004</c:v>
                </c:pt>
                <c:pt idx="53">
                  <c:v>-5.1035339420000003</c:v>
                </c:pt>
                <c:pt idx="54">
                  <c:v>-5.368202965</c:v>
                </c:pt>
                <c:pt idx="55">
                  <c:v>-5.630986343</c:v>
                </c:pt>
                <c:pt idx="56">
                  <c:v>-5.8917681289999999</c:v>
                </c:pt>
                <c:pt idx="57">
                  <c:v>-6.1504530959999997</c:v>
                </c:pt>
                <c:pt idx="58">
                  <c:v>-6.406964146</c:v>
                </c:pt>
                <c:pt idx="59">
                  <c:v>-6.6612400020000004</c:v>
                </c:pt>
                <c:pt idx="60">
                  <c:v>-6.9132331669999996</c:v>
                </c:pt>
                <c:pt idx="61">
                  <c:v>-7.1629081210000001</c:v>
                </c:pt>
                <c:pt idx="62">
                  <c:v>-7.4102397340000001</c:v>
                </c:pt>
                <c:pt idx="63">
                  <c:v>-7.6552118650000001</c:v>
                </c:pt>
                <c:pt idx="64">
                  <c:v>-7.8978161399999998</c:v>
                </c:pt>
                <c:pt idx="65">
                  <c:v>-8.1380508710000008</c:v>
                </c:pt>
                <c:pt idx="66">
                  <c:v>-8.3759201099999991</c:v>
                </c:pt>
                <c:pt idx="67">
                  <c:v>-8.6114328310000001</c:v>
                </c:pt>
                <c:pt idx="68">
                  <c:v>-8.8446022000000006</c:v>
                </c:pt>
                <c:pt idx="69">
                  <c:v>-9.0754449459999993</c:v>
                </c:pt>
                <c:pt idx="70">
                  <c:v>-9.3039808110000006</c:v>
                </c:pt>
                <c:pt idx="71">
                  <c:v>-9.530232067</c:v>
                </c:pt>
                <c:pt idx="72">
                  <c:v>-9.7542230960000005</c:v>
                </c:pt>
                <c:pt idx="73">
                  <c:v>-9.9759800250000001</c:v>
                </c:pt>
                <c:pt idx="74">
                  <c:v>-10.19553041</c:v>
                </c:pt>
                <c:pt idx="75">
                  <c:v>-10.412902949999999</c:v>
                </c:pt>
                <c:pt idx="76">
                  <c:v>-10.62812725</c:v>
                </c:pt>
                <c:pt idx="77">
                  <c:v>-10.84123363</c:v>
                </c:pt>
                <c:pt idx="78">
                  <c:v>-11.05225291</c:v>
                </c:pt>
                <c:pt idx="79">
                  <c:v>-11.26121629</c:v>
                </c:pt>
                <c:pt idx="80">
                  <c:v>-11.46815516</c:v>
                </c:pt>
                <c:pt idx="81">
                  <c:v>-11.67310106</c:v>
                </c:pt>
                <c:pt idx="82">
                  <c:v>-11.876085509999999</c:v>
                </c:pt>
                <c:pt idx="83">
                  <c:v>-12.077139949999999</c:v>
                </c:pt>
                <c:pt idx="84">
                  <c:v>-12.27629569</c:v>
                </c:pt>
                <c:pt idx="85">
                  <c:v>-12.473583789999999</c:v>
                </c:pt>
                <c:pt idx="86">
                  <c:v>-12.66903507</c:v>
                </c:pt>
                <c:pt idx="87">
                  <c:v>-12.862679999999999</c:v>
                </c:pt>
                <c:pt idx="88">
                  <c:v>-13.05454874</c:v>
                </c:pt>
                <c:pt idx="89">
                  <c:v>-13.24467102</c:v>
                </c:pt>
                <c:pt idx="90">
                  <c:v>-13.43307619</c:v>
                </c:pt>
                <c:pt idx="91">
                  <c:v>-13.61979315</c:v>
                </c:pt>
                <c:pt idx="92">
                  <c:v>-13.80485036</c:v>
                </c:pt>
                <c:pt idx="93">
                  <c:v>-13.98827582</c:v>
                </c:pt>
                <c:pt idx="94">
                  <c:v>-14.170097030000001</c:v>
                </c:pt>
                <c:pt idx="95">
                  <c:v>-14.350341050000001</c:v>
                </c:pt>
                <c:pt idx="96">
                  <c:v>-14.52903442</c:v>
                </c:pt>
                <c:pt idx="97">
                  <c:v>-14.706203220000001</c:v>
                </c:pt>
                <c:pt idx="98">
                  <c:v>-14.88187302</c:v>
                </c:pt>
                <c:pt idx="99">
                  <c:v>-15.05606892</c:v>
                </c:pt>
                <c:pt idx="100">
                  <c:v>-15.2288155</c:v>
                </c:pt>
                <c:pt idx="101">
                  <c:v>-15.400136910000001</c:v>
                </c:pt>
                <c:pt idx="102">
                  <c:v>-15.57005678</c:v>
                </c:pt>
                <c:pt idx="103">
                  <c:v>-15.738598270000001</c:v>
                </c:pt>
                <c:pt idx="104">
                  <c:v>-15.905784089999999</c:v>
                </c:pt>
                <c:pt idx="105">
                  <c:v>-16.071636470000001</c:v>
                </c:pt>
                <c:pt idx="106">
                  <c:v>-16.2361772</c:v>
                </c:pt>
                <c:pt idx="107">
                  <c:v>-16.399427620000001</c:v>
                </c:pt>
                <c:pt idx="108">
                  <c:v>-16.561408610000001</c:v>
                </c:pt>
                <c:pt idx="109">
                  <c:v>-16.722140629999998</c:v>
                </c:pt>
                <c:pt idx="110">
                  <c:v>-16.88164372</c:v>
                </c:pt>
                <c:pt idx="111">
                  <c:v>-17.039937500000001</c:v>
                </c:pt>
                <c:pt idx="112">
                  <c:v>-17.197041179999999</c:v>
                </c:pt>
                <c:pt idx="113">
                  <c:v>-17.352973559999999</c:v>
                </c:pt>
                <c:pt idx="114">
                  <c:v>-17.507753059999999</c:v>
                </c:pt>
                <c:pt idx="115">
                  <c:v>-17.661397709999999</c:v>
                </c:pt>
                <c:pt idx="116">
                  <c:v>-17.813925170000001</c:v>
                </c:pt>
                <c:pt idx="117">
                  <c:v>-17.965352719999998</c:v>
                </c:pt>
                <c:pt idx="118">
                  <c:v>-18.11569729</c:v>
                </c:pt>
                <c:pt idx="119">
                  <c:v>-18.264975450000001</c:v>
                </c:pt>
                <c:pt idx="120">
                  <c:v>-18.41320344</c:v>
                </c:pt>
                <c:pt idx="121">
                  <c:v>-18.560397139999999</c:v>
                </c:pt>
                <c:pt idx="122">
                  <c:v>-18.706572130000001</c:v>
                </c:pt>
                <c:pt idx="123">
                  <c:v>-18.851743639999999</c:v>
                </c:pt>
                <c:pt idx="124">
                  <c:v>-18.995926619999999</c:v>
                </c:pt>
                <c:pt idx="125">
                  <c:v>-19.139135679999999</c:v>
                </c:pt>
                <c:pt idx="126">
                  <c:v>-19.281385149999998</c:v>
                </c:pt>
                <c:pt idx="127">
                  <c:v>-19.422689049999999</c:v>
                </c:pt>
                <c:pt idx="128">
                  <c:v>-19.563061149999999</c:v>
                </c:pt>
                <c:pt idx="129">
                  <c:v>-19.702514910000001</c:v>
                </c:pt>
                <c:pt idx="130">
                  <c:v>-19.841063519999999</c:v>
                </c:pt>
                <c:pt idx="131">
                  <c:v>-19.97871992</c:v>
                </c:pt>
                <c:pt idx="132">
                  <c:v>-20.115496780000001</c:v>
                </c:pt>
                <c:pt idx="133">
                  <c:v>-20.251406509999999</c:v>
                </c:pt>
                <c:pt idx="134">
                  <c:v>-20.38646129</c:v>
                </c:pt>
                <c:pt idx="135">
                  <c:v>-20.520673049999999</c:v>
                </c:pt>
                <c:pt idx="136">
                  <c:v>-20.654053489999999</c:v>
                </c:pt>
                <c:pt idx="137">
                  <c:v>-20.786614060000002</c:v>
                </c:pt>
                <c:pt idx="138">
                  <c:v>-20.918365999999999</c:v>
                </c:pt>
                <c:pt idx="139">
                  <c:v>-21.049320340000001</c:v>
                </c:pt>
                <c:pt idx="140">
                  <c:v>-21.17948788</c:v>
                </c:pt>
                <c:pt idx="141">
                  <c:v>-21.308879210000001</c:v>
                </c:pt>
                <c:pt idx="142">
                  <c:v>-21.437504740000001</c:v>
                </c:pt>
                <c:pt idx="143">
                  <c:v>-21.565374649999999</c:v>
                </c:pt>
                <c:pt idx="144">
                  <c:v>-21.692498929999999</c:v>
                </c:pt>
                <c:pt idx="145">
                  <c:v>-21.818887400000001</c:v>
                </c:pt>
                <c:pt idx="146">
                  <c:v>-21.944549680000002</c:v>
                </c:pt>
                <c:pt idx="147">
                  <c:v>-22.069495199999999</c:v>
                </c:pt>
                <c:pt idx="148">
                  <c:v>-22.193733229999999</c:v>
                </c:pt>
                <c:pt idx="149">
                  <c:v>-22.317272859999999</c:v>
                </c:pt>
                <c:pt idx="150">
                  <c:v>-22.440123</c:v>
                </c:pt>
                <c:pt idx="151">
                  <c:v>-22.562292419999999</c:v>
                </c:pt>
                <c:pt idx="152">
                  <c:v>-22.683789690000001</c:v>
                </c:pt>
                <c:pt idx="153">
                  <c:v>-22.80462326</c:v>
                </c:pt>
                <c:pt idx="154">
                  <c:v>-22.9248014</c:v>
                </c:pt>
                <c:pt idx="155">
                  <c:v>-23.04433225</c:v>
                </c:pt>
                <c:pt idx="156">
                  <c:v>-23.163223779999999</c:v>
                </c:pt>
                <c:pt idx="157">
                  <c:v>-23.28148384</c:v>
                </c:pt>
                <c:pt idx="158">
                  <c:v>-23.399120100000001</c:v>
                </c:pt>
                <c:pt idx="159">
                  <c:v>-23.516140149999998</c:v>
                </c:pt>
                <c:pt idx="160">
                  <c:v>-23.63255139</c:v>
                </c:pt>
              </c:numCache>
            </c:numRef>
          </c:yVal>
          <c:smooth val="1"/>
          <c:extLst>
            <c:ext xmlns:c16="http://schemas.microsoft.com/office/drawing/2014/chart" uri="{C3380CC4-5D6E-409C-BE32-E72D297353CC}">
              <c16:uniqueId val="{00000001-C1F3-45A7-8D60-1B84C2E92D1C}"/>
            </c:ext>
          </c:extLst>
        </c:ser>
        <c:ser>
          <c:idx val="2"/>
          <c:order val="2"/>
          <c:tx>
            <c:v>−3 dB level</c:v>
          </c:tx>
          <c:spPr>
            <a:ln w="19050">
              <a:solidFill>
                <a:srgbClr val="B6C3CC"/>
              </a:solidFill>
              <a:prstDash val="dash"/>
            </a:ln>
          </c:spPr>
          <c:marker>
            <c:symbol val="none"/>
          </c:marker>
          <c:xVal>
            <c:numRef>
              <c:f>'Chart Data'!$E$2:$E$3</c:f>
              <c:numCache>
                <c:formatCode>General</c:formatCode>
                <c:ptCount val="2"/>
                <c:pt idx="0">
                  <c:v>0</c:v>
                </c:pt>
                <c:pt idx="1">
                  <c:v>8</c:v>
                </c:pt>
              </c:numCache>
            </c:numRef>
          </c:xVal>
          <c:yVal>
            <c:numRef>
              <c:f>'Chart Data'!$F$2:$F$3</c:f>
              <c:numCache>
                <c:formatCode>0.0</c:formatCode>
                <c:ptCount val="2"/>
                <c:pt idx="0">
                  <c:v>-3</c:v>
                </c:pt>
                <c:pt idx="1">
                  <c:v>-3</c:v>
                </c:pt>
              </c:numCache>
            </c:numRef>
          </c:yVal>
          <c:smooth val="1"/>
          <c:extLst>
            <c:ext xmlns:c16="http://schemas.microsoft.com/office/drawing/2014/chart" uri="{C3380CC4-5D6E-409C-BE32-E72D297353CC}">
              <c16:uniqueId val="{00000002-C1F3-45A7-8D60-1B84C2E92D1C}"/>
            </c:ext>
          </c:extLst>
        </c:ser>
        <c:dLbls>
          <c:showLegendKey val="0"/>
          <c:showVal val="0"/>
          <c:showCatName val="0"/>
          <c:showSerName val="0"/>
          <c:showPercent val="0"/>
          <c:showBubbleSize val="0"/>
        </c:dLbls>
        <c:axId val="48650112"/>
        <c:axId val="48672768"/>
      </c:scatterChart>
      <c:valAx>
        <c:axId val="48672768"/>
        <c:scaling>
          <c:orientation val="minMax"/>
          <c:max val="3"/>
          <c:min val="-25"/>
        </c:scaling>
        <c:delete val="0"/>
        <c:axPos val="l"/>
        <c:majorGridlines>
          <c:spPr>
            <a:ln w="9525">
              <a:solidFill>
                <a:srgbClr val="DFE6EB"/>
              </a:solidFill>
            </a:ln>
          </c:spPr>
        </c:majorGridlines>
        <c:title>
          <c:tx>
            <c:rich>
              <a:bodyPr/>
              <a:lstStyle/>
              <a:p>
                <a:r>
                  <a:rPr sz="1575">
                    <a:solidFill>
                      <a:srgbClr val="516474"/>
                    </a:solidFill>
                    <a:latin typeface="Arial"/>
                    <a:ea typeface="Arial"/>
                    <a:cs typeface="Arial"/>
                  </a:rPr>
                  <a:t>Relative magnitude (dB)</a:t>
                </a:r>
              </a:p>
            </c:rich>
          </c:tx>
          <c:overlay val="0"/>
        </c:title>
        <c:numFmt formatCode="0.0" sourceLinked="1"/>
        <c:majorTickMark val="none"/>
        <c:minorTickMark val="none"/>
        <c:tickLblPos val="nextTo"/>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50112"/>
        <c:crossesAt val="0"/>
        <c:crossBetween val="midCat"/>
        <c:majorUnit val="5"/>
      </c:valAx>
      <c:valAx>
        <c:axId val="48650112"/>
        <c:scaling>
          <c:orientation val="minMax"/>
          <c:max val="8"/>
          <c:min val="0"/>
        </c:scaling>
        <c:delete val="0"/>
        <c:axPos val="b"/>
        <c:title>
          <c:tx>
            <c:rich>
              <a:bodyPr/>
              <a:lstStyle/>
              <a:p>
                <a:r>
                  <a:rPr sz="1575">
                    <a:solidFill>
                      <a:srgbClr val="516474"/>
                    </a:solidFill>
                    <a:latin typeface="Arial"/>
                    <a:ea typeface="Arial"/>
                    <a:cs typeface="Arial"/>
                  </a:rPr>
                  <a:t>Frequency ω (rad/s)</a:t>
                </a:r>
              </a:p>
            </c:rich>
          </c:tx>
          <c:overlay val="0"/>
        </c:title>
        <c:numFmt formatCode="General" sourceLinked="1"/>
        <c:majorTickMark val="none"/>
        <c:minorTickMark val="none"/>
        <c:tickLblPos val="low"/>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72768"/>
        <c:crossesAt val="-25"/>
        <c:crossBetween val="midCat"/>
        <c:majorUnit val="2"/>
      </c:valAx>
      <c:spPr>
        <a:solidFill>
          <a:srgbClr val="FFFFFF"/>
        </a:solidFill>
        <a:ln w="0">
          <a:noFill/>
        </a:ln>
      </c:spPr>
    </c:plotArea>
    <c:legend>
      <c:legendPos val="b"/>
      <c:overlay val="0"/>
      <c:txPr>
        <a:bodyPr anchorCtr="1"/>
        <a:lstStyle/>
        <a:p>
          <a:pPr>
            <a:defRPr sz="1500">
              <a:solidFill>
                <a:srgbClr val="13283C"/>
              </a:solidFill>
              <a:latin typeface="Arial"/>
              <a:ea typeface="Arial"/>
              <a:cs typeface="Arial"/>
            </a:defRPr>
          </a:pPr>
          <a:endParaRPr lang="es-ES"/>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Gain pairs that meet the criteria</a:t>
            </a:r>
          </a:p>
        </c:rich>
      </c:tx>
      <c:overlay val="0"/>
    </c:title>
    <c:autoTitleDeleted val="0"/>
    <c:plotArea>
      <c:layout/>
      <c:scatterChart>
        <c:scatterStyle val="lineMarker"/>
        <c:varyColors val="0"/>
        <c:ser>
          <c:idx val="0"/>
          <c:order val="0"/>
          <c:tx>
            <c:v>Feasible</c:v>
          </c:tx>
          <c:spPr>
            <a:ln w="0">
              <a:noFill/>
            </a:ln>
          </c:spPr>
          <c:marker>
            <c:symbol val="circle"/>
            <c:size val="5"/>
            <c:spPr>
              <a:solidFill>
                <a:srgbClr val="B6C3CC"/>
              </a:solidFill>
            </c:spPr>
          </c:marker>
          <c:xVal>
            <c:numRef>
              <c:f>'Chart Data'!$A$2:$A$187</c:f>
              <c:numCache>
                <c:formatCode>General</c:formatCode>
                <c:ptCount val="186"/>
                <c:pt idx="0">
                  <c:v>0.5</c:v>
                </c:pt>
                <c:pt idx="1">
                  <c:v>0.5</c:v>
                </c:pt>
                <c:pt idx="2">
                  <c:v>0.5</c:v>
                </c:pt>
                <c:pt idx="3">
                  <c:v>0.5</c:v>
                </c:pt>
                <c:pt idx="4">
                  <c:v>0.5</c:v>
                </c:pt>
                <c:pt idx="5">
                  <c:v>0.5</c:v>
                </c:pt>
                <c:pt idx="6">
                  <c:v>0.5</c:v>
                </c:pt>
                <c:pt idx="7">
                  <c:v>0.5</c:v>
                </c:pt>
                <c:pt idx="8">
                  <c:v>0.5</c:v>
                </c:pt>
                <c:pt idx="9">
                  <c:v>1</c:v>
                </c:pt>
                <c:pt idx="10">
                  <c:v>1</c:v>
                </c:pt>
                <c:pt idx="11">
                  <c:v>1</c:v>
                </c:pt>
                <c:pt idx="12">
                  <c:v>1</c:v>
                </c:pt>
                <c:pt idx="13">
                  <c:v>1</c:v>
                </c:pt>
                <c:pt idx="14">
                  <c:v>1</c:v>
                </c:pt>
                <c:pt idx="15">
                  <c:v>1</c:v>
                </c:pt>
                <c:pt idx="16">
                  <c:v>1</c:v>
                </c:pt>
                <c:pt idx="17">
                  <c:v>1</c:v>
                </c:pt>
                <c:pt idx="18">
                  <c:v>1</c:v>
                </c:pt>
                <c:pt idx="19">
                  <c:v>1.5</c:v>
                </c:pt>
                <c:pt idx="20">
                  <c:v>1.5</c:v>
                </c:pt>
                <c:pt idx="21">
                  <c:v>1.5</c:v>
                </c:pt>
                <c:pt idx="22">
                  <c:v>1.5</c:v>
                </c:pt>
                <c:pt idx="23">
                  <c:v>1.5</c:v>
                </c:pt>
                <c:pt idx="24">
                  <c:v>1.5</c:v>
                </c:pt>
                <c:pt idx="25">
                  <c:v>1.5</c:v>
                </c:pt>
                <c:pt idx="26">
                  <c:v>1.5</c:v>
                </c:pt>
                <c:pt idx="27">
                  <c:v>1.5</c:v>
                </c:pt>
                <c:pt idx="28">
                  <c:v>1.5</c:v>
                </c:pt>
                <c:pt idx="29">
                  <c:v>1.5</c:v>
                </c:pt>
                <c:pt idx="30">
                  <c:v>2</c:v>
                </c:pt>
                <c:pt idx="31">
                  <c:v>2</c:v>
                </c:pt>
                <c:pt idx="32">
                  <c:v>2</c:v>
                </c:pt>
                <c:pt idx="33">
                  <c:v>2</c:v>
                </c:pt>
                <c:pt idx="34">
                  <c:v>2</c:v>
                </c:pt>
                <c:pt idx="35">
                  <c:v>2</c:v>
                </c:pt>
                <c:pt idx="36">
                  <c:v>2</c:v>
                </c:pt>
                <c:pt idx="37">
                  <c:v>2</c:v>
                </c:pt>
                <c:pt idx="38">
                  <c:v>2</c:v>
                </c:pt>
                <c:pt idx="39">
                  <c:v>2</c:v>
                </c:pt>
                <c:pt idx="40">
                  <c:v>2</c:v>
                </c:pt>
                <c:pt idx="41">
                  <c:v>2.5</c:v>
                </c:pt>
                <c:pt idx="42">
                  <c:v>2.5</c:v>
                </c:pt>
                <c:pt idx="43">
                  <c:v>2.5</c:v>
                </c:pt>
                <c:pt idx="44">
                  <c:v>2.5</c:v>
                </c:pt>
                <c:pt idx="45">
                  <c:v>2.5</c:v>
                </c:pt>
                <c:pt idx="46">
                  <c:v>2.5</c:v>
                </c:pt>
                <c:pt idx="47">
                  <c:v>2.5</c:v>
                </c:pt>
                <c:pt idx="48">
                  <c:v>2.5</c:v>
                </c:pt>
                <c:pt idx="49">
                  <c:v>2.5</c:v>
                </c:pt>
                <c:pt idx="50">
                  <c:v>2.5</c:v>
                </c:pt>
                <c:pt idx="51">
                  <c:v>2.5</c:v>
                </c:pt>
                <c:pt idx="52">
                  <c:v>2.5</c:v>
                </c:pt>
                <c:pt idx="53">
                  <c:v>3</c:v>
                </c:pt>
                <c:pt idx="54">
                  <c:v>3</c:v>
                </c:pt>
                <c:pt idx="55">
                  <c:v>3</c:v>
                </c:pt>
                <c:pt idx="56">
                  <c:v>3</c:v>
                </c:pt>
                <c:pt idx="57">
                  <c:v>3</c:v>
                </c:pt>
                <c:pt idx="58">
                  <c:v>3</c:v>
                </c:pt>
                <c:pt idx="59">
                  <c:v>3</c:v>
                </c:pt>
                <c:pt idx="60">
                  <c:v>3</c:v>
                </c:pt>
                <c:pt idx="61">
                  <c:v>3</c:v>
                </c:pt>
                <c:pt idx="62">
                  <c:v>3</c:v>
                </c:pt>
                <c:pt idx="63">
                  <c:v>3</c:v>
                </c:pt>
                <c:pt idx="64">
                  <c:v>3</c:v>
                </c:pt>
                <c:pt idx="65">
                  <c:v>3</c:v>
                </c:pt>
                <c:pt idx="66">
                  <c:v>3.5</c:v>
                </c:pt>
                <c:pt idx="67">
                  <c:v>3.5</c:v>
                </c:pt>
                <c:pt idx="68">
                  <c:v>3.5</c:v>
                </c:pt>
                <c:pt idx="69">
                  <c:v>3.5</c:v>
                </c:pt>
                <c:pt idx="70">
                  <c:v>3.5</c:v>
                </c:pt>
                <c:pt idx="71">
                  <c:v>3.5</c:v>
                </c:pt>
                <c:pt idx="72">
                  <c:v>3.5</c:v>
                </c:pt>
                <c:pt idx="73">
                  <c:v>3.5</c:v>
                </c:pt>
                <c:pt idx="74">
                  <c:v>3.5</c:v>
                </c:pt>
                <c:pt idx="75">
                  <c:v>3.5</c:v>
                </c:pt>
                <c:pt idx="76">
                  <c:v>3.5</c:v>
                </c:pt>
                <c:pt idx="77">
                  <c:v>3.5</c:v>
                </c:pt>
                <c:pt idx="78">
                  <c:v>3.5</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4.5</c:v>
                </c:pt>
                <c:pt idx="93">
                  <c:v>4.5</c:v>
                </c:pt>
                <c:pt idx="94">
                  <c:v>4.5</c:v>
                </c:pt>
                <c:pt idx="95">
                  <c:v>4.5</c:v>
                </c:pt>
                <c:pt idx="96">
                  <c:v>4.5</c:v>
                </c:pt>
                <c:pt idx="97">
                  <c:v>4.5</c:v>
                </c:pt>
                <c:pt idx="98">
                  <c:v>4.5</c:v>
                </c:pt>
                <c:pt idx="99">
                  <c:v>4.5</c:v>
                </c:pt>
                <c:pt idx="100">
                  <c:v>4.5</c:v>
                </c:pt>
                <c:pt idx="101">
                  <c:v>4.5</c:v>
                </c:pt>
                <c:pt idx="102">
                  <c:v>4.5</c:v>
                </c:pt>
                <c:pt idx="103">
                  <c:v>4.5</c:v>
                </c:pt>
                <c:pt idx="104">
                  <c:v>5</c:v>
                </c:pt>
                <c:pt idx="105">
                  <c:v>5</c:v>
                </c:pt>
                <c:pt idx="106">
                  <c:v>5</c:v>
                </c:pt>
                <c:pt idx="107">
                  <c:v>5</c:v>
                </c:pt>
                <c:pt idx="108">
                  <c:v>5</c:v>
                </c:pt>
                <c:pt idx="109">
                  <c:v>5</c:v>
                </c:pt>
                <c:pt idx="110">
                  <c:v>5</c:v>
                </c:pt>
                <c:pt idx="111">
                  <c:v>5</c:v>
                </c:pt>
                <c:pt idx="112">
                  <c:v>5</c:v>
                </c:pt>
                <c:pt idx="113">
                  <c:v>5</c:v>
                </c:pt>
                <c:pt idx="114">
                  <c:v>5</c:v>
                </c:pt>
                <c:pt idx="115">
                  <c:v>5.5</c:v>
                </c:pt>
                <c:pt idx="116">
                  <c:v>5.5</c:v>
                </c:pt>
                <c:pt idx="117">
                  <c:v>5.5</c:v>
                </c:pt>
                <c:pt idx="118">
                  <c:v>5.5</c:v>
                </c:pt>
                <c:pt idx="119">
                  <c:v>5.5</c:v>
                </c:pt>
                <c:pt idx="120">
                  <c:v>5.5</c:v>
                </c:pt>
                <c:pt idx="121">
                  <c:v>5.5</c:v>
                </c:pt>
                <c:pt idx="122">
                  <c:v>5.5</c:v>
                </c:pt>
                <c:pt idx="123">
                  <c:v>5.5</c:v>
                </c:pt>
                <c:pt idx="124">
                  <c:v>5.5</c:v>
                </c:pt>
                <c:pt idx="125">
                  <c:v>6</c:v>
                </c:pt>
                <c:pt idx="126">
                  <c:v>6</c:v>
                </c:pt>
                <c:pt idx="127">
                  <c:v>6</c:v>
                </c:pt>
                <c:pt idx="128">
                  <c:v>6</c:v>
                </c:pt>
                <c:pt idx="129">
                  <c:v>6</c:v>
                </c:pt>
                <c:pt idx="130">
                  <c:v>6</c:v>
                </c:pt>
                <c:pt idx="131">
                  <c:v>6</c:v>
                </c:pt>
                <c:pt idx="132">
                  <c:v>6</c:v>
                </c:pt>
                <c:pt idx="133">
                  <c:v>6</c:v>
                </c:pt>
                <c:pt idx="134">
                  <c:v>6.5</c:v>
                </c:pt>
                <c:pt idx="135">
                  <c:v>6.5</c:v>
                </c:pt>
                <c:pt idx="136">
                  <c:v>6.5</c:v>
                </c:pt>
                <c:pt idx="137">
                  <c:v>6.5</c:v>
                </c:pt>
                <c:pt idx="138">
                  <c:v>6.5</c:v>
                </c:pt>
                <c:pt idx="139">
                  <c:v>6.5</c:v>
                </c:pt>
                <c:pt idx="140">
                  <c:v>6.5</c:v>
                </c:pt>
                <c:pt idx="141">
                  <c:v>6.5</c:v>
                </c:pt>
                <c:pt idx="142">
                  <c:v>7</c:v>
                </c:pt>
                <c:pt idx="143">
                  <c:v>7</c:v>
                </c:pt>
                <c:pt idx="144">
                  <c:v>7</c:v>
                </c:pt>
                <c:pt idx="145">
                  <c:v>7</c:v>
                </c:pt>
                <c:pt idx="146">
                  <c:v>7</c:v>
                </c:pt>
                <c:pt idx="147">
                  <c:v>7</c:v>
                </c:pt>
                <c:pt idx="148">
                  <c:v>7</c:v>
                </c:pt>
                <c:pt idx="149">
                  <c:v>7</c:v>
                </c:pt>
                <c:pt idx="150">
                  <c:v>7.5</c:v>
                </c:pt>
                <c:pt idx="151">
                  <c:v>7.5</c:v>
                </c:pt>
                <c:pt idx="152">
                  <c:v>7.5</c:v>
                </c:pt>
                <c:pt idx="153">
                  <c:v>7.5</c:v>
                </c:pt>
                <c:pt idx="154">
                  <c:v>7.5</c:v>
                </c:pt>
                <c:pt idx="155">
                  <c:v>7.5</c:v>
                </c:pt>
                <c:pt idx="156">
                  <c:v>7.5</c:v>
                </c:pt>
                <c:pt idx="157">
                  <c:v>8</c:v>
                </c:pt>
                <c:pt idx="158">
                  <c:v>8</c:v>
                </c:pt>
                <c:pt idx="159">
                  <c:v>8</c:v>
                </c:pt>
                <c:pt idx="160">
                  <c:v>8</c:v>
                </c:pt>
                <c:pt idx="161">
                  <c:v>8</c:v>
                </c:pt>
                <c:pt idx="162">
                  <c:v>8</c:v>
                </c:pt>
                <c:pt idx="163">
                  <c:v>8.5</c:v>
                </c:pt>
                <c:pt idx="164">
                  <c:v>8.5</c:v>
                </c:pt>
                <c:pt idx="165">
                  <c:v>8.5</c:v>
                </c:pt>
                <c:pt idx="166">
                  <c:v>8.5</c:v>
                </c:pt>
                <c:pt idx="167">
                  <c:v>8.5</c:v>
                </c:pt>
                <c:pt idx="168">
                  <c:v>9</c:v>
                </c:pt>
                <c:pt idx="169">
                  <c:v>9</c:v>
                </c:pt>
                <c:pt idx="170">
                  <c:v>9</c:v>
                </c:pt>
                <c:pt idx="171">
                  <c:v>9</c:v>
                </c:pt>
                <c:pt idx="172">
                  <c:v>9.5</c:v>
                </c:pt>
                <c:pt idx="173">
                  <c:v>9.5</c:v>
                </c:pt>
                <c:pt idx="174">
                  <c:v>9.5</c:v>
                </c:pt>
                <c:pt idx="175">
                  <c:v>9.5</c:v>
                </c:pt>
                <c:pt idx="176">
                  <c:v>10</c:v>
                </c:pt>
                <c:pt idx="177">
                  <c:v>10</c:v>
                </c:pt>
                <c:pt idx="178">
                  <c:v>10</c:v>
                </c:pt>
                <c:pt idx="179">
                  <c:v>10.5</c:v>
                </c:pt>
                <c:pt idx="180">
                  <c:v>10.5</c:v>
                </c:pt>
                <c:pt idx="181">
                  <c:v>10.5</c:v>
                </c:pt>
                <c:pt idx="182">
                  <c:v>11</c:v>
                </c:pt>
                <c:pt idx="183">
                  <c:v>11</c:v>
                </c:pt>
                <c:pt idx="184">
                  <c:v>11.5</c:v>
                </c:pt>
                <c:pt idx="185">
                  <c:v>12</c:v>
                </c:pt>
              </c:numCache>
            </c:numRef>
          </c:xVal>
          <c:yVal>
            <c:numRef>
              <c:f>'Chart Data'!$B$2:$B$187</c:f>
              <c:numCache>
                <c:formatCode>0.0</c:formatCode>
                <c:ptCount val="186"/>
                <c:pt idx="0">
                  <c:v>1.05</c:v>
                </c:pt>
                <c:pt idx="1">
                  <c:v>1.1000000000000001</c:v>
                </c:pt>
                <c:pt idx="2">
                  <c:v>1.1499999999999999</c:v>
                </c:pt>
                <c:pt idx="3">
                  <c:v>1.2</c:v>
                </c:pt>
                <c:pt idx="4">
                  <c:v>1.25</c:v>
                </c:pt>
                <c:pt idx="5">
                  <c:v>1.3</c:v>
                </c:pt>
                <c:pt idx="6">
                  <c:v>1.35</c:v>
                </c:pt>
                <c:pt idx="7">
                  <c:v>1.4</c:v>
                </c:pt>
                <c:pt idx="8">
                  <c:v>1.45</c:v>
                </c:pt>
                <c:pt idx="9">
                  <c:v>1</c:v>
                </c:pt>
                <c:pt idx="10">
                  <c:v>1.05</c:v>
                </c:pt>
                <c:pt idx="11">
                  <c:v>1.1000000000000001</c:v>
                </c:pt>
                <c:pt idx="12">
                  <c:v>1.1499999999999999</c:v>
                </c:pt>
                <c:pt idx="13">
                  <c:v>1.2</c:v>
                </c:pt>
                <c:pt idx="14">
                  <c:v>1.25</c:v>
                </c:pt>
                <c:pt idx="15">
                  <c:v>1.3</c:v>
                </c:pt>
                <c:pt idx="16">
                  <c:v>1.35</c:v>
                </c:pt>
                <c:pt idx="17">
                  <c:v>1.4</c:v>
                </c:pt>
                <c:pt idx="18">
                  <c:v>1.45</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0.95</c:v>
                </c:pt>
                <c:pt idx="31">
                  <c:v>1</c:v>
                </c:pt>
                <c:pt idx="32">
                  <c:v>1.05</c:v>
                </c:pt>
                <c:pt idx="33">
                  <c:v>1.1000000000000001</c:v>
                </c:pt>
                <c:pt idx="34">
                  <c:v>1.1499999999999999</c:v>
                </c:pt>
                <c:pt idx="35">
                  <c:v>1.2</c:v>
                </c:pt>
                <c:pt idx="36">
                  <c:v>1.25</c:v>
                </c:pt>
                <c:pt idx="37">
                  <c:v>1.3</c:v>
                </c:pt>
                <c:pt idx="38">
                  <c:v>1.35</c:v>
                </c:pt>
                <c:pt idx="39">
                  <c:v>1.4</c:v>
                </c:pt>
                <c:pt idx="40">
                  <c:v>1.45</c:v>
                </c:pt>
                <c:pt idx="41">
                  <c:v>0.9</c:v>
                </c:pt>
                <c:pt idx="42">
                  <c:v>0.95</c:v>
                </c:pt>
                <c:pt idx="43">
                  <c:v>1</c:v>
                </c:pt>
                <c:pt idx="44">
                  <c:v>1.05</c:v>
                </c:pt>
                <c:pt idx="45">
                  <c:v>1.1000000000000001</c:v>
                </c:pt>
                <c:pt idx="46">
                  <c:v>1.1499999999999999</c:v>
                </c:pt>
                <c:pt idx="47">
                  <c:v>1.2</c:v>
                </c:pt>
                <c:pt idx="48">
                  <c:v>1.25</c:v>
                </c:pt>
                <c:pt idx="49">
                  <c:v>1.3</c:v>
                </c:pt>
                <c:pt idx="50">
                  <c:v>1.35</c:v>
                </c:pt>
                <c:pt idx="51">
                  <c:v>1.4</c:v>
                </c:pt>
                <c:pt idx="52">
                  <c:v>1.45</c:v>
                </c:pt>
                <c:pt idx="53">
                  <c:v>0.85</c:v>
                </c:pt>
                <c:pt idx="54">
                  <c:v>0.9</c:v>
                </c:pt>
                <c:pt idx="55">
                  <c:v>0.95</c:v>
                </c:pt>
                <c:pt idx="56">
                  <c:v>1</c:v>
                </c:pt>
                <c:pt idx="57">
                  <c:v>1.05</c:v>
                </c:pt>
                <c:pt idx="58">
                  <c:v>1.1000000000000001</c:v>
                </c:pt>
                <c:pt idx="59">
                  <c:v>1.1499999999999999</c:v>
                </c:pt>
                <c:pt idx="60">
                  <c:v>1.2</c:v>
                </c:pt>
                <c:pt idx="61">
                  <c:v>1.25</c:v>
                </c:pt>
                <c:pt idx="62">
                  <c:v>1.3</c:v>
                </c:pt>
                <c:pt idx="63">
                  <c:v>1.35</c:v>
                </c:pt>
                <c:pt idx="64">
                  <c:v>1.4</c:v>
                </c:pt>
                <c:pt idx="65">
                  <c:v>1.45</c:v>
                </c:pt>
                <c:pt idx="66">
                  <c:v>0.85</c:v>
                </c:pt>
                <c:pt idx="67">
                  <c:v>0.9</c:v>
                </c:pt>
                <c:pt idx="68">
                  <c:v>0.95</c:v>
                </c:pt>
                <c:pt idx="69">
                  <c:v>1</c:v>
                </c:pt>
                <c:pt idx="70">
                  <c:v>1.05</c:v>
                </c:pt>
                <c:pt idx="71">
                  <c:v>1.1000000000000001</c:v>
                </c:pt>
                <c:pt idx="72">
                  <c:v>1.1499999999999999</c:v>
                </c:pt>
                <c:pt idx="73">
                  <c:v>1.2</c:v>
                </c:pt>
                <c:pt idx="74">
                  <c:v>1.25</c:v>
                </c:pt>
                <c:pt idx="75">
                  <c:v>1.3</c:v>
                </c:pt>
                <c:pt idx="76">
                  <c:v>1.35</c:v>
                </c:pt>
                <c:pt idx="77">
                  <c:v>1.4</c:v>
                </c:pt>
                <c:pt idx="78">
                  <c:v>1.45</c:v>
                </c:pt>
                <c:pt idx="79">
                  <c:v>0.85</c:v>
                </c:pt>
                <c:pt idx="80">
                  <c:v>0.9</c:v>
                </c:pt>
                <c:pt idx="81">
                  <c:v>0.95</c:v>
                </c:pt>
                <c:pt idx="82">
                  <c:v>1</c:v>
                </c:pt>
                <c:pt idx="83">
                  <c:v>1.05</c:v>
                </c:pt>
                <c:pt idx="84">
                  <c:v>1.1000000000000001</c:v>
                </c:pt>
                <c:pt idx="85">
                  <c:v>1.1499999999999999</c:v>
                </c:pt>
                <c:pt idx="86">
                  <c:v>1.2</c:v>
                </c:pt>
                <c:pt idx="87">
                  <c:v>1.25</c:v>
                </c:pt>
                <c:pt idx="88">
                  <c:v>1.3</c:v>
                </c:pt>
                <c:pt idx="89">
                  <c:v>1.35</c:v>
                </c:pt>
                <c:pt idx="90">
                  <c:v>1.4</c:v>
                </c:pt>
                <c:pt idx="91">
                  <c:v>1.45</c:v>
                </c:pt>
                <c:pt idx="92">
                  <c:v>0.9</c:v>
                </c:pt>
                <c:pt idx="93">
                  <c:v>0.95</c:v>
                </c:pt>
                <c:pt idx="94">
                  <c:v>1</c:v>
                </c:pt>
                <c:pt idx="95">
                  <c:v>1.05</c:v>
                </c:pt>
                <c:pt idx="96">
                  <c:v>1.1000000000000001</c:v>
                </c:pt>
                <c:pt idx="97">
                  <c:v>1.1499999999999999</c:v>
                </c:pt>
                <c:pt idx="98">
                  <c:v>1.2</c:v>
                </c:pt>
                <c:pt idx="99">
                  <c:v>1.25</c:v>
                </c:pt>
                <c:pt idx="100">
                  <c:v>1.3</c:v>
                </c:pt>
                <c:pt idx="101">
                  <c:v>1.35</c:v>
                </c:pt>
                <c:pt idx="102">
                  <c:v>1.4</c:v>
                </c:pt>
                <c:pt idx="103">
                  <c:v>1.45</c:v>
                </c:pt>
                <c:pt idx="104">
                  <c:v>0.95</c:v>
                </c:pt>
                <c:pt idx="105">
                  <c:v>1</c:v>
                </c:pt>
                <c:pt idx="106">
                  <c:v>1.05</c:v>
                </c:pt>
                <c:pt idx="107">
                  <c:v>1.1000000000000001</c:v>
                </c:pt>
                <c:pt idx="108">
                  <c:v>1.1499999999999999</c:v>
                </c:pt>
                <c:pt idx="109">
                  <c:v>1.2</c:v>
                </c:pt>
                <c:pt idx="110">
                  <c:v>1.25</c:v>
                </c:pt>
                <c:pt idx="111">
                  <c:v>1.3</c:v>
                </c:pt>
                <c:pt idx="112">
                  <c:v>1.35</c:v>
                </c:pt>
                <c:pt idx="113">
                  <c:v>1.4</c:v>
                </c:pt>
                <c:pt idx="114">
                  <c:v>1.45</c:v>
                </c:pt>
                <c:pt idx="115">
                  <c:v>1</c:v>
                </c:pt>
                <c:pt idx="116">
                  <c:v>1.05</c:v>
                </c:pt>
                <c:pt idx="117">
                  <c:v>1.1000000000000001</c:v>
                </c:pt>
                <c:pt idx="118">
                  <c:v>1.1499999999999999</c:v>
                </c:pt>
                <c:pt idx="119">
                  <c:v>1.2</c:v>
                </c:pt>
                <c:pt idx="120">
                  <c:v>1.25</c:v>
                </c:pt>
                <c:pt idx="121">
                  <c:v>1.3</c:v>
                </c:pt>
                <c:pt idx="122">
                  <c:v>1.35</c:v>
                </c:pt>
                <c:pt idx="123">
                  <c:v>1.4</c:v>
                </c:pt>
                <c:pt idx="124">
                  <c:v>1.45</c:v>
                </c:pt>
                <c:pt idx="125">
                  <c:v>1.05</c:v>
                </c:pt>
                <c:pt idx="126">
                  <c:v>1.1000000000000001</c:v>
                </c:pt>
                <c:pt idx="127">
                  <c:v>1.1499999999999999</c:v>
                </c:pt>
                <c:pt idx="128">
                  <c:v>1.2</c:v>
                </c:pt>
                <c:pt idx="129">
                  <c:v>1.25</c:v>
                </c:pt>
                <c:pt idx="130">
                  <c:v>1.3</c:v>
                </c:pt>
                <c:pt idx="131">
                  <c:v>1.35</c:v>
                </c:pt>
                <c:pt idx="132">
                  <c:v>1.4</c:v>
                </c:pt>
                <c:pt idx="133">
                  <c:v>1.45</c:v>
                </c:pt>
                <c:pt idx="134">
                  <c:v>1.1000000000000001</c:v>
                </c:pt>
                <c:pt idx="135">
                  <c:v>1.1499999999999999</c:v>
                </c:pt>
                <c:pt idx="136">
                  <c:v>1.2</c:v>
                </c:pt>
                <c:pt idx="137">
                  <c:v>1.25</c:v>
                </c:pt>
                <c:pt idx="138">
                  <c:v>1.3</c:v>
                </c:pt>
                <c:pt idx="139">
                  <c:v>1.35</c:v>
                </c:pt>
                <c:pt idx="140">
                  <c:v>1.4</c:v>
                </c:pt>
                <c:pt idx="141">
                  <c:v>1.45</c:v>
                </c:pt>
                <c:pt idx="142">
                  <c:v>1.1000000000000001</c:v>
                </c:pt>
                <c:pt idx="143">
                  <c:v>1.1499999999999999</c:v>
                </c:pt>
                <c:pt idx="144">
                  <c:v>1.2</c:v>
                </c:pt>
                <c:pt idx="145">
                  <c:v>1.25</c:v>
                </c:pt>
                <c:pt idx="146">
                  <c:v>1.3</c:v>
                </c:pt>
                <c:pt idx="147">
                  <c:v>1.35</c:v>
                </c:pt>
                <c:pt idx="148">
                  <c:v>1.4</c:v>
                </c:pt>
                <c:pt idx="149">
                  <c:v>1.45</c:v>
                </c:pt>
                <c:pt idx="150">
                  <c:v>1.1499999999999999</c:v>
                </c:pt>
                <c:pt idx="151">
                  <c:v>1.2</c:v>
                </c:pt>
                <c:pt idx="152">
                  <c:v>1.25</c:v>
                </c:pt>
                <c:pt idx="153">
                  <c:v>1.3</c:v>
                </c:pt>
                <c:pt idx="154">
                  <c:v>1.35</c:v>
                </c:pt>
                <c:pt idx="155">
                  <c:v>1.4</c:v>
                </c:pt>
                <c:pt idx="156">
                  <c:v>1.45</c:v>
                </c:pt>
                <c:pt idx="157">
                  <c:v>1.2</c:v>
                </c:pt>
                <c:pt idx="158">
                  <c:v>1.25</c:v>
                </c:pt>
                <c:pt idx="159">
                  <c:v>1.3</c:v>
                </c:pt>
                <c:pt idx="160">
                  <c:v>1.35</c:v>
                </c:pt>
                <c:pt idx="161">
                  <c:v>1.4</c:v>
                </c:pt>
                <c:pt idx="162">
                  <c:v>1.45</c:v>
                </c:pt>
                <c:pt idx="163">
                  <c:v>1.25</c:v>
                </c:pt>
                <c:pt idx="164">
                  <c:v>1.3</c:v>
                </c:pt>
                <c:pt idx="165">
                  <c:v>1.35</c:v>
                </c:pt>
                <c:pt idx="166">
                  <c:v>1.4</c:v>
                </c:pt>
                <c:pt idx="167">
                  <c:v>1.45</c:v>
                </c:pt>
                <c:pt idx="168">
                  <c:v>1.3</c:v>
                </c:pt>
                <c:pt idx="169">
                  <c:v>1.35</c:v>
                </c:pt>
                <c:pt idx="170">
                  <c:v>1.4</c:v>
                </c:pt>
                <c:pt idx="171">
                  <c:v>1.45</c:v>
                </c:pt>
                <c:pt idx="172">
                  <c:v>1.3</c:v>
                </c:pt>
                <c:pt idx="173">
                  <c:v>1.35</c:v>
                </c:pt>
                <c:pt idx="174">
                  <c:v>1.4</c:v>
                </c:pt>
                <c:pt idx="175">
                  <c:v>1.45</c:v>
                </c:pt>
                <c:pt idx="176">
                  <c:v>1.35</c:v>
                </c:pt>
                <c:pt idx="177">
                  <c:v>1.4</c:v>
                </c:pt>
                <c:pt idx="178">
                  <c:v>1.45</c:v>
                </c:pt>
                <c:pt idx="179">
                  <c:v>1.35</c:v>
                </c:pt>
                <c:pt idx="180">
                  <c:v>1.4</c:v>
                </c:pt>
                <c:pt idx="181">
                  <c:v>1.45</c:v>
                </c:pt>
                <c:pt idx="182">
                  <c:v>1.4</c:v>
                </c:pt>
                <c:pt idx="183">
                  <c:v>1.45</c:v>
                </c:pt>
                <c:pt idx="184">
                  <c:v>1.45</c:v>
                </c:pt>
                <c:pt idx="185">
                  <c:v>1.45</c:v>
                </c:pt>
              </c:numCache>
            </c:numRef>
          </c:yVal>
          <c:smooth val="1"/>
          <c:extLst>
            <c:ext xmlns:c16="http://schemas.microsoft.com/office/drawing/2014/chart" uri="{C3380CC4-5D6E-409C-BE32-E72D297353CC}">
              <c16:uniqueId val="{00000000-0832-4605-BE04-6BF29BADB7BA}"/>
            </c:ext>
          </c:extLst>
        </c:ser>
        <c:ser>
          <c:idx val="1"/>
          <c:order val="1"/>
          <c:tx>
            <c:v>Lower coupling</c:v>
          </c:tx>
          <c:spPr>
            <a:ln w="0">
              <a:noFill/>
            </a:ln>
          </c:spPr>
          <c:marker>
            <c:symbol val="circle"/>
            <c:size val="7"/>
            <c:spPr>
              <a:solidFill>
                <a:srgbClr val="087E8B"/>
              </a:solidFill>
            </c:spPr>
          </c:marker>
          <c:xVal>
            <c:numRef>
              <c:f>'Chart Data'!$C$2:$C$28</c:f>
              <c:numCache>
                <c:formatCode>General</c:formatCode>
                <c:ptCount val="27"/>
                <c:pt idx="0">
                  <c:v>4</c:v>
                </c:pt>
                <c:pt idx="1">
                  <c:v>4</c:v>
                </c:pt>
                <c:pt idx="2">
                  <c:v>4</c:v>
                </c:pt>
                <c:pt idx="3">
                  <c:v>4</c:v>
                </c:pt>
                <c:pt idx="4">
                  <c:v>4.5</c:v>
                </c:pt>
                <c:pt idx="5">
                  <c:v>4.5</c:v>
                </c:pt>
                <c:pt idx="6">
                  <c:v>4.5</c:v>
                </c:pt>
                <c:pt idx="7">
                  <c:v>4.5</c:v>
                </c:pt>
                <c:pt idx="8">
                  <c:v>4.5</c:v>
                </c:pt>
                <c:pt idx="9">
                  <c:v>4.5</c:v>
                </c:pt>
                <c:pt idx="10">
                  <c:v>4.5</c:v>
                </c:pt>
                <c:pt idx="11">
                  <c:v>4.5</c:v>
                </c:pt>
                <c:pt idx="12">
                  <c:v>5</c:v>
                </c:pt>
                <c:pt idx="13">
                  <c:v>5</c:v>
                </c:pt>
                <c:pt idx="14">
                  <c:v>5</c:v>
                </c:pt>
                <c:pt idx="15">
                  <c:v>5</c:v>
                </c:pt>
                <c:pt idx="16">
                  <c:v>5</c:v>
                </c:pt>
                <c:pt idx="17">
                  <c:v>5</c:v>
                </c:pt>
                <c:pt idx="18">
                  <c:v>5.5</c:v>
                </c:pt>
                <c:pt idx="19">
                  <c:v>5.5</c:v>
                </c:pt>
                <c:pt idx="20">
                  <c:v>5.5</c:v>
                </c:pt>
                <c:pt idx="21">
                  <c:v>5.5</c:v>
                </c:pt>
                <c:pt idx="22">
                  <c:v>5.5</c:v>
                </c:pt>
                <c:pt idx="23">
                  <c:v>6</c:v>
                </c:pt>
                <c:pt idx="24">
                  <c:v>6</c:v>
                </c:pt>
                <c:pt idx="25">
                  <c:v>6</c:v>
                </c:pt>
                <c:pt idx="26">
                  <c:v>6.5</c:v>
                </c:pt>
              </c:numCache>
            </c:numRef>
          </c:xVal>
          <c:yVal>
            <c:numRef>
              <c:f>'Chart Data'!$D$2:$D$28</c:f>
              <c:numCache>
                <c:formatCode>0.0</c:formatCode>
                <c:ptCount val="27"/>
                <c:pt idx="0">
                  <c:v>1.3</c:v>
                </c:pt>
                <c:pt idx="1">
                  <c:v>1.35</c:v>
                </c:pt>
                <c:pt idx="2">
                  <c:v>1.4</c:v>
                </c:pt>
                <c:pt idx="3">
                  <c:v>1.45</c:v>
                </c:pt>
                <c:pt idx="4">
                  <c:v>1.1000000000000001</c:v>
                </c:pt>
                <c:pt idx="5">
                  <c:v>1.1499999999999999</c:v>
                </c:pt>
                <c:pt idx="6">
                  <c:v>1.2</c:v>
                </c:pt>
                <c:pt idx="7">
                  <c:v>1.25</c:v>
                </c:pt>
                <c:pt idx="8">
                  <c:v>1.3</c:v>
                </c:pt>
                <c:pt idx="9">
                  <c:v>1.35</c:v>
                </c:pt>
                <c:pt idx="10">
                  <c:v>1.4</c:v>
                </c:pt>
                <c:pt idx="11">
                  <c:v>1.45</c:v>
                </c:pt>
                <c:pt idx="12">
                  <c:v>1.2</c:v>
                </c:pt>
                <c:pt idx="13">
                  <c:v>1.25</c:v>
                </c:pt>
                <c:pt idx="14">
                  <c:v>1.3</c:v>
                </c:pt>
                <c:pt idx="15">
                  <c:v>1.35</c:v>
                </c:pt>
                <c:pt idx="16">
                  <c:v>1.4</c:v>
                </c:pt>
                <c:pt idx="17">
                  <c:v>1.45</c:v>
                </c:pt>
                <c:pt idx="18">
                  <c:v>1.25</c:v>
                </c:pt>
                <c:pt idx="19">
                  <c:v>1.3</c:v>
                </c:pt>
                <c:pt idx="20">
                  <c:v>1.35</c:v>
                </c:pt>
                <c:pt idx="21">
                  <c:v>1.4</c:v>
                </c:pt>
                <c:pt idx="22">
                  <c:v>1.45</c:v>
                </c:pt>
                <c:pt idx="23">
                  <c:v>1.35</c:v>
                </c:pt>
                <c:pt idx="24">
                  <c:v>1.4</c:v>
                </c:pt>
                <c:pt idx="25">
                  <c:v>1.45</c:v>
                </c:pt>
                <c:pt idx="26">
                  <c:v>1.45</c:v>
                </c:pt>
              </c:numCache>
            </c:numRef>
          </c:yVal>
          <c:smooth val="1"/>
          <c:extLst>
            <c:ext xmlns:c16="http://schemas.microsoft.com/office/drawing/2014/chart" uri="{C3380CC4-5D6E-409C-BE32-E72D297353CC}">
              <c16:uniqueId val="{00000001-0832-4605-BE04-6BF29BADB7BA}"/>
            </c:ext>
          </c:extLst>
        </c:ser>
        <c:ser>
          <c:idx val="2"/>
          <c:order val="2"/>
          <c:tx>
            <c:v>Chosen point</c:v>
          </c:tx>
          <c:spPr>
            <a:ln w="0">
              <a:noFill/>
            </a:ln>
          </c:spPr>
          <c:marker>
            <c:symbol val="star"/>
            <c:size val="17"/>
            <c:spPr>
              <a:solidFill>
                <a:srgbClr val="D66A2C"/>
              </a:solidFill>
            </c:spPr>
          </c:marker>
          <c:xVal>
            <c:numRef>
              <c:f>'Chart Data'!$E$2:$E$2</c:f>
              <c:numCache>
                <c:formatCode>General</c:formatCode>
                <c:ptCount val="1"/>
                <c:pt idx="0">
                  <c:v>4.5</c:v>
                </c:pt>
              </c:numCache>
            </c:numRef>
          </c:xVal>
          <c:yVal>
            <c:numRef>
              <c:f>'Chart Data'!$F$2:$F$2</c:f>
              <c:numCache>
                <c:formatCode>0.0</c:formatCode>
                <c:ptCount val="1"/>
                <c:pt idx="0">
                  <c:v>1.3</c:v>
                </c:pt>
              </c:numCache>
            </c:numRef>
          </c:yVal>
          <c:smooth val="1"/>
          <c:extLst>
            <c:ext xmlns:c16="http://schemas.microsoft.com/office/drawing/2014/chart" uri="{C3380CC4-5D6E-409C-BE32-E72D297353CC}">
              <c16:uniqueId val="{00000002-0832-4605-BE04-6BF29BADB7BA}"/>
            </c:ext>
          </c:extLst>
        </c:ser>
        <c:dLbls>
          <c:showLegendKey val="0"/>
          <c:showVal val="0"/>
          <c:showCatName val="0"/>
          <c:showSerName val="0"/>
          <c:showPercent val="0"/>
          <c:showBubbleSize val="0"/>
        </c:dLbls>
        <c:axId val="48650112"/>
        <c:axId val="48672768"/>
      </c:scatterChart>
      <c:valAx>
        <c:axId val="48672768"/>
        <c:scaling>
          <c:orientation val="minMax"/>
          <c:max val="1.6"/>
          <c:min val="0.8"/>
        </c:scaling>
        <c:delete val="0"/>
        <c:axPos val="l"/>
        <c:majorGridlines>
          <c:spPr>
            <a:ln w="9525">
              <a:solidFill>
                <a:srgbClr val="DFE6EB"/>
              </a:solidFill>
            </a:ln>
          </c:spPr>
        </c:majorGridlines>
        <c:title>
          <c:tx>
            <c:rich>
              <a:bodyPr/>
              <a:lstStyle/>
              <a:p>
                <a:r>
                  <a:rPr sz="1575">
                    <a:solidFill>
                      <a:srgbClr val="516474"/>
                    </a:solidFill>
                    <a:latin typeface="Arial"/>
                    <a:ea typeface="Arial"/>
                    <a:cs typeface="Arial"/>
                  </a:rPr>
                  <a:t>K₂</a:t>
                </a:r>
              </a:p>
            </c:rich>
          </c:tx>
          <c:overlay val="0"/>
        </c:title>
        <c:numFmt formatCode="0.0" sourceLinked="1"/>
        <c:majorTickMark val="none"/>
        <c:minorTickMark val="none"/>
        <c:tickLblPos val="nextTo"/>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50112"/>
        <c:crossesAt val="0"/>
        <c:crossBetween val="midCat"/>
        <c:majorUnit val="0.2"/>
      </c:valAx>
      <c:valAx>
        <c:axId val="48650112"/>
        <c:scaling>
          <c:orientation val="minMax"/>
          <c:max val="14"/>
          <c:min val="0"/>
        </c:scaling>
        <c:delete val="0"/>
        <c:axPos val="b"/>
        <c:title>
          <c:tx>
            <c:rich>
              <a:bodyPr/>
              <a:lstStyle/>
              <a:p>
                <a:r>
                  <a:rPr sz="1575">
                    <a:solidFill>
                      <a:srgbClr val="516474"/>
                    </a:solidFill>
                    <a:latin typeface="Arial"/>
                    <a:ea typeface="Arial"/>
                    <a:cs typeface="Arial"/>
                  </a:rPr>
                  <a:t>K₁</a:t>
                </a:r>
              </a:p>
            </c:rich>
          </c:tx>
          <c:overlay val="0"/>
        </c:title>
        <c:numFmt formatCode="General" sourceLinked="1"/>
        <c:majorTickMark val="none"/>
        <c:minorTickMark val="none"/>
        <c:tickLblPos val="low"/>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72768"/>
        <c:crossesAt val="0.8"/>
        <c:crossBetween val="midCat"/>
        <c:majorUnit val="2"/>
      </c:valAx>
      <c:spPr>
        <a:solidFill>
          <a:srgbClr val="FFFFFF"/>
        </a:solidFill>
        <a:ln w="0">
          <a:noFill/>
        </a:ln>
      </c:spPr>
    </c:plotArea>
    <c:legend>
      <c:legendPos val="b"/>
      <c:overlay val="0"/>
      <c:txPr>
        <a:bodyPr anchorCtr="1"/>
        <a:lstStyle/>
        <a:p>
          <a:pPr>
            <a:defRPr sz="1500">
              <a:solidFill>
                <a:srgbClr val="13283C"/>
              </a:solidFill>
              <a:latin typeface="Arial"/>
              <a:ea typeface="Arial"/>
              <a:cs typeface="Arial"/>
            </a:defRPr>
          </a:pPr>
          <a:endParaRPr lang="es-ES"/>
        </a:p>
      </c:txPr>
    </c:legend>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Response to a 5° pitch command</a:t>
            </a:r>
          </a:p>
        </c:rich>
      </c:tx>
      <c:overlay val="0"/>
    </c:title>
    <c:autoTitleDeleted val="0"/>
    <c:plotArea>
      <c:layout/>
      <c:scatterChart>
        <c:scatterStyle val="lineMarker"/>
        <c:varyColors val="0"/>
        <c:ser>
          <c:idx val="0"/>
          <c:order val="0"/>
          <c:tx>
            <c:v>Nominal</c:v>
          </c:tx>
          <c:spPr>
            <a:ln w="28575">
              <a:solidFill>
                <a:srgbClr val="B6C3CC"/>
              </a:solidFill>
              <a:prstDash val="solid"/>
            </a:ln>
          </c:spPr>
          <c:marker>
            <c:symbol val="none"/>
          </c:marker>
          <c:xVal>
            <c:numRef>
              <c:f>'Chart Data'!$A$2:$A$162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Data'!$B$2:$B$162</c:f>
              <c:numCache>
                <c:formatCode>0.0</c:formatCode>
                <c:ptCount val="161"/>
                <c:pt idx="0">
                  <c:v>-2.220446049E-15</c:v>
                </c:pt>
                <c:pt idx="1">
                  <c:v>6.9467193699999999E-3</c:v>
                </c:pt>
                <c:pt idx="2">
                  <c:v>4.4542466269999997E-2</c:v>
                </c:pt>
                <c:pt idx="3">
                  <c:v>0.1227165705</c:v>
                </c:pt>
                <c:pt idx="4">
                  <c:v>0.241184396</c:v>
                </c:pt>
                <c:pt idx="5">
                  <c:v>0.39579265879999997</c:v>
                </c:pt>
                <c:pt idx="6">
                  <c:v>0.58116330179999998</c:v>
                </c:pt>
                <c:pt idx="7">
                  <c:v>0.79177814369999999</c:v>
                </c:pt>
                <c:pt idx="8">
                  <c:v>1.022407769</c:v>
                </c:pt>
                <c:pt idx="9">
                  <c:v>1.2682656130000001</c:v>
                </c:pt>
                <c:pt idx="10">
                  <c:v>1.525047815</c:v>
                </c:pt>
                <c:pt idx="11">
                  <c:v>1.7889264620000001</c:v>
                </c:pt>
                <c:pt idx="12">
                  <c:v>2.056524644</c:v>
                </c:pt>
                <c:pt idx="13">
                  <c:v>2.3248852260000001</c:v>
                </c:pt>
                <c:pt idx="14">
                  <c:v>2.591438278</c:v>
                </c:pt>
                <c:pt idx="15">
                  <c:v>2.853969158</c:v>
                </c:pt>
                <c:pt idx="16">
                  <c:v>3.1105880479999999</c:v>
                </c:pt>
                <c:pt idx="17">
                  <c:v>3.3597011870000002</c:v>
                </c:pt>
                <c:pt idx="18">
                  <c:v>3.5999838770000001</c:v>
                </c:pt>
                <c:pt idx="19">
                  <c:v>3.830355205</c:v>
                </c:pt>
                <c:pt idx="20">
                  <c:v>4.0499544399999996</c:v>
                </c:pt>
                <c:pt idx="21">
                  <c:v>4.2581190119999999</c:v>
                </c:pt>
                <c:pt idx="22">
                  <c:v>4.4543640089999998</c:v>
                </c:pt>
                <c:pt idx="23">
                  <c:v>4.6383631080000001</c:v>
                </c:pt>
                <c:pt idx="24">
                  <c:v>4.8099308699999996</c:v>
                </c:pt>
                <c:pt idx="25">
                  <c:v>4.96900633</c:v>
                </c:pt>
                <c:pt idx="26">
                  <c:v>5.11563781</c:v>
                </c:pt>
                <c:pt idx="27">
                  <c:v>5.2499689089999997</c:v>
                </c:pt>
                <c:pt idx="28">
                  <c:v>5.3722255759999999</c:v>
                </c:pt>
                <c:pt idx="29">
                  <c:v>5.4827042419999996</c:v>
                </c:pt>
                <c:pt idx="30">
                  <c:v>5.5817609279999996</c:v>
                </c:pt>
                <c:pt idx="31">
                  <c:v>5.6698012929999999</c:v>
                </c:pt>
                <c:pt idx="32">
                  <c:v>5.7472715499999998</c:v>
                </c:pt>
                <c:pt idx="33">
                  <c:v>5.8146502250000003</c:v>
                </c:pt>
                <c:pt idx="34">
                  <c:v>5.8724406770000002</c:v>
                </c:pt>
                <c:pt idx="35">
                  <c:v>5.9211643650000001</c:v>
                </c:pt>
                <c:pt idx="36">
                  <c:v>5.9613547909999998</c:v>
                </c:pt>
                <c:pt idx="37">
                  <c:v>5.9935520919999998</c:v>
                </c:pt>
                <c:pt idx="38">
                  <c:v>6.0182982259999998</c:v>
                </c:pt>
                <c:pt idx="39">
                  <c:v>6.0361327229999997</c:v>
                </c:pt>
                <c:pt idx="40">
                  <c:v>6.0475889489999997</c:v>
                </c:pt>
                <c:pt idx="41">
                  <c:v>6.0531908640000003</c:v>
                </c:pt>
                <c:pt idx="42">
                  <c:v>6.0534502159999999</c:v>
                </c:pt>
                <c:pt idx="43">
                  <c:v>6.0488641540000003</c:v>
                </c:pt>
                <c:pt idx="44">
                  <c:v>6.0399132209999999</c:v>
                </c:pt>
                <c:pt idx="45">
                  <c:v>6.027059693</c:v>
                </c:pt>
                <c:pt idx="46">
                  <c:v>6.0107462429999998</c:v>
                </c:pt>
                <c:pt idx="47">
                  <c:v>5.9913948909999997</c:v>
                </c:pt>
                <c:pt idx="48">
                  <c:v>5.9694062189999997</c:v>
                </c:pt>
                <c:pt idx="49">
                  <c:v>5.9451588319999997</c:v>
                </c:pt>
                <c:pt idx="50">
                  <c:v>5.9190090260000003</c:v>
                </c:pt>
                <c:pt idx="51">
                  <c:v>5.8912906530000004</c:v>
                </c:pt>
                <c:pt idx="52">
                  <c:v>5.8623151609999997</c:v>
                </c:pt>
                <c:pt idx="53">
                  <c:v>5.832371781</c:v>
                </c:pt>
                <c:pt idx="54">
                  <c:v>5.8017278489999997</c:v>
                </c:pt>
                <c:pt idx="55">
                  <c:v>5.7706292509999999</c:v>
                </c:pt>
                <c:pt idx="56">
                  <c:v>5.7393009560000001</c:v>
                </c:pt>
                <c:pt idx="57">
                  <c:v>5.7079476490000003</c:v>
                </c:pt>
                <c:pt idx="58">
                  <c:v>5.6767544250000004</c:v>
                </c:pt>
                <c:pt idx="59">
                  <c:v>5.6458875480000001</c:v>
                </c:pt>
                <c:pt idx="60">
                  <c:v>5.6154952549999999</c:v>
                </c:pt>
                <c:pt idx="61">
                  <c:v>5.5857085990000002</c:v>
                </c:pt>
                <c:pt idx="62">
                  <c:v>5.5566423150000004</c:v>
                </c:pt>
                <c:pt idx="63">
                  <c:v>5.5283957140000002</c:v>
                </c:pt>
                <c:pt idx="64">
                  <c:v>5.5010535740000002</c:v>
                </c:pt>
                <c:pt idx="65">
                  <c:v>5.4746870459999997</c:v>
                </c:pt>
                <c:pt idx="66">
                  <c:v>5.4493545509999999</c:v>
                </c:pt>
                <c:pt idx="67">
                  <c:v>5.4251026700000002</c:v>
                </c:pt>
                <c:pt idx="68">
                  <c:v>5.4019670199999998</c:v>
                </c:pt>
                <c:pt idx="69">
                  <c:v>5.379973111</c:v>
                </c:pt>
                <c:pt idx="70">
                  <c:v>5.3591371849999998</c:v>
                </c:pt>
                <c:pt idx="71">
                  <c:v>5.3394670240000002</c:v>
                </c:pt>
                <c:pt idx="72">
                  <c:v>5.3209627350000002</c:v>
                </c:pt>
                <c:pt idx="73">
                  <c:v>5.3036175029999999</c:v>
                </c:pt>
                <c:pt idx="74">
                  <c:v>5.2874183129999999</c:v>
                </c:pt>
                <c:pt idx="75">
                  <c:v>5.2723466370000001</c:v>
                </c:pt>
                <c:pt idx="76">
                  <c:v>5.2583790910000001</c:v>
                </c:pt>
                <c:pt idx="77">
                  <c:v>5.2454880529999999</c:v>
                </c:pt>
                <c:pt idx="78">
                  <c:v>5.2336422430000002</c:v>
                </c:pt>
                <c:pt idx="79">
                  <c:v>5.2228072790000004</c:v>
                </c:pt>
                <c:pt idx="80">
                  <c:v>5.2129461849999998</c:v>
                </c:pt>
                <c:pt idx="81">
                  <c:v>5.2040198679999996</c:v>
                </c:pt>
                <c:pt idx="82">
                  <c:v>5.1959875670000004</c:v>
                </c:pt>
                <c:pt idx="83">
                  <c:v>5.1888072589999998</c:v>
                </c:pt>
                <c:pt idx="84">
                  <c:v>5.1824360350000003</c:v>
                </c:pt>
                <c:pt idx="85">
                  <c:v>5.1768304470000004</c:v>
                </c:pt>
                <c:pt idx="86">
                  <c:v>5.1719468219999998</c:v>
                </c:pt>
                <c:pt idx="87">
                  <c:v>5.1677415460000002</c:v>
                </c:pt>
                <c:pt idx="88">
                  <c:v>5.1641713149999999</c:v>
                </c:pt>
                <c:pt idx="89">
                  <c:v>5.1611933719999996</c:v>
                </c:pt>
                <c:pt idx="90">
                  <c:v>5.1587657</c:v>
                </c:pt>
                <c:pt idx="91">
                  <c:v>5.1568472070000002</c:v>
                </c:pt>
                <c:pt idx="92">
                  <c:v>5.1553978750000002</c:v>
                </c:pt>
                <c:pt idx="93">
                  <c:v>5.154378898</c:v>
                </c:pt>
                <c:pt idx="94">
                  <c:v>5.1537527860000001</c:v>
                </c:pt>
                <c:pt idx="95">
                  <c:v>5.153483466</c:v>
                </c:pt>
                <c:pt idx="96">
                  <c:v>5.1535363539999999</c:v>
                </c:pt>
                <c:pt idx="97">
                  <c:v>5.1538784120000001</c:v>
                </c:pt>
                <c:pt idx="98">
                  <c:v>5.154478192</c:v>
                </c:pt>
                <c:pt idx="99">
                  <c:v>5.1553058700000003</c:v>
                </c:pt>
                <c:pt idx="100">
                  <c:v>5.1563332549999998</c:v>
                </c:pt>
                <c:pt idx="101">
                  <c:v>5.1575338009999996</c:v>
                </c:pt>
                <c:pt idx="102">
                  <c:v>5.1588825969999998</c:v>
                </c:pt>
                <c:pt idx="103">
                  <c:v>5.1603563560000003</c:v>
                </c:pt>
                <c:pt idx="104">
                  <c:v>5.1619333919999999</c:v>
                </c:pt>
                <c:pt idx="105">
                  <c:v>5.1635935850000001</c:v>
                </c:pt>
                <c:pt idx="106">
                  <c:v>5.1653183509999998</c:v>
                </c:pt>
                <c:pt idx="107">
                  <c:v>5.1670905940000003</c:v>
                </c:pt>
                <c:pt idx="108">
                  <c:v>5.1688946639999998</c:v>
                </c:pt>
                <c:pt idx="109">
                  <c:v>5.1707163029999998</c:v>
                </c:pt>
                <c:pt idx="110">
                  <c:v>5.1725425899999999</c:v>
                </c:pt>
                <c:pt idx="111">
                  <c:v>5.1743618849999997</c:v>
                </c:pt>
                <c:pt idx="112">
                  <c:v>5.1761637729999999</c:v>
                </c:pt>
                <c:pt idx="113">
                  <c:v>5.1779390000000003</c:v>
                </c:pt>
                <c:pt idx="114">
                  <c:v>5.1796794110000004</c:v>
                </c:pt>
                <c:pt idx="115">
                  <c:v>5.1813778920000004</c:v>
                </c:pt>
                <c:pt idx="116">
                  <c:v>5.1830283049999997</c:v>
                </c:pt>
                <c:pt idx="117">
                  <c:v>5.1846254280000004</c:v>
                </c:pt>
                <c:pt idx="118">
                  <c:v>5.186164894</c:v>
                </c:pt>
                <c:pt idx="119">
                  <c:v>5.1876431289999996</c:v>
                </c:pt>
                <c:pt idx="120">
                  <c:v>5.1890572969999997</c:v>
                </c:pt>
                <c:pt idx="121">
                  <c:v>5.1904052390000004</c:v>
                </c:pt>
                <c:pt idx="122">
                  <c:v>5.1916854189999997</c:v>
                </c:pt>
                <c:pt idx="123">
                  <c:v>5.1928968729999996</c:v>
                </c:pt>
                <c:pt idx="124">
                  <c:v>5.1940391520000002</c:v>
                </c:pt>
                <c:pt idx="125">
                  <c:v>5.1951122759999997</c:v>
                </c:pt>
                <c:pt idx="126">
                  <c:v>5.1961166839999997</c:v>
                </c:pt>
                <c:pt idx="127">
                  <c:v>5.1970531940000004</c:v>
                </c:pt>
                <c:pt idx="128">
                  <c:v>5.1979229509999998</c:v>
                </c:pt>
                <c:pt idx="129">
                  <c:v>5.1987273949999997</c:v>
                </c:pt>
                <c:pt idx="130">
                  <c:v>5.1994682189999999</c:v>
                </c:pt>
                <c:pt idx="131">
                  <c:v>5.2001473330000003</c:v>
                </c:pt>
                <c:pt idx="132">
                  <c:v>5.200766829</c:v>
                </c:pt>
                <c:pt idx="133">
                  <c:v>5.201328953</c:v>
                </c:pt>
                <c:pt idx="134">
                  <c:v>5.2018360750000001</c:v>
                </c:pt>
                <c:pt idx="135">
                  <c:v>5.202290659</c:v>
                </c:pt>
                <c:pt idx="136">
                  <c:v>5.2026952409999998</c:v>
                </c:pt>
                <c:pt idx="137">
                  <c:v>5.2030524070000004</c:v>
                </c:pt>
                <c:pt idx="138">
                  <c:v>5.2033647710000004</c:v>
                </c:pt>
                <c:pt idx="139">
                  <c:v>5.2036349529999999</c:v>
                </c:pt>
                <c:pt idx="140">
                  <c:v>5.2038655699999996</c:v>
                </c:pt>
                <c:pt idx="141">
                  <c:v>5.2040592129999999</c:v>
                </c:pt>
                <c:pt idx="142">
                  <c:v>5.2042184369999998</c:v>
                </c:pt>
                <c:pt idx="143">
                  <c:v>5.2043457499999999</c:v>
                </c:pt>
                <c:pt idx="144">
                  <c:v>5.2044436000000003</c:v>
                </c:pt>
                <c:pt idx="145">
                  <c:v>5.2045143669999998</c:v>
                </c:pt>
                <c:pt idx="146">
                  <c:v>5.2045603570000001</c:v>
                </c:pt>
                <c:pt idx="147">
                  <c:v>5.2045837930000003</c:v>
                </c:pt>
                <c:pt idx="148">
                  <c:v>5.2045868110000004</c:v>
                </c:pt>
                <c:pt idx="149">
                  <c:v>5.204571456</c:v>
                </c:pt>
                <c:pt idx="150">
                  <c:v>5.2045396779999997</c:v>
                </c:pt>
                <c:pt idx="151">
                  <c:v>5.2044933310000001</c:v>
                </c:pt>
                <c:pt idx="152">
                  <c:v>5.2044341699999999</c:v>
                </c:pt>
                <c:pt idx="153">
                  <c:v>5.20436385</c:v>
                </c:pt>
                <c:pt idx="154">
                  <c:v>5.2042839269999996</c:v>
                </c:pt>
                <c:pt idx="155">
                  <c:v>5.2041958590000004</c:v>
                </c:pt>
                <c:pt idx="156">
                  <c:v>5.2041010060000001</c:v>
                </c:pt>
                <c:pt idx="157">
                  <c:v>5.2040006319999996</c:v>
                </c:pt>
                <c:pt idx="158">
                  <c:v>5.2038959069999997</c:v>
                </c:pt>
                <c:pt idx="159">
                  <c:v>5.2037879089999999</c:v>
                </c:pt>
                <c:pt idx="160">
                  <c:v>5.2036776270000002</c:v>
                </c:pt>
              </c:numCache>
            </c:numRef>
          </c:yVal>
          <c:smooth val="1"/>
          <c:extLst>
            <c:ext xmlns:c16="http://schemas.microsoft.com/office/drawing/2014/chart" uri="{C3380CC4-5D6E-409C-BE32-E72D297353CC}">
              <c16:uniqueId val="{00000000-7655-4C87-AD80-7F2A5400189F}"/>
            </c:ext>
          </c:extLst>
        </c:ser>
        <c:ser>
          <c:idx val="1"/>
          <c:order val="1"/>
          <c:tx>
            <c:v>Recommended</c:v>
          </c:tx>
          <c:spPr>
            <a:ln w="28575">
              <a:solidFill>
                <a:srgbClr val="087E8B"/>
              </a:solidFill>
              <a:prstDash val="solid"/>
            </a:ln>
          </c:spPr>
          <c:marker>
            <c:symbol val="none"/>
          </c:marker>
          <c:xVal>
            <c:numRef>
              <c:f>'Chart Data'!$C$2:$C$162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Data'!$D$2:$D$162</c:f>
              <c:numCache>
                <c:formatCode>0.0</c:formatCode>
                <c:ptCount val="161"/>
                <c:pt idx="0">
                  <c:v>2.220446049E-15</c:v>
                </c:pt>
                <c:pt idx="1">
                  <c:v>1.7890953120000001E-2</c:v>
                </c:pt>
                <c:pt idx="2">
                  <c:v>0.11180648510000001</c:v>
                </c:pt>
                <c:pt idx="3">
                  <c:v>0.296526868</c:v>
                </c:pt>
                <c:pt idx="4">
                  <c:v>0.5560003765</c:v>
                </c:pt>
                <c:pt idx="5">
                  <c:v>0.86517227640000005</c:v>
                </c:pt>
                <c:pt idx="6">
                  <c:v>1.200093122</c:v>
                </c:pt>
                <c:pt idx="7">
                  <c:v>1.5417058610000001</c:v>
                </c:pt>
                <c:pt idx="8">
                  <c:v>1.8765005210000001</c:v>
                </c:pt>
                <c:pt idx="9">
                  <c:v>2.1958202099999999</c:v>
                </c:pt>
                <c:pt idx="10">
                  <c:v>2.4947493270000001</c:v>
                </c:pt>
                <c:pt idx="11">
                  <c:v>2.771022426</c:v>
                </c:pt>
                <c:pt idx="12">
                  <c:v>3.0241241250000002</c:v>
                </c:pt>
                <c:pt idx="13">
                  <c:v>3.2546159399999999</c:v>
                </c:pt>
                <c:pt idx="14">
                  <c:v>3.463666565</c:v>
                </c:pt>
                <c:pt idx="15">
                  <c:v>3.6527424869999998</c:v>
                </c:pt>
                <c:pt idx="16">
                  <c:v>3.823415148</c:v>
                </c:pt>
                <c:pt idx="17">
                  <c:v>3.9772478900000001</c:v>
                </c:pt>
                <c:pt idx="18">
                  <c:v>4.1157347499999997</c:v>
                </c:pt>
                <c:pt idx="19">
                  <c:v>4.2402713500000004</c:v>
                </c:pt>
                <c:pt idx="20">
                  <c:v>4.3521446199999998</c:v>
                </c:pt>
                <c:pt idx="21">
                  <c:v>4.4525328919999998</c:v>
                </c:pt>
                <c:pt idx="22">
                  <c:v>4.5425111820000001</c:v>
                </c:pt>
                <c:pt idx="23">
                  <c:v>4.6230586929999999</c:v>
                </c:pt>
                <c:pt idx="24">
                  <c:v>4.6950668899999997</c:v>
                </c:pt>
                <c:pt idx="25">
                  <c:v>4.759347343</c:v>
                </c:pt>
                <c:pt idx="26">
                  <c:v>4.8166389890000003</c:v>
                </c:pt>
                <c:pt idx="27">
                  <c:v>4.8676147050000003</c:v>
                </c:pt>
                <c:pt idx="28">
                  <c:v>4.912887209</c:v>
                </c:pt>
                <c:pt idx="29">
                  <c:v>4.9530143530000004</c:v>
                </c:pt>
                <c:pt idx="30">
                  <c:v>4.9885038929999999</c:v>
                </c:pt>
                <c:pt idx="31">
                  <c:v>5.0198177880000001</c:v>
                </c:pt>
                <c:pt idx="32">
                  <c:v>5.0473761130000003</c:v>
                </c:pt>
                <c:pt idx="33">
                  <c:v>5.0715606280000003</c:v>
                </c:pt>
                <c:pt idx="34">
                  <c:v>5.0927180310000004</c:v>
                </c:pt>
                <c:pt idx="35">
                  <c:v>5.1111629540000001</c:v>
                </c:pt>
                <c:pt idx="36">
                  <c:v>5.1271807039999997</c:v>
                </c:pt>
                <c:pt idx="37">
                  <c:v>5.1410297859999998</c:v>
                </c:pt>
                <c:pt idx="38">
                  <c:v>5.1529442220000004</c:v>
                </c:pt>
                <c:pt idx="39">
                  <c:v>5.1631356789999998</c:v>
                </c:pt>
                <c:pt idx="40">
                  <c:v>5.1717954300000004</c:v>
                </c:pt>
                <c:pt idx="41">
                  <c:v>5.1790961470000001</c:v>
                </c:pt>
                <c:pt idx="42">
                  <c:v>5.1851935620000003</c:v>
                </c:pt>
                <c:pt idx="43">
                  <c:v>5.1902279729999998</c:v>
                </c:pt>
                <c:pt idx="44">
                  <c:v>5.1943256399999997</c:v>
                </c:pt>
                <c:pt idx="45">
                  <c:v>5.1976000539999996</c:v>
                </c:pt>
                <c:pt idx="46">
                  <c:v>5.2001531099999996</c:v>
                </c:pt>
                <c:pt idx="47">
                  <c:v>5.2020761709999999</c:v>
                </c:pt>
                <c:pt idx="48">
                  <c:v>5.2034510469999997</c:v>
                </c:pt>
                <c:pt idx="49">
                  <c:v>5.2043508889999996</c:v>
                </c:pt>
                <c:pt idx="50">
                  <c:v>5.2048410049999996</c:v>
                </c:pt>
                <c:pt idx="51">
                  <c:v>5.2049796099999996</c:v>
                </c:pt>
                <c:pt idx="52">
                  <c:v>5.2048185</c:v>
                </c:pt>
                <c:pt idx="53">
                  <c:v>5.2044036790000003</c:v>
                </c:pt>
                <c:pt idx="54">
                  <c:v>5.2037759220000002</c:v>
                </c:pt>
                <c:pt idx="55">
                  <c:v>5.202971292</c:v>
                </c:pt>
                <c:pt idx="56">
                  <c:v>5.2020216069999998</c:v>
                </c:pt>
                <c:pt idx="57">
                  <c:v>5.2009548700000003</c:v>
                </c:pt>
                <c:pt idx="58">
                  <c:v>5.199795656</c:v>
                </c:pt>
                <c:pt idx="59">
                  <c:v>5.1985654630000004</c:v>
                </c:pt>
                <c:pt idx="60">
                  <c:v>5.1972830319999996</c:v>
                </c:pt>
                <c:pt idx="61">
                  <c:v>5.1959646370000003</c:v>
                </c:pt>
                <c:pt idx="62">
                  <c:v>5.1946243509999999</c:v>
                </c:pt>
                <c:pt idx="63">
                  <c:v>5.1932742789999997</c:v>
                </c:pt>
                <c:pt idx="64">
                  <c:v>5.1919247759999996</c:v>
                </c:pt>
                <c:pt idx="65">
                  <c:v>5.1905846379999998</c:v>
                </c:pt>
                <c:pt idx="66">
                  <c:v>5.1892612849999997</c:v>
                </c:pt>
                <c:pt idx="67">
                  <c:v>5.1879609100000001</c:v>
                </c:pt>
                <c:pt idx="68">
                  <c:v>5.1866886269999997</c:v>
                </c:pt>
                <c:pt idx="69">
                  <c:v>5.1854485989999999</c:v>
                </c:pt>
                <c:pt idx="70">
                  <c:v>5.1842441529999999</c:v>
                </c:pt>
                <c:pt idx="71">
                  <c:v>5.183077881</c:v>
                </c:pt>
                <c:pt idx="72">
                  <c:v>5.1819517350000002</c:v>
                </c:pt>
                <c:pt idx="73">
                  <c:v>5.1808671129999997</c:v>
                </c:pt>
                <c:pt idx="74">
                  <c:v>5.1798249280000004</c:v>
                </c:pt>
                <c:pt idx="75">
                  <c:v>5.1788256749999997</c:v>
                </c:pt>
                <c:pt idx="76">
                  <c:v>5.1778694959999996</c:v>
                </c:pt>
                <c:pt idx="77">
                  <c:v>5.1769562249999996</c:v>
                </c:pt>
                <c:pt idx="78">
                  <c:v>5.1760854399999996</c:v>
                </c:pt>
                <c:pt idx="79">
                  <c:v>5.1752565019999999</c:v>
                </c:pt>
                <c:pt idx="80">
                  <c:v>5.1744685940000004</c:v>
                </c:pt>
                <c:pt idx="81">
                  <c:v>5.173720748</c:v>
                </c:pt>
                <c:pt idx="82">
                  <c:v>5.1730118809999999</c:v>
                </c:pt>
                <c:pt idx="83">
                  <c:v>5.172340814</c:v>
                </c:pt>
                <c:pt idx="84">
                  <c:v>5.1717062949999999</c:v>
                </c:pt>
                <c:pt idx="85">
                  <c:v>5.1711070220000002</c:v>
                </c:pt>
                <c:pt idx="86">
                  <c:v>5.170541654</c:v>
                </c:pt>
                <c:pt idx="87">
                  <c:v>5.1700088290000004</c:v>
                </c:pt>
                <c:pt idx="88">
                  <c:v>5.1695071730000004</c:v>
                </c:pt>
                <c:pt idx="89">
                  <c:v>5.1690353160000004</c:v>
                </c:pt>
                <c:pt idx="90">
                  <c:v>5.1685918949999996</c:v>
                </c:pt>
                <c:pt idx="91">
                  <c:v>5.1681755660000004</c:v>
                </c:pt>
                <c:pt idx="92">
                  <c:v>5.1677850049999998</c:v>
                </c:pt>
                <c:pt idx="93">
                  <c:v>5.1674189200000002</c:v>
                </c:pt>
                <c:pt idx="94">
                  <c:v>5.1670760509999996</c:v>
                </c:pt>
                <c:pt idx="95">
                  <c:v>5.1667551740000004</c:v>
                </c:pt>
                <c:pt idx="96">
                  <c:v>5.1664551019999996</c:v>
                </c:pt>
                <c:pt idx="97">
                  <c:v>5.1661746920000002</c:v>
                </c:pt>
                <c:pt idx="98">
                  <c:v>5.1659128399999998</c:v>
                </c:pt>
                <c:pt idx="99">
                  <c:v>5.1656684889999998</c:v>
                </c:pt>
                <c:pt idx="100">
                  <c:v>5.1654406210000001</c:v>
                </c:pt>
                <c:pt idx="101">
                  <c:v>5.1652282659999997</c:v>
                </c:pt>
                <c:pt idx="102">
                  <c:v>5.1650304939999998</c:v>
                </c:pt>
                <c:pt idx="103">
                  <c:v>5.1648464220000001</c:v>
                </c:pt>
                <c:pt idx="104">
                  <c:v>5.1646752060000001</c:v>
                </c:pt>
                <c:pt idx="105">
                  <c:v>5.1645160460000001</c:v>
                </c:pt>
                <c:pt idx="106">
                  <c:v>5.1643681819999996</c:v>
                </c:pt>
                <c:pt idx="107">
                  <c:v>5.164230892</c:v>
                </c:pt>
                <c:pt idx="108">
                  <c:v>5.1641034960000001</c:v>
                </c:pt>
                <c:pt idx="109">
                  <c:v>5.1639853479999998</c:v>
                </c:pt>
                <c:pt idx="110">
                  <c:v>5.1638758390000001</c:v>
                </c:pt>
                <c:pt idx="111">
                  <c:v>5.1637743949999999</c:v>
                </c:pt>
                <c:pt idx="112">
                  <c:v>5.1636804740000004</c:v>
                </c:pt>
                <c:pt idx="113">
                  <c:v>5.1635935660000003</c:v>
                </c:pt>
                <c:pt idx="114">
                  <c:v>5.1635131919999999</c:v>
                </c:pt>
                <c:pt idx="115">
                  <c:v>5.1634389000000001</c:v>
                </c:pt>
                <c:pt idx="116">
                  <c:v>5.1633702689999996</c:v>
                </c:pt>
                <c:pt idx="117">
                  <c:v>5.1633069010000003</c:v>
                </c:pt>
                <c:pt idx="118">
                  <c:v>5.1632484229999998</c:v>
                </c:pt>
                <c:pt idx="119">
                  <c:v>5.1631944880000002</c:v>
                </c:pt>
                <c:pt idx="120">
                  <c:v>5.1631447689999996</c:v>
                </c:pt>
                <c:pt idx="121">
                  <c:v>5.1630989620000003</c:v>
                </c:pt>
                <c:pt idx="122">
                  <c:v>5.1630567809999999</c:v>
                </c:pt>
                <c:pt idx="123">
                  <c:v>5.1630179600000004</c:v>
                </c:pt>
                <c:pt idx="124">
                  <c:v>5.1629822509999999</c:v>
                </c:pt>
                <c:pt idx="125">
                  <c:v>5.1629494229999997</c:v>
                </c:pt>
                <c:pt idx="126">
                  <c:v>5.1629192589999997</c:v>
                </c:pt>
                <c:pt idx="127">
                  <c:v>5.1628915590000002</c:v>
                </c:pt>
                <c:pt idx="128">
                  <c:v>5.1628661349999998</c:v>
                </c:pt>
                <c:pt idx="129">
                  <c:v>5.1628428130000001</c:v>
                </c:pt>
                <c:pt idx="130">
                  <c:v>5.1628214330000004</c:v>
                </c:pt>
                <c:pt idx="131">
                  <c:v>5.1628018420000004</c:v>
                </c:pt>
                <c:pt idx="132">
                  <c:v>5.1627839030000002</c:v>
                </c:pt>
                <c:pt idx="133">
                  <c:v>5.1627674849999998</c:v>
                </c:pt>
                <c:pt idx="134">
                  <c:v>5.162752469</c:v>
                </c:pt>
                <c:pt idx="135">
                  <c:v>5.1627387420000002</c:v>
                </c:pt>
                <c:pt idx="136">
                  <c:v>5.1627262030000001</c:v>
                </c:pt>
                <c:pt idx="137">
                  <c:v>5.1627147549999997</c:v>
                </c:pt>
                <c:pt idx="138">
                  <c:v>5.1627043099999996</c:v>
                </c:pt>
                <c:pt idx="139">
                  <c:v>5.1626947870000004</c:v>
                </c:pt>
                <c:pt idx="140">
                  <c:v>5.1626861100000001</c:v>
                </c:pt>
                <c:pt idx="141">
                  <c:v>5.1626782090000001</c:v>
                </c:pt>
                <c:pt idx="142">
                  <c:v>5.1626710210000004</c:v>
                </c:pt>
                <c:pt idx="143">
                  <c:v>5.1626644840000004</c:v>
                </c:pt>
                <c:pt idx="144">
                  <c:v>5.1626585450000002</c:v>
                </c:pt>
                <c:pt idx="145">
                  <c:v>5.162653154</c:v>
                </c:pt>
                <c:pt idx="146">
                  <c:v>5.1626482630000003</c:v>
                </c:pt>
                <c:pt idx="147">
                  <c:v>5.1626438300000004</c:v>
                </c:pt>
                <c:pt idx="148">
                  <c:v>5.1626398140000003</c:v>
                </c:pt>
                <c:pt idx="149">
                  <c:v>5.1626361809999999</c:v>
                </c:pt>
                <c:pt idx="150">
                  <c:v>5.1626328969999999</c:v>
                </c:pt>
                <c:pt idx="151">
                  <c:v>5.1626299299999996</c:v>
                </c:pt>
                <c:pt idx="152">
                  <c:v>5.1626272540000002</c:v>
                </c:pt>
                <c:pt idx="153">
                  <c:v>5.1626248410000004</c:v>
                </c:pt>
                <c:pt idx="154">
                  <c:v>5.162622668</c:v>
                </c:pt>
                <c:pt idx="155">
                  <c:v>5.162620714</c:v>
                </c:pt>
                <c:pt idx="156">
                  <c:v>5.1626189589999996</c:v>
                </c:pt>
                <c:pt idx="157">
                  <c:v>5.1626173839999998</c:v>
                </c:pt>
                <c:pt idx="158">
                  <c:v>5.1626159730000003</c:v>
                </c:pt>
                <c:pt idx="159">
                  <c:v>5.1626147099999997</c:v>
                </c:pt>
                <c:pt idx="160">
                  <c:v>5.1626135819999996</c:v>
                </c:pt>
              </c:numCache>
            </c:numRef>
          </c:yVal>
          <c:smooth val="1"/>
          <c:extLst>
            <c:ext xmlns:c16="http://schemas.microsoft.com/office/drawing/2014/chart" uri="{C3380CC4-5D6E-409C-BE32-E72D297353CC}">
              <c16:uniqueId val="{00000001-7655-4C87-AD80-7F2A5400189F}"/>
            </c:ext>
          </c:extLst>
        </c:ser>
        <c:ser>
          <c:idx val="2"/>
          <c:order val="2"/>
          <c:tx>
            <c:v>5° reference</c:v>
          </c:tx>
          <c:spPr>
            <a:ln w="19050">
              <a:solidFill>
                <a:srgbClr val="D66A2C"/>
              </a:solidFill>
              <a:prstDash val="dash"/>
            </a:ln>
          </c:spPr>
          <c:marker>
            <c:symbol val="none"/>
          </c:marker>
          <c:xVal>
            <c:numRef>
              <c:f>'Chart Data'!$E$2:$E$3</c:f>
              <c:numCache>
                <c:formatCode>General</c:formatCode>
                <c:ptCount val="2"/>
                <c:pt idx="0">
                  <c:v>0</c:v>
                </c:pt>
                <c:pt idx="1">
                  <c:v>8</c:v>
                </c:pt>
              </c:numCache>
            </c:numRef>
          </c:xVal>
          <c:yVal>
            <c:numRef>
              <c:f>'Chart Data'!$F$2:$F$3</c:f>
              <c:numCache>
                <c:formatCode>0.0</c:formatCode>
                <c:ptCount val="2"/>
                <c:pt idx="0">
                  <c:v>5</c:v>
                </c:pt>
                <c:pt idx="1">
                  <c:v>5</c:v>
                </c:pt>
              </c:numCache>
            </c:numRef>
          </c:yVal>
          <c:smooth val="1"/>
          <c:extLst>
            <c:ext xmlns:c16="http://schemas.microsoft.com/office/drawing/2014/chart" uri="{C3380CC4-5D6E-409C-BE32-E72D297353CC}">
              <c16:uniqueId val="{00000002-7655-4C87-AD80-7F2A5400189F}"/>
            </c:ext>
          </c:extLst>
        </c:ser>
        <c:dLbls>
          <c:showLegendKey val="0"/>
          <c:showVal val="0"/>
          <c:showCatName val="0"/>
          <c:showSerName val="0"/>
          <c:showPercent val="0"/>
          <c:showBubbleSize val="0"/>
        </c:dLbls>
        <c:axId val="48650112"/>
        <c:axId val="48672768"/>
      </c:scatterChart>
      <c:valAx>
        <c:axId val="48672768"/>
        <c:scaling>
          <c:orientation val="minMax"/>
          <c:max val="6.5"/>
          <c:min val="0"/>
        </c:scaling>
        <c:delete val="0"/>
        <c:axPos val="l"/>
        <c:majorGridlines>
          <c:spPr>
            <a:ln w="9525">
              <a:solidFill>
                <a:srgbClr val="DFE6EB"/>
              </a:solidFill>
            </a:ln>
          </c:spPr>
        </c:majorGridlines>
        <c:title>
          <c:tx>
            <c:rich>
              <a:bodyPr/>
              <a:lstStyle/>
              <a:p>
                <a:r>
                  <a:rPr sz="1575">
                    <a:solidFill>
                      <a:srgbClr val="516474"/>
                    </a:solidFill>
                    <a:latin typeface="Arial"/>
                    <a:ea typeface="Arial"/>
                    <a:cs typeface="Arial"/>
                  </a:rPr>
                  <a:t>θ (°)</a:t>
                </a:r>
              </a:p>
            </c:rich>
          </c:tx>
          <c:overlay val="0"/>
        </c:title>
        <c:numFmt formatCode="0.0" sourceLinked="1"/>
        <c:majorTickMark val="none"/>
        <c:minorTickMark val="none"/>
        <c:tickLblPos val="nextTo"/>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50112"/>
        <c:crossesAt val="0"/>
        <c:crossBetween val="midCat"/>
        <c:majorUnit val="1"/>
      </c:valAx>
      <c:valAx>
        <c:axId val="48650112"/>
        <c:scaling>
          <c:orientation val="minMax"/>
          <c:max val="8"/>
          <c:min val="0"/>
        </c:scaling>
        <c:delete val="0"/>
        <c:axPos val="b"/>
        <c:title>
          <c:tx>
            <c:rich>
              <a:bodyPr/>
              <a:lstStyle/>
              <a:p>
                <a:r>
                  <a:rPr sz="1575">
                    <a:solidFill>
                      <a:srgbClr val="516474"/>
                    </a:solidFill>
                    <a:latin typeface="Arial"/>
                    <a:ea typeface="Arial"/>
                    <a:cs typeface="Arial"/>
                  </a:rPr>
                  <a:t>Time (s)</a:t>
                </a:r>
              </a:p>
            </c:rich>
          </c:tx>
          <c:overlay val="0"/>
        </c:title>
        <c:numFmt formatCode="General" sourceLinked="1"/>
        <c:majorTickMark val="none"/>
        <c:minorTickMark val="none"/>
        <c:tickLblPos val="low"/>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72768"/>
        <c:crossesAt val="0"/>
        <c:crossBetween val="midCat"/>
        <c:majorUnit val="2"/>
      </c:valAx>
      <c:spPr>
        <a:solidFill>
          <a:srgbClr val="FFFFFF"/>
        </a:solidFill>
        <a:ln w="0">
          <a:noFill/>
        </a:ln>
      </c:spPr>
    </c:plotArea>
    <c:legend>
      <c:legendPos val="b"/>
      <c:overlay val="0"/>
      <c:txPr>
        <a:bodyPr anchorCtr="1"/>
        <a:lstStyle/>
        <a:p>
          <a:pPr>
            <a:defRPr sz="1500">
              <a:solidFill>
                <a:srgbClr val="13283C"/>
              </a:solidFill>
              <a:latin typeface="Arial"/>
              <a:ea typeface="Arial"/>
              <a:cs typeface="Arial"/>
            </a:defRPr>
          </a:pPr>
          <a:endParaRPr lang="es-ES"/>
        </a:p>
      </c:txPr>
    </c:legend>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Control with a one-sample delay</a:t>
            </a:r>
          </a:p>
        </c:rich>
      </c:tx>
      <c:overlay val="0"/>
    </c:title>
    <c:autoTitleDeleted val="0"/>
    <c:plotArea>
      <c:layout/>
      <c:scatterChart>
        <c:scatterStyle val="lineMarker"/>
        <c:varyColors val="0"/>
        <c:ser>
          <c:idx val="0"/>
          <c:order val="0"/>
          <c:tx>
            <c:v>Continuous</c:v>
          </c:tx>
          <c:spPr>
            <a:ln w="28575">
              <a:solidFill>
                <a:srgbClr val="B6C3CC"/>
              </a:solidFill>
              <a:prstDash val="solid"/>
            </a:ln>
          </c:spPr>
          <c:marker>
            <c:symbol val="none"/>
          </c:marker>
          <c:xVal>
            <c:numRef>
              <c:f>'Chart Data'!$A$2:$A$162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Data'!$B$2:$B$162</c:f>
              <c:numCache>
                <c:formatCode>0.0</c:formatCode>
                <c:ptCount val="161"/>
                <c:pt idx="0">
                  <c:v>2.220446049E-15</c:v>
                </c:pt>
                <c:pt idx="1">
                  <c:v>1.7890953120000001E-2</c:v>
                </c:pt>
                <c:pt idx="2">
                  <c:v>0.11180648510000001</c:v>
                </c:pt>
                <c:pt idx="3">
                  <c:v>0.296526868</c:v>
                </c:pt>
                <c:pt idx="4">
                  <c:v>0.5560003765</c:v>
                </c:pt>
                <c:pt idx="5">
                  <c:v>0.86517227640000005</c:v>
                </c:pt>
                <c:pt idx="6">
                  <c:v>1.200093122</c:v>
                </c:pt>
                <c:pt idx="7">
                  <c:v>1.5417058610000001</c:v>
                </c:pt>
                <c:pt idx="8">
                  <c:v>1.8765005210000001</c:v>
                </c:pt>
                <c:pt idx="9">
                  <c:v>2.1958202099999999</c:v>
                </c:pt>
                <c:pt idx="10">
                  <c:v>2.4947493270000001</c:v>
                </c:pt>
                <c:pt idx="11">
                  <c:v>2.771022426</c:v>
                </c:pt>
                <c:pt idx="12">
                  <c:v>3.0241241250000002</c:v>
                </c:pt>
                <c:pt idx="13">
                  <c:v>3.2546159399999999</c:v>
                </c:pt>
                <c:pt idx="14">
                  <c:v>3.463666565</c:v>
                </c:pt>
                <c:pt idx="15">
                  <c:v>3.6527424869999998</c:v>
                </c:pt>
                <c:pt idx="16">
                  <c:v>3.823415148</c:v>
                </c:pt>
                <c:pt idx="17">
                  <c:v>3.9772478900000001</c:v>
                </c:pt>
                <c:pt idx="18">
                  <c:v>4.1157347499999997</c:v>
                </c:pt>
                <c:pt idx="19">
                  <c:v>4.2402713500000004</c:v>
                </c:pt>
                <c:pt idx="20">
                  <c:v>4.3521446199999998</c:v>
                </c:pt>
                <c:pt idx="21">
                  <c:v>4.4525328919999998</c:v>
                </c:pt>
                <c:pt idx="22">
                  <c:v>4.5425111820000001</c:v>
                </c:pt>
                <c:pt idx="23">
                  <c:v>4.6230586929999999</c:v>
                </c:pt>
                <c:pt idx="24">
                  <c:v>4.6950668899999997</c:v>
                </c:pt>
                <c:pt idx="25">
                  <c:v>4.759347343</c:v>
                </c:pt>
                <c:pt idx="26">
                  <c:v>4.8166389890000003</c:v>
                </c:pt>
                <c:pt idx="27">
                  <c:v>4.8676147050000003</c:v>
                </c:pt>
                <c:pt idx="28">
                  <c:v>4.912887209</c:v>
                </c:pt>
                <c:pt idx="29">
                  <c:v>4.9530143530000004</c:v>
                </c:pt>
                <c:pt idx="30">
                  <c:v>4.9885038929999999</c:v>
                </c:pt>
                <c:pt idx="31">
                  <c:v>5.0198177880000001</c:v>
                </c:pt>
                <c:pt idx="32">
                  <c:v>5.0473761130000003</c:v>
                </c:pt>
                <c:pt idx="33">
                  <c:v>5.0715606280000003</c:v>
                </c:pt>
                <c:pt idx="34">
                  <c:v>5.0927180310000004</c:v>
                </c:pt>
                <c:pt idx="35">
                  <c:v>5.1111629540000001</c:v>
                </c:pt>
                <c:pt idx="36">
                  <c:v>5.1271807039999997</c:v>
                </c:pt>
                <c:pt idx="37">
                  <c:v>5.1410297859999998</c:v>
                </c:pt>
                <c:pt idx="38">
                  <c:v>5.1529442220000004</c:v>
                </c:pt>
                <c:pt idx="39">
                  <c:v>5.1631356789999998</c:v>
                </c:pt>
                <c:pt idx="40">
                  <c:v>5.1717954300000004</c:v>
                </c:pt>
                <c:pt idx="41">
                  <c:v>5.1790961470000001</c:v>
                </c:pt>
                <c:pt idx="42">
                  <c:v>5.1851935620000003</c:v>
                </c:pt>
                <c:pt idx="43">
                  <c:v>5.1902279729999998</c:v>
                </c:pt>
                <c:pt idx="44">
                  <c:v>5.1943256399999997</c:v>
                </c:pt>
                <c:pt idx="45">
                  <c:v>5.1976000539999996</c:v>
                </c:pt>
                <c:pt idx="46">
                  <c:v>5.2001531099999996</c:v>
                </c:pt>
                <c:pt idx="47">
                  <c:v>5.2020761709999999</c:v>
                </c:pt>
                <c:pt idx="48">
                  <c:v>5.2034510469999997</c:v>
                </c:pt>
                <c:pt idx="49">
                  <c:v>5.2043508889999996</c:v>
                </c:pt>
                <c:pt idx="50">
                  <c:v>5.2048410049999996</c:v>
                </c:pt>
                <c:pt idx="51">
                  <c:v>5.2049796099999996</c:v>
                </c:pt>
                <c:pt idx="52">
                  <c:v>5.2048185</c:v>
                </c:pt>
                <c:pt idx="53">
                  <c:v>5.2044036790000003</c:v>
                </c:pt>
                <c:pt idx="54">
                  <c:v>5.2037759220000002</c:v>
                </c:pt>
                <c:pt idx="55">
                  <c:v>5.202971292</c:v>
                </c:pt>
                <c:pt idx="56">
                  <c:v>5.2020216069999998</c:v>
                </c:pt>
                <c:pt idx="57">
                  <c:v>5.2009548700000003</c:v>
                </c:pt>
                <c:pt idx="58">
                  <c:v>5.199795656</c:v>
                </c:pt>
                <c:pt idx="59">
                  <c:v>5.1985654630000004</c:v>
                </c:pt>
                <c:pt idx="60">
                  <c:v>5.1972830319999996</c:v>
                </c:pt>
                <c:pt idx="61">
                  <c:v>5.1959646370000003</c:v>
                </c:pt>
                <c:pt idx="62">
                  <c:v>5.1946243509999999</c:v>
                </c:pt>
                <c:pt idx="63">
                  <c:v>5.1932742789999997</c:v>
                </c:pt>
                <c:pt idx="64">
                  <c:v>5.1919247759999996</c:v>
                </c:pt>
                <c:pt idx="65">
                  <c:v>5.1905846379999998</c:v>
                </c:pt>
                <c:pt idx="66">
                  <c:v>5.1892612849999997</c:v>
                </c:pt>
                <c:pt idx="67">
                  <c:v>5.1879609100000001</c:v>
                </c:pt>
                <c:pt idx="68">
                  <c:v>5.1866886269999997</c:v>
                </c:pt>
                <c:pt idx="69">
                  <c:v>5.1854485989999999</c:v>
                </c:pt>
                <c:pt idx="70">
                  <c:v>5.1842441529999999</c:v>
                </c:pt>
                <c:pt idx="71">
                  <c:v>5.183077881</c:v>
                </c:pt>
                <c:pt idx="72">
                  <c:v>5.1819517350000002</c:v>
                </c:pt>
                <c:pt idx="73">
                  <c:v>5.1808671129999997</c:v>
                </c:pt>
                <c:pt idx="74">
                  <c:v>5.1798249280000004</c:v>
                </c:pt>
                <c:pt idx="75">
                  <c:v>5.1788256749999997</c:v>
                </c:pt>
                <c:pt idx="76">
                  <c:v>5.1778694959999996</c:v>
                </c:pt>
                <c:pt idx="77">
                  <c:v>5.1769562249999996</c:v>
                </c:pt>
                <c:pt idx="78">
                  <c:v>5.1760854399999996</c:v>
                </c:pt>
                <c:pt idx="79">
                  <c:v>5.1752565019999999</c:v>
                </c:pt>
                <c:pt idx="80">
                  <c:v>5.1744685940000004</c:v>
                </c:pt>
                <c:pt idx="81">
                  <c:v>5.173720748</c:v>
                </c:pt>
                <c:pt idx="82">
                  <c:v>5.1730118809999999</c:v>
                </c:pt>
                <c:pt idx="83">
                  <c:v>5.172340814</c:v>
                </c:pt>
                <c:pt idx="84">
                  <c:v>5.1717062949999999</c:v>
                </c:pt>
                <c:pt idx="85">
                  <c:v>5.1711070220000002</c:v>
                </c:pt>
                <c:pt idx="86">
                  <c:v>5.170541654</c:v>
                </c:pt>
                <c:pt idx="87">
                  <c:v>5.1700088290000004</c:v>
                </c:pt>
                <c:pt idx="88">
                  <c:v>5.1695071730000004</c:v>
                </c:pt>
                <c:pt idx="89">
                  <c:v>5.1690353160000004</c:v>
                </c:pt>
                <c:pt idx="90">
                  <c:v>5.1685918949999996</c:v>
                </c:pt>
                <c:pt idx="91">
                  <c:v>5.1681755660000004</c:v>
                </c:pt>
                <c:pt idx="92">
                  <c:v>5.1677850049999998</c:v>
                </c:pt>
                <c:pt idx="93">
                  <c:v>5.1674189200000002</c:v>
                </c:pt>
                <c:pt idx="94">
                  <c:v>5.1670760509999996</c:v>
                </c:pt>
                <c:pt idx="95">
                  <c:v>5.1667551740000004</c:v>
                </c:pt>
                <c:pt idx="96">
                  <c:v>5.1664551019999996</c:v>
                </c:pt>
                <c:pt idx="97">
                  <c:v>5.1661746920000002</c:v>
                </c:pt>
                <c:pt idx="98">
                  <c:v>5.1659128399999998</c:v>
                </c:pt>
                <c:pt idx="99">
                  <c:v>5.1656684889999998</c:v>
                </c:pt>
                <c:pt idx="100">
                  <c:v>5.1654406210000001</c:v>
                </c:pt>
                <c:pt idx="101">
                  <c:v>5.1652282659999997</c:v>
                </c:pt>
                <c:pt idx="102">
                  <c:v>5.1650304939999998</c:v>
                </c:pt>
                <c:pt idx="103">
                  <c:v>5.1648464220000001</c:v>
                </c:pt>
                <c:pt idx="104">
                  <c:v>5.1646752060000001</c:v>
                </c:pt>
                <c:pt idx="105">
                  <c:v>5.1645160460000001</c:v>
                </c:pt>
                <c:pt idx="106">
                  <c:v>5.1643681819999996</c:v>
                </c:pt>
                <c:pt idx="107">
                  <c:v>5.164230892</c:v>
                </c:pt>
                <c:pt idx="108">
                  <c:v>5.1641034960000001</c:v>
                </c:pt>
                <c:pt idx="109">
                  <c:v>5.1639853479999998</c:v>
                </c:pt>
                <c:pt idx="110">
                  <c:v>5.1638758390000001</c:v>
                </c:pt>
                <c:pt idx="111">
                  <c:v>5.1637743949999999</c:v>
                </c:pt>
                <c:pt idx="112">
                  <c:v>5.1636804740000004</c:v>
                </c:pt>
                <c:pt idx="113">
                  <c:v>5.1635935660000003</c:v>
                </c:pt>
                <c:pt idx="114">
                  <c:v>5.1635131919999999</c:v>
                </c:pt>
                <c:pt idx="115">
                  <c:v>5.1634389000000001</c:v>
                </c:pt>
                <c:pt idx="116">
                  <c:v>5.1633702689999996</c:v>
                </c:pt>
                <c:pt idx="117">
                  <c:v>5.1633069010000003</c:v>
                </c:pt>
                <c:pt idx="118">
                  <c:v>5.1632484229999998</c:v>
                </c:pt>
                <c:pt idx="119">
                  <c:v>5.1631944880000002</c:v>
                </c:pt>
                <c:pt idx="120">
                  <c:v>5.1631447689999996</c:v>
                </c:pt>
                <c:pt idx="121">
                  <c:v>5.1630989620000003</c:v>
                </c:pt>
                <c:pt idx="122">
                  <c:v>5.1630567809999999</c:v>
                </c:pt>
                <c:pt idx="123">
                  <c:v>5.1630179600000004</c:v>
                </c:pt>
                <c:pt idx="124">
                  <c:v>5.1629822509999999</c:v>
                </c:pt>
                <c:pt idx="125">
                  <c:v>5.1629494229999997</c:v>
                </c:pt>
                <c:pt idx="126">
                  <c:v>5.1629192589999997</c:v>
                </c:pt>
                <c:pt idx="127">
                  <c:v>5.1628915590000002</c:v>
                </c:pt>
                <c:pt idx="128">
                  <c:v>5.1628661349999998</c:v>
                </c:pt>
                <c:pt idx="129">
                  <c:v>5.1628428130000001</c:v>
                </c:pt>
                <c:pt idx="130">
                  <c:v>5.1628214330000004</c:v>
                </c:pt>
                <c:pt idx="131">
                  <c:v>5.1628018420000004</c:v>
                </c:pt>
                <c:pt idx="132">
                  <c:v>5.1627839030000002</c:v>
                </c:pt>
                <c:pt idx="133">
                  <c:v>5.1627674849999998</c:v>
                </c:pt>
                <c:pt idx="134">
                  <c:v>5.162752469</c:v>
                </c:pt>
                <c:pt idx="135">
                  <c:v>5.1627387420000002</c:v>
                </c:pt>
                <c:pt idx="136">
                  <c:v>5.1627262030000001</c:v>
                </c:pt>
                <c:pt idx="137">
                  <c:v>5.1627147549999997</c:v>
                </c:pt>
                <c:pt idx="138">
                  <c:v>5.1627043099999996</c:v>
                </c:pt>
                <c:pt idx="139">
                  <c:v>5.1626947870000004</c:v>
                </c:pt>
                <c:pt idx="140">
                  <c:v>5.1626861100000001</c:v>
                </c:pt>
                <c:pt idx="141">
                  <c:v>5.1626782090000001</c:v>
                </c:pt>
                <c:pt idx="142">
                  <c:v>5.1626710210000004</c:v>
                </c:pt>
                <c:pt idx="143">
                  <c:v>5.1626644840000004</c:v>
                </c:pt>
                <c:pt idx="144">
                  <c:v>5.1626585450000002</c:v>
                </c:pt>
                <c:pt idx="145">
                  <c:v>5.162653154</c:v>
                </c:pt>
                <c:pt idx="146">
                  <c:v>5.1626482630000003</c:v>
                </c:pt>
                <c:pt idx="147">
                  <c:v>5.1626438300000004</c:v>
                </c:pt>
                <c:pt idx="148">
                  <c:v>5.1626398140000003</c:v>
                </c:pt>
                <c:pt idx="149">
                  <c:v>5.1626361809999999</c:v>
                </c:pt>
                <c:pt idx="150">
                  <c:v>5.1626328969999999</c:v>
                </c:pt>
                <c:pt idx="151">
                  <c:v>5.1626299299999996</c:v>
                </c:pt>
                <c:pt idx="152">
                  <c:v>5.1626272540000002</c:v>
                </c:pt>
                <c:pt idx="153">
                  <c:v>5.1626248410000004</c:v>
                </c:pt>
                <c:pt idx="154">
                  <c:v>5.162622668</c:v>
                </c:pt>
                <c:pt idx="155">
                  <c:v>5.162620714</c:v>
                </c:pt>
                <c:pt idx="156">
                  <c:v>5.1626189589999996</c:v>
                </c:pt>
                <c:pt idx="157">
                  <c:v>5.1626173839999998</c:v>
                </c:pt>
                <c:pt idx="158">
                  <c:v>5.1626159730000003</c:v>
                </c:pt>
                <c:pt idx="159">
                  <c:v>5.1626147099999997</c:v>
                </c:pt>
                <c:pt idx="160">
                  <c:v>5.1626135819999996</c:v>
                </c:pt>
              </c:numCache>
            </c:numRef>
          </c:yVal>
          <c:smooth val="1"/>
          <c:extLst>
            <c:ext xmlns:c16="http://schemas.microsoft.com/office/drawing/2014/chart" uri="{C3380CC4-5D6E-409C-BE32-E72D297353CC}">
              <c16:uniqueId val="{00000000-472C-4EC2-9FD0-31DD990C507C}"/>
            </c:ext>
          </c:extLst>
        </c:ser>
        <c:ser>
          <c:idx val="1"/>
          <c:order val="1"/>
          <c:tx>
            <c:v>T = 0.05 s, delayed</c:v>
          </c:tx>
          <c:spPr>
            <a:ln w="28575">
              <a:solidFill>
                <a:srgbClr val="087E8B"/>
              </a:solidFill>
              <a:prstDash val="solid"/>
            </a:ln>
          </c:spPr>
          <c:marker>
            <c:symbol val="none"/>
          </c:marker>
          <c:xVal>
            <c:numRef>
              <c:f>'Chart Data'!$C$2:$C$162</c:f>
              <c:numCache>
                <c:formatCode>General</c:formatCode>
                <c:ptCount val="161"/>
                <c:pt idx="0">
                  <c:v>0</c:v>
                </c:pt>
                <c:pt idx="1">
                  <c:v>0.05</c:v>
                </c:pt>
                <c:pt idx="2">
                  <c:v>0.1</c:v>
                </c:pt>
                <c:pt idx="3">
                  <c:v>0.15</c:v>
                </c:pt>
                <c:pt idx="4">
                  <c:v>0.2</c:v>
                </c:pt>
                <c:pt idx="5">
                  <c:v>0.25</c:v>
                </c:pt>
                <c:pt idx="6">
                  <c:v>0.3</c:v>
                </c:pt>
                <c:pt idx="7">
                  <c:v>0.35</c:v>
                </c:pt>
                <c:pt idx="8">
                  <c:v>0.4</c:v>
                </c:pt>
                <c:pt idx="9">
                  <c:v>0.45</c:v>
                </c:pt>
                <c:pt idx="10">
                  <c:v>0.5</c:v>
                </c:pt>
                <c:pt idx="11">
                  <c:v>0.55000000000000004</c:v>
                </c:pt>
                <c:pt idx="12">
                  <c:v>0.6</c:v>
                </c:pt>
                <c:pt idx="13">
                  <c:v>0.65</c:v>
                </c:pt>
                <c:pt idx="14">
                  <c:v>0.7</c:v>
                </c:pt>
                <c:pt idx="15">
                  <c:v>0.75</c:v>
                </c:pt>
                <c:pt idx="16">
                  <c:v>0.8</c:v>
                </c:pt>
                <c:pt idx="17">
                  <c:v>0.85</c:v>
                </c:pt>
                <c:pt idx="18">
                  <c:v>0.9</c:v>
                </c:pt>
                <c:pt idx="19">
                  <c:v>0.95</c:v>
                </c:pt>
                <c:pt idx="20">
                  <c:v>1</c:v>
                </c:pt>
                <c:pt idx="21">
                  <c:v>1.05</c:v>
                </c:pt>
                <c:pt idx="22">
                  <c:v>1.1000000000000001</c:v>
                </c:pt>
                <c:pt idx="23">
                  <c:v>1.1499999999999999</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c:v>
                </c:pt>
                <c:pt idx="41">
                  <c:v>2.0499999999999998</c:v>
                </c:pt>
                <c:pt idx="42">
                  <c:v>2.1</c:v>
                </c:pt>
                <c:pt idx="43">
                  <c:v>2.15</c:v>
                </c:pt>
                <c:pt idx="44">
                  <c:v>2.2000000000000002</c:v>
                </c:pt>
                <c:pt idx="45">
                  <c:v>2.25</c:v>
                </c:pt>
                <c:pt idx="46">
                  <c:v>2.2999999999999998</c:v>
                </c:pt>
                <c:pt idx="47">
                  <c:v>2.35</c:v>
                </c:pt>
                <c:pt idx="48">
                  <c:v>2.4</c:v>
                </c:pt>
                <c:pt idx="49">
                  <c:v>2.4500000000000002</c:v>
                </c:pt>
                <c:pt idx="50">
                  <c:v>2.5</c:v>
                </c:pt>
                <c:pt idx="51">
                  <c:v>2.5499999999999998</c:v>
                </c:pt>
                <c:pt idx="52">
                  <c:v>2.6</c:v>
                </c:pt>
                <c:pt idx="53">
                  <c:v>2.65</c:v>
                </c:pt>
                <c:pt idx="54">
                  <c:v>2.7</c:v>
                </c:pt>
                <c:pt idx="55">
                  <c:v>2.75</c:v>
                </c:pt>
                <c:pt idx="56">
                  <c:v>2.8</c:v>
                </c:pt>
                <c:pt idx="57">
                  <c:v>2.85</c:v>
                </c:pt>
                <c:pt idx="58">
                  <c:v>2.9</c:v>
                </c:pt>
                <c:pt idx="59">
                  <c:v>2.95</c:v>
                </c:pt>
                <c:pt idx="60">
                  <c:v>3</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c:v>
                </c:pt>
                <c:pt idx="81">
                  <c:v>4.05</c:v>
                </c:pt>
                <c:pt idx="82">
                  <c:v>4.0999999999999996</c:v>
                </c:pt>
                <c:pt idx="83">
                  <c:v>4.1500000000000004</c:v>
                </c:pt>
                <c:pt idx="84">
                  <c:v>4.2</c:v>
                </c:pt>
                <c:pt idx="85">
                  <c:v>4.25</c:v>
                </c:pt>
                <c:pt idx="86">
                  <c:v>4.3</c:v>
                </c:pt>
                <c:pt idx="87">
                  <c:v>4.3499999999999996</c:v>
                </c:pt>
                <c:pt idx="88">
                  <c:v>4.4000000000000004</c:v>
                </c:pt>
                <c:pt idx="89">
                  <c:v>4.45</c:v>
                </c:pt>
                <c:pt idx="90">
                  <c:v>4.5</c:v>
                </c:pt>
                <c:pt idx="91">
                  <c:v>4.55</c:v>
                </c:pt>
                <c:pt idx="92">
                  <c:v>4.5999999999999996</c:v>
                </c:pt>
                <c:pt idx="93">
                  <c:v>4.6500000000000004</c:v>
                </c:pt>
                <c:pt idx="94">
                  <c:v>4.7</c:v>
                </c:pt>
                <c:pt idx="95">
                  <c:v>4.75</c:v>
                </c:pt>
                <c:pt idx="96">
                  <c:v>4.8</c:v>
                </c:pt>
                <c:pt idx="97">
                  <c:v>4.8499999999999996</c:v>
                </c:pt>
                <c:pt idx="98">
                  <c:v>4.9000000000000004</c:v>
                </c:pt>
                <c:pt idx="99">
                  <c:v>4.95</c:v>
                </c:pt>
                <c:pt idx="100">
                  <c:v>5</c:v>
                </c:pt>
                <c:pt idx="101">
                  <c:v>5.05</c:v>
                </c:pt>
                <c:pt idx="102">
                  <c:v>5.0999999999999996</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c:v>
                </c:pt>
              </c:numCache>
            </c:numRef>
          </c:xVal>
          <c:yVal>
            <c:numRef>
              <c:f>'Chart Data'!$D$2:$D$162</c:f>
              <c:numCache>
                <c:formatCode>0.0</c:formatCode>
                <c:ptCount val="161"/>
                <c:pt idx="0">
                  <c:v>0</c:v>
                </c:pt>
                <c:pt idx="1">
                  <c:v>0</c:v>
                </c:pt>
                <c:pt idx="2">
                  <c:v>1.8168857020000002E-2</c:v>
                </c:pt>
                <c:pt idx="3">
                  <c:v>0.1183870004</c:v>
                </c:pt>
                <c:pt idx="4">
                  <c:v>0.33179378069999999</c:v>
                </c:pt>
                <c:pt idx="5">
                  <c:v>0.65681012839999997</c:v>
                </c:pt>
                <c:pt idx="6">
                  <c:v>1.069528365</c:v>
                </c:pt>
                <c:pt idx="7">
                  <c:v>1.5339452259999999</c:v>
                </c:pt>
                <c:pt idx="8">
                  <c:v>2.0112858839999999</c:v>
                </c:pt>
                <c:pt idx="9">
                  <c:v>2.467138496</c:v>
                </c:pt>
                <c:pt idx="10">
                  <c:v>2.8759201839999999</c:v>
                </c:pt>
                <c:pt idx="11">
                  <c:v>3.222723486</c:v>
                </c:pt>
                <c:pt idx="12">
                  <c:v>3.5029835189999998</c:v>
                </c:pt>
                <c:pt idx="13">
                  <c:v>3.720619691</c:v>
                </c:pt>
                <c:pt idx="14">
                  <c:v>3.8853602359999999</c:v>
                </c:pt>
                <c:pt idx="15">
                  <c:v>4.0098882409999996</c:v>
                </c:pt>
                <c:pt idx="16">
                  <c:v>4.1072992069999996</c:v>
                </c:pt>
                <c:pt idx="17">
                  <c:v>4.189177065</c:v>
                </c:pt>
                <c:pt idx="18">
                  <c:v>4.2644157380000003</c:v>
                </c:pt>
                <c:pt idx="19">
                  <c:v>4.3387634799999999</c:v>
                </c:pt>
                <c:pt idx="20">
                  <c:v>4.414962214</c:v>
                </c:pt>
                <c:pt idx="21">
                  <c:v>4.4932976160000004</c:v>
                </c:pt>
                <c:pt idx="22">
                  <c:v>4.5723632250000001</c:v>
                </c:pt>
                <c:pt idx="23">
                  <c:v>4.6498630050000003</c:v>
                </c:pt>
                <c:pt idx="24">
                  <c:v>4.7233192229999998</c:v>
                </c:pt>
                <c:pt idx="25">
                  <c:v>4.7906036500000004</c:v>
                </c:pt>
                <c:pt idx="26">
                  <c:v>4.850259823</c:v>
                </c:pt>
                <c:pt idx="27">
                  <c:v>4.9016250990000003</c:v>
                </c:pt>
                <c:pt idx="28">
                  <c:v>4.9447895319999997</c:v>
                </c:pt>
                <c:pt idx="29">
                  <c:v>4.9804435079999996</c:v>
                </c:pt>
                <c:pt idx="30">
                  <c:v>5.0096687859999998</c:v>
                </c:pt>
                <c:pt idx="31">
                  <c:v>5.0337212180000002</c:v>
                </c:pt>
                <c:pt idx="32">
                  <c:v>5.0538413599999998</c:v>
                </c:pt>
                <c:pt idx="33">
                  <c:v>5.0711148670000004</c:v>
                </c:pt>
                <c:pt idx="34">
                  <c:v>5.0863908410000001</c:v>
                </c:pt>
                <c:pt idx="35">
                  <c:v>5.1002551069999997</c:v>
                </c:pt>
                <c:pt idx="36">
                  <c:v>5.1130477269999997</c:v>
                </c:pt>
                <c:pt idx="37">
                  <c:v>5.1249101960000001</c:v>
                </c:pt>
                <c:pt idx="38">
                  <c:v>5.1358471579999998</c:v>
                </c:pt>
                <c:pt idx="39">
                  <c:v>5.145789422</c:v>
                </c:pt>
                <c:pt idx="40">
                  <c:v>5.1546484570000004</c:v>
                </c:pt>
                <c:pt idx="41">
                  <c:v>5.1623565659999997</c:v>
                </c:pt>
                <c:pt idx="42">
                  <c:v>5.1688906939999999</c:v>
                </c:pt>
                <c:pt idx="43">
                  <c:v>5.1742809249999997</c:v>
                </c:pt>
                <c:pt idx="44">
                  <c:v>5.1786067259999999</c:v>
                </c:pt>
                <c:pt idx="45">
                  <c:v>5.1819850760000001</c:v>
                </c:pt>
                <c:pt idx="46">
                  <c:v>5.1845546689999997</c:v>
                </c:pt>
                <c:pt idx="47">
                  <c:v>5.1864598380000002</c:v>
                </c:pt>
                <c:pt idx="48">
                  <c:v>5.1878368830000001</c:v>
                </c:pt>
                <c:pt idx="49">
                  <c:v>5.1888043320000001</c:v>
                </c:pt>
                <c:pt idx="50">
                  <c:v>5.1894576739999998</c:v>
                </c:pt>
                <c:pt idx="51">
                  <c:v>5.1898682110000003</c:v>
                </c:pt>
                <c:pt idx="52">
                  <c:v>5.1900851780000004</c:v>
                </c:pt>
                <c:pt idx="53">
                  <c:v>5.1901399540000002</c:v>
                </c:pt>
                <c:pt idx="54">
                  <c:v>5.1900512289999998</c:v>
                </c:pt>
                <c:pt idx="55">
                  <c:v>5.1898301260000004</c:v>
                </c:pt>
                <c:pt idx="56">
                  <c:v>5.1894845509999996</c:v>
                </c:pt>
                <c:pt idx="57">
                  <c:v>5.1890223799999999</c:v>
                </c:pt>
                <c:pt idx="58">
                  <c:v>5.1884533529999999</c:v>
                </c:pt>
                <c:pt idx="59">
                  <c:v>5.187789779</c:v>
                </c:pt>
                <c:pt idx="60">
                  <c:v>5.187046316</c:v>
                </c:pt>
                <c:pt idx="61">
                  <c:v>5.1862391529999998</c:v>
                </c:pt>
                <c:pt idx="62">
                  <c:v>5.1853849050000003</c:v>
                </c:pt>
                <c:pt idx="63">
                  <c:v>5.1844995110000003</c:v>
                </c:pt>
                <c:pt idx="64">
                  <c:v>5.1835973199999996</c:v>
                </c:pt>
                <c:pt idx="65">
                  <c:v>5.1826904850000002</c:v>
                </c:pt>
                <c:pt idx="66">
                  <c:v>5.1817886929999997</c:v>
                </c:pt>
                <c:pt idx="67">
                  <c:v>5.1808991930000001</c:v>
                </c:pt>
                <c:pt idx="68">
                  <c:v>5.1800270619999997</c:v>
                </c:pt>
                <c:pt idx="69">
                  <c:v>5.1791756089999996</c:v>
                </c:pt>
                <c:pt idx="70">
                  <c:v>5.1783468419999998</c:v>
                </c:pt>
                <c:pt idx="71">
                  <c:v>5.1775419080000002</c:v>
                </c:pt>
                <c:pt idx="72">
                  <c:v>5.1767614670000004</c:v>
                </c:pt>
                <c:pt idx="73">
                  <c:v>5.1760059680000001</c:v>
                </c:pt>
                <c:pt idx="74">
                  <c:v>5.1752758200000004</c:v>
                </c:pt>
                <c:pt idx="75">
                  <c:v>5.1745714639999996</c:v>
                </c:pt>
                <c:pt idx="76">
                  <c:v>5.1738933830000002</c:v>
                </c:pt>
                <c:pt idx="77">
                  <c:v>5.1732420550000002</c:v>
                </c:pt>
                <c:pt idx="78">
                  <c:v>5.1726178889999996</c:v>
                </c:pt>
                <c:pt idx="79">
                  <c:v>5.1720211640000002</c:v>
                </c:pt>
                <c:pt idx="80">
                  <c:v>5.1714519709999998</c:v>
                </c:pt>
                <c:pt idx="81">
                  <c:v>5.1709101899999999</c:v>
                </c:pt>
                <c:pt idx="82">
                  <c:v>5.170395482</c:v>
                </c:pt>
                <c:pt idx="83">
                  <c:v>5.1699073069999999</c:v>
                </c:pt>
                <c:pt idx="84">
                  <c:v>5.1694449540000003</c:v>
                </c:pt>
                <c:pt idx="85">
                  <c:v>5.1690075819999999</c:v>
                </c:pt>
                <c:pt idx="86">
                  <c:v>5.1685942620000001</c:v>
                </c:pt>
                <c:pt idx="87">
                  <c:v>5.1682040200000001</c:v>
                </c:pt>
                <c:pt idx="88">
                  <c:v>5.1678358649999998</c:v>
                </c:pt>
                <c:pt idx="89">
                  <c:v>5.1674888159999997</c:v>
                </c:pt>
                <c:pt idx="90">
                  <c:v>5.1671619160000004</c:v>
                </c:pt>
                <c:pt idx="91">
                  <c:v>5.1668542400000002</c:v>
                </c:pt>
                <c:pt idx="92">
                  <c:v>5.1665649</c:v>
                </c:pt>
                <c:pt idx="93">
                  <c:v>5.1662930349999998</c:v>
                </c:pt>
                <c:pt idx="94">
                  <c:v>5.1660378150000001</c:v>
                </c:pt>
                <c:pt idx="95">
                  <c:v>5.1657984319999999</c:v>
                </c:pt>
                <c:pt idx="96">
                  <c:v>5.1655740970000004</c:v>
                </c:pt>
                <c:pt idx="97">
                  <c:v>5.1653640410000001</c:v>
                </c:pt>
                <c:pt idx="98">
                  <c:v>5.1651675099999999</c:v>
                </c:pt>
                <c:pt idx="99">
                  <c:v>5.1649837710000002</c:v>
                </c:pt>
                <c:pt idx="100">
                  <c:v>5.1648121089999997</c:v>
                </c:pt>
                <c:pt idx="101">
                  <c:v>5.1646518339999998</c:v>
                </c:pt>
                <c:pt idx="102">
                  <c:v>5.1645022799999998</c:v>
                </c:pt>
                <c:pt idx="103">
                  <c:v>5.1643628110000002</c:v>
                </c:pt>
                <c:pt idx="104">
                  <c:v>5.1642328160000002</c:v>
                </c:pt>
                <c:pt idx="105">
                  <c:v>5.1641117190000001</c:v>
                </c:pt>
                <c:pt idx="106">
                  <c:v>5.1639989699999997</c:v>
                </c:pt>
                <c:pt idx="107">
                  <c:v>5.1638940509999998</c:v>
                </c:pt>
                <c:pt idx="108">
                  <c:v>5.1637964690000002</c:v>
                </c:pt>
                <c:pt idx="109">
                  <c:v>5.1637057610000001</c:v>
                </c:pt>
                <c:pt idx="110">
                  <c:v>5.1636214899999997</c:v>
                </c:pt>
                <c:pt idx="111">
                  <c:v>5.1635432410000002</c:v>
                </c:pt>
                <c:pt idx="112">
                  <c:v>5.1634706220000002</c:v>
                </c:pt>
                <c:pt idx="113">
                  <c:v>5.1634032650000004</c:v>
                </c:pt>
                <c:pt idx="114">
                  <c:v>5.1633408220000003</c:v>
                </c:pt>
                <c:pt idx="115">
                  <c:v>5.1632829620000003</c:v>
                </c:pt>
                <c:pt idx="116">
                  <c:v>5.1632293750000002</c:v>
                </c:pt>
                <c:pt idx="117">
                  <c:v>5.1631797720000003</c:v>
                </c:pt>
                <c:pt idx="118">
                  <c:v>5.1631338759999998</c:v>
                </c:pt>
                <c:pt idx="119">
                  <c:v>5.1630914299999997</c:v>
                </c:pt>
                <c:pt idx="120">
                  <c:v>5.1630521939999996</c:v>
                </c:pt>
                <c:pt idx="121">
                  <c:v>5.1630159400000002</c:v>
                </c:pt>
                <c:pt idx="122">
                  <c:v>5.1629824580000001</c:v>
                </c:pt>
                <c:pt idx="123">
                  <c:v>5.1629515499999998</c:v>
                </c:pt>
                <c:pt idx="124">
                  <c:v>5.1629230310000001</c:v>
                </c:pt>
                <c:pt idx="125">
                  <c:v>5.1628967279999998</c:v>
                </c:pt>
                <c:pt idx="126">
                  <c:v>5.162872481</c:v>
                </c:pt>
                <c:pt idx="127">
                  <c:v>5.1628501389999997</c:v>
                </c:pt>
                <c:pt idx="128">
                  <c:v>5.1628295619999998</c:v>
                </c:pt>
                <c:pt idx="129">
                  <c:v>5.162810619</c:v>
                </c:pt>
                <c:pt idx="130">
                  <c:v>5.1627931900000004</c:v>
                </c:pt>
                <c:pt idx="131">
                  <c:v>5.162777159</c:v>
                </c:pt>
                <c:pt idx="132">
                  <c:v>5.1627624230000002</c:v>
                </c:pt>
                <c:pt idx="133">
                  <c:v>5.1627488819999998</c:v>
                </c:pt>
                <c:pt idx="134">
                  <c:v>5.1627364460000003</c:v>
                </c:pt>
                <c:pt idx="135">
                  <c:v>5.1627250299999998</c:v>
                </c:pt>
                <c:pt idx="136">
                  <c:v>5.162714555</c:v>
                </c:pt>
                <c:pt idx="137">
                  <c:v>5.162704948</c:v>
                </c:pt>
                <c:pt idx="138">
                  <c:v>5.1626961409999996</c:v>
                </c:pt>
                <c:pt idx="139">
                  <c:v>5.1626880719999999</c:v>
                </c:pt>
                <c:pt idx="140">
                  <c:v>5.1626806820000004</c:v>
                </c:pt>
                <c:pt idx="141">
                  <c:v>5.1626739180000003</c:v>
                </c:pt>
                <c:pt idx="142">
                  <c:v>5.1626677299999999</c:v>
                </c:pt>
                <c:pt idx="143">
                  <c:v>5.1626620709999997</c:v>
                </c:pt>
                <c:pt idx="144">
                  <c:v>5.1626568989999999</c:v>
                </c:pt>
                <c:pt idx="145">
                  <c:v>5.1626521749999998</c:v>
                </c:pt>
                <c:pt idx="146">
                  <c:v>5.1626478630000001</c:v>
                </c:pt>
                <c:pt idx="147">
                  <c:v>5.1626439270000004</c:v>
                </c:pt>
                <c:pt idx="148">
                  <c:v>5.1626403390000002</c:v>
                </c:pt>
                <c:pt idx="149">
                  <c:v>5.1626370680000004</c:v>
                </c:pt>
                <c:pt idx="150">
                  <c:v>5.162634089</c:v>
                </c:pt>
                <c:pt idx="151">
                  <c:v>5.1626313770000003</c:v>
                </c:pt>
                <c:pt idx="152">
                  <c:v>5.1626289090000004</c:v>
                </c:pt>
                <c:pt idx="153">
                  <c:v>5.1626266650000003</c:v>
                </c:pt>
                <c:pt idx="154">
                  <c:v>5.1626246269999996</c:v>
                </c:pt>
                <c:pt idx="155">
                  <c:v>5.1626227760000001</c:v>
                </c:pt>
                <c:pt idx="156">
                  <c:v>5.1626210959999996</c:v>
                </c:pt>
                <c:pt idx="157">
                  <c:v>5.1626195729999997</c:v>
                </c:pt>
                <c:pt idx="158">
                  <c:v>5.1626181930000001</c:v>
                </c:pt>
                <c:pt idx="159">
                  <c:v>5.1626169429999997</c:v>
                </c:pt>
                <c:pt idx="160">
                  <c:v>5.1626158120000003</c:v>
                </c:pt>
              </c:numCache>
            </c:numRef>
          </c:yVal>
          <c:smooth val="1"/>
          <c:extLst>
            <c:ext xmlns:c16="http://schemas.microsoft.com/office/drawing/2014/chart" uri="{C3380CC4-5D6E-409C-BE32-E72D297353CC}">
              <c16:uniqueId val="{00000001-472C-4EC2-9FD0-31DD990C507C}"/>
            </c:ext>
          </c:extLst>
        </c:ser>
        <c:ser>
          <c:idx val="2"/>
          <c:order val="2"/>
          <c:tx>
            <c:v>T = 0.10 s, delayed</c:v>
          </c:tx>
          <c:spPr>
            <a:ln w="28575">
              <a:solidFill>
                <a:srgbClr val="D66A2C"/>
              </a:solidFill>
              <a:prstDash val="solid"/>
            </a:ln>
          </c:spPr>
          <c:marker>
            <c:symbol val="none"/>
          </c:marker>
          <c:xVal>
            <c:numRef>
              <c:f>'Chart Data'!$E$2:$E$82</c:f>
              <c:numCache>
                <c:formatCode>General</c:formatCode>
                <c:ptCount val="81"/>
                <c:pt idx="0">
                  <c:v>0</c:v>
                </c:pt>
                <c:pt idx="1">
                  <c:v>0.1</c:v>
                </c:pt>
                <c:pt idx="2">
                  <c:v>0.2</c:v>
                </c:pt>
                <c:pt idx="3">
                  <c:v>0.3</c:v>
                </c:pt>
                <c:pt idx="4">
                  <c:v>0.4</c:v>
                </c:pt>
                <c:pt idx="5">
                  <c:v>0.5</c:v>
                </c:pt>
                <c:pt idx="6">
                  <c:v>0.6</c:v>
                </c:pt>
                <c:pt idx="7">
                  <c:v>0.7</c:v>
                </c:pt>
                <c:pt idx="8">
                  <c:v>0.8</c:v>
                </c:pt>
                <c:pt idx="9">
                  <c:v>0.9</c:v>
                </c:pt>
                <c:pt idx="10">
                  <c:v>1</c:v>
                </c:pt>
                <c:pt idx="11">
                  <c:v>1.1000000000000001</c:v>
                </c:pt>
                <c:pt idx="12">
                  <c:v>1.2</c:v>
                </c:pt>
                <c:pt idx="13">
                  <c:v>1.3</c:v>
                </c:pt>
                <c:pt idx="14">
                  <c:v>1.4</c:v>
                </c:pt>
                <c:pt idx="15">
                  <c:v>1.5</c:v>
                </c:pt>
                <c:pt idx="16">
                  <c:v>1.6</c:v>
                </c:pt>
                <c:pt idx="17">
                  <c:v>1.7</c:v>
                </c:pt>
                <c:pt idx="18">
                  <c:v>1.8</c:v>
                </c:pt>
                <c:pt idx="19">
                  <c:v>1.9</c:v>
                </c:pt>
                <c:pt idx="20">
                  <c:v>2</c:v>
                </c:pt>
                <c:pt idx="21">
                  <c:v>2.1</c:v>
                </c:pt>
                <c:pt idx="22">
                  <c:v>2.2000000000000002</c:v>
                </c:pt>
                <c:pt idx="23">
                  <c:v>2.2999999999999998</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4.0999999999999996</c:v>
                </c:pt>
                <c:pt idx="42">
                  <c:v>4.2</c:v>
                </c:pt>
                <c:pt idx="43">
                  <c:v>4.3</c:v>
                </c:pt>
                <c:pt idx="44">
                  <c:v>4.4000000000000004</c:v>
                </c:pt>
                <c:pt idx="45">
                  <c:v>4.5</c:v>
                </c:pt>
                <c:pt idx="46">
                  <c:v>4.5999999999999996</c:v>
                </c:pt>
                <c:pt idx="47">
                  <c:v>4.7</c:v>
                </c:pt>
                <c:pt idx="48">
                  <c:v>4.8</c:v>
                </c:pt>
                <c:pt idx="49">
                  <c:v>4.9000000000000004</c:v>
                </c:pt>
                <c:pt idx="50">
                  <c:v>5</c:v>
                </c:pt>
                <c:pt idx="51">
                  <c:v>5.0999999999999996</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numCache>
            </c:numRef>
          </c:xVal>
          <c:yVal>
            <c:numRef>
              <c:f>'Chart Data'!$F$2:$F$82</c:f>
              <c:numCache>
                <c:formatCode>0.0</c:formatCode>
                <c:ptCount val="81"/>
                <c:pt idx="0">
                  <c:v>0</c:v>
                </c:pt>
                <c:pt idx="1">
                  <c:v>0</c:v>
                </c:pt>
                <c:pt idx="2">
                  <c:v>0.1183870004</c:v>
                </c:pt>
                <c:pt idx="3">
                  <c:v>0.67650917659999998</c:v>
                </c:pt>
                <c:pt idx="4">
                  <c:v>1.7059095689999999</c:v>
                </c:pt>
                <c:pt idx="5">
                  <c:v>2.9999807729999999</c:v>
                </c:pt>
                <c:pt idx="6">
                  <c:v>4.215743496</c:v>
                </c:pt>
                <c:pt idx="7">
                  <c:v>5.0319486940000004</c:v>
                </c:pt>
                <c:pt idx="8">
                  <c:v>5.2832872540000002</c:v>
                </c:pt>
                <c:pt idx="9">
                  <c:v>5.0210814800000003</c:v>
                </c:pt>
                <c:pt idx="10">
                  <c:v>4.4807037999999997</c:v>
                </c:pt>
                <c:pt idx="11">
                  <c:v>3.9760879349999998</c:v>
                </c:pt>
                <c:pt idx="12">
                  <c:v>3.7695524589999998</c:v>
                </c:pt>
                <c:pt idx="13">
                  <c:v>3.9716558590000002</c:v>
                </c:pt>
                <c:pt idx="14">
                  <c:v>4.5095695410000003</c:v>
                </c:pt>
                <c:pt idx="15">
                  <c:v>5.1718215870000002</c:v>
                </c:pt>
                <c:pt idx="16">
                  <c:v>5.7056972459999997</c:v>
                </c:pt>
                <c:pt idx="17">
                  <c:v>5.923959419</c:v>
                </c:pt>
                <c:pt idx="18">
                  <c:v>5.7769533370000001</c:v>
                </c:pt>
                <c:pt idx="19">
                  <c:v>5.363427647</c:v>
                </c:pt>
                <c:pt idx="20">
                  <c:v>4.8802198040000002</c:v>
                </c:pt>
                <c:pt idx="21">
                  <c:v>4.5357371190000002</c:v>
                </c:pt>
                <c:pt idx="22">
                  <c:v>4.465012347</c:v>
                </c:pt>
                <c:pt idx="23">
                  <c:v>4.6806910720000001</c:v>
                </c:pt>
                <c:pt idx="24">
                  <c:v>5.0772023490000002</c:v>
                </c:pt>
                <c:pt idx="25">
                  <c:v>5.4825194169999998</c:v>
                </c:pt>
                <c:pt idx="26">
                  <c:v>5.7330227669999996</c:v>
                </c:pt>
                <c:pt idx="27">
                  <c:v>5.7394068569999996</c:v>
                </c:pt>
                <c:pt idx="28">
                  <c:v>5.5175622410000003</c:v>
                </c:pt>
                <c:pt idx="29">
                  <c:v>5.1744889709999997</c:v>
                </c:pt>
                <c:pt idx="30">
                  <c:v>4.8582686869999998</c:v>
                </c:pt>
                <c:pt idx="31">
                  <c:v>4.6950368469999999</c:v>
                </c:pt>
                <c:pt idx="32">
                  <c:v>4.7394810080000003</c:v>
                </c:pt>
                <c:pt idx="33">
                  <c:v>4.9579521809999996</c:v>
                </c:pt>
                <c:pt idx="34">
                  <c:v>5.2486423980000003</c:v>
                </c:pt>
                <c:pt idx="35">
                  <c:v>5.4879182640000002</c:v>
                </c:pt>
                <c:pt idx="36">
                  <c:v>5.5820929159999997</c:v>
                </c:pt>
                <c:pt idx="37">
                  <c:v>5.5032369430000001</c:v>
                </c:pt>
                <c:pt idx="38">
                  <c:v>5.2956774339999999</c:v>
                </c:pt>
                <c:pt idx="39">
                  <c:v>5.052706444</c:v>
                </c:pt>
                <c:pt idx="40">
                  <c:v>4.8751392689999999</c:v>
                </c:pt>
                <c:pt idx="41">
                  <c:v>4.829868694</c:v>
                </c:pt>
                <c:pt idx="42">
                  <c:v>4.9252277309999997</c:v>
                </c:pt>
                <c:pt idx="43">
                  <c:v>5.1119181229999997</c:v>
                </c:pt>
                <c:pt idx="44">
                  <c:v>5.307247147</c:v>
                </c:pt>
                <c:pt idx="45">
                  <c:v>5.4311266229999999</c:v>
                </c:pt>
                <c:pt idx="46">
                  <c:v>5.4383663929999999</c:v>
                </c:pt>
                <c:pt idx="47">
                  <c:v>5.3344356839999998</c:v>
                </c:pt>
                <c:pt idx="48">
                  <c:v>5.1695155000000002</c:v>
                </c:pt>
                <c:pt idx="49">
                  <c:v>5.0148519770000002</c:v>
                </c:pt>
                <c:pt idx="50">
                  <c:v>4.9323049069999998</c:v>
                </c:pt>
                <c:pt idx="51">
                  <c:v>4.9499443320000003</c:v>
                </c:pt>
                <c:pt idx="52">
                  <c:v>5.0531490730000002</c:v>
                </c:pt>
                <c:pt idx="53">
                  <c:v>5.193677342</c:v>
                </c:pt>
                <c:pt idx="54">
                  <c:v>5.3117077369999999</c:v>
                </c:pt>
                <c:pt idx="55">
                  <c:v>5.3609556830000002</c:v>
                </c:pt>
                <c:pt idx="56">
                  <c:v>5.3264509430000002</c:v>
                </c:pt>
                <c:pt idx="57">
                  <c:v>5.2283050150000001</c:v>
                </c:pt>
                <c:pt idx="58">
                  <c:v>5.1109710609999999</c:v>
                </c:pt>
                <c:pt idx="59">
                  <c:v>5.023420357</c:v>
                </c:pt>
                <c:pt idx="60">
                  <c:v>4.998944711</c:v>
                </c:pt>
                <c:pt idx="61">
                  <c:v>5.0428052030000003</c:v>
                </c:pt>
                <c:pt idx="62">
                  <c:v>5.1321600180000004</c:v>
                </c:pt>
                <c:pt idx="63">
                  <c:v>5.2273971550000002</c:v>
                </c:pt>
                <c:pt idx="64">
                  <c:v>5.2894359150000003</c:v>
                </c:pt>
                <c:pt idx="65">
                  <c:v>5.2955399090000004</c:v>
                </c:pt>
                <c:pt idx="66">
                  <c:v>5.247336797</c:v>
                </c:pt>
                <c:pt idx="67">
                  <c:v>5.1683650920000002</c:v>
                </c:pt>
                <c:pt idx="68">
                  <c:v>5.0929137070000001</c:v>
                </c:pt>
                <c:pt idx="69">
                  <c:v>5.0513219710000001</c:v>
                </c:pt>
                <c:pt idx="70">
                  <c:v>5.0579633700000004</c:v>
                </c:pt>
                <c:pt idx="71">
                  <c:v>5.1065897439999999</c:v>
                </c:pt>
                <c:pt idx="72">
                  <c:v>5.1743829330000004</c:v>
                </c:pt>
                <c:pt idx="73">
                  <c:v>5.232429679</c:v>
                </c:pt>
                <c:pt idx="74">
                  <c:v>5.2578982109999997</c:v>
                </c:pt>
                <c:pt idx="75">
                  <c:v>5.2428520350000003</c:v>
                </c:pt>
                <c:pt idx="76">
                  <c:v>5.1963732010000001</c:v>
                </c:pt>
                <c:pt idx="77">
                  <c:v>5.1396260470000001</c:v>
                </c:pt>
                <c:pt idx="78">
                  <c:v>5.0963831539999997</c:v>
                </c:pt>
                <c:pt idx="79">
                  <c:v>5.0831904139999997</c:v>
                </c:pt>
                <c:pt idx="80">
                  <c:v>5.1031871329999996</c:v>
                </c:pt>
              </c:numCache>
            </c:numRef>
          </c:yVal>
          <c:smooth val="1"/>
          <c:extLst>
            <c:ext xmlns:c16="http://schemas.microsoft.com/office/drawing/2014/chart" uri="{C3380CC4-5D6E-409C-BE32-E72D297353CC}">
              <c16:uniqueId val="{00000002-472C-4EC2-9FD0-31DD990C507C}"/>
            </c:ext>
          </c:extLst>
        </c:ser>
        <c:dLbls>
          <c:showLegendKey val="0"/>
          <c:showVal val="0"/>
          <c:showCatName val="0"/>
          <c:showSerName val="0"/>
          <c:showPercent val="0"/>
          <c:showBubbleSize val="0"/>
        </c:dLbls>
        <c:axId val="48650112"/>
        <c:axId val="48672768"/>
      </c:scatterChart>
      <c:valAx>
        <c:axId val="48672768"/>
        <c:scaling>
          <c:orientation val="minMax"/>
          <c:max val="6.5"/>
          <c:min val="0"/>
        </c:scaling>
        <c:delete val="0"/>
        <c:axPos val="l"/>
        <c:majorGridlines>
          <c:spPr>
            <a:ln w="9525">
              <a:solidFill>
                <a:srgbClr val="DFE6EB"/>
              </a:solidFill>
            </a:ln>
          </c:spPr>
        </c:majorGridlines>
        <c:title>
          <c:tx>
            <c:rich>
              <a:bodyPr/>
              <a:lstStyle/>
              <a:p>
                <a:r>
                  <a:rPr sz="1575">
                    <a:solidFill>
                      <a:srgbClr val="516474"/>
                    </a:solidFill>
                    <a:latin typeface="Arial"/>
                    <a:ea typeface="Arial"/>
                    <a:cs typeface="Arial"/>
                  </a:rPr>
                  <a:t>θ (°)</a:t>
                </a:r>
              </a:p>
            </c:rich>
          </c:tx>
          <c:overlay val="0"/>
        </c:title>
        <c:numFmt formatCode="0.0" sourceLinked="1"/>
        <c:majorTickMark val="none"/>
        <c:minorTickMark val="none"/>
        <c:tickLblPos val="nextTo"/>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50112"/>
        <c:crossesAt val="0"/>
        <c:crossBetween val="midCat"/>
        <c:majorUnit val="1"/>
      </c:valAx>
      <c:valAx>
        <c:axId val="48650112"/>
        <c:scaling>
          <c:orientation val="minMax"/>
          <c:max val="8"/>
          <c:min val="0"/>
        </c:scaling>
        <c:delete val="0"/>
        <c:axPos val="b"/>
        <c:title>
          <c:tx>
            <c:rich>
              <a:bodyPr/>
              <a:lstStyle/>
              <a:p>
                <a:r>
                  <a:rPr sz="1575">
                    <a:solidFill>
                      <a:srgbClr val="516474"/>
                    </a:solidFill>
                    <a:latin typeface="Arial"/>
                    <a:ea typeface="Arial"/>
                    <a:cs typeface="Arial"/>
                  </a:rPr>
                  <a:t>Time (s)</a:t>
                </a:r>
              </a:p>
            </c:rich>
          </c:tx>
          <c:overlay val="0"/>
        </c:title>
        <c:numFmt formatCode="General" sourceLinked="1"/>
        <c:majorTickMark val="none"/>
        <c:minorTickMark val="none"/>
        <c:tickLblPos val="low"/>
        <c:spPr>
          <a:ln w="9525">
            <a:solidFill>
              <a:srgbClr val="B6C3CC"/>
            </a:solidFill>
          </a:ln>
        </c:spPr>
        <c:txPr>
          <a:bodyPr anchorCtr="1"/>
          <a:lstStyle/>
          <a:p>
            <a:pPr>
              <a:defRPr sz="1500">
                <a:solidFill>
                  <a:srgbClr val="516474"/>
                </a:solidFill>
                <a:latin typeface="Arial"/>
                <a:ea typeface="Arial"/>
                <a:cs typeface="Arial"/>
              </a:defRPr>
            </a:pPr>
            <a:endParaRPr lang="es-ES"/>
          </a:p>
        </c:txPr>
        <c:crossAx val="48672768"/>
        <c:crossesAt val="0"/>
        <c:crossBetween val="midCat"/>
        <c:majorUnit val="2"/>
      </c:valAx>
      <c:spPr>
        <a:solidFill>
          <a:srgbClr val="FFFFFF"/>
        </a:solidFill>
        <a:ln w="0">
          <a:noFill/>
        </a:ln>
      </c:spPr>
    </c:plotArea>
    <c:legend>
      <c:legendPos val="b"/>
      <c:overlay val="0"/>
      <c:txPr>
        <a:bodyPr anchorCtr="1"/>
        <a:lstStyle/>
        <a:p>
          <a:pPr>
            <a:defRPr sz="1500">
              <a:solidFill>
                <a:srgbClr val="13283C"/>
              </a:solidFill>
              <a:latin typeface="Arial"/>
              <a:ea typeface="Arial"/>
              <a:cs typeface="Arial"/>
            </a:defRPr>
          </a:pPr>
          <a:endParaRPr lang="es-ES"/>
        </a:p>
      </c:txPr>
    </c:legend>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sz="1875" b="1">
                <a:solidFill>
                  <a:srgbClr val="13283C"/>
                </a:solidFill>
                <a:latin typeface="Arial"/>
                <a:ea typeface="Arial"/>
                <a:cs typeface="Arial"/>
              </a:rPr>
              <a:t>Sampling limit with variable mass</a:t>
            </a:r>
          </a:p>
        </c:rich>
      </c:tx>
      <c:overlay val="0"/>
    </c:title>
    <c:autoTitleDeleted val="0"/>
    <c:plotArea>
      <c:layout/>
      <c:barChart>
        <c:barDir val="col"/>
        <c:grouping val="clustered"/>
        <c:varyColors val="0"/>
        <c:ser>
          <c:idx val="0"/>
          <c:order val="0"/>
          <c:tx>
            <c:v>Fixed gains</c:v>
          </c:tx>
          <c:spPr>
            <a:solidFill>
              <a:srgbClr val="B6C3CC"/>
            </a:solidFill>
          </c:spPr>
          <c:invertIfNegative val="0"/>
          <c:dLbls>
            <c:numFmt formatCode="0.000" sourceLinked="0"/>
            <c:spPr>
              <a:noFill/>
              <a:ln>
                <a:noFill/>
              </a:ln>
              <a:effectLst/>
            </c:spPr>
            <c:txPr>
              <a:bodyPr anchorCtr="1"/>
              <a:lstStyle/>
              <a:p>
                <a:pPr>
                  <a:defRPr sz="1725">
                    <a:solidFill>
                      <a:srgbClr val="13283C"/>
                    </a:solidFill>
                    <a:latin typeface="Arial"/>
                    <a:ea typeface="Arial"/>
                    <a:cs typeface="Arial"/>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Initial mass</c:v>
                </c:pt>
                <c:pt idx="1">
                  <c:v>Half the initial mass</c:v>
                </c:pt>
              </c:strCache>
            </c:strRef>
          </c:cat>
          <c:val>
            <c:numRef>
              <c:f>'Chart Data'!$B$2:$B$3</c:f>
              <c:numCache>
                <c:formatCode>0.00</c:formatCode>
                <c:ptCount val="2"/>
                <c:pt idx="0">
                  <c:v>0.113554</c:v>
                </c:pt>
                <c:pt idx="1">
                  <c:v>5.7637000000000001E-2</c:v>
                </c:pt>
              </c:numCache>
            </c:numRef>
          </c:val>
          <c:extLst>
            <c:ext xmlns:c16="http://schemas.microsoft.com/office/drawing/2014/chart" uri="{C3380CC4-5D6E-409C-BE32-E72D297353CC}">
              <c16:uniqueId val="{00000000-27A4-4318-A5D6-64D604510D9D}"/>
            </c:ext>
          </c:extLst>
        </c:ser>
        <c:ser>
          <c:idx val="1"/>
          <c:order val="1"/>
          <c:tx>
            <c:v>Gains / ρ</c:v>
          </c:tx>
          <c:spPr>
            <a:solidFill>
              <a:srgbClr val="087E8B"/>
            </a:solidFill>
          </c:spPr>
          <c:invertIfNegative val="0"/>
          <c:dLbls>
            <c:numFmt formatCode="0.000" sourceLinked="0"/>
            <c:spPr>
              <a:noFill/>
              <a:ln>
                <a:noFill/>
              </a:ln>
              <a:effectLst/>
            </c:spPr>
            <c:txPr>
              <a:bodyPr anchorCtr="1"/>
              <a:lstStyle/>
              <a:p>
                <a:pPr>
                  <a:defRPr sz="1725">
                    <a:solidFill>
                      <a:srgbClr val="13283C"/>
                    </a:solidFill>
                    <a:latin typeface="Arial"/>
                    <a:ea typeface="Arial"/>
                    <a:cs typeface="Arial"/>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Initial mass</c:v>
                </c:pt>
                <c:pt idx="1">
                  <c:v>Half the initial mass</c:v>
                </c:pt>
              </c:strCache>
            </c:strRef>
          </c:cat>
          <c:val>
            <c:numRef>
              <c:f>'Chart Data'!$D$2:$D$3</c:f>
              <c:numCache>
                <c:formatCode>0.00</c:formatCode>
                <c:ptCount val="2"/>
                <c:pt idx="0">
                  <c:v>0.113554</c:v>
                </c:pt>
                <c:pt idx="1">
                  <c:v>0.122867</c:v>
                </c:pt>
              </c:numCache>
            </c:numRef>
          </c:val>
          <c:extLst>
            <c:ext xmlns:c16="http://schemas.microsoft.com/office/drawing/2014/chart" uri="{C3380CC4-5D6E-409C-BE32-E72D297353CC}">
              <c16:uniqueId val="{00000001-27A4-4318-A5D6-64D604510D9D}"/>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title>
          <c:overlay val="1"/>
          <c:txPr>
            <a:bodyPr anchorCtr="1"/>
            <a:lstStyle/>
            <a:p>
              <a:pPr>
                <a:defRPr>
                  <a:latin typeface="Arial"/>
                  <a:ea typeface="Arial"/>
                  <a:cs typeface="Arial"/>
                </a:defRPr>
              </a:pPr>
              <a:endParaRPr lang="es-ES"/>
            </a:p>
          </c:txPr>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516474"/>
                </a:solidFill>
                <a:latin typeface="Arial"/>
                <a:ea typeface="Arial"/>
                <a:cs typeface="Arial"/>
              </a:defRPr>
            </a:pPr>
            <a:endParaRPr lang="es-ES"/>
          </a:p>
        </c:txPr>
        <c:crossAx val="48672768"/>
        <c:crosses val="autoZero"/>
        <c:auto val="1"/>
        <c:lblAlgn val="ctr"/>
        <c:lblOffset val="100"/>
        <c:noMultiLvlLbl val="1"/>
      </c:catAx>
      <c:valAx>
        <c:axId val="48672768"/>
        <c:scaling>
          <c:orientation val="minMax"/>
          <c:max val="0.15"/>
          <c:min val="0"/>
        </c:scaling>
        <c:delete val="0"/>
        <c:axPos val="l"/>
        <c:majorGridlines>
          <c:spPr>
            <a:ln w="9525">
              <a:solidFill>
                <a:srgbClr val="DFE6EB"/>
              </a:solidFill>
            </a:ln>
          </c:spPr>
        </c:majorGridlines>
        <c:title>
          <c:tx>
            <c:rich>
              <a:bodyPr/>
              <a:lstStyle/>
              <a:p>
                <a:r>
                  <a:rPr sz="1575">
                    <a:solidFill>
                      <a:srgbClr val="516474"/>
                    </a:solidFill>
                    <a:latin typeface="Arial"/>
                    <a:ea typeface="Arial"/>
                    <a:cs typeface="Arial"/>
                  </a:rPr>
                  <a:t>Maximum T with delay (s)</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516474"/>
                </a:solidFill>
                <a:latin typeface="Arial"/>
                <a:ea typeface="Arial"/>
                <a:cs typeface="Arial"/>
              </a:defRPr>
            </a:pPr>
            <a:endParaRPr lang="es-ES"/>
          </a:p>
        </c:txPr>
        <c:crossAx val="48650112"/>
        <c:crosses val="autoZero"/>
        <c:crossBetween val="between"/>
        <c:majorUnit val="0.05"/>
      </c:valAx>
      <c:spPr>
        <a:solidFill>
          <a:srgbClr val="FFFFFF"/>
        </a:solidFill>
      </c:spPr>
    </c:plotArea>
    <c:legend>
      <c:legendPos val="b"/>
      <c:overlay val="0"/>
      <c:txPr>
        <a:bodyPr anchorCtr="1"/>
        <a:lstStyle/>
        <a:p>
          <a:pPr>
            <a:defRPr sz="1575">
              <a:solidFill>
                <a:srgbClr val="13283C"/>
              </a:solidFill>
              <a:latin typeface="Arial"/>
              <a:ea typeface="Arial"/>
              <a:cs typeface="Arial"/>
            </a:defRPr>
          </a:pPr>
          <a:endParaRPr lang="es-E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30 seconds</a:t>
            </a:r>
          </a:p>
          <a:p>
            <a:endParaRPr/>
          </a:p>
          <a:p>
            <a:r>
              <a:t>We studied a linear rocket model in the pitch plane. Our central question was how to control acceleration and attitude when both actions affect each other. I will explain the model, the tests we performed, and how we used the results to choose the gains and sampling period. The photograph provides context and does not identify a vehicle with the parameters of this model.</a:t>
            </a:r>
          </a:p>
          <a:p>
            <a:endParaRPr/>
          </a:p>
          <a:p>
            <a:r>
              <a:t>Sources: Reporte_ES.pdf, p. 1. Photograph: NASA/Bill Ingalls, Artemis I. https://www.planetary.org/space-images/artemis-i-launch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50 seconds</a:t>
            </a:r>
          </a:p>
          <a:p>
            <a:endParaRPr/>
          </a:p>
          <a:p>
            <a:r>
              <a:t>The rocket must follow an acceleration reference and an attitude reference. The nozzle changes the thrust direction to create a control moment. Tilting the vehicle also changes the acceleration represented by our model. In addition, thrust misalignment can induce rotation. This makes the rocket a system with two inputs and two outputs. In the figure, point out the center of mass, the center of pressure and the nozzle deflection. Our scope is a short ascent interval and motion in the pitch plane.</a:t>
            </a:r>
          </a:p>
          <a:p>
            <a:endParaRPr/>
          </a:p>
          <a:p>
            <a:r>
              <a:t>Sources: Reporte_ES.pdf, pp. 1–3. proyectoCohete.pdf, p. 2, Figure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65 seconds</a:t>
            </a:r>
          </a:p>
          <a:p>
            <a:endParaRPr/>
          </a:p>
          <a:p>
            <a:r>
              <a:t>We selected four states: axial acceleration a, pitch angle theta, angular rate omega and actual nozzle deflection delta. The main outputs are a and theta. The IMU can also provide omega, although our observability analysis includes cases in which we use only one output. Input u1 is an axial reference and u2 is an angular reference. Interpreting u1 as a percentage requires a defined normalization. We assume small angles, constant mass and inertia, and a rigid vehicle. These assumptions give us a linear model with four states. The complete equations appear in the backup slides. Matrix A describes internal dynamics, B maps the commands, and C selects the measured outputs. Their dimensions are four by four, four by two and two by four. D is zero, so a finite command has no direct instantaneous feedthrough.</a:t>
            </a:r>
          </a:p>
          <a:p>
            <a:endParaRPr/>
          </a:p>
          <a:p>
            <a:r>
              <a:t>Sources: Reporte_ES.pdf, pp. 2–3. proyectoCohete.pdf, pp. 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60 seconds</a:t>
            </a:r>
          </a:p>
          <a:p>
            <a:endParaRPr/>
          </a:p>
          <a:p>
            <a:r>
              <a:t>Each differential equation tells us how one state changes. The acceleration equation combines engine response, the axial command and gravitational coupling. The angle equation is the integral of angular rate. The angular-rate equation balances the destabilizing aerodynamic contribution against damping and the torques produced by the nozzle and thrust misalignment. The nozzle equation includes servo response and feedback from angle and angular rate. K1 affects the axial correction. K2 affects the steering correction, while lambda weights the angular-rate contribution. Keeping delta as a state allows us to study servo lag and nozzle excursion. The full equations remain in the backup slides.</a:t>
            </a:r>
          </a:p>
          <a:p>
            <a:endParaRPr/>
          </a:p>
          <a:p>
            <a:r>
              <a:t>Sources: Reporte_ES.pdf, p. 2, equations (1)–(4). TSII-PROJECT-NB.ipynb, cell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55 seconds</a:t>
            </a:r>
          </a:p>
          <a:p>
            <a:endParaRPr/>
          </a:p>
          <a:p>
            <a:r>
              <a:t>We started with the equations, constructed A, B and C, and checked that the four-integrator diagram represents each signal path. Every integrator accumulates the derivative of one state. We then calculated the transfer matrix and eigenvalues. We simulated a pulse, a sine wave and an impulse, applying each to u1, to u2 and to both inputs. Finally, we compared gains against quantitative limits and separated the continuous plant from the digital controller to study sampling. K1 acts on the engine channel and K2 on attitude correction. The calculations used NumPy, SciPy and SymPy, while the report used Matplotlib for its figures. The notebook applies each of three signal types to three input configurations, giving nine cases. Its plots show acceleration and pitch on separate vertical axes because the units differ.</a:t>
            </a:r>
          </a:p>
          <a:p>
            <a:endParaRPr/>
          </a:p>
          <a:p>
            <a:r>
              <a:t>Sources: Reporte_ES.pdf, pp. 2–5, Figure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70 seconds</a:t>
            </a:r>
          </a:p>
          <a:p>
            <a:endParaRPr/>
          </a:p>
          <a:p>
            <a:r>
              <a:t>Asymptotic stability means that deviations from equilibrium decay over time. In this project, we seek asymptotic stability: deviations from equilibrium should decay. All four nominal poles have negative real parts. The complex pair explains the oscillation, while the pole near minus seventeen is mainly associated with the servo. We also used Routh–Hurwitz and a gain sweep. For K1 equal to one, the K2 threshold is approximately 0.081. When K2 is zero, a positive pole of approximately 0.557 appears. Attitude feedback therefore stabilizes the original controller under these conditions. Stability alone still does not guarantee a fast response or satisfactory tracking.</a:t>
            </a:r>
          </a:p>
          <a:p>
            <a:endParaRPr/>
          </a:p>
          <a:p>
            <a:r>
              <a:t>Sources: Reporte_ES.pdf, pp. 4–5. Calculation from the nominal equations.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60 seconds</a:t>
            </a:r>
          </a:p>
          <a:p>
            <a:endParaRPr/>
          </a:p>
          <a:p>
            <a:r>
              <a:t>This is the original rectangular-pulse figure saved in the notebook. Read it from left to right: u1 alone, u2 alone and both inputs together. Blue is acceleration on the left axis. Red is pitch on the right axis. The axes have different units and scales, so curve heights do not give coupling percentages directly. The u1 case mainly accelerates the vehicle and also produces a small pitch response through thrust misalignment. The u2 case strongly changes acceleration through the gravity term. Simultaneous responses add because the model is linear. At five seconds the command turns off and the outputs decay. These are formal unit-input tests.</a:t>
            </a:r>
          </a:p>
          <a:p>
            <a:endParaRPr/>
          </a:p>
          <a:p>
            <a:r>
              <a:t>Sources: TSII-PROJECT-NB.ipynb, cell 16, saved PNG output. Nominal parameters in cell 11. Simulation helper in cell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55 seconds</a:t>
            </a:r>
          </a:p>
          <a:p>
            <a:endParaRPr/>
          </a:p>
          <a:p>
            <a:r>
              <a:t>This original notebook figure uses sin(t), so the angular frequency is one radian per second and the period is about 6.28 seconds. After the initial transient, both outputs keep oscillating at that frequency. Their amplitudes and relative phases depend on the transfer functions. In the u2-only case, the axial amplitude is approximately 7.85 and the pitch amplitude is approximately 1.21 for a unit command. These are frequency-response gains at one radian per second, rather than static gains. This connects the time simulation with the frequency analysis. The simultaneous-input panel again shows the combined response.</a:t>
            </a:r>
          </a:p>
          <a:p>
            <a:endParaRPr/>
          </a:p>
          <a:p>
            <a:r>
              <a:t>Sources: TSII-PROJECT-NB.ipynb, cell 17, saved PNG output. Nominal G(j1) from the stated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55 seconds</a:t>
            </a:r>
          </a:p>
          <a:p>
            <a:endParaRPr/>
          </a:p>
          <a:p>
            <a:r>
              <a:t>The impulse is an ideal brief excitation that helps expose the natural dynamics. This figure again compares the two individual input channels and their simultaneous action. The nominal poles make the responses decay toward zero. An impulse in u1 gives acceleration an immediate state jump of about 0.0699. This is consistent with D equal to zero: D excludes direct feedthrough for a finite command, while a Dirac input can change the state by its area multiplied by B. The other response paths pass through additional dynamics. Use the figure to identify decay and oscillation, rather than treating a unit angular excitation as a physically valid large-angle maneuver.</a:t>
            </a:r>
          </a:p>
          <a:p>
            <a:endParaRPr/>
          </a:p>
          <a:p>
            <a:r>
              <a:t>Sources: TSII-PROJECT-NB.ipynb, cell 18, saved PNG output. State-space matrices in cell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70 seconds</a:t>
            </a:r>
          </a:p>
          <a:p>
            <a:endParaRPr/>
          </a:p>
          <a:p>
            <a:r>
              <a:t>To compare outputs with different units, we fixed the test amplitudes: u1 equals ten in the model scale and u2 equals five degrees. We applied each step separately. The axial command produces a final acceleration of 0.459 meters per second squared. The angular command produces a maximum acceleration reduction near 0.812. Their ratio gives 177 percent. In the reverse direction, the axial command produces about one degree of pitch deviation, compared with the 5.20-degree main response, giving 20.6 percent. These percentages describe the chosen test amplitudes, rather than universal constants of the vehicle.</a:t>
            </a:r>
          </a:p>
          <a:p>
            <a:endParaRPr/>
          </a:p>
          <a:p>
            <a:r>
              <a:t>Sources: Reporte_ES.pdf, pp. 6–7, Table III and Figure 10. Definition: maximum absolute cross-output response divided by the absolute final main-output response.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65 seconds</a:t>
            </a:r>
          </a:p>
          <a:p>
            <a:endParaRPr/>
          </a:p>
          <a:p>
            <a:r>
              <a:t>Frequency response shows how tracking changes as commands vary more rapidly. The graph presents the magnitudes of the two main channels, normalized by their low-frequency gains. We define bandwidth at the minus-three-decibel crossing. The nominal bandwidth is about 2.06 radians per second for acceleration and 2.26 for pitch. The cross-channel bandwidths are near 1.39. Interactions remain important in the useful tracking band. In the nominal case, both normalized cross-channel ratios fall below ten percent only above 7.36 radians per second, where the direct responses already have substantial attenuation.</a:t>
            </a:r>
          </a:p>
          <a:p>
            <a:endParaRPr/>
          </a:p>
          <a:p>
            <a:r>
              <a:t>Sources: Reporte_ES.pdf, pp. 7–9, Figures 11–13. Nominal G(jω), magnitude relative to G(0).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65 seconds</a:t>
            </a:r>
          </a:p>
          <a:p>
            <a:endParaRPr/>
          </a:p>
          <a:p>
            <a:r>
              <a:t>In physical terms, observability lets us infer the internal motion from a history of measured outputs and known commands. Observability asks whether we can reconstruct the states from known inputs and the history of measurements. We form the matrix using C, CA, CA squared and CA cubed. Its rank must be four. We obtained rank four with both sensors, with acceleration alone and with angle alone. Coupling allows unmeasured states to leave information in the measured output. This supports designing an observer for omega and delta. Rank describes an ideal mathematical property. Accuracy in noise requires consistent scales and a sensor model. Unnormalized singular values alone do not establish a physical sensitivity factor.</a:t>
            </a:r>
          </a:p>
          <a:p>
            <a:endParaRPr/>
          </a:p>
          <a:p>
            <a:r>
              <a:t>Sources: Reporte_ES.pdf, p. 9, Table IV. Rank conclusions are retained with a precise interpretation of sensitivity.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65 seconds</a:t>
            </a:r>
          </a:p>
          <a:p>
            <a:endParaRPr/>
          </a:p>
          <a:p>
            <a:r>
              <a:t>Controllability concerns reaching arbitrary states through suitable inputs in finite time, within this ideal model. Controllability asks whether the inputs can move the state to any desired condition within the ideal model. With both inputs, the rank is four. If we remove only an external command while retaining the nominal feedback, the rank also remains four. A physical servo failure is different. Setting the derivative of delta to zero reduces the full-system rank to three. We cannot move the jammed nozzle, and the original controller leaves an unstable mode. That does not prove that no redesigned ideal controller could stabilize the remaining three states. Actual engine authority and saturation would need to be checked. Distinguishing a missing command from a physical failure avoids an incorrect conclusion.</a:t>
            </a:r>
          </a:p>
          <a:p>
            <a:endParaRPr/>
          </a:p>
          <a:p>
            <a:r>
              <a:t>Sources: Reporte_ES.pdf, p. 9, Table V. Nominal A for loss of an external command. Last row of A set to zero for a jammed servo.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70 seconds</a:t>
            </a:r>
          </a:p>
          <a:p>
            <a:endParaRPr/>
          </a:p>
          <a:p>
            <a:r>
              <a:t>Stability left us with many candidates. We selected design limits of ten percent pitch overshoot, three seconds settling time, five percent final error, five degrees maximum nozzle deflection, and positive static axial gain. We evaluated a grid of 2400 gain pairs. The feasible region meets these limits. Within it, we prefer pairs whose worst coupling is close to the smallest feasible value. The figure reproduces that region using the stated criteria. The outer ranges of K1 and K2 do not imply that every point within a rectangle is equally suitable. We selected K1 equal to 4.5 and K2 equal to 1.3, which meets the criteria.</a:t>
            </a:r>
          </a:p>
          <a:p>
            <a:endParaRPr/>
          </a:p>
          <a:p>
            <a:r>
              <a:t>Sources: Reporte_ES.pdf, pp. 10–11, Figure 15. Region reproduced from the equations and stated criteria, without using the feasible-point count as a conclusion.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80 seconds</a:t>
            </a:r>
          </a:p>
          <a:p>
            <a:endParaRPr/>
          </a:p>
          <a:p>
            <a:r>
              <a:t>Here we compare the nominal and recommended pitch responses to a five-degree command. The recommended response has less overshoot and reaches its final value sooner. Overshoot falls from 16.39 to 0.82 percent. Settling time decreases from 3.64 to 1.62 seconds. The final error stays below five percent. The tradeoff is nozzle deflection, which rises from about two degrees to 4.49, close to the five-degree limit. Coupling into acceleration drops from 177 to 31 percent, while the reverse coupling rises from 21 to 28 percent. This is a compromise among design criteria. We measure overshoot relative to the final value and final error relative to the command.</a:t>
            </a:r>
          </a:p>
          <a:p>
            <a:endParaRPr/>
          </a:p>
          <a:p>
            <a:r>
              <a:t>Sources: Reporte_ES.pdf, pp. 10–11, Table VI. Graph: u2 = 5° step and u1 = 0. Peak nozzle excursion: both test steps applied simultaneously.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80 seconds</a:t>
            </a:r>
          </a:p>
          <a:p>
            <a:endParaRPr/>
          </a:p>
          <a:p>
            <a:r>
              <a:t>We then checked whether a computer updating every 0.05 seconds can implement the chosen gains. This corresponds to twenty updates per second. We separated the continuous plant from the controller, held commands with a zero-order hold, and included a one-sample delay. The stability limit for the selected point is approximately 0.1135 seconds with delay. Its ratio to the chosen period is 2.27. At T equal to 0.10 seconds, the response oscillates more and takes around seven seconds to settle, but it remains stable. The result depends on this delay model. The graph shows output samples. The actuator command is the signal held between updates.</a:t>
            </a:r>
          </a:p>
          <a:p>
            <a:endParaRPr/>
          </a:p>
          <a:p>
            <a:r>
              <a:t>Sources: Reporte_ES.pdf, pp. 11–12, Table VII and Figures 16–18. Plant discretized using a zero-order hold, with a delay of exactly one sample.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50 seconds</a:t>
            </a:r>
          </a:p>
          <a:p>
            <a:endParaRPr/>
          </a:p>
          <a:p>
            <a:r>
              <a:t>Mass and inertia change as the rocket consumes fuel, making the model matrices depend on time. The report explores frozen coefficients using rho, defined as initial mass divided by current mass. Under that scaling, reducing the mass to half its initial value lowers the maximum stable sampling period with delay from about 0.114 to 0.058 seconds if gains remain fixed. Dividing the gains by rho recovers a limit near 0.123 seconds. This is a proposal under the assumptions of that extension. Frozen poles do not establish stability for the full flight, and the physical balance of a vehicle expelling gas requires a vehicle-specific formulation.</a:t>
            </a:r>
          </a:p>
          <a:p>
            <a:endParaRPr/>
          </a:p>
          <a:p>
            <a:r>
              <a:t>Sources: Reporte_ES.pdf, pp. 12–13, Figure 20. Values depend on the report's frozen-coefficient scaling. Variable-mass balance: NASA TN D-1838, Section III. https://ntrs.nasa.gov/api/citations/19630009857/downloads/19630009857.pdf?attachment=true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45 seconds</a:t>
            </a:r>
          </a:p>
          <a:p>
            <a:endParaRPr/>
          </a:p>
          <a:p>
            <a:r>
              <a:t>To include lateral attitude, we add the yaw angle psi, its angular rate r and lateral nozzle deflection zeta. This gives seven states, three inputs and three outputs. In the proposed model, acceleration enters the lateral rotational balance. This is the only link between the blocks: thrust and pitch can perturb yaw, while the lateral command does not feed back into pitch within these equations. The matrix is block triangular, so its eigenvalues combine those of both blocks. This remains a simplified extension, excluding roll and full three-dimensional dynamics.</a:t>
            </a:r>
          </a:p>
          <a:p>
            <a:endParaRPr/>
          </a:p>
          <a:p>
            <a:r>
              <a:t>Sources: Reporte_ES.pdf, pp. 13–14, equations (8)–(9) and Figure 21.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45 seconds</a:t>
            </a:r>
          </a:p>
          <a:p>
            <a:endParaRPr/>
          </a:p>
          <a:p>
            <a:r>
              <a:t>The main finding is that acceleration and attitude require a combined analysis. Attitude feedback stabilizes the model, but stability alone did not determine our design. The selected gains improve overshoot and settling time while requiring greater nozzle excursion. We also checked state reconstruction and showed that physical failures change the reach of the inputs. Finally, the 0.05-second sampling period is stable under the digital model studied, with margin below the calculated limit. These conclusions apply to the linear model, the chosen test amplitudes and the design limits we adopted.</a:t>
            </a:r>
          </a:p>
          <a:p>
            <a:endParaRPr/>
          </a:p>
          <a:p>
            <a:r>
              <a:t>Sources: Reporte_ES.pdf, pp. 13–14. Summary of verified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E89D0B1-300F-461C-AB29-5DB42EC4E5A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4DA2952F-0F1E-40AC-96BC-DDA44AEACC9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D5A7AD5-CF0C-4518-984E-EBD57927C6DD}"/>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EE6CE22-74DC-46D2-84FB-8E3F583EACF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355402D-998E-4AC2-97DB-AB5ACF4110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D00A23D-01A5-4A6A-92E7-DBFF4F63E81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E005236-AF64-4515-A3A9-F3A7610C920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C460EC9-A2F6-4B21-A353-5954C48008D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C4B37CB-4254-4344-BADF-B6ECCE9192A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CA2BD6D8-1237-45C3-9B93-40B5608F190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83C"/>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4DA608-9A36-4591-ACCB-5132B6FBE35C}"/>
              </a:ext>
            </a:extLst>
          </p:cNvPr>
          <p:cNvPicPr>
            <a:picLocks noChangeAspect="1"/>
          </p:cNvPicPr>
          <p:nvPr/>
        </p:nvPicPr>
        <p:blipFill>
          <a:blip r:embed="rId3"/>
          <a:srcRect l="28936" r="28936"/>
          <a:stretch>
            <a:fillRect/>
          </a:stretch>
        </p:blipFill>
        <p:spPr>
          <a:xfrm>
            <a:off x="6858000" y="0"/>
            <a:ext cx="5334000" cy="6858000"/>
          </a:xfrm>
          <a:prstGeom prst="rect">
            <a:avLst/>
          </a:prstGeom>
        </p:spPr>
      </p:pic>
      <p:sp>
        <p:nvSpPr>
          <p:cNvPr id="3" name="Universidad Galileo">
            <a:extLst>
              <a:ext uri="{FF2B5EF4-FFF2-40B4-BE49-F238E27FC236}">
                <a16:creationId xmlns:a16="http://schemas.microsoft.com/office/drawing/2014/main" id="{4F6E5D5B-0A08-42B1-B343-C06E3C981256}"/>
              </a:ext>
            </a:extLst>
          </p:cNvPr>
          <p:cNvSpPr>
            <a:spLocks noGrp="1"/>
          </p:cNvSpPr>
          <p:nvPr/>
        </p:nvSpPr>
        <p:spPr>
          <a:xfrm>
            <a:off x="590550" y="457200"/>
            <a:ext cx="5905500" cy="333375"/>
          </a:xfrm>
          <a:prstGeom prst="rect">
            <a:avLst/>
          </a:prstGeom>
          <a:noFill/>
          <a:ln w="0">
            <a:noFill/>
          </a:ln>
        </p:spPr>
        <p:txBody>
          <a:bodyPr lIns="0" tIns="0" rIns="0" bIns="0" anchor="t">
            <a:noAutofit/>
          </a:bodyPr>
          <a:lstStyle>
            <a:defPPr algn="l">
              <a:defRPr sz="1725" b="0">
                <a:solidFill>
                  <a:srgbClr val="FFFFFF"/>
                </a:solidFill>
                <a:latin typeface="Arial"/>
                <a:ea typeface="Arial"/>
                <a:cs typeface="Arial"/>
              </a:defRPr>
            </a:defPPr>
            <a:lvl1pPr algn="l">
              <a:defRPr sz="1725" b="0">
                <a:solidFill>
                  <a:srgbClr val="FFFFFF"/>
                </a:solidFill>
                <a:latin typeface="Arial"/>
                <a:ea typeface="Arial"/>
                <a:cs typeface="Arial"/>
              </a:defRPr>
            </a:lvl1pPr>
            <a:lvl2pPr algn="l">
              <a:defRPr sz="1725" b="0">
                <a:solidFill>
                  <a:srgbClr val="FFFFFF"/>
                </a:solidFill>
                <a:latin typeface="Arial"/>
                <a:ea typeface="Arial"/>
                <a:cs typeface="Arial"/>
              </a:defRPr>
            </a:lvl2pPr>
            <a:lvl3pPr algn="l">
              <a:defRPr sz="1725" b="0">
                <a:solidFill>
                  <a:srgbClr val="FFFFFF"/>
                </a:solidFill>
                <a:latin typeface="Arial"/>
                <a:ea typeface="Arial"/>
                <a:cs typeface="Arial"/>
              </a:defRPr>
            </a:lvl3pPr>
            <a:lvl4pPr algn="l">
              <a:defRPr sz="1725" b="0">
                <a:solidFill>
                  <a:srgbClr val="FFFFFF"/>
                </a:solidFill>
                <a:latin typeface="Arial"/>
                <a:ea typeface="Arial"/>
                <a:cs typeface="Arial"/>
              </a:defRPr>
            </a:lvl4pPr>
            <a:lvl5pPr algn="l">
              <a:defRPr sz="1725" b="0">
                <a:solidFill>
                  <a:srgbClr val="FFFFFF"/>
                </a:solidFill>
                <a:latin typeface="Arial"/>
                <a:ea typeface="Arial"/>
                <a:cs typeface="Arial"/>
              </a:defRPr>
            </a:lvl5pPr>
            <a:lvl6pPr algn="l">
              <a:defRPr sz="1725" b="0">
                <a:solidFill>
                  <a:srgbClr val="FFFFFF"/>
                </a:solidFill>
                <a:latin typeface="Arial"/>
                <a:ea typeface="Arial"/>
                <a:cs typeface="Arial"/>
              </a:defRPr>
            </a:lvl6pPr>
            <a:lvl7pPr algn="l">
              <a:defRPr sz="1725" b="0">
                <a:solidFill>
                  <a:srgbClr val="FFFFFF"/>
                </a:solidFill>
                <a:latin typeface="Arial"/>
                <a:ea typeface="Arial"/>
                <a:cs typeface="Arial"/>
              </a:defRPr>
            </a:lvl7pPr>
            <a:lvl8pPr algn="l">
              <a:defRPr sz="1725" b="0">
                <a:solidFill>
                  <a:srgbClr val="FFFFFF"/>
                </a:solidFill>
                <a:latin typeface="Arial"/>
                <a:ea typeface="Arial"/>
                <a:cs typeface="Arial"/>
              </a:defRPr>
            </a:lvl8pPr>
            <a:lvl9pPr algn="l">
              <a:defRPr sz="1725" b="0">
                <a:solidFill>
                  <a:srgbClr val="FFFFFF"/>
                </a:solidFill>
                <a:latin typeface="Arial"/>
                <a:ea typeface="Arial"/>
                <a:cs typeface="Arial"/>
              </a:defRPr>
            </a:lvl9pPr>
          </a:lstStyle>
          <a:p>
            <a:pPr algn="l">
              <a:lnSpc>
                <a:spcPct val="110000"/>
              </a:lnSpc>
              <a:buNone/>
              <a:defRPr sz="1725" b="0">
                <a:solidFill>
                  <a:srgbClr val="FFFFFF"/>
                </a:solidFill>
                <a:latin typeface="Arial"/>
                <a:ea typeface="Arial"/>
                <a:cs typeface="Arial"/>
              </a:defRPr>
            </a:pPr>
            <a:r>
              <a:rPr sz="1725" b="0">
                <a:solidFill>
                  <a:srgbClr val="FFFFFF"/>
                </a:solidFill>
                <a:latin typeface="Arial"/>
                <a:ea typeface="Arial"/>
                <a:cs typeface="Arial"/>
              </a:rPr>
              <a:t>Galileo University</a:t>
            </a:r>
          </a:p>
        </p:txBody>
      </p:sp>
      <p:sp>
        <p:nvSpPr>
          <p:cNvPr id="4" name="Modelado y&#10;simulación de&#10;un cohete">
            <a:extLst>
              <a:ext uri="{FF2B5EF4-FFF2-40B4-BE49-F238E27FC236}">
                <a16:creationId xmlns:a16="http://schemas.microsoft.com/office/drawing/2014/main" id="{C333C372-4C3F-4E96-BFF1-F9871FA51330}"/>
              </a:ext>
            </a:extLst>
          </p:cNvPr>
          <p:cNvSpPr>
            <a:spLocks noGrp="1"/>
          </p:cNvSpPr>
          <p:nvPr/>
        </p:nvSpPr>
        <p:spPr>
          <a:xfrm>
            <a:off x="590550" y="1238250"/>
            <a:ext cx="6143625" cy="2333625"/>
          </a:xfrm>
          <a:prstGeom prst="rect">
            <a:avLst/>
          </a:prstGeom>
          <a:noFill/>
          <a:ln w="0">
            <a:noFill/>
          </a:ln>
        </p:spPr>
        <p:txBody>
          <a:bodyPr lIns="0" tIns="0" rIns="0" bIns="0" anchor="t">
            <a:noAutofit/>
          </a:bodyPr>
          <a:lstStyle>
            <a:defPPr algn="l">
              <a:defRPr sz="4500" b="1">
                <a:solidFill>
                  <a:srgbClr val="FFFFFF"/>
                </a:solidFill>
                <a:latin typeface="Arial"/>
                <a:ea typeface="Arial"/>
                <a:cs typeface="Arial"/>
              </a:defRPr>
            </a:defPPr>
            <a:lvl1pPr algn="l">
              <a:defRPr sz="4500" b="1">
                <a:solidFill>
                  <a:srgbClr val="FFFFFF"/>
                </a:solidFill>
                <a:latin typeface="Arial"/>
                <a:ea typeface="Arial"/>
                <a:cs typeface="Arial"/>
              </a:defRPr>
            </a:lvl1pPr>
            <a:lvl2pPr algn="l">
              <a:defRPr sz="4500" b="1">
                <a:solidFill>
                  <a:srgbClr val="FFFFFF"/>
                </a:solidFill>
                <a:latin typeface="Arial"/>
                <a:ea typeface="Arial"/>
                <a:cs typeface="Arial"/>
              </a:defRPr>
            </a:lvl2pPr>
            <a:lvl3pPr algn="l">
              <a:defRPr sz="4500" b="1">
                <a:solidFill>
                  <a:srgbClr val="FFFFFF"/>
                </a:solidFill>
                <a:latin typeface="Arial"/>
                <a:ea typeface="Arial"/>
                <a:cs typeface="Arial"/>
              </a:defRPr>
            </a:lvl3pPr>
            <a:lvl4pPr algn="l">
              <a:defRPr sz="4500" b="1">
                <a:solidFill>
                  <a:srgbClr val="FFFFFF"/>
                </a:solidFill>
                <a:latin typeface="Arial"/>
                <a:ea typeface="Arial"/>
                <a:cs typeface="Arial"/>
              </a:defRPr>
            </a:lvl4pPr>
            <a:lvl5pPr algn="l">
              <a:defRPr sz="4500" b="1">
                <a:solidFill>
                  <a:srgbClr val="FFFFFF"/>
                </a:solidFill>
                <a:latin typeface="Arial"/>
                <a:ea typeface="Arial"/>
                <a:cs typeface="Arial"/>
              </a:defRPr>
            </a:lvl5pPr>
            <a:lvl6pPr algn="l">
              <a:defRPr sz="4500" b="1">
                <a:solidFill>
                  <a:srgbClr val="FFFFFF"/>
                </a:solidFill>
                <a:latin typeface="Arial"/>
                <a:ea typeface="Arial"/>
                <a:cs typeface="Arial"/>
              </a:defRPr>
            </a:lvl6pPr>
            <a:lvl7pPr algn="l">
              <a:defRPr sz="4500" b="1">
                <a:solidFill>
                  <a:srgbClr val="FFFFFF"/>
                </a:solidFill>
                <a:latin typeface="Arial"/>
                <a:ea typeface="Arial"/>
                <a:cs typeface="Arial"/>
              </a:defRPr>
            </a:lvl7pPr>
            <a:lvl8pPr algn="l">
              <a:defRPr sz="4500" b="1">
                <a:solidFill>
                  <a:srgbClr val="FFFFFF"/>
                </a:solidFill>
                <a:latin typeface="Arial"/>
                <a:ea typeface="Arial"/>
                <a:cs typeface="Arial"/>
              </a:defRPr>
            </a:lvl8pPr>
            <a:lvl9pPr algn="l">
              <a:defRPr sz="4500" b="1">
                <a:solidFill>
                  <a:srgbClr val="FFFFFF"/>
                </a:solidFill>
                <a:latin typeface="Arial"/>
                <a:ea typeface="Arial"/>
                <a:cs typeface="Arial"/>
              </a:defRPr>
            </a:lvl9pPr>
          </a:lstStyle>
          <a:p>
            <a:pPr algn="l">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Modeling and</a:t>
            </a:r>
          </a:p>
          <a:p>
            <a:pPr algn="l">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simulation of</a:t>
            </a:r>
          </a:p>
          <a:p>
            <a:pPr algn="l">
              <a:lnSpc>
                <a:spcPct val="110000"/>
              </a:lnSpc>
              <a:buNone/>
              <a:defRPr sz="4500" b="1">
                <a:solidFill>
                  <a:srgbClr val="FFFFFF"/>
                </a:solidFill>
                <a:latin typeface="Arial"/>
                <a:ea typeface="Arial"/>
                <a:cs typeface="Arial"/>
              </a:defRPr>
            </a:pPr>
            <a:r>
              <a:rPr sz="4500" b="1">
                <a:solidFill>
                  <a:srgbClr val="FFFFFF"/>
                </a:solidFill>
                <a:latin typeface="Arial"/>
                <a:ea typeface="Arial"/>
                <a:cs typeface="Arial"/>
              </a:rPr>
              <a:t>a rocket</a:t>
            </a:r>
          </a:p>
        </p:txBody>
      </p:sp>
      <p:sp>
        <p:nvSpPr>
          <p:cNvPr id="5" name="Estabilidad, acoplamiento&#10;y selección de gananci">
            <a:extLst>
              <a:ext uri="{FF2B5EF4-FFF2-40B4-BE49-F238E27FC236}">
                <a16:creationId xmlns:a16="http://schemas.microsoft.com/office/drawing/2014/main" id="{FEABCDDF-18D1-4630-A22C-FC0F54ACA652}"/>
              </a:ext>
            </a:extLst>
          </p:cNvPr>
          <p:cNvSpPr>
            <a:spLocks noGrp="1"/>
          </p:cNvSpPr>
          <p:nvPr/>
        </p:nvSpPr>
        <p:spPr>
          <a:xfrm>
            <a:off x="590550" y="4048125"/>
            <a:ext cx="5905500" cy="857250"/>
          </a:xfrm>
          <a:prstGeom prst="rect">
            <a:avLst/>
          </a:prstGeom>
          <a:noFill/>
          <a:ln w="0">
            <a:noFill/>
          </a:ln>
        </p:spPr>
        <p:txBody>
          <a:bodyPr lIns="0" tIns="0" rIns="0" bIns="0" anchor="t">
            <a:noAutofit/>
          </a:bodyPr>
          <a:lstStyle>
            <a:defPPr algn="l">
              <a:defRPr sz="2325" b="0">
                <a:solidFill>
                  <a:srgbClr val="E7B590"/>
                </a:solidFill>
                <a:latin typeface="Arial"/>
                <a:ea typeface="Arial"/>
                <a:cs typeface="Arial"/>
              </a:defRPr>
            </a:defPPr>
            <a:lvl1pPr algn="l">
              <a:defRPr sz="2325" b="0">
                <a:solidFill>
                  <a:srgbClr val="E7B590"/>
                </a:solidFill>
                <a:latin typeface="Arial"/>
                <a:ea typeface="Arial"/>
                <a:cs typeface="Arial"/>
              </a:defRPr>
            </a:lvl1pPr>
            <a:lvl2pPr algn="l">
              <a:defRPr sz="2325" b="0">
                <a:solidFill>
                  <a:srgbClr val="E7B590"/>
                </a:solidFill>
                <a:latin typeface="Arial"/>
                <a:ea typeface="Arial"/>
                <a:cs typeface="Arial"/>
              </a:defRPr>
            </a:lvl2pPr>
            <a:lvl3pPr algn="l">
              <a:defRPr sz="2325" b="0">
                <a:solidFill>
                  <a:srgbClr val="E7B590"/>
                </a:solidFill>
                <a:latin typeface="Arial"/>
                <a:ea typeface="Arial"/>
                <a:cs typeface="Arial"/>
              </a:defRPr>
            </a:lvl3pPr>
            <a:lvl4pPr algn="l">
              <a:defRPr sz="2325" b="0">
                <a:solidFill>
                  <a:srgbClr val="E7B590"/>
                </a:solidFill>
                <a:latin typeface="Arial"/>
                <a:ea typeface="Arial"/>
                <a:cs typeface="Arial"/>
              </a:defRPr>
            </a:lvl4pPr>
            <a:lvl5pPr algn="l">
              <a:defRPr sz="2325" b="0">
                <a:solidFill>
                  <a:srgbClr val="E7B590"/>
                </a:solidFill>
                <a:latin typeface="Arial"/>
                <a:ea typeface="Arial"/>
                <a:cs typeface="Arial"/>
              </a:defRPr>
            </a:lvl5pPr>
            <a:lvl6pPr algn="l">
              <a:defRPr sz="2325" b="0">
                <a:solidFill>
                  <a:srgbClr val="E7B590"/>
                </a:solidFill>
                <a:latin typeface="Arial"/>
                <a:ea typeface="Arial"/>
                <a:cs typeface="Arial"/>
              </a:defRPr>
            </a:lvl6pPr>
            <a:lvl7pPr algn="l">
              <a:defRPr sz="2325" b="0">
                <a:solidFill>
                  <a:srgbClr val="E7B590"/>
                </a:solidFill>
                <a:latin typeface="Arial"/>
                <a:ea typeface="Arial"/>
                <a:cs typeface="Arial"/>
              </a:defRPr>
            </a:lvl7pPr>
            <a:lvl8pPr algn="l">
              <a:defRPr sz="2325" b="0">
                <a:solidFill>
                  <a:srgbClr val="E7B590"/>
                </a:solidFill>
                <a:latin typeface="Arial"/>
                <a:ea typeface="Arial"/>
                <a:cs typeface="Arial"/>
              </a:defRPr>
            </a:lvl8pPr>
            <a:lvl9pPr algn="l">
              <a:defRPr sz="2325" b="0">
                <a:solidFill>
                  <a:srgbClr val="E7B590"/>
                </a:solidFill>
                <a:latin typeface="Arial"/>
                <a:ea typeface="Arial"/>
                <a:cs typeface="Arial"/>
              </a:defRPr>
            </a:lvl9pPr>
          </a:lstStyle>
          <a:p>
            <a:pPr algn="l">
              <a:lnSpc>
                <a:spcPct val="110000"/>
              </a:lnSpc>
              <a:buNone/>
              <a:defRPr sz="2325" b="0">
                <a:solidFill>
                  <a:srgbClr val="E7B590"/>
                </a:solidFill>
                <a:latin typeface="Arial"/>
                <a:ea typeface="Arial"/>
                <a:cs typeface="Arial"/>
              </a:defRPr>
            </a:pPr>
            <a:r>
              <a:rPr sz="2325" b="0">
                <a:solidFill>
                  <a:srgbClr val="E7B590"/>
                </a:solidFill>
                <a:latin typeface="Arial"/>
                <a:ea typeface="Arial"/>
                <a:cs typeface="Arial"/>
              </a:rPr>
              <a:t>Stability, coupling</a:t>
            </a:r>
          </a:p>
          <a:p>
            <a:pPr algn="l">
              <a:lnSpc>
                <a:spcPct val="110000"/>
              </a:lnSpc>
              <a:buNone/>
              <a:defRPr sz="2325" b="0">
                <a:solidFill>
                  <a:srgbClr val="E7B590"/>
                </a:solidFill>
                <a:latin typeface="Arial"/>
                <a:ea typeface="Arial"/>
                <a:cs typeface="Arial"/>
              </a:defRPr>
            </a:pPr>
            <a:r>
              <a:rPr sz="2325" b="0">
                <a:solidFill>
                  <a:srgbClr val="E7B590"/>
                </a:solidFill>
                <a:latin typeface="Arial"/>
                <a:ea typeface="Arial"/>
                <a:cs typeface="Arial"/>
              </a:rPr>
              <a:t>and gain selection</a:t>
            </a:r>
          </a:p>
        </p:txBody>
      </p:sp>
      <p:sp>
        <p:nvSpPr>
          <p:cNvPr id="6" name="José Barreno · Luis Guzmán&#10;Byron García · José R">
            <a:extLst>
              <a:ext uri="{FF2B5EF4-FFF2-40B4-BE49-F238E27FC236}">
                <a16:creationId xmlns:a16="http://schemas.microsoft.com/office/drawing/2014/main" id="{B50C66BB-7DDC-4F98-8912-9255E3A089DE}"/>
              </a:ext>
            </a:extLst>
          </p:cNvPr>
          <p:cNvSpPr>
            <a:spLocks noGrp="1"/>
          </p:cNvSpPr>
          <p:nvPr/>
        </p:nvSpPr>
        <p:spPr>
          <a:xfrm>
            <a:off x="590550" y="5219700"/>
            <a:ext cx="6048375" cy="685800"/>
          </a:xfrm>
          <a:prstGeom prst="rect">
            <a:avLst/>
          </a:prstGeom>
          <a:noFill/>
          <a:ln w="0">
            <a:noFill/>
          </a:ln>
        </p:spPr>
        <p:txBody>
          <a:bodyPr lIns="0" tIns="0" rIns="0" bIns="0" anchor="t">
            <a:noAutofit/>
          </a:bodyPr>
          <a:lstStyle>
            <a:defPPr algn="l">
              <a:defRPr sz="1800" b="0">
                <a:solidFill>
                  <a:srgbClr val="FFFFFF"/>
                </a:solidFill>
                <a:latin typeface="Arial"/>
                <a:ea typeface="Arial"/>
                <a:cs typeface="Arial"/>
              </a:defRPr>
            </a:defPPr>
            <a:lvl1pPr algn="l">
              <a:defRPr sz="1800" b="0">
                <a:solidFill>
                  <a:srgbClr val="FFFFFF"/>
                </a:solidFill>
                <a:latin typeface="Arial"/>
                <a:ea typeface="Arial"/>
                <a:cs typeface="Arial"/>
              </a:defRPr>
            </a:lvl1pPr>
            <a:lvl2pPr algn="l">
              <a:defRPr sz="1800" b="0">
                <a:solidFill>
                  <a:srgbClr val="FFFFFF"/>
                </a:solidFill>
                <a:latin typeface="Arial"/>
                <a:ea typeface="Arial"/>
                <a:cs typeface="Arial"/>
              </a:defRPr>
            </a:lvl2pPr>
            <a:lvl3pPr algn="l">
              <a:defRPr sz="1800" b="0">
                <a:solidFill>
                  <a:srgbClr val="FFFFFF"/>
                </a:solidFill>
                <a:latin typeface="Arial"/>
                <a:ea typeface="Arial"/>
                <a:cs typeface="Arial"/>
              </a:defRPr>
            </a:lvl3pPr>
            <a:lvl4pPr algn="l">
              <a:defRPr sz="1800" b="0">
                <a:solidFill>
                  <a:srgbClr val="FFFFFF"/>
                </a:solidFill>
                <a:latin typeface="Arial"/>
                <a:ea typeface="Arial"/>
                <a:cs typeface="Arial"/>
              </a:defRPr>
            </a:lvl4pPr>
            <a:lvl5pPr algn="l">
              <a:defRPr sz="1800" b="0">
                <a:solidFill>
                  <a:srgbClr val="FFFFFF"/>
                </a:solidFill>
                <a:latin typeface="Arial"/>
                <a:ea typeface="Arial"/>
                <a:cs typeface="Arial"/>
              </a:defRPr>
            </a:lvl5pPr>
            <a:lvl6pPr algn="l">
              <a:defRPr sz="1800" b="0">
                <a:solidFill>
                  <a:srgbClr val="FFFFFF"/>
                </a:solidFill>
                <a:latin typeface="Arial"/>
                <a:ea typeface="Arial"/>
                <a:cs typeface="Arial"/>
              </a:defRPr>
            </a:lvl6pPr>
            <a:lvl7pPr algn="l">
              <a:defRPr sz="1800" b="0">
                <a:solidFill>
                  <a:srgbClr val="FFFFFF"/>
                </a:solidFill>
                <a:latin typeface="Arial"/>
                <a:ea typeface="Arial"/>
                <a:cs typeface="Arial"/>
              </a:defRPr>
            </a:lvl7pPr>
            <a:lvl8pPr algn="l">
              <a:defRPr sz="1800" b="0">
                <a:solidFill>
                  <a:srgbClr val="FFFFFF"/>
                </a:solidFill>
                <a:latin typeface="Arial"/>
                <a:ea typeface="Arial"/>
                <a:cs typeface="Arial"/>
              </a:defRPr>
            </a:lvl8pPr>
            <a:lvl9pPr algn="l">
              <a:defRPr sz="1800" b="0">
                <a:solidFill>
                  <a:srgbClr val="FFFFFF"/>
                </a:solidFill>
                <a:latin typeface="Arial"/>
                <a:ea typeface="Arial"/>
                <a:cs typeface="Arial"/>
              </a:defRPr>
            </a:lvl9pPr>
          </a:lstStyle>
          <a:p>
            <a:pPr algn="l">
              <a:lnSpc>
                <a:spcPct val="110000"/>
              </a:lnSpc>
              <a:buNone/>
              <a:defRPr sz="1800" b="0">
                <a:solidFill>
                  <a:srgbClr val="FFFFFF"/>
                </a:solidFill>
                <a:latin typeface="Arial"/>
                <a:ea typeface="Arial"/>
                <a:cs typeface="Arial"/>
              </a:defRPr>
            </a:pPr>
            <a:r>
              <a:rPr sz="1800" b="0">
                <a:solidFill>
                  <a:srgbClr val="FFFFFF"/>
                </a:solidFill>
                <a:latin typeface="Arial"/>
                <a:ea typeface="Arial"/>
                <a:cs typeface="Arial"/>
              </a:rPr>
              <a:t>José Barreno · Luis Guzmán</a:t>
            </a:r>
          </a:p>
          <a:p>
            <a:pPr algn="l">
              <a:lnSpc>
                <a:spcPct val="110000"/>
              </a:lnSpc>
              <a:buNone/>
              <a:defRPr sz="1800" b="0">
                <a:solidFill>
                  <a:srgbClr val="FFFFFF"/>
                </a:solidFill>
                <a:latin typeface="Arial"/>
                <a:ea typeface="Arial"/>
                <a:cs typeface="Arial"/>
              </a:defRPr>
            </a:pPr>
            <a:r>
              <a:rPr sz="1800" b="0">
                <a:solidFill>
                  <a:srgbClr val="FFFFFF"/>
                </a:solidFill>
                <a:latin typeface="Arial"/>
                <a:ea typeface="Arial"/>
                <a:cs typeface="Arial"/>
              </a:rPr>
              <a:t>Byron García · José Rivera</a:t>
            </a:r>
          </a:p>
        </p:txBody>
      </p:sp>
      <p:sp>
        <p:nvSpPr>
          <p:cNvPr id="7" name="Teoría de Sistemas II">
            <a:extLst>
              <a:ext uri="{FF2B5EF4-FFF2-40B4-BE49-F238E27FC236}">
                <a16:creationId xmlns:a16="http://schemas.microsoft.com/office/drawing/2014/main" id="{19E9F587-C6C5-4C4B-8225-1860582A47C8}"/>
              </a:ext>
            </a:extLst>
          </p:cNvPr>
          <p:cNvSpPr>
            <a:spLocks noGrp="1"/>
          </p:cNvSpPr>
          <p:nvPr/>
        </p:nvSpPr>
        <p:spPr>
          <a:xfrm>
            <a:off x="590550" y="6257925"/>
            <a:ext cx="5429250" cy="285750"/>
          </a:xfrm>
          <a:prstGeom prst="rect">
            <a:avLst/>
          </a:prstGeom>
          <a:noFill/>
          <a:ln w="0">
            <a:noFill/>
          </a:ln>
        </p:spPr>
        <p:txBody>
          <a:bodyPr lIns="0" tIns="0" rIns="0" bIns="0" anchor="t">
            <a:noAutofit/>
          </a:bodyPr>
          <a:lstStyle>
            <a:defPPr algn="l">
              <a:defRPr sz="1575" b="0">
                <a:solidFill>
                  <a:srgbClr val="C6D2DC"/>
                </a:solidFill>
                <a:latin typeface="Arial"/>
                <a:ea typeface="Arial"/>
                <a:cs typeface="Arial"/>
              </a:defRPr>
            </a:defPPr>
            <a:lvl1pPr algn="l">
              <a:defRPr sz="1575" b="0">
                <a:solidFill>
                  <a:srgbClr val="C6D2DC"/>
                </a:solidFill>
                <a:latin typeface="Arial"/>
                <a:ea typeface="Arial"/>
                <a:cs typeface="Arial"/>
              </a:defRPr>
            </a:lvl1pPr>
            <a:lvl2pPr algn="l">
              <a:defRPr sz="1575" b="0">
                <a:solidFill>
                  <a:srgbClr val="C6D2DC"/>
                </a:solidFill>
                <a:latin typeface="Arial"/>
                <a:ea typeface="Arial"/>
                <a:cs typeface="Arial"/>
              </a:defRPr>
            </a:lvl2pPr>
            <a:lvl3pPr algn="l">
              <a:defRPr sz="1575" b="0">
                <a:solidFill>
                  <a:srgbClr val="C6D2DC"/>
                </a:solidFill>
                <a:latin typeface="Arial"/>
                <a:ea typeface="Arial"/>
                <a:cs typeface="Arial"/>
              </a:defRPr>
            </a:lvl3pPr>
            <a:lvl4pPr algn="l">
              <a:defRPr sz="1575" b="0">
                <a:solidFill>
                  <a:srgbClr val="C6D2DC"/>
                </a:solidFill>
                <a:latin typeface="Arial"/>
                <a:ea typeface="Arial"/>
                <a:cs typeface="Arial"/>
              </a:defRPr>
            </a:lvl4pPr>
            <a:lvl5pPr algn="l">
              <a:defRPr sz="1575" b="0">
                <a:solidFill>
                  <a:srgbClr val="C6D2DC"/>
                </a:solidFill>
                <a:latin typeface="Arial"/>
                <a:ea typeface="Arial"/>
                <a:cs typeface="Arial"/>
              </a:defRPr>
            </a:lvl5pPr>
            <a:lvl6pPr algn="l">
              <a:defRPr sz="1575" b="0">
                <a:solidFill>
                  <a:srgbClr val="C6D2DC"/>
                </a:solidFill>
                <a:latin typeface="Arial"/>
                <a:ea typeface="Arial"/>
                <a:cs typeface="Arial"/>
              </a:defRPr>
            </a:lvl6pPr>
            <a:lvl7pPr algn="l">
              <a:defRPr sz="1575" b="0">
                <a:solidFill>
                  <a:srgbClr val="C6D2DC"/>
                </a:solidFill>
                <a:latin typeface="Arial"/>
                <a:ea typeface="Arial"/>
                <a:cs typeface="Arial"/>
              </a:defRPr>
            </a:lvl7pPr>
            <a:lvl8pPr algn="l">
              <a:defRPr sz="1575" b="0">
                <a:solidFill>
                  <a:srgbClr val="C6D2DC"/>
                </a:solidFill>
                <a:latin typeface="Arial"/>
                <a:ea typeface="Arial"/>
                <a:cs typeface="Arial"/>
              </a:defRPr>
            </a:lvl8pPr>
            <a:lvl9pPr algn="l">
              <a:defRPr sz="1575" b="0">
                <a:solidFill>
                  <a:srgbClr val="C6D2DC"/>
                </a:solidFill>
                <a:latin typeface="Arial"/>
                <a:ea typeface="Arial"/>
                <a:cs typeface="Arial"/>
              </a:defRPr>
            </a:lvl9pPr>
          </a:lstStyle>
          <a:p>
            <a:pPr algn="l">
              <a:lnSpc>
                <a:spcPct val="110000"/>
              </a:lnSpc>
              <a:buNone/>
              <a:defRPr sz="1575" b="0">
                <a:solidFill>
                  <a:srgbClr val="C6D2DC"/>
                </a:solidFill>
                <a:latin typeface="Arial"/>
                <a:ea typeface="Arial"/>
                <a:cs typeface="Arial"/>
              </a:defRPr>
            </a:pPr>
            <a:r>
              <a:rPr sz="1575" b="0">
                <a:solidFill>
                  <a:srgbClr val="C6D2DC"/>
                </a:solidFill>
                <a:latin typeface="Arial"/>
                <a:ea typeface="Arial"/>
                <a:cs typeface="Arial"/>
              </a:rPr>
              <a:t>Systems Theory II</a:t>
            </a:r>
          </a:p>
        </p:txBody>
      </p:sp>
    </p:spTree>
    <p:extLst>
      <p:ext uri="{BB962C8B-B14F-4D97-AF65-F5344CB8AC3E}">
        <p14:creationId xmlns:p14="http://schemas.microsoft.com/office/powerpoint/2010/main" val="1743189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l problema físico">
            <a:extLst>
              <a:ext uri="{FF2B5EF4-FFF2-40B4-BE49-F238E27FC236}">
                <a16:creationId xmlns:a16="http://schemas.microsoft.com/office/drawing/2014/main" id="{55EFC9AF-5C45-4477-898B-3DBFA2866DF1}"/>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The physical problem</a:t>
            </a:r>
          </a:p>
        </p:txBody>
      </p:sp>
      <p:sp>
        <p:nvSpPr>
          <p:cNvPr id="3" name="02 / 16">
            <a:extLst>
              <a:ext uri="{FF2B5EF4-FFF2-40B4-BE49-F238E27FC236}">
                <a16:creationId xmlns:a16="http://schemas.microsoft.com/office/drawing/2014/main" id="{22E2585A-B250-4A16-984C-27A629E3BFC0}"/>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02 / 19</a:t>
            </a:r>
          </a:p>
        </p:txBody>
      </p:sp>
      <p:sp>
        <p:nvSpPr>
          <p:cNvPr id="4" name="Acelerar y apuntar al mismo tiempo">
            <a:extLst>
              <a:ext uri="{FF2B5EF4-FFF2-40B4-BE49-F238E27FC236}">
                <a16:creationId xmlns:a16="http://schemas.microsoft.com/office/drawing/2014/main" id="{AE23E9EB-C95A-434B-BAFE-F530725420F3}"/>
              </a:ext>
            </a:extLst>
          </p:cNvPr>
          <p:cNvSpPr>
            <a:spLocks noGrp="1"/>
          </p:cNvSpPr>
          <p:nvPr/>
        </p:nvSpPr>
        <p:spPr>
          <a:xfrm>
            <a:off x="590550" y="1409700"/>
            <a:ext cx="6953250" cy="590550"/>
          </a:xfrm>
          <a:prstGeom prst="rect">
            <a:avLst/>
          </a:prstGeom>
          <a:noFill/>
          <a:ln w="0">
            <a:noFill/>
          </a:ln>
        </p:spPr>
        <p:txBody>
          <a:bodyPr lIns="0" tIns="0" rIns="0" bIns="0" anchor="t">
            <a:noAutofit/>
          </a:bodyPr>
          <a:lstStyle>
            <a:defPPr algn="l">
              <a:defRPr sz="2625" b="1">
                <a:solidFill>
                  <a:srgbClr val="087E8B"/>
                </a:solidFill>
                <a:latin typeface="Arial"/>
                <a:ea typeface="Arial"/>
                <a:cs typeface="Arial"/>
              </a:defRPr>
            </a:defPPr>
            <a:lvl1pPr algn="l">
              <a:defRPr sz="2625" b="1">
                <a:solidFill>
                  <a:srgbClr val="087E8B"/>
                </a:solidFill>
                <a:latin typeface="Arial"/>
                <a:ea typeface="Arial"/>
                <a:cs typeface="Arial"/>
              </a:defRPr>
            </a:lvl1pPr>
            <a:lvl2pPr algn="l">
              <a:defRPr sz="2625" b="1">
                <a:solidFill>
                  <a:srgbClr val="087E8B"/>
                </a:solidFill>
                <a:latin typeface="Arial"/>
                <a:ea typeface="Arial"/>
                <a:cs typeface="Arial"/>
              </a:defRPr>
            </a:lvl2pPr>
            <a:lvl3pPr algn="l">
              <a:defRPr sz="2625" b="1">
                <a:solidFill>
                  <a:srgbClr val="087E8B"/>
                </a:solidFill>
                <a:latin typeface="Arial"/>
                <a:ea typeface="Arial"/>
                <a:cs typeface="Arial"/>
              </a:defRPr>
            </a:lvl3pPr>
            <a:lvl4pPr algn="l">
              <a:defRPr sz="2625" b="1">
                <a:solidFill>
                  <a:srgbClr val="087E8B"/>
                </a:solidFill>
                <a:latin typeface="Arial"/>
                <a:ea typeface="Arial"/>
                <a:cs typeface="Arial"/>
              </a:defRPr>
            </a:lvl4pPr>
            <a:lvl5pPr algn="l">
              <a:defRPr sz="2625" b="1">
                <a:solidFill>
                  <a:srgbClr val="087E8B"/>
                </a:solidFill>
                <a:latin typeface="Arial"/>
                <a:ea typeface="Arial"/>
                <a:cs typeface="Arial"/>
              </a:defRPr>
            </a:lvl5pPr>
            <a:lvl6pPr algn="l">
              <a:defRPr sz="2625" b="1">
                <a:solidFill>
                  <a:srgbClr val="087E8B"/>
                </a:solidFill>
                <a:latin typeface="Arial"/>
                <a:ea typeface="Arial"/>
                <a:cs typeface="Arial"/>
              </a:defRPr>
            </a:lvl6pPr>
            <a:lvl7pPr algn="l">
              <a:defRPr sz="2625" b="1">
                <a:solidFill>
                  <a:srgbClr val="087E8B"/>
                </a:solidFill>
                <a:latin typeface="Arial"/>
                <a:ea typeface="Arial"/>
                <a:cs typeface="Arial"/>
              </a:defRPr>
            </a:lvl7pPr>
            <a:lvl8pPr algn="l">
              <a:defRPr sz="2625" b="1">
                <a:solidFill>
                  <a:srgbClr val="087E8B"/>
                </a:solidFill>
                <a:latin typeface="Arial"/>
                <a:ea typeface="Arial"/>
                <a:cs typeface="Arial"/>
              </a:defRPr>
            </a:lvl8pPr>
            <a:lvl9pPr algn="l">
              <a:defRPr sz="2625" b="1">
                <a:solidFill>
                  <a:srgbClr val="087E8B"/>
                </a:solidFill>
                <a:latin typeface="Arial"/>
                <a:ea typeface="Arial"/>
                <a:cs typeface="Arial"/>
              </a:defRPr>
            </a:lvl9pPr>
          </a:lstStyle>
          <a:p>
            <a:pPr algn="l">
              <a:lnSpc>
                <a:spcPct val="110000"/>
              </a:lnSpc>
              <a:buNone/>
              <a:defRPr sz="2625" b="1">
                <a:solidFill>
                  <a:srgbClr val="087E8B"/>
                </a:solidFill>
                <a:latin typeface="Arial"/>
                <a:ea typeface="Arial"/>
                <a:cs typeface="Arial"/>
              </a:defRPr>
            </a:pPr>
            <a:r>
              <a:rPr sz="2625" b="1">
                <a:solidFill>
                  <a:srgbClr val="087E8B"/>
                </a:solidFill>
                <a:latin typeface="Arial"/>
                <a:ea typeface="Arial"/>
                <a:cs typeface="Arial"/>
              </a:rPr>
              <a:t>Accelerating while controlling attitude</a:t>
            </a:r>
          </a:p>
        </p:txBody>
      </p:sp>
      <p:sp>
        <p:nvSpPr>
          <p:cNvPr id="5" name="Dos comandos: aceleración axial y cabeceo">
            <a:extLst>
              <a:ext uri="{FF2B5EF4-FFF2-40B4-BE49-F238E27FC236}">
                <a16:creationId xmlns:a16="http://schemas.microsoft.com/office/drawing/2014/main" id="{A558F1CB-93E5-44BD-BE89-036F1FA0EC50}"/>
              </a:ext>
            </a:extLst>
          </p:cNvPr>
          <p:cNvSpPr>
            <a:spLocks noGrp="1"/>
          </p:cNvSpPr>
          <p:nvPr/>
        </p:nvSpPr>
        <p:spPr>
          <a:xfrm>
            <a:off x="590550" y="2381250"/>
            <a:ext cx="6905625" cy="847725"/>
          </a:xfrm>
          <a:prstGeom prst="rect">
            <a:avLst/>
          </a:prstGeom>
          <a:noFill/>
          <a:ln w="0">
            <a:noFill/>
          </a:ln>
        </p:spPr>
        <p:txBody>
          <a:bodyPr lIns="0" tIns="0" rIns="0" bIns="0" anchor="t">
            <a:noAutofit/>
          </a:bodyPr>
          <a:lstStyle>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Two commands: axial acceleration and pitch</a:t>
            </a:r>
          </a:p>
        </p:txBody>
      </p:sp>
      <p:sp>
        <p:nvSpPr>
          <p:cNvPr id="6" name="Dos salidas principales: a y θ">
            <a:extLst>
              <a:ext uri="{FF2B5EF4-FFF2-40B4-BE49-F238E27FC236}">
                <a16:creationId xmlns:a16="http://schemas.microsoft.com/office/drawing/2014/main" id="{4E3A38D5-BBBA-4C56-82F5-8631B7B5EA0D}"/>
              </a:ext>
            </a:extLst>
          </p:cNvPr>
          <p:cNvSpPr>
            <a:spLocks noGrp="1"/>
          </p:cNvSpPr>
          <p:nvPr/>
        </p:nvSpPr>
        <p:spPr>
          <a:xfrm>
            <a:off x="590550" y="3381375"/>
            <a:ext cx="6905625" cy="847725"/>
          </a:xfrm>
          <a:prstGeom prst="rect">
            <a:avLst/>
          </a:prstGeom>
          <a:noFill/>
          <a:ln w="0">
            <a:noFill/>
          </a:ln>
        </p:spPr>
        <p:txBody>
          <a:bodyPr lIns="0" tIns="0" rIns="0" bIns="0" anchor="t">
            <a:noAutofit/>
          </a:bodyPr>
          <a:lstStyle>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Two main outputs: a and θ</a:t>
            </a:r>
          </a:p>
        </p:txBody>
      </p:sp>
      <p:sp>
        <p:nvSpPr>
          <p:cNvPr id="7" name="Cada comando también afecta al otro canal">
            <a:extLst>
              <a:ext uri="{FF2B5EF4-FFF2-40B4-BE49-F238E27FC236}">
                <a16:creationId xmlns:a16="http://schemas.microsoft.com/office/drawing/2014/main" id="{F9D0DB72-55BB-415C-B555-465C031C78EC}"/>
              </a:ext>
            </a:extLst>
          </p:cNvPr>
          <p:cNvSpPr>
            <a:spLocks noGrp="1"/>
          </p:cNvSpPr>
          <p:nvPr/>
        </p:nvSpPr>
        <p:spPr>
          <a:xfrm>
            <a:off x="590550" y="4381500"/>
            <a:ext cx="6905625" cy="847725"/>
          </a:xfrm>
          <a:prstGeom prst="rect">
            <a:avLst/>
          </a:prstGeom>
          <a:noFill/>
          <a:ln w="0">
            <a:noFill/>
          </a:ln>
        </p:spPr>
        <p:txBody>
          <a:bodyPr lIns="0" tIns="0" rIns="0" bIns="0" anchor="t">
            <a:noAutofit/>
          </a:bodyPr>
          <a:lstStyle>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Each command also affects the other channel</a:t>
            </a:r>
          </a:p>
        </p:txBody>
      </p:sp>
      <p:sp>
        <p:nvSpPr>
          <p:cNvPr id="8" name="Alcance: plano de cabeceo durante una ventana de">
            <a:extLst>
              <a:ext uri="{FF2B5EF4-FFF2-40B4-BE49-F238E27FC236}">
                <a16:creationId xmlns:a16="http://schemas.microsoft.com/office/drawing/2014/main" id="{F0A0DE00-13E7-4C54-8866-99BE26FE8813}"/>
              </a:ext>
            </a:extLst>
          </p:cNvPr>
          <p:cNvSpPr>
            <a:spLocks noGrp="1"/>
          </p:cNvSpPr>
          <p:nvPr/>
        </p:nvSpPr>
        <p:spPr>
          <a:xfrm>
            <a:off x="590550" y="5619750"/>
            <a:ext cx="6858000" cy="609600"/>
          </a:xfrm>
          <a:prstGeom prst="rect">
            <a:avLst/>
          </a:prstGeom>
          <a:noFill/>
          <a:ln w="0">
            <a:noFill/>
          </a:ln>
        </p:spPr>
        <p:txBody>
          <a:bodyPr lIns="0" tIns="0" rIns="0" bIns="0" anchor="t">
            <a:noAutofit/>
          </a:bodyPr>
          <a:lstStyle>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Scope: pitch motion during a short ascent interval</a:t>
            </a:r>
          </a:p>
        </p:txBody>
      </p:sp>
      <p:pic>
        <p:nvPicPr>
          <p:cNvPr id="9" name="Picture 8">
            <a:extLst>
              <a:ext uri="{FF2B5EF4-FFF2-40B4-BE49-F238E27FC236}">
                <a16:creationId xmlns:a16="http://schemas.microsoft.com/office/drawing/2014/main" id="{0BC2EF5C-EBAB-463C-A79B-5E1B9232D507}"/>
              </a:ext>
            </a:extLst>
          </p:cNvPr>
          <p:cNvPicPr>
            <a:picLocks noChangeAspect="1"/>
          </p:cNvPicPr>
          <p:nvPr/>
        </p:nvPicPr>
        <p:blipFill>
          <a:blip r:embed="rId3"/>
          <a:srcRect t="6500"/>
          <a:stretch/>
        </p:blipFill>
        <p:spPr>
          <a:xfrm>
            <a:off x="8143875" y="1612583"/>
            <a:ext cx="3048000" cy="4426268"/>
          </a:xfrm>
          <a:prstGeom prst="rect">
            <a:avLst/>
          </a:prstGeom>
        </p:spPr>
      </p:pic>
      <p:sp>
        <p:nvSpPr>
          <p:cNvPr id="10" name="Vertical reference">
            <a:extLst>
              <a:ext uri="{FF2B5EF4-FFF2-40B4-BE49-F238E27FC236}">
                <a16:creationId xmlns:a16="http://schemas.microsoft.com/office/drawing/2014/main" id="{0CE1FCF8-68E9-42F7-B7D1-208F031E36AA}"/>
              </a:ext>
            </a:extLst>
          </p:cNvPr>
          <p:cNvSpPr>
            <a:spLocks noGrp="1"/>
          </p:cNvSpPr>
          <p:nvPr/>
        </p:nvSpPr>
        <p:spPr>
          <a:xfrm>
            <a:off x="8143875" y="1304925"/>
            <a:ext cx="3048000" cy="266700"/>
          </a:xfrm>
          <a:prstGeom prst="rect">
            <a:avLst/>
          </a:prstGeom>
          <a:noFill/>
          <a:ln w="0">
            <a:noFill/>
          </a:ln>
        </p:spPr>
        <p:txBody>
          <a:bodyPr lIns="0" tIns="0" rIns="0" bIns="0" anchor="t">
            <a:noAutofit/>
          </a:bodyPr>
          <a:lstStyle>
            <a:defPPr algn="ctr">
              <a:defRPr sz="1350">
                <a:solidFill>
                  <a:srgbClr val="13283C"/>
                </a:solidFill>
                <a:latin typeface="Arial"/>
                <a:ea typeface="Arial"/>
                <a:cs typeface="Arial"/>
              </a:defRPr>
            </a:defPPr>
            <a:lvl1pPr algn="ctr">
              <a:defRPr sz="1350">
                <a:solidFill>
                  <a:srgbClr val="13283C"/>
                </a:solidFill>
                <a:latin typeface="Arial"/>
                <a:ea typeface="Arial"/>
                <a:cs typeface="Arial"/>
              </a:defRPr>
            </a:lvl1pPr>
            <a:lvl2pPr algn="ctr">
              <a:defRPr sz="1350">
                <a:solidFill>
                  <a:srgbClr val="13283C"/>
                </a:solidFill>
                <a:latin typeface="Arial"/>
                <a:ea typeface="Arial"/>
                <a:cs typeface="Arial"/>
              </a:defRPr>
            </a:lvl2pPr>
            <a:lvl3pPr algn="ctr">
              <a:defRPr sz="1350">
                <a:solidFill>
                  <a:srgbClr val="13283C"/>
                </a:solidFill>
                <a:latin typeface="Arial"/>
                <a:ea typeface="Arial"/>
                <a:cs typeface="Arial"/>
              </a:defRPr>
            </a:lvl3pPr>
            <a:lvl4pPr algn="ctr">
              <a:defRPr sz="1350">
                <a:solidFill>
                  <a:srgbClr val="13283C"/>
                </a:solidFill>
                <a:latin typeface="Arial"/>
                <a:ea typeface="Arial"/>
                <a:cs typeface="Arial"/>
              </a:defRPr>
            </a:lvl4pPr>
            <a:lvl5pPr algn="ctr">
              <a:defRPr sz="1350">
                <a:solidFill>
                  <a:srgbClr val="13283C"/>
                </a:solidFill>
                <a:latin typeface="Arial"/>
                <a:ea typeface="Arial"/>
                <a:cs typeface="Arial"/>
              </a:defRPr>
            </a:lvl5pPr>
            <a:lvl6pPr algn="ctr">
              <a:defRPr sz="1350">
                <a:solidFill>
                  <a:srgbClr val="13283C"/>
                </a:solidFill>
                <a:latin typeface="Arial"/>
                <a:ea typeface="Arial"/>
                <a:cs typeface="Arial"/>
              </a:defRPr>
            </a:lvl6pPr>
            <a:lvl7pPr algn="ctr">
              <a:defRPr sz="1350">
                <a:solidFill>
                  <a:srgbClr val="13283C"/>
                </a:solidFill>
                <a:latin typeface="Arial"/>
                <a:ea typeface="Arial"/>
                <a:cs typeface="Arial"/>
              </a:defRPr>
            </a:lvl7pPr>
            <a:lvl8pPr algn="ctr">
              <a:defRPr sz="1350">
                <a:solidFill>
                  <a:srgbClr val="13283C"/>
                </a:solidFill>
                <a:latin typeface="Arial"/>
                <a:ea typeface="Arial"/>
                <a:cs typeface="Arial"/>
              </a:defRPr>
            </a:lvl8pPr>
            <a:lvl9pPr algn="ctr">
              <a:defRPr sz="1350">
                <a:solidFill>
                  <a:srgbClr val="13283C"/>
                </a:solidFill>
                <a:latin typeface="Arial"/>
                <a:ea typeface="Arial"/>
                <a:cs typeface="Arial"/>
              </a:defRPr>
            </a:lvl9pPr>
          </a:lstStyle>
          <a:p>
            <a:pPr algn="ctr">
              <a:defRPr sz="1350">
                <a:solidFill>
                  <a:srgbClr val="13283C"/>
                </a:solidFill>
                <a:latin typeface="Arial"/>
                <a:ea typeface="Arial"/>
                <a:cs typeface="Arial"/>
              </a:defRPr>
            </a:pPr>
            <a:r>
              <a:rPr sz="1350">
                <a:solidFill>
                  <a:srgbClr val="13283C"/>
                </a:solidFill>
                <a:latin typeface="Arial"/>
                <a:ea typeface="Arial"/>
                <a:cs typeface="Arial"/>
              </a:rPr>
              <a:t>Vertical reference</a:t>
            </a:r>
          </a:p>
        </p:txBody>
      </p:sp>
    </p:spTree>
    <p:extLst>
      <p:ext uri="{BB962C8B-B14F-4D97-AF65-F5344CB8AC3E}">
        <p14:creationId xmlns:p14="http://schemas.microsoft.com/office/powerpoint/2010/main" val="2045269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odelo y variables">
            <a:extLst>
              <a:ext uri="{FF2B5EF4-FFF2-40B4-BE49-F238E27FC236}">
                <a16:creationId xmlns:a16="http://schemas.microsoft.com/office/drawing/2014/main" id="{06D2AA2C-F8FC-4DF0-816B-A142345C0BD3}"/>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Model and variables</a:t>
            </a:r>
          </a:p>
        </p:txBody>
      </p:sp>
      <p:sp>
        <p:nvSpPr>
          <p:cNvPr id="3" name="03 / 16">
            <a:extLst>
              <a:ext uri="{FF2B5EF4-FFF2-40B4-BE49-F238E27FC236}">
                <a16:creationId xmlns:a16="http://schemas.microsoft.com/office/drawing/2014/main" id="{E35D93D9-499F-4F0E-9C51-0B06F1A73718}"/>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03 / 19</a:t>
            </a:r>
          </a:p>
        </p:txBody>
      </p:sp>
      <p:sp>
        <p:nvSpPr>
          <p:cNvPr id="4" name="Cuatro estados para describir la dinámica">
            <a:extLst>
              <a:ext uri="{FF2B5EF4-FFF2-40B4-BE49-F238E27FC236}">
                <a16:creationId xmlns:a16="http://schemas.microsoft.com/office/drawing/2014/main" id="{47AC3FE9-B6A5-47D1-BCC6-3B48F0BE2900}"/>
              </a:ext>
            </a:extLst>
          </p:cNvPr>
          <p:cNvSpPr>
            <a:spLocks noGrp="1"/>
          </p:cNvSpPr>
          <p:nvPr/>
        </p:nvSpPr>
        <p:spPr>
          <a:xfrm>
            <a:off x="590550" y="1295400"/>
            <a:ext cx="10477500" cy="428625"/>
          </a:xfrm>
          <a:prstGeom prst="rect">
            <a:avLst/>
          </a:prstGeom>
          <a:noFill/>
          <a:ln w="0">
            <a:noFill/>
          </a:ln>
        </p:spPr>
        <p:txBody>
          <a:bodyPr lIns="0" tIns="0" rIns="0" bIns="0" anchor="t">
            <a:noAutofit/>
          </a:bodyPr>
          <a:lstStyle>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Four states describe the dynamics</a:t>
            </a:r>
          </a:p>
        </p:txBody>
      </p:sp>
      <p:graphicFrame>
        <p:nvGraphicFramePr>
          <p:cNvPr id="5" name="Table 4">
            <a:extLst>
              <a:ext uri="{FF2B5EF4-FFF2-40B4-BE49-F238E27FC236}">
                <a16:creationId xmlns:a16="http://schemas.microsoft.com/office/drawing/2014/main" id="{7D33B719-1395-4705-B022-6C8533743A4E}"/>
              </a:ext>
            </a:extLst>
          </p:cNvPr>
          <p:cNvGraphicFramePr/>
          <p:nvPr/>
        </p:nvGraphicFramePr>
        <p:xfrm>
          <a:off x="590550" y="2000250"/>
          <a:ext cx="5857875" cy="3333750"/>
        </p:xfrm>
        <a:graphic>
          <a:graphicData uri="http://schemas.openxmlformats.org/drawingml/2006/table">
            <a:tbl>
              <a:tblPr/>
              <a:tblGrid>
                <a:gridCol w="1190625">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666750">
                <a:tc>
                  <a:txBody>
                    <a:bodyPr/>
                    <a:lstStyle/>
                    <a:p>
                      <a:r>
                        <a:rPr sz="2025" b="1">
                          <a:solidFill>
                            <a:srgbClr val="FFFFFF"/>
                          </a:solidFill>
                          <a:latin typeface="Arial"/>
                          <a:ea typeface="Arial"/>
                          <a:cs typeface="Arial"/>
                        </a:rPr>
                        <a:t>State</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2025" b="1">
                          <a:solidFill>
                            <a:srgbClr val="FFFFFF"/>
                          </a:solidFill>
                          <a:latin typeface="Arial"/>
                          <a:ea typeface="Arial"/>
                          <a:cs typeface="Arial"/>
                        </a:rPr>
                        <a:t>Meaning</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666750">
                <a:tc>
                  <a:txBody>
                    <a:bodyPr/>
                    <a:lstStyle/>
                    <a:p>
                      <a:r>
                        <a:rPr sz="2025" b="0">
                          <a:solidFill>
                            <a:srgbClr val="13283C"/>
                          </a:solidFill>
                          <a:latin typeface="Arial"/>
                          <a:ea typeface="Arial"/>
                          <a:cs typeface="Arial"/>
                        </a:rPr>
                        <a:t>a</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2025" b="0">
                          <a:solidFill>
                            <a:srgbClr val="13283C"/>
                          </a:solidFill>
                          <a:latin typeface="Arial"/>
                          <a:ea typeface="Arial"/>
                          <a:cs typeface="Arial"/>
                        </a:rPr>
                        <a:t>Axial acceleration</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666750">
                <a:tc>
                  <a:txBody>
                    <a:bodyPr/>
                    <a:lstStyle/>
                    <a:p>
                      <a:r>
                        <a:rPr sz="2025" b="0">
                          <a:solidFill>
                            <a:srgbClr val="13283C"/>
                          </a:solidFill>
                          <a:latin typeface="Arial"/>
                          <a:ea typeface="Arial"/>
                          <a:cs typeface="Arial"/>
                        </a:rPr>
                        <a:t>θ</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2025" b="0">
                          <a:solidFill>
                            <a:srgbClr val="13283C"/>
                          </a:solidFill>
                          <a:latin typeface="Arial"/>
                          <a:ea typeface="Arial"/>
                          <a:cs typeface="Arial"/>
                        </a:rPr>
                        <a:t>Pitch angle</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666750">
                <a:tc>
                  <a:txBody>
                    <a:bodyPr/>
                    <a:lstStyle/>
                    <a:p>
                      <a:r>
                        <a:rPr sz="2025" b="0">
                          <a:solidFill>
                            <a:srgbClr val="13283C"/>
                          </a:solidFill>
                          <a:latin typeface="Arial"/>
                          <a:ea typeface="Arial"/>
                          <a:cs typeface="Arial"/>
                        </a:rPr>
                        <a:t>ω</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2025" b="0">
                          <a:solidFill>
                            <a:srgbClr val="13283C"/>
                          </a:solidFill>
                          <a:latin typeface="Arial"/>
                          <a:ea typeface="Arial"/>
                          <a:cs typeface="Arial"/>
                        </a:rPr>
                        <a:t>Angular rate</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r h="666750">
                <a:tc>
                  <a:txBody>
                    <a:bodyPr/>
                    <a:lstStyle/>
                    <a:p>
                      <a:r>
                        <a:rPr sz="2025" b="0">
                          <a:solidFill>
                            <a:srgbClr val="13283C"/>
                          </a:solidFill>
                          <a:latin typeface="Arial"/>
                          <a:ea typeface="Arial"/>
                          <a:cs typeface="Arial"/>
                        </a:rPr>
                        <a:t>δ</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2025" b="0">
                          <a:solidFill>
                            <a:srgbClr val="13283C"/>
                          </a:solidFill>
                          <a:latin typeface="Arial"/>
                          <a:ea typeface="Arial"/>
                          <a:cs typeface="Arial"/>
                        </a:rPr>
                        <a:t>Actual nozzle deflection</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4"/>
                  </a:ext>
                </a:extLst>
              </a:tr>
            </a:tbl>
          </a:graphicData>
        </a:graphic>
      </p:graphicFrame>
      <p:sp>
        <p:nvSpPr>
          <p:cNvPr id="6" name="dx/dt = Ax + Bu&#10;y = Cx">
            <a:extLst>
              <a:ext uri="{FF2B5EF4-FFF2-40B4-BE49-F238E27FC236}">
                <a16:creationId xmlns:a16="http://schemas.microsoft.com/office/drawing/2014/main" id="{F68B3962-78EF-4A16-8894-8315F9B2FE53}"/>
              </a:ext>
            </a:extLst>
          </p:cNvPr>
          <p:cNvSpPr>
            <a:spLocks noGrp="1"/>
          </p:cNvSpPr>
          <p:nvPr/>
        </p:nvSpPr>
        <p:spPr>
          <a:xfrm>
            <a:off x="7239000" y="2047875"/>
            <a:ext cx="4191000" cy="1143000"/>
          </a:xfrm>
          <a:prstGeom prst="rect">
            <a:avLst/>
          </a:prstGeom>
          <a:noFill/>
          <a:ln w="0">
            <a:noFill/>
          </a:ln>
        </p:spPr>
        <p:txBody>
          <a:bodyPr lIns="0" tIns="0" rIns="0" bIns="0" anchor="t">
            <a:noAutofit/>
          </a:bodyPr>
          <a:lstStyle>
            <a:defPPr algn="l">
              <a:defRPr sz="2775" b="1">
                <a:solidFill>
                  <a:srgbClr val="13283C"/>
                </a:solidFill>
                <a:latin typeface="Arial"/>
                <a:ea typeface="Arial"/>
                <a:cs typeface="Arial"/>
              </a:defRPr>
            </a:defPPr>
            <a:lvl1pPr algn="l">
              <a:defRPr sz="2775" b="1">
                <a:solidFill>
                  <a:srgbClr val="13283C"/>
                </a:solidFill>
                <a:latin typeface="Arial"/>
                <a:ea typeface="Arial"/>
                <a:cs typeface="Arial"/>
              </a:defRPr>
            </a:lvl1pPr>
            <a:lvl2pPr algn="l">
              <a:defRPr sz="2775" b="1">
                <a:solidFill>
                  <a:srgbClr val="13283C"/>
                </a:solidFill>
                <a:latin typeface="Arial"/>
                <a:ea typeface="Arial"/>
                <a:cs typeface="Arial"/>
              </a:defRPr>
            </a:lvl2pPr>
            <a:lvl3pPr algn="l">
              <a:defRPr sz="2775" b="1">
                <a:solidFill>
                  <a:srgbClr val="13283C"/>
                </a:solidFill>
                <a:latin typeface="Arial"/>
                <a:ea typeface="Arial"/>
                <a:cs typeface="Arial"/>
              </a:defRPr>
            </a:lvl3pPr>
            <a:lvl4pPr algn="l">
              <a:defRPr sz="2775" b="1">
                <a:solidFill>
                  <a:srgbClr val="13283C"/>
                </a:solidFill>
                <a:latin typeface="Arial"/>
                <a:ea typeface="Arial"/>
                <a:cs typeface="Arial"/>
              </a:defRPr>
            </a:lvl4pPr>
            <a:lvl5pPr algn="l">
              <a:defRPr sz="2775" b="1">
                <a:solidFill>
                  <a:srgbClr val="13283C"/>
                </a:solidFill>
                <a:latin typeface="Arial"/>
                <a:ea typeface="Arial"/>
                <a:cs typeface="Arial"/>
              </a:defRPr>
            </a:lvl5pPr>
            <a:lvl6pPr algn="l">
              <a:defRPr sz="2775" b="1">
                <a:solidFill>
                  <a:srgbClr val="13283C"/>
                </a:solidFill>
                <a:latin typeface="Arial"/>
                <a:ea typeface="Arial"/>
                <a:cs typeface="Arial"/>
              </a:defRPr>
            </a:lvl6pPr>
            <a:lvl7pPr algn="l">
              <a:defRPr sz="2775" b="1">
                <a:solidFill>
                  <a:srgbClr val="13283C"/>
                </a:solidFill>
                <a:latin typeface="Arial"/>
                <a:ea typeface="Arial"/>
                <a:cs typeface="Arial"/>
              </a:defRPr>
            </a:lvl7pPr>
            <a:lvl8pPr algn="l">
              <a:defRPr sz="2775" b="1">
                <a:solidFill>
                  <a:srgbClr val="13283C"/>
                </a:solidFill>
                <a:latin typeface="Arial"/>
                <a:ea typeface="Arial"/>
                <a:cs typeface="Arial"/>
              </a:defRPr>
            </a:lvl8pPr>
            <a:lvl9pPr algn="l">
              <a:defRPr sz="2775" b="1">
                <a:solidFill>
                  <a:srgbClr val="13283C"/>
                </a:solidFill>
                <a:latin typeface="Arial"/>
                <a:ea typeface="Arial"/>
                <a:cs typeface="Arial"/>
              </a:defRPr>
            </a:lvl9pPr>
          </a:lstStyle>
          <a:p>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dx/dt = Ax + Bu</a:t>
            </a:r>
          </a:p>
          <a:p>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y = Cx</a:t>
            </a:r>
          </a:p>
        </p:txBody>
      </p:sp>
      <p:sp>
        <p:nvSpPr>
          <p:cNvPr id="7" name="Ángulos pequeños&#10;Masa e inercia constantes&#10;Fusel">
            <a:extLst>
              <a:ext uri="{FF2B5EF4-FFF2-40B4-BE49-F238E27FC236}">
                <a16:creationId xmlns:a16="http://schemas.microsoft.com/office/drawing/2014/main" id="{FC176C29-C3D2-42EA-87B1-ECF98C373A12}"/>
              </a:ext>
            </a:extLst>
          </p:cNvPr>
          <p:cNvSpPr>
            <a:spLocks noGrp="1"/>
          </p:cNvSpPr>
          <p:nvPr/>
        </p:nvSpPr>
        <p:spPr>
          <a:xfrm>
            <a:off x="7239000" y="3667125"/>
            <a:ext cx="4286250" cy="1524000"/>
          </a:xfrm>
          <a:prstGeom prst="rect">
            <a:avLst/>
          </a:prstGeom>
          <a:noFill/>
          <a:ln w="0">
            <a:noFill/>
          </a:ln>
        </p:spPr>
        <p:txBody>
          <a:bodyPr lIns="0" tIns="0" rIns="0" bIns="0" anchor="t">
            <a:noAutofit/>
          </a:bodyPr>
          <a:lstStyle>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Small angles</a:t>
            </a:r>
          </a:p>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Constant mass and inertia</a:t>
            </a:r>
          </a:p>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Rigid vehicle</a:t>
            </a:r>
          </a:p>
        </p:txBody>
      </p:sp>
      <p:sp>
        <p:nvSpPr>
          <p:cNvPr id="8" name="Las constantes del motor y del servo representan">
            <a:extLst>
              <a:ext uri="{FF2B5EF4-FFF2-40B4-BE49-F238E27FC236}">
                <a16:creationId xmlns:a16="http://schemas.microsoft.com/office/drawing/2014/main" id="{07939C3A-9219-48D3-BFB0-B9A57A463CA1}"/>
              </a:ext>
            </a:extLst>
          </p:cNvPr>
          <p:cNvSpPr>
            <a:spLocks noGrp="1"/>
          </p:cNvSpPr>
          <p:nvPr/>
        </p:nvSpPr>
        <p:spPr>
          <a:xfrm>
            <a:off x="590550" y="5657850"/>
            <a:ext cx="10810875" cy="590550"/>
          </a:xfrm>
          <a:prstGeom prst="rect">
            <a:avLst/>
          </a:prstGeom>
          <a:noFill/>
          <a:ln w="0">
            <a:noFill/>
          </a:ln>
        </p:spPr>
        <p:txBody>
          <a:bodyPr lIns="0" tIns="0" rIns="0" bIns="0" anchor="t">
            <a:noAutofit/>
          </a:bodyPr>
          <a:lstStyle>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Engine and servo time constants describe gradual responses.</a:t>
            </a:r>
          </a:p>
          <a:p>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A: 4 × 4     B: 4 × 2     C: 2 × 4     D = 0</a:t>
            </a:r>
          </a:p>
        </p:txBody>
      </p:sp>
    </p:spTree>
    <p:extLst>
      <p:ext uri="{BB962C8B-B14F-4D97-AF65-F5344CB8AC3E}">
        <p14:creationId xmlns:p14="http://schemas.microsoft.com/office/powerpoint/2010/main" val="133412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hysical meaning of the equations">
            <a:extLst>
              <a:ext uri="{FF2B5EF4-FFF2-40B4-BE49-F238E27FC236}">
                <a16:creationId xmlns:a16="http://schemas.microsoft.com/office/drawing/2014/main" id="{B7858611-EADA-453F-A77C-D34774545FCB}"/>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Physical meaning of the equations</a:t>
            </a:r>
          </a:p>
        </p:txBody>
      </p:sp>
      <p:sp>
        <p:nvSpPr>
          <p:cNvPr id="3" name="Each state equation represents a physical balanc">
            <a:extLst>
              <a:ext uri="{FF2B5EF4-FFF2-40B4-BE49-F238E27FC236}">
                <a16:creationId xmlns:a16="http://schemas.microsoft.com/office/drawing/2014/main" id="{B4660D18-5BF9-4626-83B5-496D1C9D11A9}"/>
              </a:ext>
            </a:extLst>
          </p:cNvPr>
          <p:cNvSpPr>
            <a:spLocks noGrp="1"/>
          </p:cNvSpPr>
          <p:nvPr/>
        </p:nvSpPr>
        <p:spPr>
          <a:xfrm>
            <a:off x="590550" y="1304925"/>
            <a:ext cx="11010900" cy="466725"/>
          </a:xfrm>
          <a:prstGeom prst="rect">
            <a:avLst/>
          </a:prstGeom>
          <a:noFill/>
          <a:ln w="0">
            <a:noFill/>
          </a:ln>
        </p:spPr>
        <p:txBody>
          <a:bodyPr lIns="0" tIns="0" rIns="0" bIns="0" anchor="t">
            <a:noAutofit/>
          </a:bodyPr>
          <a:lstStyle>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Each state equation represents a physical balance</a:t>
            </a:r>
          </a:p>
        </p:txBody>
      </p:sp>
      <p:sp>
        <p:nvSpPr>
          <p:cNvPr id="4" name="Rectangle 3">
            <a:extLst>
              <a:ext uri="{FF2B5EF4-FFF2-40B4-BE49-F238E27FC236}">
                <a16:creationId xmlns:a16="http://schemas.microsoft.com/office/drawing/2014/main" id="{E6A062AF-A05F-41D3-9103-0FBA4238F77C}"/>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defRPr sz="1275" b="0">
                <a:solidFill>
                  <a:srgbClr val="516474"/>
                </a:solidFill>
                <a:latin typeface="Arial"/>
                <a:ea typeface="Arial"/>
                <a:cs typeface="Arial"/>
              </a:defRPr>
            </a:pPr>
            <a:r>
              <a:t>04 / 19</a:t>
            </a:r>
          </a:p>
        </p:txBody>
      </p:sp>
      <p:graphicFrame>
        <p:nvGraphicFramePr>
          <p:cNvPr id="5" name="Table 4">
            <a:extLst>
              <a:ext uri="{FF2B5EF4-FFF2-40B4-BE49-F238E27FC236}">
                <a16:creationId xmlns:a16="http://schemas.microsoft.com/office/drawing/2014/main" id="{CF481CBF-4D70-4D26-97CB-051AF8CB1B0E}"/>
              </a:ext>
            </a:extLst>
          </p:cNvPr>
          <p:cNvGraphicFramePr/>
          <p:nvPr/>
        </p:nvGraphicFramePr>
        <p:xfrm>
          <a:off x="590550" y="2114550"/>
          <a:ext cx="11010900" cy="3238500"/>
        </p:xfrm>
        <a:graphic>
          <a:graphicData uri="http://schemas.openxmlformats.org/drawingml/2006/table">
            <a:tbl>
              <a:tblPr/>
              <a:tblGrid>
                <a:gridCol w="2190750">
                  <a:extLst>
                    <a:ext uri="{9D8B030D-6E8A-4147-A177-3AD203B41FA5}">
                      <a16:colId xmlns:a16="http://schemas.microsoft.com/office/drawing/2014/main" val="20000"/>
                    </a:ext>
                  </a:extLst>
                </a:gridCol>
                <a:gridCol w="8820150">
                  <a:extLst>
                    <a:ext uri="{9D8B030D-6E8A-4147-A177-3AD203B41FA5}">
                      <a16:colId xmlns:a16="http://schemas.microsoft.com/office/drawing/2014/main" val="20001"/>
                    </a:ext>
                  </a:extLst>
                </a:gridCol>
              </a:tblGrid>
              <a:tr h="647700">
                <a:tc>
                  <a:txBody>
                    <a:bodyPr/>
                    <a:lstStyle/>
                    <a:p>
                      <a:r>
                        <a:rPr sz="1950" b="1">
                          <a:solidFill>
                            <a:srgbClr val="FFFFFF"/>
                          </a:solidFill>
                          <a:latin typeface="Arial"/>
                          <a:ea typeface="Arial"/>
                          <a:cs typeface="Arial"/>
                        </a:rPr>
                        <a:t>Equation</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1950" b="1">
                          <a:solidFill>
                            <a:srgbClr val="FFFFFF"/>
                          </a:solidFill>
                          <a:latin typeface="Arial"/>
                          <a:ea typeface="Arial"/>
                          <a:cs typeface="Arial"/>
                        </a:rPr>
                        <a:t>Physical role</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647700">
                <a:tc>
                  <a:txBody>
                    <a:bodyPr/>
                    <a:lstStyle/>
                    <a:p>
                      <a:r>
                        <a:rPr sz="1950" b="0">
                          <a:solidFill>
                            <a:srgbClr val="13283C"/>
                          </a:solidFill>
                          <a:latin typeface="Arial"/>
                          <a:ea typeface="Arial"/>
                          <a:cs typeface="Arial"/>
                        </a:rPr>
                        <a:t>da/dt</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950" b="0">
                          <a:solidFill>
                            <a:srgbClr val="13283C"/>
                          </a:solidFill>
                          <a:latin typeface="Arial"/>
                          <a:ea typeface="Arial"/>
                          <a:cs typeface="Arial"/>
                        </a:rPr>
                        <a:t>Engine response, axial command and gravity coupling</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950" b="0">
                          <a:solidFill>
                            <a:srgbClr val="13283C"/>
                          </a:solidFill>
                          <a:latin typeface="Arial"/>
                          <a:ea typeface="Arial"/>
                          <a:cs typeface="Arial"/>
                        </a:rPr>
                        <a:t>dθ/dt</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950" b="0">
                          <a:solidFill>
                            <a:srgbClr val="13283C"/>
                          </a:solidFill>
                          <a:latin typeface="Arial"/>
                          <a:ea typeface="Arial"/>
                          <a:cs typeface="Arial"/>
                        </a:rPr>
                        <a:t>Angular rate accumulates into pitch angle</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647700">
                <a:tc>
                  <a:txBody>
                    <a:bodyPr/>
                    <a:lstStyle/>
                    <a:p>
                      <a:r>
                        <a:rPr sz="1950" b="0">
                          <a:solidFill>
                            <a:srgbClr val="13283C"/>
                          </a:solidFill>
                          <a:latin typeface="Arial"/>
                          <a:ea typeface="Arial"/>
                          <a:cs typeface="Arial"/>
                        </a:rPr>
                        <a:t>dω/dt</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950" b="0">
                          <a:solidFill>
                            <a:srgbClr val="13283C"/>
                          </a:solidFill>
                          <a:latin typeface="Arial"/>
                          <a:ea typeface="Arial"/>
                          <a:cs typeface="Arial"/>
                        </a:rPr>
                        <a:t>Destabilizing aerodynamics, damping and control torques</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950" b="0">
                          <a:solidFill>
                            <a:srgbClr val="13283C"/>
                          </a:solidFill>
                          <a:latin typeface="Arial"/>
                          <a:ea typeface="Arial"/>
                          <a:cs typeface="Arial"/>
                        </a:rPr>
                        <a:t>dδ/dt</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950" b="0">
                          <a:solidFill>
                            <a:srgbClr val="13283C"/>
                          </a:solidFill>
                          <a:latin typeface="Arial"/>
                          <a:ea typeface="Arial"/>
                          <a:cs typeface="Arial"/>
                        </a:rPr>
                        <a:t>Servo response with angle and angular-rate feedback</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4"/>
                  </a:ext>
                </a:extLst>
              </a:tr>
            </a:tbl>
          </a:graphicData>
        </a:graphic>
      </p:graphicFrame>
      <p:sp>
        <p:nvSpPr>
          <p:cNvPr id="6" name="The term μθ promotes rotation. Nozzle feedback a">
            <a:extLst>
              <a:ext uri="{FF2B5EF4-FFF2-40B4-BE49-F238E27FC236}">
                <a16:creationId xmlns:a16="http://schemas.microsoft.com/office/drawing/2014/main" id="{16427757-79C3-4648-AAE1-EAA5116BB82F}"/>
              </a:ext>
            </a:extLst>
          </p:cNvPr>
          <p:cNvSpPr>
            <a:spLocks noGrp="1"/>
          </p:cNvSpPr>
          <p:nvPr/>
        </p:nvSpPr>
        <p:spPr>
          <a:xfrm>
            <a:off x="590550" y="5724525"/>
            <a:ext cx="11010900" cy="609600"/>
          </a:xfrm>
          <a:prstGeom prst="rect">
            <a:avLst/>
          </a:prstGeom>
          <a:noFill/>
          <a:ln w="0">
            <a:noFill/>
          </a:ln>
        </p:spPr>
        <p:txBody>
          <a:bodyPr lIns="0" tIns="0" rIns="0" bIns="0" anchor="t">
            <a:noAutofit/>
          </a:bodyPr>
          <a:lstStyle>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a:pPr>
              <a:lnSpc>
                <a:spcPct val="110000"/>
              </a:lnSpc>
              <a:buNone/>
              <a:defRPr sz="2025" b="1">
                <a:solidFill>
                  <a:srgbClr val="087E8B"/>
                </a:solidFill>
                <a:latin typeface="Arial"/>
                <a:ea typeface="Arial"/>
                <a:cs typeface="Arial"/>
              </a:defRPr>
            </a:pPr>
            <a:r>
              <a:rPr sz="2025" b="1">
                <a:solidFill>
                  <a:srgbClr val="087E8B"/>
                </a:solidFill>
                <a:latin typeface="Arial"/>
                <a:ea typeface="Arial"/>
                <a:cs typeface="Arial"/>
              </a:rPr>
              <a:t>The term μθ promotes rotation. Nozzle feedback and damping oppose it.</a:t>
            </a:r>
          </a:p>
        </p:txBody>
      </p:sp>
    </p:spTree>
    <p:extLst>
      <p:ext uri="{BB962C8B-B14F-4D97-AF65-F5344CB8AC3E}">
        <p14:creationId xmlns:p14="http://schemas.microsoft.com/office/powerpoint/2010/main" val="226472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rocedimiento">
            <a:extLst>
              <a:ext uri="{FF2B5EF4-FFF2-40B4-BE49-F238E27FC236}">
                <a16:creationId xmlns:a16="http://schemas.microsoft.com/office/drawing/2014/main" id="{6542940C-1DAB-47C0-B41B-CE08D3804AA9}"/>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Method</a:t>
            </a:r>
          </a:p>
        </p:txBody>
      </p:sp>
      <p:sp>
        <p:nvSpPr>
          <p:cNvPr id="3" name="04 / 16">
            <a:extLst>
              <a:ext uri="{FF2B5EF4-FFF2-40B4-BE49-F238E27FC236}">
                <a16:creationId xmlns:a16="http://schemas.microsoft.com/office/drawing/2014/main" id="{A7416159-94D9-40F1-873E-D573D8053981}"/>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05 / 19</a:t>
            </a:r>
          </a:p>
        </p:txBody>
      </p:sp>
      <p:sp>
        <p:nvSpPr>
          <p:cNvPr id="4" name="Construimos el modelo y comprobamos sus trayecto">
            <a:extLst>
              <a:ext uri="{FF2B5EF4-FFF2-40B4-BE49-F238E27FC236}">
                <a16:creationId xmlns:a16="http://schemas.microsoft.com/office/drawing/2014/main" id="{4B5C68A6-B29C-4A5F-8E90-EBC01C6CA285}"/>
              </a:ext>
            </a:extLst>
          </p:cNvPr>
          <p:cNvSpPr>
            <a:spLocks noGrp="1"/>
          </p:cNvSpPr>
          <p:nvPr/>
        </p:nvSpPr>
        <p:spPr>
          <a:xfrm>
            <a:off x="590550" y="1314450"/>
            <a:ext cx="6667500" cy="857250"/>
          </a:xfrm>
          <a:prstGeom prst="rect">
            <a:avLst/>
          </a:prstGeom>
          <a:noFill/>
          <a:ln w="0">
            <a:noFill/>
          </a:ln>
        </p:spPr>
        <p:txBody>
          <a:bodyPr lIns="0" tIns="0" rIns="0" bIns="0" anchor="t">
            <a:noAutofit/>
          </a:bodyPr>
          <a:lstStyle>
            <a:defPPr algn="l">
              <a:defRPr sz="2400" b="1">
                <a:solidFill>
                  <a:srgbClr val="087E8B"/>
                </a:solidFill>
                <a:latin typeface="Arial"/>
                <a:ea typeface="Arial"/>
                <a:cs typeface="Arial"/>
              </a:defRPr>
            </a:defPPr>
            <a:lvl1pPr algn="l">
              <a:defRPr sz="2400" b="1">
                <a:solidFill>
                  <a:srgbClr val="087E8B"/>
                </a:solidFill>
                <a:latin typeface="Arial"/>
                <a:ea typeface="Arial"/>
                <a:cs typeface="Arial"/>
              </a:defRPr>
            </a:lvl1pPr>
            <a:lvl2pPr algn="l">
              <a:defRPr sz="2400" b="1">
                <a:solidFill>
                  <a:srgbClr val="087E8B"/>
                </a:solidFill>
                <a:latin typeface="Arial"/>
                <a:ea typeface="Arial"/>
                <a:cs typeface="Arial"/>
              </a:defRPr>
            </a:lvl2pPr>
            <a:lvl3pPr algn="l">
              <a:defRPr sz="2400" b="1">
                <a:solidFill>
                  <a:srgbClr val="087E8B"/>
                </a:solidFill>
                <a:latin typeface="Arial"/>
                <a:ea typeface="Arial"/>
                <a:cs typeface="Arial"/>
              </a:defRPr>
            </a:lvl3pPr>
            <a:lvl4pPr algn="l">
              <a:defRPr sz="2400" b="1">
                <a:solidFill>
                  <a:srgbClr val="087E8B"/>
                </a:solidFill>
                <a:latin typeface="Arial"/>
                <a:ea typeface="Arial"/>
                <a:cs typeface="Arial"/>
              </a:defRPr>
            </a:lvl4pPr>
            <a:lvl5pPr algn="l">
              <a:defRPr sz="2400" b="1">
                <a:solidFill>
                  <a:srgbClr val="087E8B"/>
                </a:solidFill>
                <a:latin typeface="Arial"/>
                <a:ea typeface="Arial"/>
                <a:cs typeface="Arial"/>
              </a:defRPr>
            </a:lvl5pPr>
            <a:lvl6pPr algn="l">
              <a:defRPr sz="2400" b="1">
                <a:solidFill>
                  <a:srgbClr val="087E8B"/>
                </a:solidFill>
                <a:latin typeface="Arial"/>
                <a:ea typeface="Arial"/>
                <a:cs typeface="Arial"/>
              </a:defRPr>
            </a:lvl6pPr>
            <a:lvl7pPr algn="l">
              <a:defRPr sz="2400" b="1">
                <a:solidFill>
                  <a:srgbClr val="087E8B"/>
                </a:solidFill>
                <a:latin typeface="Arial"/>
                <a:ea typeface="Arial"/>
                <a:cs typeface="Arial"/>
              </a:defRPr>
            </a:lvl7pPr>
            <a:lvl8pPr algn="l">
              <a:defRPr sz="2400" b="1">
                <a:solidFill>
                  <a:srgbClr val="087E8B"/>
                </a:solidFill>
                <a:latin typeface="Arial"/>
                <a:ea typeface="Arial"/>
                <a:cs typeface="Arial"/>
              </a:defRPr>
            </a:lvl8pPr>
            <a:lvl9pPr algn="l">
              <a:defRPr sz="2400" b="1">
                <a:solidFill>
                  <a:srgbClr val="087E8B"/>
                </a:solidFill>
                <a:latin typeface="Arial"/>
                <a:ea typeface="Arial"/>
                <a:cs typeface="Arial"/>
              </a:defRPr>
            </a:lvl9pPr>
          </a:lstStyle>
          <a:p>
            <a:pPr algn="l">
              <a:lnSpc>
                <a:spcPct val="110000"/>
              </a:lnSpc>
              <a:buNone/>
              <a:defRPr sz="2400" b="1">
                <a:solidFill>
                  <a:srgbClr val="087E8B"/>
                </a:solidFill>
                <a:latin typeface="Arial"/>
                <a:ea typeface="Arial"/>
                <a:cs typeface="Arial"/>
              </a:defRPr>
            </a:pPr>
            <a:r>
              <a:rPr sz="2400" b="1">
                <a:solidFill>
                  <a:srgbClr val="087E8B"/>
                </a:solidFill>
                <a:latin typeface="Arial"/>
                <a:ea typeface="Arial"/>
                <a:cs typeface="Arial"/>
              </a:rPr>
              <a:t>We built the model and checked each signal path</a:t>
            </a:r>
          </a:p>
        </p:txBody>
      </p:sp>
      <p:sp>
        <p:nvSpPr>
          <p:cNvPr id="5" name="01  Estados y matriz de transferencia">
            <a:extLst>
              <a:ext uri="{FF2B5EF4-FFF2-40B4-BE49-F238E27FC236}">
                <a16:creationId xmlns:a16="http://schemas.microsoft.com/office/drawing/2014/main" id="{6FD76CC2-3F89-466C-AB62-75762A03E15C}"/>
              </a:ext>
            </a:extLst>
          </p:cNvPr>
          <p:cNvSpPr>
            <a:spLocks noGrp="1"/>
          </p:cNvSpPr>
          <p:nvPr/>
        </p:nvSpPr>
        <p:spPr>
          <a:xfrm>
            <a:off x="590550" y="2619375"/>
            <a:ext cx="6667500" cy="581025"/>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01  States and transfer matrix</a:t>
            </a:r>
          </a:p>
        </p:txBody>
      </p:sp>
      <p:sp>
        <p:nvSpPr>
          <p:cNvPr id="6" name="02  Polos y pruebas temporales">
            <a:extLst>
              <a:ext uri="{FF2B5EF4-FFF2-40B4-BE49-F238E27FC236}">
                <a16:creationId xmlns:a16="http://schemas.microsoft.com/office/drawing/2014/main" id="{D8E061AE-54F7-41A6-A4AA-3BF74F7C4C6A}"/>
              </a:ext>
            </a:extLst>
          </p:cNvPr>
          <p:cNvSpPr>
            <a:spLocks noGrp="1"/>
          </p:cNvSpPr>
          <p:nvPr/>
        </p:nvSpPr>
        <p:spPr>
          <a:xfrm>
            <a:off x="590550" y="3352800"/>
            <a:ext cx="6667500" cy="581025"/>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02  Poles and time responses</a:t>
            </a:r>
          </a:p>
        </p:txBody>
      </p:sp>
      <p:sp>
        <p:nvSpPr>
          <p:cNvPr id="7" name="03  Frecuencia, sensores y actuadores">
            <a:extLst>
              <a:ext uri="{FF2B5EF4-FFF2-40B4-BE49-F238E27FC236}">
                <a16:creationId xmlns:a16="http://schemas.microsoft.com/office/drawing/2014/main" id="{B068E4AA-A5D6-4BC5-A78C-E727D69ABE32}"/>
              </a:ext>
            </a:extLst>
          </p:cNvPr>
          <p:cNvSpPr>
            <a:spLocks noGrp="1"/>
          </p:cNvSpPr>
          <p:nvPr/>
        </p:nvSpPr>
        <p:spPr>
          <a:xfrm>
            <a:off x="590550" y="4086225"/>
            <a:ext cx="6667500" cy="581025"/>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03  Frequency response, sensors and actuators</a:t>
            </a:r>
          </a:p>
        </p:txBody>
      </p:sp>
      <p:sp>
        <p:nvSpPr>
          <p:cNvPr id="8" name="04  Ganancias y controlador digital">
            <a:extLst>
              <a:ext uri="{FF2B5EF4-FFF2-40B4-BE49-F238E27FC236}">
                <a16:creationId xmlns:a16="http://schemas.microsoft.com/office/drawing/2014/main" id="{2D78B3BA-E25A-4402-A3B6-15DE00EA220E}"/>
              </a:ext>
            </a:extLst>
          </p:cNvPr>
          <p:cNvSpPr>
            <a:spLocks noGrp="1"/>
          </p:cNvSpPr>
          <p:nvPr/>
        </p:nvSpPr>
        <p:spPr>
          <a:xfrm>
            <a:off x="590550" y="4819650"/>
            <a:ext cx="6667500" cy="581025"/>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04  Gains and digital controller</a:t>
            </a:r>
          </a:p>
        </p:txBody>
      </p:sp>
      <p:sp>
        <p:nvSpPr>
          <p:cNvPr id="9" name="K₁: corrección axial&#10;K₂: corrección de actitud">
            <a:extLst>
              <a:ext uri="{FF2B5EF4-FFF2-40B4-BE49-F238E27FC236}">
                <a16:creationId xmlns:a16="http://schemas.microsoft.com/office/drawing/2014/main" id="{B3FACF71-66B8-49D8-8758-F4FC5353545D}"/>
              </a:ext>
            </a:extLst>
          </p:cNvPr>
          <p:cNvSpPr>
            <a:spLocks noGrp="1"/>
          </p:cNvSpPr>
          <p:nvPr/>
        </p:nvSpPr>
        <p:spPr>
          <a:xfrm>
            <a:off x="590550" y="5715000"/>
            <a:ext cx="6667500" cy="600075"/>
          </a:xfrm>
          <a:prstGeom prst="rect">
            <a:avLst/>
          </a:prstGeom>
          <a:noFill/>
          <a:ln w="0">
            <a:noFill/>
          </a:ln>
        </p:spPr>
        <p:txBody>
          <a:bodyPr lIns="0" tIns="0" rIns="0" bIns="0" anchor="t">
            <a:noAutofit/>
          </a:bodyPr>
          <a:lstStyle>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K₁: axial correction</a:t>
            </a:r>
          </a:p>
          <a:p>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K₂: attitude correction</a:t>
            </a:r>
          </a:p>
        </p:txBody>
      </p:sp>
      <p:pic>
        <p:nvPicPr>
          <p:cNvPr id="10" name="Picture 9">
            <a:extLst>
              <a:ext uri="{FF2B5EF4-FFF2-40B4-BE49-F238E27FC236}">
                <a16:creationId xmlns:a16="http://schemas.microsoft.com/office/drawing/2014/main" id="{9971085D-94A2-483E-90E8-3DC0CC13776E}"/>
              </a:ext>
            </a:extLst>
          </p:cNvPr>
          <p:cNvPicPr>
            <a:picLocks noChangeAspect="1"/>
          </p:cNvPicPr>
          <p:nvPr/>
        </p:nvPicPr>
        <p:blipFill>
          <a:blip r:embed="rId3"/>
          <a:stretch/>
        </p:blipFill>
        <p:spPr>
          <a:xfrm>
            <a:off x="8003619" y="1295400"/>
            <a:ext cx="3471388" cy="4695825"/>
          </a:xfrm>
          <a:prstGeom prst="rect">
            <a:avLst/>
          </a:prstGeom>
        </p:spPr>
      </p:pic>
    </p:spTree>
    <p:extLst>
      <p:ext uri="{BB962C8B-B14F-4D97-AF65-F5344CB8AC3E}">
        <p14:creationId xmlns:p14="http://schemas.microsoft.com/office/powerpoint/2010/main" val="17289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tabilidad">
            <a:extLst>
              <a:ext uri="{FF2B5EF4-FFF2-40B4-BE49-F238E27FC236}">
                <a16:creationId xmlns:a16="http://schemas.microsoft.com/office/drawing/2014/main" id="{D6E5FFA5-C63B-44E9-8CF7-A44E7DC5760D}"/>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Stability</a:t>
            </a:r>
          </a:p>
        </p:txBody>
      </p:sp>
      <p:sp>
        <p:nvSpPr>
          <p:cNvPr id="3" name="05 / 16">
            <a:extLst>
              <a:ext uri="{FF2B5EF4-FFF2-40B4-BE49-F238E27FC236}">
                <a16:creationId xmlns:a16="http://schemas.microsoft.com/office/drawing/2014/main" id="{5E65FC0F-553E-468D-83A1-905140EF9DE0}"/>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06 / 19</a:t>
            </a:r>
          </a:p>
        </p:txBody>
      </p:sp>
      <p:graphicFrame>
        <p:nvGraphicFramePr>
          <p:cNvPr id="4" name="Chart">
            <a:extLst>
              <a:ext uri="{FF2B5EF4-FFF2-40B4-BE49-F238E27FC236}">
                <a16:creationId xmlns:a16="http://schemas.microsoft.com/office/drawing/2014/main" id="{DD6D0B88-E032-4F99-A83D-5A94684E9D11}"/>
              </a:ext>
            </a:extLst>
          </p:cNvPr>
          <p:cNvGraphicFramePr/>
          <p:nvPr/>
        </p:nvGraphicFramePr>
        <p:xfrm>
          <a:off x="476250" y="1619250"/>
          <a:ext cx="73342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5" name="Todos los polos nominales&#10;tienen parte real nega">
            <a:extLst>
              <a:ext uri="{FF2B5EF4-FFF2-40B4-BE49-F238E27FC236}">
                <a16:creationId xmlns:a16="http://schemas.microsoft.com/office/drawing/2014/main" id="{59D111A0-2434-402F-9615-2AA294F851B5}"/>
              </a:ext>
            </a:extLst>
          </p:cNvPr>
          <p:cNvSpPr>
            <a:spLocks noGrp="1"/>
          </p:cNvSpPr>
          <p:nvPr/>
        </p:nvSpPr>
        <p:spPr>
          <a:xfrm>
            <a:off x="8096250" y="1714500"/>
            <a:ext cx="3524250" cy="1047750"/>
          </a:xfrm>
          <a:prstGeom prst="rect">
            <a:avLst/>
          </a:prstGeom>
          <a:noFill/>
          <a:ln w="0">
            <a:noFill/>
          </a:ln>
        </p:spPr>
        <p:txBody>
          <a:bodyPr lIns="0" tIns="0" rIns="0" bIns="0" anchor="t">
            <a:noAutofit/>
          </a:bodyPr>
          <a:lstStyle>
            <a:defPPr algn="l">
              <a:defRPr sz="2175" b="1">
                <a:solidFill>
                  <a:srgbClr val="087E8B"/>
                </a:solidFill>
                <a:latin typeface="Arial"/>
                <a:ea typeface="Arial"/>
                <a:cs typeface="Arial"/>
              </a:defRPr>
            </a:defPPr>
            <a:lvl1pPr algn="l">
              <a:defRPr sz="2175" b="1">
                <a:solidFill>
                  <a:srgbClr val="087E8B"/>
                </a:solidFill>
                <a:latin typeface="Arial"/>
                <a:ea typeface="Arial"/>
                <a:cs typeface="Arial"/>
              </a:defRPr>
            </a:lvl1pPr>
            <a:lvl2pPr algn="l">
              <a:defRPr sz="2175" b="1">
                <a:solidFill>
                  <a:srgbClr val="087E8B"/>
                </a:solidFill>
                <a:latin typeface="Arial"/>
                <a:ea typeface="Arial"/>
                <a:cs typeface="Arial"/>
              </a:defRPr>
            </a:lvl2pPr>
            <a:lvl3pPr algn="l">
              <a:defRPr sz="2175" b="1">
                <a:solidFill>
                  <a:srgbClr val="087E8B"/>
                </a:solidFill>
                <a:latin typeface="Arial"/>
                <a:ea typeface="Arial"/>
                <a:cs typeface="Arial"/>
              </a:defRPr>
            </a:lvl3pPr>
            <a:lvl4pPr algn="l">
              <a:defRPr sz="2175" b="1">
                <a:solidFill>
                  <a:srgbClr val="087E8B"/>
                </a:solidFill>
                <a:latin typeface="Arial"/>
                <a:ea typeface="Arial"/>
                <a:cs typeface="Arial"/>
              </a:defRPr>
            </a:lvl4pPr>
            <a:lvl5pPr algn="l">
              <a:defRPr sz="2175" b="1">
                <a:solidFill>
                  <a:srgbClr val="087E8B"/>
                </a:solidFill>
                <a:latin typeface="Arial"/>
                <a:ea typeface="Arial"/>
                <a:cs typeface="Arial"/>
              </a:defRPr>
            </a:lvl5pPr>
            <a:lvl6pPr algn="l">
              <a:defRPr sz="2175" b="1">
                <a:solidFill>
                  <a:srgbClr val="087E8B"/>
                </a:solidFill>
                <a:latin typeface="Arial"/>
                <a:ea typeface="Arial"/>
                <a:cs typeface="Arial"/>
              </a:defRPr>
            </a:lvl6pPr>
            <a:lvl7pPr algn="l">
              <a:defRPr sz="2175" b="1">
                <a:solidFill>
                  <a:srgbClr val="087E8B"/>
                </a:solidFill>
                <a:latin typeface="Arial"/>
                <a:ea typeface="Arial"/>
                <a:cs typeface="Arial"/>
              </a:defRPr>
            </a:lvl7pPr>
            <a:lvl8pPr algn="l">
              <a:defRPr sz="2175" b="1">
                <a:solidFill>
                  <a:srgbClr val="087E8B"/>
                </a:solidFill>
                <a:latin typeface="Arial"/>
                <a:ea typeface="Arial"/>
                <a:cs typeface="Arial"/>
              </a:defRPr>
            </a:lvl8pPr>
            <a:lvl9pPr algn="l">
              <a:defRPr sz="2175" b="1">
                <a:solidFill>
                  <a:srgbClr val="087E8B"/>
                </a:solidFill>
                <a:latin typeface="Arial"/>
                <a:ea typeface="Arial"/>
                <a:cs typeface="Arial"/>
              </a:defRPr>
            </a:lvl9pPr>
          </a:lstStyle>
          <a:p>
            <a:pPr algn="l">
              <a:lnSpc>
                <a:spcPct val="110000"/>
              </a:lnSpc>
              <a:buNone/>
              <a:defRPr sz="2175" b="1">
                <a:solidFill>
                  <a:srgbClr val="087E8B"/>
                </a:solidFill>
                <a:latin typeface="Arial"/>
                <a:ea typeface="Arial"/>
                <a:cs typeface="Arial"/>
              </a:defRPr>
            </a:pPr>
            <a:r>
              <a:rPr sz="2175" b="1">
                <a:solidFill>
                  <a:srgbClr val="087E8B"/>
                </a:solidFill>
                <a:latin typeface="Arial"/>
                <a:ea typeface="Arial"/>
                <a:cs typeface="Arial"/>
              </a:rPr>
              <a:t>All nominal poles</a:t>
            </a:r>
          </a:p>
          <a:p>
            <a:pPr algn="l">
              <a:lnSpc>
                <a:spcPct val="110000"/>
              </a:lnSpc>
              <a:buNone/>
              <a:defRPr sz="2175" b="1">
                <a:solidFill>
                  <a:srgbClr val="087E8B"/>
                </a:solidFill>
                <a:latin typeface="Arial"/>
                <a:ea typeface="Arial"/>
                <a:cs typeface="Arial"/>
              </a:defRPr>
            </a:pPr>
            <a:r>
              <a:rPr sz="2175" b="1">
                <a:solidFill>
                  <a:srgbClr val="087E8B"/>
                </a:solidFill>
                <a:latin typeface="Arial"/>
                <a:ea typeface="Arial"/>
                <a:cs typeface="Arial"/>
              </a:rPr>
              <a:t>have negative real parts</a:t>
            </a:r>
          </a:p>
        </p:txBody>
      </p:sp>
      <p:sp>
        <p:nvSpPr>
          <p:cNvPr id="6" name="K₁ = 1&#10;Umbral: K₂ ≈ 0,081">
            <a:extLst>
              <a:ext uri="{FF2B5EF4-FFF2-40B4-BE49-F238E27FC236}">
                <a16:creationId xmlns:a16="http://schemas.microsoft.com/office/drawing/2014/main" id="{D3F29772-F235-450D-8DFF-6C7241294703}"/>
              </a:ext>
            </a:extLst>
          </p:cNvPr>
          <p:cNvSpPr>
            <a:spLocks noGrp="1"/>
          </p:cNvSpPr>
          <p:nvPr/>
        </p:nvSpPr>
        <p:spPr>
          <a:xfrm>
            <a:off x="8096250" y="3238500"/>
            <a:ext cx="3524250" cy="857250"/>
          </a:xfrm>
          <a:prstGeom prst="rect">
            <a:avLst/>
          </a:prstGeom>
          <a:noFill/>
          <a:ln w="0">
            <a:noFill/>
          </a:ln>
        </p:spPr>
        <p:txBody>
          <a:bodyPr lIns="0" tIns="0" rIns="0" bIns="0" anchor="t">
            <a:noAutofit/>
          </a:bodyPr>
          <a:lstStyle>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K₁ = 1</a:t>
            </a:r>
          </a:p>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Threshold: K₂ ≈ 0.081</a:t>
            </a:r>
          </a:p>
        </p:txBody>
      </p:sp>
      <p:sp>
        <p:nvSpPr>
          <p:cNvPr id="7" name="K₂ = 0&#10;Un polo positivo: +0,557">
            <a:extLst>
              <a:ext uri="{FF2B5EF4-FFF2-40B4-BE49-F238E27FC236}">
                <a16:creationId xmlns:a16="http://schemas.microsoft.com/office/drawing/2014/main" id="{E2A89D3B-DB8F-4626-B9C7-323DA60E3C23}"/>
              </a:ext>
            </a:extLst>
          </p:cNvPr>
          <p:cNvSpPr>
            <a:spLocks noGrp="1"/>
          </p:cNvSpPr>
          <p:nvPr/>
        </p:nvSpPr>
        <p:spPr>
          <a:xfrm>
            <a:off x="8096250" y="4543425"/>
            <a:ext cx="3524250" cy="857250"/>
          </a:xfrm>
          <a:prstGeom prst="rect">
            <a:avLst/>
          </a:prstGeom>
          <a:noFill/>
          <a:ln w="0">
            <a:noFill/>
          </a:ln>
        </p:spPr>
        <p:txBody>
          <a:bodyPr lIns="0" tIns="0" rIns="0" bIns="0" anchor="t">
            <a:noAutofit/>
          </a:bodyPr>
          <a:lstStyle>
            <a:defPPr algn="l">
              <a:defRPr sz="2100" b="0">
                <a:solidFill>
                  <a:srgbClr val="B53A35"/>
                </a:solidFill>
                <a:latin typeface="Arial"/>
                <a:ea typeface="Arial"/>
                <a:cs typeface="Arial"/>
              </a:defRPr>
            </a:defPPr>
            <a:lvl1pPr algn="l">
              <a:defRPr sz="2100" b="0">
                <a:solidFill>
                  <a:srgbClr val="B53A35"/>
                </a:solidFill>
                <a:latin typeface="Arial"/>
                <a:ea typeface="Arial"/>
                <a:cs typeface="Arial"/>
              </a:defRPr>
            </a:lvl1pPr>
            <a:lvl2pPr algn="l">
              <a:defRPr sz="2100" b="0">
                <a:solidFill>
                  <a:srgbClr val="B53A35"/>
                </a:solidFill>
                <a:latin typeface="Arial"/>
                <a:ea typeface="Arial"/>
                <a:cs typeface="Arial"/>
              </a:defRPr>
            </a:lvl2pPr>
            <a:lvl3pPr algn="l">
              <a:defRPr sz="2100" b="0">
                <a:solidFill>
                  <a:srgbClr val="B53A35"/>
                </a:solidFill>
                <a:latin typeface="Arial"/>
                <a:ea typeface="Arial"/>
                <a:cs typeface="Arial"/>
              </a:defRPr>
            </a:lvl3pPr>
            <a:lvl4pPr algn="l">
              <a:defRPr sz="2100" b="0">
                <a:solidFill>
                  <a:srgbClr val="B53A35"/>
                </a:solidFill>
                <a:latin typeface="Arial"/>
                <a:ea typeface="Arial"/>
                <a:cs typeface="Arial"/>
              </a:defRPr>
            </a:lvl4pPr>
            <a:lvl5pPr algn="l">
              <a:defRPr sz="2100" b="0">
                <a:solidFill>
                  <a:srgbClr val="B53A35"/>
                </a:solidFill>
                <a:latin typeface="Arial"/>
                <a:ea typeface="Arial"/>
                <a:cs typeface="Arial"/>
              </a:defRPr>
            </a:lvl5pPr>
            <a:lvl6pPr algn="l">
              <a:defRPr sz="2100" b="0">
                <a:solidFill>
                  <a:srgbClr val="B53A35"/>
                </a:solidFill>
                <a:latin typeface="Arial"/>
                <a:ea typeface="Arial"/>
                <a:cs typeface="Arial"/>
              </a:defRPr>
            </a:lvl6pPr>
            <a:lvl7pPr algn="l">
              <a:defRPr sz="2100" b="0">
                <a:solidFill>
                  <a:srgbClr val="B53A35"/>
                </a:solidFill>
                <a:latin typeface="Arial"/>
                <a:ea typeface="Arial"/>
                <a:cs typeface="Arial"/>
              </a:defRPr>
            </a:lvl7pPr>
            <a:lvl8pPr algn="l">
              <a:defRPr sz="2100" b="0">
                <a:solidFill>
                  <a:srgbClr val="B53A35"/>
                </a:solidFill>
                <a:latin typeface="Arial"/>
                <a:ea typeface="Arial"/>
                <a:cs typeface="Arial"/>
              </a:defRPr>
            </a:lvl8pPr>
            <a:lvl9pPr algn="l">
              <a:defRPr sz="2100" b="0">
                <a:solidFill>
                  <a:srgbClr val="B53A35"/>
                </a:solidFill>
                <a:latin typeface="Arial"/>
                <a:ea typeface="Arial"/>
                <a:cs typeface="Arial"/>
              </a:defRPr>
            </a:lvl9pPr>
          </a:lstStyle>
          <a:p>
            <a:pPr algn="l">
              <a:lnSpc>
                <a:spcPct val="110000"/>
              </a:lnSpc>
              <a:buNone/>
              <a:defRPr sz="2100" b="0">
                <a:solidFill>
                  <a:srgbClr val="B53A35"/>
                </a:solidFill>
                <a:latin typeface="Arial"/>
                <a:ea typeface="Arial"/>
                <a:cs typeface="Arial"/>
              </a:defRPr>
            </a:pPr>
            <a:r>
              <a:rPr sz="2100" b="0">
                <a:solidFill>
                  <a:srgbClr val="B53A35"/>
                </a:solidFill>
                <a:latin typeface="Arial"/>
                <a:ea typeface="Arial"/>
                <a:cs typeface="Arial"/>
              </a:rPr>
              <a:t>K₂ = 0</a:t>
            </a:r>
          </a:p>
          <a:p>
            <a:pPr algn="l">
              <a:lnSpc>
                <a:spcPct val="110000"/>
              </a:lnSpc>
              <a:buNone/>
              <a:defRPr sz="2100" b="0">
                <a:solidFill>
                  <a:srgbClr val="B53A35"/>
                </a:solidFill>
                <a:latin typeface="Arial"/>
                <a:ea typeface="Arial"/>
                <a:cs typeface="Arial"/>
              </a:defRPr>
            </a:pPr>
            <a:r>
              <a:rPr sz="2100" b="0">
                <a:solidFill>
                  <a:srgbClr val="B53A35"/>
                </a:solidFill>
                <a:latin typeface="Arial"/>
                <a:ea typeface="Arial"/>
                <a:cs typeface="Arial"/>
              </a:rPr>
              <a:t>One positive pole: +0.557</a:t>
            </a:r>
          </a:p>
        </p:txBody>
      </p:sp>
      <p:sp>
        <p:nvSpPr>
          <p:cNvPr id="8" name="La corrección de dirección estabiliza el modelo ">
            <a:extLst>
              <a:ext uri="{FF2B5EF4-FFF2-40B4-BE49-F238E27FC236}">
                <a16:creationId xmlns:a16="http://schemas.microsoft.com/office/drawing/2014/main" id="{BDE9C4B0-4D3A-416C-9578-C6F74A5974D5}"/>
              </a:ext>
            </a:extLst>
          </p:cNvPr>
          <p:cNvSpPr>
            <a:spLocks noGrp="1"/>
          </p:cNvSpPr>
          <p:nvPr/>
        </p:nvSpPr>
        <p:spPr>
          <a:xfrm>
            <a:off x="590550" y="5810250"/>
            <a:ext cx="10858500" cy="571500"/>
          </a:xfrm>
          <a:prstGeom prst="rect">
            <a:avLst/>
          </a:prstGeom>
          <a:noFill/>
          <a:ln w="0">
            <a:noFill/>
          </a:ln>
        </p:spPr>
        <p:txBody>
          <a:bodyPr lIns="0" tIns="0" rIns="0" bIns="0" anchor="t">
            <a:noAutofit/>
          </a:bodyPr>
          <a:lstStyle>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Attitude feedback stabilizes the model with the controller studied</a:t>
            </a:r>
          </a:p>
        </p:txBody>
      </p:sp>
      <p:sp>
        <p:nvSpPr>
          <p:cNvPr id="9" name="Asymptotic stability: deviations from equilibriu">
            <a:extLst>
              <a:ext uri="{FF2B5EF4-FFF2-40B4-BE49-F238E27FC236}">
                <a16:creationId xmlns:a16="http://schemas.microsoft.com/office/drawing/2014/main" id="{EF4F8ED4-E90E-4789-8695-F7462524236F}"/>
              </a:ext>
            </a:extLst>
          </p:cNvPr>
          <p:cNvSpPr>
            <a:spLocks noGrp="1"/>
          </p:cNvSpPr>
          <p:nvPr/>
        </p:nvSpPr>
        <p:spPr>
          <a:xfrm>
            <a:off x="590550" y="1257300"/>
            <a:ext cx="11010900" cy="352425"/>
          </a:xfrm>
          <a:prstGeom prst="rect">
            <a:avLst/>
          </a:prstGeom>
          <a:noFill/>
          <a:ln w="0">
            <a:noFill/>
          </a:ln>
        </p:spPr>
        <p:txBody>
          <a:bodyPr lIns="0" tIns="0" rIns="0" bIns="0" anchor="t">
            <a:noAutofit/>
          </a:bodyPr>
          <a:lstStyle>
            <a:defPPr>
              <a:defRPr sz="1875" b="0">
                <a:solidFill>
                  <a:srgbClr val="516474"/>
                </a:solidFill>
                <a:latin typeface="Arial"/>
                <a:ea typeface="Arial"/>
                <a:cs typeface="Arial"/>
              </a:defRPr>
            </a:defPPr>
            <a:lvl1pPr>
              <a:defRPr sz="1875" b="0">
                <a:solidFill>
                  <a:srgbClr val="516474"/>
                </a:solidFill>
                <a:latin typeface="Arial"/>
                <a:ea typeface="Arial"/>
                <a:cs typeface="Arial"/>
              </a:defRPr>
            </a:lvl1pPr>
            <a:lvl2pPr>
              <a:defRPr sz="1875" b="0">
                <a:solidFill>
                  <a:srgbClr val="516474"/>
                </a:solidFill>
                <a:latin typeface="Arial"/>
                <a:ea typeface="Arial"/>
                <a:cs typeface="Arial"/>
              </a:defRPr>
            </a:lvl2pPr>
            <a:lvl3pPr>
              <a:defRPr sz="1875" b="0">
                <a:solidFill>
                  <a:srgbClr val="516474"/>
                </a:solidFill>
                <a:latin typeface="Arial"/>
                <a:ea typeface="Arial"/>
                <a:cs typeface="Arial"/>
              </a:defRPr>
            </a:lvl3pPr>
            <a:lvl4pPr>
              <a:defRPr sz="1875" b="0">
                <a:solidFill>
                  <a:srgbClr val="516474"/>
                </a:solidFill>
                <a:latin typeface="Arial"/>
                <a:ea typeface="Arial"/>
                <a:cs typeface="Arial"/>
              </a:defRPr>
            </a:lvl4pPr>
            <a:lvl5pPr>
              <a:defRPr sz="1875" b="0">
                <a:solidFill>
                  <a:srgbClr val="516474"/>
                </a:solidFill>
                <a:latin typeface="Arial"/>
                <a:ea typeface="Arial"/>
                <a:cs typeface="Arial"/>
              </a:defRPr>
            </a:lvl5pPr>
            <a:lvl6pPr>
              <a:defRPr sz="1875" b="0">
                <a:solidFill>
                  <a:srgbClr val="516474"/>
                </a:solidFill>
                <a:latin typeface="Arial"/>
                <a:ea typeface="Arial"/>
                <a:cs typeface="Arial"/>
              </a:defRPr>
            </a:lvl6pPr>
            <a:lvl7pPr>
              <a:defRPr sz="1875" b="0">
                <a:solidFill>
                  <a:srgbClr val="516474"/>
                </a:solidFill>
                <a:latin typeface="Arial"/>
                <a:ea typeface="Arial"/>
                <a:cs typeface="Arial"/>
              </a:defRPr>
            </a:lvl7pPr>
            <a:lvl8pPr>
              <a:defRPr sz="1875" b="0">
                <a:solidFill>
                  <a:srgbClr val="516474"/>
                </a:solidFill>
                <a:latin typeface="Arial"/>
                <a:ea typeface="Arial"/>
                <a:cs typeface="Arial"/>
              </a:defRPr>
            </a:lvl8pPr>
            <a:lvl9pPr>
              <a:defRPr sz="1875" b="0">
                <a:solidFill>
                  <a:srgbClr val="516474"/>
                </a:solidFill>
                <a:latin typeface="Arial"/>
                <a:ea typeface="Arial"/>
                <a:cs typeface="Arial"/>
              </a:defRPr>
            </a:lvl9pPr>
          </a:lstStyle>
          <a:p>
            <a:pPr>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Asymptotic stability: deviations from equilibrium decay over time</a:t>
            </a:r>
          </a:p>
        </p:txBody>
      </p:sp>
    </p:spTree>
    <p:extLst>
      <p:ext uri="{BB962C8B-B14F-4D97-AF65-F5344CB8AC3E}">
        <p14:creationId xmlns:p14="http://schemas.microsoft.com/office/powerpoint/2010/main" val="8468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ulse: the channels interact">
            <a:extLst>
              <a:ext uri="{FF2B5EF4-FFF2-40B4-BE49-F238E27FC236}">
                <a16:creationId xmlns:a16="http://schemas.microsoft.com/office/drawing/2014/main" id="{BC396F97-A328-48A7-86D0-74BF8DC43426}"/>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Pulse: the channels interact</a:t>
            </a:r>
          </a:p>
        </p:txBody>
      </p:sp>
      <p:sp>
        <p:nvSpPr>
          <p:cNvPr id="3" name="The same pulse applied to each input and to both">
            <a:extLst>
              <a:ext uri="{FF2B5EF4-FFF2-40B4-BE49-F238E27FC236}">
                <a16:creationId xmlns:a16="http://schemas.microsoft.com/office/drawing/2014/main" id="{7CE3E2E4-9A1D-4C91-9CFD-3FCB4004F4FF}"/>
              </a:ext>
            </a:extLst>
          </p:cNvPr>
          <p:cNvSpPr>
            <a:spLocks noGrp="1"/>
          </p:cNvSpPr>
          <p:nvPr/>
        </p:nvSpPr>
        <p:spPr>
          <a:xfrm>
            <a:off x="590550" y="1304925"/>
            <a:ext cx="11010900" cy="466725"/>
          </a:xfrm>
          <a:prstGeom prst="rect">
            <a:avLst/>
          </a:prstGeom>
          <a:noFill/>
          <a:ln w="0">
            <a:noFill/>
          </a:ln>
        </p:spPr>
        <p:txBody>
          <a:bodyPr lIns="0" tIns="0" rIns="0" bIns="0" anchor="t">
            <a:noAutofit/>
          </a:bodyPr>
          <a:lstStyle>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The same pulse applied to each input and to both</a:t>
            </a:r>
          </a:p>
        </p:txBody>
      </p:sp>
      <p:sp>
        <p:nvSpPr>
          <p:cNvPr id="4" name="Rectangle 3">
            <a:extLst>
              <a:ext uri="{FF2B5EF4-FFF2-40B4-BE49-F238E27FC236}">
                <a16:creationId xmlns:a16="http://schemas.microsoft.com/office/drawing/2014/main" id="{B257540D-3F99-4500-9D85-E9033BB8A55B}"/>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defRPr sz="1275" b="0">
                <a:solidFill>
                  <a:srgbClr val="516474"/>
                </a:solidFill>
                <a:latin typeface="Arial"/>
                <a:ea typeface="Arial"/>
                <a:cs typeface="Arial"/>
              </a:defRPr>
            </a:pPr>
            <a:r>
              <a:t>07 / 19</a:t>
            </a:r>
          </a:p>
        </p:txBody>
      </p:sp>
      <p:pic>
        <p:nvPicPr>
          <p:cNvPr id="5" name="Picture 4">
            <a:extLst>
              <a:ext uri="{FF2B5EF4-FFF2-40B4-BE49-F238E27FC236}">
                <a16:creationId xmlns:a16="http://schemas.microsoft.com/office/drawing/2014/main" id="{47570C66-2EBD-408F-A909-C336C73654E1}"/>
              </a:ext>
            </a:extLst>
          </p:cNvPr>
          <p:cNvPicPr>
            <a:picLocks noChangeAspect="1"/>
          </p:cNvPicPr>
          <p:nvPr/>
        </p:nvPicPr>
        <p:blipFill>
          <a:blip r:embed="rId3"/>
          <a:stretch/>
        </p:blipFill>
        <p:spPr>
          <a:xfrm>
            <a:off x="209550" y="1954045"/>
            <a:ext cx="11772900" cy="3302335"/>
          </a:xfrm>
          <a:prstGeom prst="rect">
            <a:avLst/>
          </a:prstGeom>
        </p:spPr>
      </p:pic>
      <p:sp>
        <p:nvSpPr>
          <p:cNvPr id="6" name="Tilting the rocket reduces a. Both commands comb">
            <a:extLst>
              <a:ext uri="{FF2B5EF4-FFF2-40B4-BE49-F238E27FC236}">
                <a16:creationId xmlns:a16="http://schemas.microsoft.com/office/drawing/2014/main" id="{84C01E60-A24F-4504-8D86-90C2B4321669}"/>
              </a:ext>
            </a:extLst>
          </p:cNvPr>
          <p:cNvSpPr>
            <a:spLocks noGrp="1"/>
          </p:cNvSpPr>
          <p:nvPr/>
        </p:nvSpPr>
        <p:spPr>
          <a:xfrm>
            <a:off x="590550" y="5429250"/>
            <a:ext cx="11010900" cy="352425"/>
          </a:xfrm>
          <a:prstGeom prst="rect">
            <a:avLst/>
          </a:prstGeom>
          <a:noFill/>
          <a:ln w="0">
            <a:noFill/>
          </a:ln>
        </p:spPr>
        <p:txBody>
          <a:bodyPr lIns="0" tIns="0" rIns="0" bIns="0" anchor="t">
            <a:noAutofit/>
          </a:bodyPr>
          <a:lstStyle>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Tilting the rocket reduces a. Both commands combine by superposition.</a:t>
            </a:r>
          </a:p>
        </p:txBody>
      </p:sp>
      <p:sp>
        <p:nvSpPr>
          <p:cNvPr id="7" name="After 5 s, the command turns off and the outputs">
            <a:extLst>
              <a:ext uri="{FF2B5EF4-FFF2-40B4-BE49-F238E27FC236}">
                <a16:creationId xmlns:a16="http://schemas.microsoft.com/office/drawing/2014/main" id="{5F20D943-718D-41E2-B66C-4E480FBBDF6E}"/>
              </a:ext>
            </a:extLst>
          </p:cNvPr>
          <p:cNvSpPr>
            <a:spLocks noGrp="1"/>
          </p:cNvSpPr>
          <p:nvPr/>
        </p:nvSpPr>
        <p:spPr>
          <a:xfrm>
            <a:off x="590550" y="5838825"/>
            <a:ext cx="11010900" cy="352425"/>
          </a:xfrm>
          <a:prstGeom prst="rect">
            <a:avLst/>
          </a:prstGeom>
          <a:noFill/>
          <a:ln w="0">
            <a:noFill/>
          </a:ln>
        </p:spPr>
        <p:txBody>
          <a:bodyPr lIns="0" tIns="0" rIns="0" bIns="0" anchor="t">
            <a:noAutofit/>
          </a:bodyPr>
          <a:lstStyle>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After 5 s, the command turns off and the outputs decay toward zero.</a:t>
            </a:r>
          </a:p>
        </p:txBody>
      </p:sp>
      <p:sp>
        <p:nvSpPr>
          <p:cNvPr id="8" name="Nominal gains (1, 0.5). Blue: a, left axis. Red:">
            <a:extLst>
              <a:ext uri="{FF2B5EF4-FFF2-40B4-BE49-F238E27FC236}">
                <a16:creationId xmlns:a16="http://schemas.microsoft.com/office/drawing/2014/main" id="{619F13DA-7383-45BA-A042-1F56FBD809F5}"/>
              </a:ext>
            </a:extLst>
          </p:cNvPr>
          <p:cNvSpPr>
            <a:spLocks noGrp="1"/>
          </p:cNvSpPr>
          <p:nvPr/>
        </p:nvSpPr>
        <p:spPr>
          <a:xfrm>
            <a:off x="590550" y="6219825"/>
            <a:ext cx="10668000" cy="238125"/>
          </a:xfrm>
          <a:prstGeom prst="rect">
            <a:avLst/>
          </a:prstGeom>
          <a:noFill/>
          <a:ln w="0">
            <a:noFill/>
          </a:ln>
        </p:spPr>
        <p:txBody>
          <a:bodyPr lIns="0" tIns="0" rIns="0" bIns="0" anchor="t">
            <a:noAutofit/>
          </a:bodyPr>
          <a:lstStyle>
            <a:defPPr>
              <a:defRPr sz="1425" b="0">
                <a:solidFill>
                  <a:srgbClr val="516474"/>
                </a:solidFill>
                <a:latin typeface="Arial"/>
                <a:ea typeface="Arial"/>
                <a:cs typeface="Arial"/>
              </a:defRPr>
            </a:defPPr>
            <a:lvl1pPr>
              <a:defRPr sz="1425" b="0">
                <a:solidFill>
                  <a:srgbClr val="516474"/>
                </a:solidFill>
                <a:latin typeface="Arial"/>
                <a:ea typeface="Arial"/>
                <a:cs typeface="Arial"/>
              </a:defRPr>
            </a:lvl1pPr>
            <a:lvl2pPr>
              <a:defRPr sz="1425" b="0">
                <a:solidFill>
                  <a:srgbClr val="516474"/>
                </a:solidFill>
                <a:latin typeface="Arial"/>
                <a:ea typeface="Arial"/>
                <a:cs typeface="Arial"/>
              </a:defRPr>
            </a:lvl2pPr>
            <a:lvl3pPr>
              <a:defRPr sz="1425" b="0">
                <a:solidFill>
                  <a:srgbClr val="516474"/>
                </a:solidFill>
                <a:latin typeface="Arial"/>
                <a:ea typeface="Arial"/>
                <a:cs typeface="Arial"/>
              </a:defRPr>
            </a:lvl3pPr>
            <a:lvl4pPr>
              <a:defRPr sz="1425" b="0">
                <a:solidFill>
                  <a:srgbClr val="516474"/>
                </a:solidFill>
                <a:latin typeface="Arial"/>
                <a:ea typeface="Arial"/>
                <a:cs typeface="Arial"/>
              </a:defRPr>
            </a:lvl4pPr>
            <a:lvl5pPr>
              <a:defRPr sz="1425" b="0">
                <a:solidFill>
                  <a:srgbClr val="516474"/>
                </a:solidFill>
                <a:latin typeface="Arial"/>
                <a:ea typeface="Arial"/>
                <a:cs typeface="Arial"/>
              </a:defRPr>
            </a:lvl5pPr>
            <a:lvl6pPr>
              <a:defRPr sz="1425" b="0">
                <a:solidFill>
                  <a:srgbClr val="516474"/>
                </a:solidFill>
                <a:latin typeface="Arial"/>
                <a:ea typeface="Arial"/>
                <a:cs typeface="Arial"/>
              </a:defRPr>
            </a:lvl6pPr>
            <a:lvl7pPr>
              <a:defRPr sz="1425" b="0">
                <a:solidFill>
                  <a:srgbClr val="516474"/>
                </a:solidFill>
                <a:latin typeface="Arial"/>
                <a:ea typeface="Arial"/>
                <a:cs typeface="Arial"/>
              </a:defRPr>
            </a:lvl7pPr>
            <a:lvl8pPr>
              <a:defRPr sz="1425" b="0">
                <a:solidFill>
                  <a:srgbClr val="516474"/>
                </a:solidFill>
                <a:latin typeface="Arial"/>
                <a:ea typeface="Arial"/>
                <a:cs typeface="Arial"/>
              </a:defRPr>
            </a:lvl8pPr>
            <a:lvl9pPr>
              <a:defRPr sz="1425" b="0">
                <a:solidFill>
                  <a:srgbClr val="516474"/>
                </a:solidFill>
                <a:latin typeface="Arial"/>
                <a:ea typeface="Arial"/>
                <a:cs typeface="Arial"/>
              </a:defRPr>
            </a:lvl9pPr>
          </a:lstStyle>
          <a:p>
            <a:pPr>
              <a:lnSpc>
                <a:spcPct val="110000"/>
              </a:lnSpc>
              <a:buNone/>
              <a:defRPr sz="1425" b="0">
                <a:solidFill>
                  <a:srgbClr val="516474"/>
                </a:solidFill>
                <a:latin typeface="Arial"/>
                <a:ea typeface="Arial"/>
                <a:cs typeface="Arial"/>
              </a:defRPr>
            </a:pPr>
            <a:r>
              <a:rPr sz="1425" b="0">
                <a:solidFill>
                  <a:srgbClr val="516474"/>
                </a:solidFill>
                <a:latin typeface="Arial"/>
                <a:ea typeface="Arial"/>
                <a:cs typeface="Arial"/>
              </a:rPr>
              <a:t>Notebook figure (non-editable image). Nominal (1, 0.5). Unit inputs. Blue: a (left). Red: θ (right).</a:t>
            </a:r>
          </a:p>
        </p:txBody>
      </p:sp>
    </p:spTree>
    <p:extLst>
      <p:ext uri="{BB962C8B-B14F-4D97-AF65-F5344CB8AC3E}">
        <p14:creationId xmlns:p14="http://schemas.microsoft.com/office/powerpoint/2010/main" val="2003885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ine wave: amplitude and phase">
            <a:extLst>
              <a:ext uri="{FF2B5EF4-FFF2-40B4-BE49-F238E27FC236}">
                <a16:creationId xmlns:a16="http://schemas.microsoft.com/office/drawing/2014/main" id="{DD0D3339-A2C1-46DC-BD72-8CA1FBAE9141}"/>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Sine wave: amplitude and phase</a:t>
            </a:r>
          </a:p>
        </p:txBody>
      </p:sp>
      <p:sp>
        <p:nvSpPr>
          <p:cNvPr id="3" name="At ω = 1 rad/s, the period is 2π seconds">
            <a:extLst>
              <a:ext uri="{FF2B5EF4-FFF2-40B4-BE49-F238E27FC236}">
                <a16:creationId xmlns:a16="http://schemas.microsoft.com/office/drawing/2014/main" id="{8B6AC735-60A8-4380-8148-585B53636E27}"/>
              </a:ext>
            </a:extLst>
          </p:cNvPr>
          <p:cNvSpPr>
            <a:spLocks noGrp="1"/>
          </p:cNvSpPr>
          <p:nvPr/>
        </p:nvSpPr>
        <p:spPr>
          <a:xfrm>
            <a:off x="590550" y="1304925"/>
            <a:ext cx="11010900" cy="466725"/>
          </a:xfrm>
          <a:prstGeom prst="rect">
            <a:avLst/>
          </a:prstGeom>
          <a:noFill/>
          <a:ln w="0">
            <a:noFill/>
          </a:ln>
        </p:spPr>
        <p:txBody>
          <a:bodyPr lIns="0" tIns="0" rIns="0" bIns="0" anchor="t">
            <a:noAutofit/>
          </a:bodyPr>
          <a:lstStyle>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At ω = 1 rad/s, the period is 2π seconds</a:t>
            </a:r>
          </a:p>
        </p:txBody>
      </p:sp>
      <p:sp>
        <p:nvSpPr>
          <p:cNvPr id="4" name="Rectangle 3">
            <a:extLst>
              <a:ext uri="{FF2B5EF4-FFF2-40B4-BE49-F238E27FC236}">
                <a16:creationId xmlns:a16="http://schemas.microsoft.com/office/drawing/2014/main" id="{E8AE09C9-9EE9-4253-BDD8-9CA956F25DC1}"/>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defRPr sz="1275" b="0">
                <a:solidFill>
                  <a:srgbClr val="516474"/>
                </a:solidFill>
                <a:latin typeface="Arial"/>
                <a:ea typeface="Arial"/>
                <a:cs typeface="Arial"/>
              </a:defRPr>
            </a:pPr>
            <a:r>
              <a:t>08 / 19</a:t>
            </a:r>
          </a:p>
        </p:txBody>
      </p:sp>
      <p:pic>
        <p:nvPicPr>
          <p:cNvPr id="5" name="Picture 4">
            <a:extLst>
              <a:ext uri="{FF2B5EF4-FFF2-40B4-BE49-F238E27FC236}">
                <a16:creationId xmlns:a16="http://schemas.microsoft.com/office/drawing/2014/main" id="{E79F9D61-E568-4DB7-97CD-2F188B6AD222}"/>
              </a:ext>
            </a:extLst>
          </p:cNvPr>
          <p:cNvPicPr>
            <a:picLocks noChangeAspect="1"/>
          </p:cNvPicPr>
          <p:nvPr/>
        </p:nvPicPr>
        <p:blipFill>
          <a:blip r:embed="rId3"/>
          <a:stretch/>
        </p:blipFill>
        <p:spPr>
          <a:xfrm>
            <a:off x="209550" y="1954045"/>
            <a:ext cx="11772900" cy="3302335"/>
          </a:xfrm>
          <a:prstGeom prst="rect">
            <a:avLst/>
          </a:prstGeom>
        </p:spPr>
      </p:pic>
      <p:sp>
        <p:nvSpPr>
          <p:cNvPr id="6" name="After the transient, both outputs oscillate at t">
            <a:extLst>
              <a:ext uri="{FF2B5EF4-FFF2-40B4-BE49-F238E27FC236}">
                <a16:creationId xmlns:a16="http://schemas.microsoft.com/office/drawing/2014/main" id="{B175FFC1-0586-48FE-A547-FA3CFEAF7AE0}"/>
              </a:ext>
            </a:extLst>
          </p:cNvPr>
          <p:cNvSpPr>
            <a:spLocks noGrp="1"/>
          </p:cNvSpPr>
          <p:nvPr/>
        </p:nvSpPr>
        <p:spPr>
          <a:xfrm>
            <a:off x="590550" y="5429250"/>
            <a:ext cx="11010900" cy="352425"/>
          </a:xfrm>
          <a:prstGeom prst="rect">
            <a:avLst/>
          </a:prstGeom>
          <a:noFill/>
          <a:ln w="0">
            <a:noFill/>
          </a:ln>
        </p:spPr>
        <p:txBody>
          <a:bodyPr lIns="0" tIns="0" rIns="0" bIns="0" anchor="t">
            <a:noAutofit/>
          </a:bodyPr>
          <a:lstStyle>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After the transient, both outputs oscillate at the input frequency.</a:t>
            </a:r>
          </a:p>
        </p:txBody>
      </p:sp>
      <p:sp>
        <p:nvSpPr>
          <p:cNvPr id="7" name="For u₂ only: |G₁₂(j1)| ≈ 7.85 and |G₂₂(j1)| ≈ 1.">
            <a:extLst>
              <a:ext uri="{FF2B5EF4-FFF2-40B4-BE49-F238E27FC236}">
                <a16:creationId xmlns:a16="http://schemas.microsoft.com/office/drawing/2014/main" id="{3852315E-41CA-440A-A8BC-A318D5DD71BF}"/>
              </a:ext>
            </a:extLst>
          </p:cNvPr>
          <p:cNvSpPr>
            <a:spLocks noGrp="1"/>
          </p:cNvSpPr>
          <p:nvPr/>
        </p:nvSpPr>
        <p:spPr>
          <a:xfrm>
            <a:off x="590550" y="5838825"/>
            <a:ext cx="11010900" cy="352425"/>
          </a:xfrm>
          <a:prstGeom prst="rect">
            <a:avLst/>
          </a:prstGeom>
          <a:noFill/>
          <a:ln w="0">
            <a:noFill/>
          </a:ln>
        </p:spPr>
        <p:txBody>
          <a:bodyPr lIns="0" tIns="0" rIns="0" bIns="0" anchor="t">
            <a:noAutofit/>
          </a:bodyPr>
          <a:lstStyle>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For u₂ only: |G₁₂(j1)| ≈ 7.85 and |G₂₂(j1)| ≈ 1.21.</a:t>
            </a:r>
          </a:p>
        </p:txBody>
      </p:sp>
      <p:sp>
        <p:nvSpPr>
          <p:cNvPr id="8" name="Nominal gains (1, 0.5). Blue: a, left axis. Red:">
            <a:extLst>
              <a:ext uri="{FF2B5EF4-FFF2-40B4-BE49-F238E27FC236}">
                <a16:creationId xmlns:a16="http://schemas.microsoft.com/office/drawing/2014/main" id="{8C6A35C1-9603-47DC-AAD2-AFE78FFB6246}"/>
              </a:ext>
            </a:extLst>
          </p:cNvPr>
          <p:cNvSpPr>
            <a:spLocks noGrp="1"/>
          </p:cNvSpPr>
          <p:nvPr/>
        </p:nvSpPr>
        <p:spPr>
          <a:xfrm>
            <a:off x="590550" y="6219825"/>
            <a:ext cx="10668000" cy="238125"/>
          </a:xfrm>
          <a:prstGeom prst="rect">
            <a:avLst/>
          </a:prstGeom>
          <a:noFill/>
          <a:ln w="0">
            <a:noFill/>
          </a:ln>
        </p:spPr>
        <p:txBody>
          <a:bodyPr lIns="0" tIns="0" rIns="0" bIns="0" anchor="t">
            <a:noAutofit/>
          </a:bodyPr>
          <a:lstStyle>
            <a:defPPr>
              <a:defRPr sz="1425" b="0">
                <a:solidFill>
                  <a:srgbClr val="516474"/>
                </a:solidFill>
                <a:latin typeface="Arial"/>
                <a:ea typeface="Arial"/>
                <a:cs typeface="Arial"/>
              </a:defRPr>
            </a:defPPr>
            <a:lvl1pPr>
              <a:defRPr sz="1425" b="0">
                <a:solidFill>
                  <a:srgbClr val="516474"/>
                </a:solidFill>
                <a:latin typeface="Arial"/>
                <a:ea typeface="Arial"/>
                <a:cs typeface="Arial"/>
              </a:defRPr>
            </a:lvl1pPr>
            <a:lvl2pPr>
              <a:defRPr sz="1425" b="0">
                <a:solidFill>
                  <a:srgbClr val="516474"/>
                </a:solidFill>
                <a:latin typeface="Arial"/>
                <a:ea typeface="Arial"/>
                <a:cs typeface="Arial"/>
              </a:defRPr>
            </a:lvl2pPr>
            <a:lvl3pPr>
              <a:defRPr sz="1425" b="0">
                <a:solidFill>
                  <a:srgbClr val="516474"/>
                </a:solidFill>
                <a:latin typeface="Arial"/>
                <a:ea typeface="Arial"/>
                <a:cs typeface="Arial"/>
              </a:defRPr>
            </a:lvl3pPr>
            <a:lvl4pPr>
              <a:defRPr sz="1425" b="0">
                <a:solidFill>
                  <a:srgbClr val="516474"/>
                </a:solidFill>
                <a:latin typeface="Arial"/>
                <a:ea typeface="Arial"/>
                <a:cs typeface="Arial"/>
              </a:defRPr>
            </a:lvl4pPr>
            <a:lvl5pPr>
              <a:defRPr sz="1425" b="0">
                <a:solidFill>
                  <a:srgbClr val="516474"/>
                </a:solidFill>
                <a:latin typeface="Arial"/>
                <a:ea typeface="Arial"/>
                <a:cs typeface="Arial"/>
              </a:defRPr>
            </a:lvl5pPr>
            <a:lvl6pPr>
              <a:defRPr sz="1425" b="0">
                <a:solidFill>
                  <a:srgbClr val="516474"/>
                </a:solidFill>
                <a:latin typeface="Arial"/>
                <a:ea typeface="Arial"/>
                <a:cs typeface="Arial"/>
              </a:defRPr>
            </a:lvl6pPr>
            <a:lvl7pPr>
              <a:defRPr sz="1425" b="0">
                <a:solidFill>
                  <a:srgbClr val="516474"/>
                </a:solidFill>
                <a:latin typeface="Arial"/>
                <a:ea typeface="Arial"/>
                <a:cs typeface="Arial"/>
              </a:defRPr>
            </a:lvl7pPr>
            <a:lvl8pPr>
              <a:defRPr sz="1425" b="0">
                <a:solidFill>
                  <a:srgbClr val="516474"/>
                </a:solidFill>
                <a:latin typeface="Arial"/>
                <a:ea typeface="Arial"/>
                <a:cs typeface="Arial"/>
              </a:defRPr>
            </a:lvl8pPr>
            <a:lvl9pPr>
              <a:defRPr sz="1425" b="0">
                <a:solidFill>
                  <a:srgbClr val="516474"/>
                </a:solidFill>
                <a:latin typeface="Arial"/>
                <a:ea typeface="Arial"/>
                <a:cs typeface="Arial"/>
              </a:defRPr>
            </a:lvl9pPr>
          </a:lstStyle>
          <a:p>
            <a:pPr>
              <a:lnSpc>
                <a:spcPct val="110000"/>
              </a:lnSpc>
              <a:buNone/>
              <a:defRPr sz="1425" b="0">
                <a:solidFill>
                  <a:srgbClr val="516474"/>
                </a:solidFill>
                <a:latin typeface="Arial"/>
                <a:ea typeface="Arial"/>
                <a:cs typeface="Arial"/>
              </a:defRPr>
            </a:pPr>
            <a:r>
              <a:rPr sz="1425" b="0">
                <a:solidFill>
                  <a:srgbClr val="516474"/>
                </a:solidFill>
                <a:latin typeface="Arial"/>
                <a:ea typeface="Arial"/>
                <a:cs typeface="Arial"/>
              </a:rPr>
              <a:t>Notebook figure (non-editable image). Nominal (1, 0.5). Unit inputs. Blue: a (left). Red: θ (right).</a:t>
            </a:r>
          </a:p>
        </p:txBody>
      </p:sp>
    </p:spTree>
    <p:extLst>
      <p:ext uri="{BB962C8B-B14F-4D97-AF65-F5344CB8AC3E}">
        <p14:creationId xmlns:p14="http://schemas.microsoft.com/office/powerpoint/2010/main" val="1197726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Impulse: natural modes decay">
            <a:extLst>
              <a:ext uri="{FF2B5EF4-FFF2-40B4-BE49-F238E27FC236}">
                <a16:creationId xmlns:a16="http://schemas.microsoft.com/office/drawing/2014/main" id="{16410661-7110-4AAB-9BAB-A2B4CE31FFD2}"/>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defRPr sz="3300" b="1">
                <a:solidFill>
                  <a:srgbClr val="13283C"/>
                </a:solidFill>
                <a:latin typeface="Arial"/>
                <a:ea typeface="Arial"/>
                <a:cs typeface="Arial"/>
              </a:defRPr>
            </a:defPPr>
            <a:lvl1pPr>
              <a:defRPr sz="3300" b="1">
                <a:solidFill>
                  <a:srgbClr val="13283C"/>
                </a:solidFill>
                <a:latin typeface="Arial"/>
                <a:ea typeface="Arial"/>
                <a:cs typeface="Arial"/>
              </a:defRPr>
            </a:lvl1pPr>
            <a:lvl2pPr>
              <a:defRPr sz="3300" b="1">
                <a:solidFill>
                  <a:srgbClr val="13283C"/>
                </a:solidFill>
                <a:latin typeface="Arial"/>
                <a:ea typeface="Arial"/>
                <a:cs typeface="Arial"/>
              </a:defRPr>
            </a:lvl2pPr>
            <a:lvl3pPr>
              <a:defRPr sz="3300" b="1">
                <a:solidFill>
                  <a:srgbClr val="13283C"/>
                </a:solidFill>
                <a:latin typeface="Arial"/>
                <a:ea typeface="Arial"/>
                <a:cs typeface="Arial"/>
              </a:defRPr>
            </a:lvl3pPr>
            <a:lvl4pPr>
              <a:defRPr sz="3300" b="1">
                <a:solidFill>
                  <a:srgbClr val="13283C"/>
                </a:solidFill>
                <a:latin typeface="Arial"/>
                <a:ea typeface="Arial"/>
                <a:cs typeface="Arial"/>
              </a:defRPr>
            </a:lvl4pPr>
            <a:lvl5pPr>
              <a:defRPr sz="3300" b="1">
                <a:solidFill>
                  <a:srgbClr val="13283C"/>
                </a:solidFill>
                <a:latin typeface="Arial"/>
                <a:ea typeface="Arial"/>
                <a:cs typeface="Arial"/>
              </a:defRPr>
            </a:lvl5pPr>
            <a:lvl6pPr>
              <a:defRPr sz="3300" b="1">
                <a:solidFill>
                  <a:srgbClr val="13283C"/>
                </a:solidFill>
                <a:latin typeface="Arial"/>
                <a:ea typeface="Arial"/>
                <a:cs typeface="Arial"/>
              </a:defRPr>
            </a:lvl6pPr>
            <a:lvl7pPr>
              <a:defRPr sz="3300" b="1">
                <a:solidFill>
                  <a:srgbClr val="13283C"/>
                </a:solidFill>
                <a:latin typeface="Arial"/>
                <a:ea typeface="Arial"/>
                <a:cs typeface="Arial"/>
              </a:defRPr>
            </a:lvl7pPr>
            <a:lvl8pPr>
              <a:defRPr sz="3300" b="1">
                <a:solidFill>
                  <a:srgbClr val="13283C"/>
                </a:solidFill>
                <a:latin typeface="Arial"/>
                <a:ea typeface="Arial"/>
                <a:cs typeface="Arial"/>
              </a:defRPr>
            </a:lvl8pPr>
            <a:lvl9pPr>
              <a:defRPr sz="3300" b="1">
                <a:solidFill>
                  <a:srgbClr val="13283C"/>
                </a:solidFill>
                <a:latin typeface="Arial"/>
                <a:ea typeface="Arial"/>
                <a:cs typeface="Arial"/>
              </a:defRPr>
            </a:lvl9pPr>
          </a:lstStyle>
          <a:p>
            <a:pPr>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Impulse: natural modes decay</a:t>
            </a:r>
          </a:p>
        </p:txBody>
      </p:sp>
      <p:sp>
        <p:nvSpPr>
          <p:cNvPr id="3" name="A brief ideal input reveals the transient dynami">
            <a:extLst>
              <a:ext uri="{FF2B5EF4-FFF2-40B4-BE49-F238E27FC236}">
                <a16:creationId xmlns:a16="http://schemas.microsoft.com/office/drawing/2014/main" id="{E96D79BB-1AD9-4940-B33A-D6696D7966AD}"/>
              </a:ext>
            </a:extLst>
          </p:cNvPr>
          <p:cNvSpPr>
            <a:spLocks noGrp="1"/>
          </p:cNvSpPr>
          <p:nvPr/>
        </p:nvSpPr>
        <p:spPr>
          <a:xfrm>
            <a:off x="590550" y="1304925"/>
            <a:ext cx="11010900" cy="466725"/>
          </a:xfrm>
          <a:prstGeom prst="rect">
            <a:avLst/>
          </a:prstGeom>
          <a:noFill/>
          <a:ln w="0">
            <a:noFill/>
          </a:ln>
        </p:spPr>
        <p:txBody>
          <a:bodyPr lIns="0" tIns="0" rIns="0" bIns="0" anchor="t">
            <a:noAutofit/>
          </a:bodyPr>
          <a:lstStyle>
            <a:defPPr>
              <a:defRPr sz="2250" b="1">
                <a:solidFill>
                  <a:srgbClr val="087E8B"/>
                </a:solidFill>
                <a:latin typeface="Arial"/>
                <a:ea typeface="Arial"/>
                <a:cs typeface="Arial"/>
              </a:defRPr>
            </a:defPPr>
            <a:lvl1pPr>
              <a:defRPr sz="2250" b="1">
                <a:solidFill>
                  <a:srgbClr val="087E8B"/>
                </a:solidFill>
                <a:latin typeface="Arial"/>
                <a:ea typeface="Arial"/>
                <a:cs typeface="Arial"/>
              </a:defRPr>
            </a:lvl1pPr>
            <a:lvl2pPr>
              <a:defRPr sz="2250" b="1">
                <a:solidFill>
                  <a:srgbClr val="087E8B"/>
                </a:solidFill>
                <a:latin typeface="Arial"/>
                <a:ea typeface="Arial"/>
                <a:cs typeface="Arial"/>
              </a:defRPr>
            </a:lvl2pPr>
            <a:lvl3pPr>
              <a:defRPr sz="2250" b="1">
                <a:solidFill>
                  <a:srgbClr val="087E8B"/>
                </a:solidFill>
                <a:latin typeface="Arial"/>
                <a:ea typeface="Arial"/>
                <a:cs typeface="Arial"/>
              </a:defRPr>
            </a:lvl3pPr>
            <a:lvl4pPr>
              <a:defRPr sz="2250" b="1">
                <a:solidFill>
                  <a:srgbClr val="087E8B"/>
                </a:solidFill>
                <a:latin typeface="Arial"/>
                <a:ea typeface="Arial"/>
                <a:cs typeface="Arial"/>
              </a:defRPr>
            </a:lvl4pPr>
            <a:lvl5pPr>
              <a:defRPr sz="2250" b="1">
                <a:solidFill>
                  <a:srgbClr val="087E8B"/>
                </a:solidFill>
                <a:latin typeface="Arial"/>
                <a:ea typeface="Arial"/>
                <a:cs typeface="Arial"/>
              </a:defRPr>
            </a:lvl5pPr>
            <a:lvl6pPr>
              <a:defRPr sz="2250" b="1">
                <a:solidFill>
                  <a:srgbClr val="087E8B"/>
                </a:solidFill>
                <a:latin typeface="Arial"/>
                <a:ea typeface="Arial"/>
                <a:cs typeface="Arial"/>
              </a:defRPr>
            </a:lvl6pPr>
            <a:lvl7pPr>
              <a:defRPr sz="2250" b="1">
                <a:solidFill>
                  <a:srgbClr val="087E8B"/>
                </a:solidFill>
                <a:latin typeface="Arial"/>
                <a:ea typeface="Arial"/>
                <a:cs typeface="Arial"/>
              </a:defRPr>
            </a:lvl7pPr>
            <a:lvl8pPr>
              <a:defRPr sz="2250" b="1">
                <a:solidFill>
                  <a:srgbClr val="087E8B"/>
                </a:solidFill>
                <a:latin typeface="Arial"/>
                <a:ea typeface="Arial"/>
                <a:cs typeface="Arial"/>
              </a:defRPr>
            </a:lvl8pPr>
            <a:lvl9pPr>
              <a:defRPr sz="2250" b="1">
                <a:solidFill>
                  <a:srgbClr val="087E8B"/>
                </a:solidFill>
                <a:latin typeface="Arial"/>
                <a:ea typeface="Arial"/>
                <a:cs typeface="Arial"/>
              </a:defRPr>
            </a:lvl9pPr>
          </a:lstStyle>
          <a:p>
            <a:pPr>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A brief ideal input reveals the transient dynamics</a:t>
            </a:r>
          </a:p>
        </p:txBody>
      </p:sp>
      <p:sp>
        <p:nvSpPr>
          <p:cNvPr id="4" name="Rectangle 3">
            <a:extLst>
              <a:ext uri="{FF2B5EF4-FFF2-40B4-BE49-F238E27FC236}">
                <a16:creationId xmlns:a16="http://schemas.microsoft.com/office/drawing/2014/main" id="{B416E242-1D78-46AB-8CC3-F6788C3C88EF}"/>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defRPr sz="1275" b="0">
                <a:solidFill>
                  <a:srgbClr val="516474"/>
                </a:solidFill>
                <a:latin typeface="Arial"/>
                <a:ea typeface="Arial"/>
                <a:cs typeface="Arial"/>
              </a:defRPr>
            </a:pPr>
            <a:r>
              <a:t>09 / 19</a:t>
            </a:r>
          </a:p>
        </p:txBody>
      </p:sp>
      <p:pic>
        <p:nvPicPr>
          <p:cNvPr id="5" name="Picture 4">
            <a:extLst>
              <a:ext uri="{FF2B5EF4-FFF2-40B4-BE49-F238E27FC236}">
                <a16:creationId xmlns:a16="http://schemas.microsoft.com/office/drawing/2014/main" id="{BB51FB56-F930-4C74-9751-185EC74723CF}"/>
              </a:ext>
            </a:extLst>
          </p:cNvPr>
          <p:cNvPicPr>
            <a:picLocks noChangeAspect="1"/>
          </p:cNvPicPr>
          <p:nvPr/>
        </p:nvPicPr>
        <p:blipFill>
          <a:blip r:embed="rId3"/>
          <a:stretch/>
        </p:blipFill>
        <p:spPr>
          <a:xfrm>
            <a:off x="209550" y="1954045"/>
            <a:ext cx="11772900" cy="3302335"/>
          </a:xfrm>
          <a:prstGeom prst="rect">
            <a:avLst/>
          </a:prstGeom>
        </p:spPr>
      </p:pic>
      <p:sp>
        <p:nvSpPr>
          <p:cNvPr id="6" name="An axial impulse gives a an immediate jump of ab">
            <a:extLst>
              <a:ext uri="{FF2B5EF4-FFF2-40B4-BE49-F238E27FC236}">
                <a16:creationId xmlns:a16="http://schemas.microsoft.com/office/drawing/2014/main" id="{055E8AB0-E165-43C8-8F51-DD521F4564D2}"/>
              </a:ext>
            </a:extLst>
          </p:cNvPr>
          <p:cNvSpPr>
            <a:spLocks noGrp="1"/>
          </p:cNvSpPr>
          <p:nvPr/>
        </p:nvSpPr>
        <p:spPr>
          <a:xfrm>
            <a:off x="590550" y="5429250"/>
            <a:ext cx="11010900" cy="352425"/>
          </a:xfrm>
          <a:prstGeom prst="rect">
            <a:avLst/>
          </a:prstGeom>
          <a:noFill/>
          <a:ln w="0">
            <a:noFill/>
          </a:ln>
        </p:spPr>
        <p:txBody>
          <a:bodyPr lIns="0" tIns="0" rIns="0" bIns="0" anchor="t">
            <a:noAutofit/>
          </a:bodyPr>
          <a:lstStyle>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An axial impulse gives a an immediate jump of about 0.070.</a:t>
            </a:r>
          </a:p>
        </p:txBody>
      </p:sp>
      <p:sp>
        <p:nvSpPr>
          <p:cNvPr id="7" name="The remaining response decays with the stable no">
            <a:extLst>
              <a:ext uri="{FF2B5EF4-FFF2-40B4-BE49-F238E27FC236}">
                <a16:creationId xmlns:a16="http://schemas.microsoft.com/office/drawing/2014/main" id="{885B2BC7-6DE8-43A9-AC38-788DB9D86E57}"/>
              </a:ext>
            </a:extLst>
          </p:cNvPr>
          <p:cNvSpPr>
            <a:spLocks noGrp="1"/>
          </p:cNvSpPr>
          <p:nvPr/>
        </p:nvSpPr>
        <p:spPr>
          <a:xfrm>
            <a:off x="590550" y="5838825"/>
            <a:ext cx="11010900" cy="352425"/>
          </a:xfrm>
          <a:prstGeom prst="rect">
            <a:avLst/>
          </a:prstGeom>
          <a:noFill/>
          <a:ln w="0">
            <a:noFill/>
          </a:ln>
        </p:spPr>
        <p:txBody>
          <a:bodyPr lIns="0" tIns="0" rIns="0" bIns="0" anchor="t">
            <a:noAutofit/>
          </a:bodyPr>
          <a:lstStyle>
            <a:defPPr>
              <a:defRPr sz="1875" b="0">
                <a:solidFill>
                  <a:srgbClr val="13283C"/>
                </a:solidFill>
                <a:latin typeface="Arial"/>
                <a:ea typeface="Arial"/>
                <a:cs typeface="Arial"/>
              </a:defRPr>
            </a:defPPr>
            <a:lvl1pPr>
              <a:defRPr sz="1875" b="0">
                <a:solidFill>
                  <a:srgbClr val="13283C"/>
                </a:solidFill>
                <a:latin typeface="Arial"/>
                <a:ea typeface="Arial"/>
                <a:cs typeface="Arial"/>
              </a:defRPr>
            </a:lvl1pPr>
            <a:lvl2pPr>
              <a:defRPr sz="1875" b="0">
                <a:solidFill>
                  <a:srgbClr val="13283C"/>
                </a:solidFill>
                <a:latin typeface="Arial"/>
                <a:ea typeface="Arial"/>
                <a:cs typeface="Arial"/>
              </a:defRPr>
            </a:lvl2pPr>
            <a:lvl3pPr>
              <a:defRPr sz="1875" b="0">
                <a:solidFill>
                  <a:srgbClr val="13283C"/>
                </a:solidFill>
                <a:latin typeface="Arial"/>
                <a:ea typeface="Arial"/>
                <a:cs typeface="Arial"/>
              </a:defRPr>
            </a:lvl3pPr>
            <a:lvl4pPr>
              <a:defRPr sz="1875" b="0">
                <a:solidFill>
                  <a:srgbClr val="13283C"/>
                </a:solidFill>
                <a:latin typeface="Arial"/>
                <a:ea typeface="Arial"/>
                <a:cs typeface="Arial"/>
              </a:defRPr>
            </a:lvl4pPr>
            <a:lvl5pPr>
              <a:defRPr sz="1875" b="0">
                <a:solidFill>
                  <a:srgbClr val="13283C"/>
                </a:solidFill>
                <a:latin typeface="Arial"/>
                <a:ea typeface="Arial"/>
                <a:cs typeface="Arial"/>
              </a:defRPr>
            </a:lvl5pPr>
            <a:lvl6pPr>
              <a:defRPr sz="1875" b="0">
                <a:solidFill>
                  <a:srgbClr val="13283C"/>
                </a:solidFill>
                <a:latin typeface="Arial"/>
                <a:ea typeface="Arial"/>
                <a:cs typeface="Arial"/>
              </a:defRPr>
            </a:lvl6pPr>
            <a:lvl7pPr>
              <a:defRPr sz="1875" b="0">
                <a:solidFill>
                  <a:srgbClr val="13283C"/>
                </a:solidFill>
                <a:latin typeface="Arial"/>
                <a:ea typeface="Arial"/>
                <a:cs typeface="Arial"/>
              </a:defRPr>
            </a:lvl7pPr>
            <a:lvl8pPr>
              <a:defRPr sz="1875" b="0">
                <a:solidFill>
                  <a:srgbClr val="13283C"/>
                </a:solidFill>
                <a:latin typeface="Arial"/>
                <a:ea typeface="Arial"/>
                <a:cs typeface="Arial"/>
              </a:defRPr>
            </a:lvl8pPr>
            <a:lvl9pPr>
              <a:defRPr sz="1875" b="0">
                <a:solidFill>
                  <a:srgbClr val="13283C"/>
                </a:solidFill>
                <a:latin typeface="Arial"/>
                <a:ea typeface="Arial"/>
                <a:cs typeface="Arial"/>
              </a:defRPr>
            </a:lvl9pPr>
          </a:lstStyle>
          <a:p>
            <a:pPr>
              <a:lnSpc>
                <a:spcPct val="110000"/>
              </a:lnSpc>
              <a:buNone/>
              <a:defRPr sz="1875" b="0">
                <a:solidFill>
                  <a:srgbClr val="13283C"/>
                </a:solidFill>
                <a:latin typeface="Arial"/>
                <a:ea typeface="Arial"/>
                <a:cs typeface="Arial"/>
              </a:defRPr>
            </a:pPr>
            <a:r>
              <a:rPr sz="1875" b="0">
                <a:solidFill>
                  <a:srgbClr val="13283C"/>
                </a:solidFill>
                <a:latin typeface="Arial"/>
                <a:ea typeface="Arial"/>
                <a:cs typeface="Arial"/>
              </a:rPr>
              <a:t>The remaining response decays with the stable nominal modes.</a:t>
            </a:r>
          </a:p>
        </p:txBody>
      </p:sp>
      <p:sp>
        <p:nvSpPr>
          <p:cNvPr id="8" name="Nominal gains (1, 0.5). Blue: a, left axis. Red:">
            <a:extLst>
              <a:ext uri="{FF2B5EF4-FFF2-40B4-BE49-F238E27FC236}">
                <a16:creationId xmlns:a16="http://schemas.microsoft.com/office/drawing/2014/main" id="{6BF0252A-87D4-4ECA-AFC3-7DC7AC460CC4}"/>
              </a:ext>
            </a:extLst>
          </p:cNvPr>
          <p:cNvSpPr>
            <a:spLocks noGrp="1"/>
          </p:cNvSpPr>
          <p:nvPr/>
        </p:nvSpPr>
        <p:spPr>
          <a:xfrm>
            <a:off x="590550" y="6219825"/>
            <a:ext cx="10668000" cy="238125"/>
          </a:xfrm>
          <a:prstGeom prst="rect">
            <a:avLst/>
          </a:prstGeom>
          <a:noFill/>
          <a:ln w="0">
            <a:noFill/>
          </a:ln>
        </p:spPr>
        <p:txBody>
          <a:bodyPr lIns="0" tIns="0" rIns="0" bIns="0" anchor="t">
            <a:noAutofit/>
          </a:bodyPr>
          <a:lstStyle>
            <a:defPPr>
              <a:defRPr sz="1425" b="0">
                <a:solidFill>
                  <a:srgbClr val="516474"/>
                </a:solidFill>
                <a:latin typeface="Arial"/>
                <a:ea typeface="Arial"/>
                <a:cs typeface="Arial"/>
              </a:defRPr>
            </a:defPPr>
            <a:lvl1pPr>
              <a:defRPr sz="1425" b="0">
                <a:solidFill>
                  <a:srgbClr val="516474"/>
                </a:solidFill>
                <a:latin typeface="Arial"/>
                <a:ea typeface="Arial"/>
                <a:cs typeface="Arial"/>
              </a:defRPr>
            </a:lvl1pPr>
            <a:lvl2pPr>
              <a:defRPr sz="1425" b="0">
                <a:solidFill>
                  <a:srgbClr val="516474"/>
                </a:solidFill>
                <a:latin typeface="Arial"/>
                <a:ea typeface="Arial"/>
                <a:cs typeface="Arial"/>
              </a:defRPr>
            </a:lvl2pPr>
            <a:lvl3pPr>
              <a:defRPr sz="1425" b="0">
                <a:solidFill>
                  <a:srgbClr val="516474"/>
                </a:solidFill>
                <a:latin typeface="Arial"/>
                <a:ea typeface="Arial"/>
                <a:cs typeface="Arial"/>
              </a:defRPr>
            </a:lvl3pPr>
            <a:lvl4pPr>
              <a:defRPr sz="1425" b="0">
                <a:solidFill>
                  <a:srgbClr val="516474"/>
                </a:solidFill>
                <a:latin typeface="Arial"/>
                <a:ea typeface="Arial"/>
                <a:cs typeface="Arial"/>
              </a:defRPr>
            </a:lvl4pPr>
            <a:lvl5pPr>
              <a:defRPr sz="1425" b="0">
                <a:solidFill>
                  <a:srgbClr val="516474"/>
                </a:solidFill>
                <a:latin typeface="Arial"/>
                <a:ea typeface="Arial"/>
                <a:cs typeface="Arial"/>
              </a:defRPr>
            </a:lvl5pPr>
            <a:lvl6pPr>
              <a:defRPr sz="1425" b="0">
                <a:solidFill>
                  <a:srgbClr val="516474"/>
                </a:solidFill>
                <a:latin typeface="Arial"/>
                <a:ea typeface="Arial"/>
                <a:cs typeface="Arial"/>
              </a:defRPr>
            </a:lvl6pPr>
            <a:lvl7pPr>
              <a:defRPr sz="1425" b="0">
                <a:solidFill>
                  <a:srgbClr val="516474"/>
                </a:solidFill>
                <a:latin typeface="Arial"/>
                <a:ea typeface="Arial"/>
                <a:cs typeface="Arial"/>
              </a:defRPr>
            </a:lvl7pPr>
            <a:lvl8pPr>
              <a:defRPr sz="1425" b="0">
                <a:solidFill>
                  <a:srgbClr val="516474"/>
                </a:solidFill>
                <a:latin typeface="Arial"/>
                <a:ea typeface="Arial"/>
                <a:cs typeface="Arial"/>
              </a:defRPr>
            </a:lvl8pPr>
            <a:lvl9pPr>
              <a:defRPr sz="1425" b="0">
                <a:solidFill>
                  <a:srgbClr val="516474"/>
                </a:solidFill>
                <a:latin typeface="Arial"/>
                <a:ea typeface="Arial"/>
                <a:cs typeface="Arial"/>
              </a:defRPr>
            </a:lvl9pPr>
          </a:lstStyle>
          <a:p>
            <a:pPr>
              <a:lnSpc>
                <a:spcPct val="110000"/>
              </a:lnSpc>
              <a:buNone/>
              <a:defRPr sz="1425" b="0">
                <a:solidFill>
                  <a:srgbClr val="516474"/>
                </a:solidFill>
                <a:latin typeface="Arial"/>
                <a:ea typeface="Arial"/>
                <a:cs typeface="Arial"/>
              </a:defRPr>
            </a:pPr>
            <a:r>
              <a:rPr sz="1425" b="0">
                <a:solidFill>
                  <a:srgbClr val="516474"/>
                </a:solidFill>
                <a:latin typeface="Arial"/>
                <a:ea typeface="Arial"/>
                <a:cs typeface="Arial"/>
              </a:rPr>
              <a:t>Notebook figure (non-editable image). Nominal (1, 0.5). Unit inputs. Blue: a (left). Red: θ (right).</a:t>
            </a:r>
          </a:p>
        </p:txBody>
      </p:sp>
    </p:spTree>
    <p:extLst>
      <p:ext uri="{BB962C8B-B14F-4D97-AF65-F5344CB8AC3E}">
        <p14:creationId xmlns:p14="http://schemas.microsoft.com/office/powerpoint/2010/main" val="940587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coplamiento temporal">
            <a:extLst>
              <a:ext uri="{FF2B5EF4-FFF2-40B4-BE49-F238E27FC236}">
                <a16:creationId xmlns:a16="http://schemas.microsoft.com/office/drawing/2014/main" id="{7437EAFB-D09D-420F-987E-2341DDEDBF0D}"/>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Coupling in time</a:t>
            </a:r>
          </a:p>
        </p:txBody>
      </p:sp>
      <p:sp>
        <p:nvSpPr>
          <p:cNvPr id="3" name="07 / 16">
            <a:extLst>
              <a:ext uri="{FF2B5EF4-FFF2-40B4-BE49-F238E27FC236}">
                <a16:creationId xmlns:a16="http://schemas.microsoft.com/office/drawing/2014/main" id="{450252F2-2BC9-4DB4-A893-9FC63730F47C}"/>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10 / 19</a:t>
            </a:r>
          </a:p>
        </p:txBody>
      </p:sp>
      <p:graphicFrame>
        <p:nvGraphicFramePr>
          <p:cNvPr id="4" name="Chart">
            <a:extLst>
              <a:ext uri="{FF2B5EF4-FFF2-40B4-BE49-F238E27FC236}">
                <a16:creationId xmlns:a16="http://schemas.microsoft.com/office/drawing/2014/main" id="{6F703653-6CDB-4BF1-8E8D-1FD231C622D7}"/>
              </a:ext>
            </a:extLst>
          </p:cNvPr>
          <p:cNvGraphicFramePr/>
          <p:nvPr/>
        </p:nvGraphicFramePr>
        <p:xfrm>
          <a:off x="476250" y="1714500"/>
          <a:ext cx="7096125"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5" name="La inclinación domina&#10;el efecto cruzado">
            <a:extLst>
              <a:ext uri="{FF2B5EF4-FFF2-40B4-BE49-F238E27FC236}">
                <a16:creationId xmlns:a16="http://schemas.microsoft.com/office/drawing/2014/main" id="{96788302-BA94-4B5C-8218-0B3ED12A0ACA}"/>
              </a:ext>
            </a:extLst>
          </p:cNvPr>
          <p:cNvSpPr>
            <a:spLocks noGrp="1"/>
          </p:cNvSpPr>
          <p:nvPr/>
        </p:nvSpPr>
        <p:spPr>
          <a:xfrm>
            <a:off x="8048625" y="1828800"/>
            <a:ext cx="3524250" cy="1000125"/>
          </a:xfrm>
          <a:prstGeom prst="rect">
            <a:avLst/>
          </a:prstGeom>
          <a:noFill/>
          <a:ln w="0">
            <a:noFill/>
          </a:ln>
        </p:spPr>
        <p:txBody>
          <a:bodyPr lIns="0" tIns="0" rIns="0" bIns="0" anchor="t">
            <a:noAutofit/>
          </a:bodyPr>
          <a:lstStyle>
            <a:defPPr algn="l">
              <a:defRPr sz="2400" b="1">
                <a:solidFill>
                  <a:srgbClr val="087E8B"/>
                </a:solidFill>
                <a:latin typeface="Arial"/>
                <a:ea typeface="Arial"/>
                <a:cs typeface="Arial"/>
              </a:defRPr>
            </a:defPPr>
            <a:lvl1pPr algn="l">
              <a:defRPr sz="2400" b="1">
                <a:solidFill>
                  <a:srgbClr val="087E8B"/>
                </a:solidFill>
                <a:latin typeface="Arial"/>
                <a:ea typeface="Arial"/>
                <a:cs typeface="Arial"/>
              </a:defRPr>
            </a:lvl1pPr>
            <a:lvl2pPr algn="l">
              <a:defRPr sz="2400" b="1">
                <a:solidFill>
                  <a:srgbClr val="087E8B"/>
                </a:solidFill>
                <a:latin typeface="Arial"/>
                <a:ea typeface="Arial"/>
                <a:cs typeface="Arial"/>
              </a:defRPr>
            </a:lvl2pPr>
            <a:lvl3pPr algn="l">
              <a:defRPr sz="2400" b="1">
                <a:solidFill>
                  <a:srgbClr val="087E8B"/>
                </a:solidFill>
                <a:latin typeface="Arial"/>
                <a:ea typeface="Arial"/>
                <a:cs typeface="Arial"/>
              </a:defRPr>
            </a:lvl3pPr>
            <a:lvl4pPr algn="l">
              <a:defRPr sz="2400" b="1">
                <a:solidFill>
                  <a:srgbClr val="087E8B"/>
                </a:solidFill>
                <a:latin typeface="Arial"/>
                <a:ea typeface="Arial"/>
                <a:cs typeface="Arial"/>
              </a:defRPr>
            </a:lvl4pPr>
            <a:lvl5pPr algn="l">
              <a:defRPr sz="2400" b="1">
                <a:solidFill>
                  <a:srgbClr val="087E8B"/>
                </a:solidFill>
                <a:latin typeface="Arial"/>
                <a:ea typeface="Arial"/>
                <a:cs typeface="Arial"/>
              </a:defRPr>
            </a:lvl5pPr>
            <a:lvl6pPr algn="l">
              <a:defRPr sz="2400" b="1">
                <a:solidFill>
                  <a:srgbClr val="087E8B"/>
                </a:solidFill>
                <a:latin typeface="Arial"/>
                <a:ea typeface="Arial"/>
                <a:cs typeface="Arial"/>
              </a:defRPr>
            </a:lvl6pPr>
            <a:lvl7pPr algn="l">
              <a:defRPr sz="2400" b="1">
                <a:solidFill>
                  <a:srgbClr val="087E8B"/>
                </a:solidFill>
                <a:latin typeface="Arial"/>
                <a:ea typeface="Arial"/>
                <a:cs typeface="Arial"/>
              </a:defRPr>
            </a:lvl7pPr>
            <a:lvl8pPr algn="l">
              <a:defRPr sz="2400" b="1">
                <a:solidFill>
                  <a:srgbClr val="087E8B"/>
                </a:solidFill>
                <a:latin typeface="Arial"/>
                <a:ea typeface="Arial"/>
                <a:cs typeface="Arial"/>
              </a:defRPr>
            </a:lvl8pPr>
            <a:lvl9pPr algn="l">
              <a:defRPr sz="2400" b="1">
                <a:solidFill>
                  <a:srgbClr val="087E8B"/>
                </a:solidFill>
                <a:latin typeface="Arial"/>
                <a:ea typeface="Arial"/>
                <a:cs typeface="Arial"/>
              </a:defRPr>
            </a:lvl9pPr>
          </a:lstStyle>
          <a:p>
            <a:pPr algn="l">
              <a:lnSpc>
                <a:spcPct val="110000"/>
              </a:lnSpc>
              <a:buNone/>
              <a:defRPr sz="2400" b="1">
                <a:solidFill>
                  <a:srgbClr val="087E8B"/>
                </a:solidFill>
                <a:latin typeface="Arial"/>
                <a:ea typeface="Arial"/>
                <a:cs typeface="Arial"/>
              </a:defRPr>
            </a:pPr>
            <a:r>
              <a:rPr sz="2400" b="1">
                <a:solidFill>
                  <a:srgbClr val="087E8B"/>
                </a:solidFill>
                <a:latin typeface="Arial"/>
                <a:ea typeface="Arial"/>
                <a:cs typeface="Arial"/>
              </a:rPr>
              <a:t>Pitch dominates</a:t>
            </a:r>
          </a:p>
          <a:p>
            <a:pPr algn="l">
              <a:lnSpc>
                <a:spcPct val="110000"/>
              </a:lnSpc>
              <a:buNone/>
              <a:defRPr sz="2400" b="1">
                <a:solidFill>
                  <a:srgbClr val="087E8B"/>
                </a:solidFill>
                <a:latin typeface="Arial"/>
                <a:ea typeface="Arial"/>
                <a:cs typeface="Arial"/>
              </a:defRPr>
            </a:pPr>
            <a:r>
              <a:rPr sz="2400" b="1">
                <a:solidFill>
                  <a:srgbClr val="087E8B"/>
                </a:solidFill>
                <a:latin typeface="Arial"/>
                <a:ea typeface="Arial"/>
                <a:cs typeface="Arial"/>
              </a:rPr>
              <a:t>the cross-channel effect</a:t>
            </a:r>
          </a:p>
        </p:txBody>
      </p:sp>
      <p:sp>
        <p:nvSpPr>
          <p:cNvPr id="6" name="Desviación axial máxima:&#10;≈ 0,812 m/s²">
            <a:extLst>
              <a:ext uri="{FF2B5EF4-FFF2-40B4-BE49-F238E27FC236}">
                <a16:creationId xmlns:a16="http://schemas.microsoft.com/office/drawing/2014/main" id="{85136827-0A1C-41E9-AF1A-99A91F7371EE}"/>
              </a:ext>
            </a:extLst>
          </p:cNvPr>
          <p:cNvSpPr>
            <a:spLocks noGrp="1"/>
          </p:cNvSpPr>
          <p:nvPr/>
        </p:nvSpPr>
        <p:spPr>
          <a:xfrm>
            <a:off x="8048625" y="3352800"/>
            <a:ext cx="3524250" cy="76200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Peak axial deviation:</a:t>
            </a:r>
          </a:p>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 0.812 m/s²</a:t>
            </a:r>
          </a:p>
        </p:txBody>
      </p:sp>
      <p:sp>
        <p:nvSpPr>
          <p:cNvPr id="7" name="Respuesta axial principal:&#10;≈ 0,459 m/s²">
            <a:extLst>
              <a:ext uri="{FF2B5EF4-FFF2-40B4-BE49-F238E27FC236}">
                <a16:creationId xmlns:a16="http://schemas.microsoft.com/office/drawing/2014/main" id="{654AA7DE-BDCE-4FCF-875A-5EC3CD0EF1EF}"/>
              </a:ext>
            </a:extLst>
          </p:cNvPr>
          <p:cNvSpPr>
            <a:spLocks noGrp="1"/>
          </p:cNvSpPr>
          <p:nvPr/>
        </p:nvSpPr>
        <p:spPr>
          <a:xfrm>
            <a:off x="8048625" y="4552950"/>
            <a:ext cx="3524250" cy="76200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Main axial response:</a:t>
            </a:r>
          </a:p>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 0.459 m/s²</a:t>
            </a:r>
          </a:p>
        </p:txBody>
      </p:sp>
      <p:sp>
        <p:nvSpPr>
          <p:cNvPr id="8" name="Comparación para u₁ = 10 en la escala del modelo">
            <a:extLst>
              <a:ext uri="{FF2B5EF4-FFF2-40B4-BE49-F238E27FC236}">
                <a16:creationId xmlns:a16="http://schemas.microsoft.com/office/drawing/2014/main" id="{031CD0D3-C2F4-460B-BE8D-61D9485A584A}"/>
              </a:ext>
            </a:extLst>
          </p:cNvPr>
          <p:cNvSpPr>
            <a:spLocks noGrp="1"/>
          </p:cNvSpPr>
          <p:nvPr/>
        </p:nvSpPr>
        <p:spPr>
          <a:xfrm>
            <a:off x="590550" y="5953125"/>
            <a:ext cx="10858500" cy="400050"/>
          </a:xfrm>
          <a:prstGeom prst="rect">
            <a:avLst/>
          </a:prstGeom>
          <a:noFill/>
          <a:ln w="0">
            <a:noFill/>
          </a:ln>
        </p:spPr>
        <p:txBody>
          <a:bodyPr lIns="0" tIns="0" rIns="0" bIns="0" anchor="t">
            <a:noAutofit/>
          </a:bodyPr>
          <a:lstStyle>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Comparison for u₁ = 10 in model units and u₂ = 5°</a:t>
            </a:r>
          </a:p>
        </p:txBody>
      </p:sp>
    </p:spTree>
    <p:extLst>
      <p:ext uri="{BB962C8B-B14F-4D97-AF65-F5344CB8AC3E}">
        <p14:creationId xmlns:p14="http://schemas.microsoft.com/office/powerpoint/2010/main" val="1399575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spuesta en frecuencia">
            <a:extLst>
              <a:ext uri="{FF2B5EF4-FFF2-40B4-BE49-F238E27FC236}">
                <a16:creationId xmlns:a16="http://schemas.microsoft.com/office/drawing/2014/main" id="{B05DF0B5-8351-400F-B0E8-04164A75AE3C}"/>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Frequency response</a:t>
            </a:r>
          </a:p>
        </p:txBody>
      </p:sp>
      <p:sp>
        <p:nvSpPr>
          <p:cNvPr id="3" name="08 / 16">
            <a:extLst>
              <a:ext uri="{FF2B5EF4-FFF2-40B4-BE49-F238E27FC236}">
                <a16:creationId xmlns:a16="http://schemas.microsoft.com/office/drawing/2014/main" id="{F0B8B8D7-AED5-447A-A7C0-88F094AD92A2}"/>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11 / 19</a:t>
            </a:r>
          </a:p>
        </p:txBody>
      </p:sp>
      <p:graphicFrame>
        <p:nvGraphicFramePr>
          <p:cNvPr id="4" name="Chart">
            <a:extLst>
              <a:ext uri="{FF2B5EF4-FFF2-40B4-BE49-F238E27FC236}">
                <a16:creationId xmlns:a16="http://schemas.microsoft.com/office/drawing/2014/main" id="{8447E917-3884-495D-9D8E-5D83E5D39C43}"/>
              </a:ext>
            </a:extLst>
          </p:cNvPr>
          <p:cNvGraphicFramePr/>
          <p:nvPr/>
        </p:nvGraphicFramePr>
        <p:xfrm>
          <a:off x="381000" y="1619250"/>
          <a:ext cx="7524750" cy="3667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9295C474-A2F3-4E5B-8B37-A07681B3663A}"/>
              </a:ext>
            </a:extLst>
          </p:cNvPr>
          <p:cNvGraphicFramePr/>
          <p:nvPr/>
        </p:nvGraphicFramePr>
        <p:xfrm>
          <a:off x="8239125" y="1695450"/>
          <a:ext cx="3333750" cy="3209925"/>
        </p:xfrm>
        <a:graphic>
          <a:graphicData uri="http://schemas.openxmlformats.org/drawingml/2006/table">
            <a:tbl>
              <a:tblPr/>
              <a:tblGrid>
                <a:gridCol w="1381125">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tblGrid>
              <a:tr h="641985">
                <a:tc>
                  <a:txBody>
                    <a:bodyPr/>
                    <a:lstStyle/>
                    <a:p>
                      <a:r>
                        <a:rPr sz="1875" b="1">
                          <a:solidFill>
                            <a:srgbClr val="FFFFFF"/>
                          </a:solidFill>
                          <a:latin typeface="Arial"/>
                          <a:ea typeface="Arial"/>
                          <a:cs typeface="Arial"/>
                        </a:rPr>
                        <a:t>Channel</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1875" b="1">
                          <a:solidFill>
                            <a:srgbClr val="FFFFFF"/>
                          </a:solidFill>
                          <a:latin typeface="Arial"/>
                          <a:ea typeface="Arial"/>
                          <a:cs typeface="Arial"/>
                        </a:rPr>
                        <a:t>BW (rad/s)</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641985">
                <a:tc>
                  <a:txBody>
                    <a:bodyPr/>
                    <a:lstStyle/>
                    <a:p>
                      <a:r>
                        <a:rPr sz="1875" b="0">
                          <a:solidFill>
                            <a:srgbClr val="13283C"/>
                          </a:solidFill>
                          <a:latin typeface="Arial"/>
                          <a:ea typeface="Arial"/>
                          <a:cs typeface="Arial"/>
                        </a:rPr>
                        <a:t>G₁₁</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875" b="0">
                          <a:solidFill>
                            <a:srgbClr val="13283C"/>
                          </a:solidFill>
                          <a:latin typeface="Arial"/>
                          <a:ea typeface="Arial"/>
                          <a:cs typeface="Arial"/>
                        </a:rPr>
                        <a:t>2.06</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641985">
                <a:tc>
                  <a:txBody>
                    <a:bodyPr/>
                    <a:lstStyle/>
                    <a:p>
                      <a:r>
                        <a:rPr sz="1875" b="0">
                          <a:solidFill>
                            <a:srgbClr val="13283C"/>
                          </a:solidFill>
                          <a:latin typeface="Arial"/>
                          <a:ea typeface="Arial"/>
                          <a:cs typeface="Arial"/>
                        </a:rPr>
                        <a:t>G₁₂</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875" b="0">
                          <a:solidFill>
                            <a:srgbClr val="13283C"/>
                          </a:solidFill>
                          <a:latin typeface="Arial"/>
                          <a:ea typeface="Arial"/>
                          <a:cs typeface="Arial"/>
                        </a:rPr>
                        <a:t>1.39</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641985">
                <a:tc>
                  <a:txBody>
                    <a:bodyPr/>
                    <a:lstStyle/>
                    <a:p>
                      <a:r>
                        <a:rPr sz="1875" b="0">
                          <a:solidFill>
                            <a:srgbClr val="13283C"/>
                          </a:solidFill>
                          <a:latin typeface="Arial"/>
                          <a:ea typeface="Arial"/>
                          <a:cs typeface="Arial"/>
                        </a:rPr>
                        <a:t>G₂₁</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875" b="0">
                          <a:solidFill>
                            <a:srgbClr val="13283C"/>
                          </a:solidFill>
                          <a:latin typeface="Arial"/>
                          <a:ea typeface="Arial"/>
                          <a:cs typeface="Arial"/>
                        </a:rPr>
                        <a:t>1.39</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r h="641985">
                <a:tc>
                  <a:txBody>
                    <a:bodyPr/>
                    <a:lstStyle/>
                    <a:p>
                      <a:r>
                        <a:rPr sz="1875" b="0">
                          <a:solidFill>
                            <a:srgbClr val="13283C"/>
                          </a:solidFill>
                          <a:latin typeface="Arial"/>
                          <a:ea typeface="Arial"/>
                          <a:cs typeface="Arial"/>
                        </a:rPr>
                        <a:t>G₂₂</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875" b="0">
                          <a:solidFill>
                            <a:srgbClr val="13283C"/>
                          </a:solidFill>
                          <a:latin typeface="Arial"/>
                          <a:ea typeface="Arial"/>
                          <a:cs typeface="Arial"/>
                        </a:rPr>
                        <a:t>2.26</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4"/>
                  </a:ext>
                </a:extLst>
              </a:tr>
            </a:tbl>
          </a:graphicData>
        </a:graphic>
      </p:graphicFrame>
      <p:sp>
        <p:nvSpPr>
          <p:cNvPr id="6" name="Las interacciones importan en la banda útil de s">
            <a:extLst>
              <a:ext uri="{FF2B5EF4-FFF2-40B4-BE49-F238E27FC236}">
                <a16:creationId xmlns:a16="http://schemas.microsoft.com/office/drawing/2014/main" id="{5F63887E-E1EB-4971-B481-B06C6365088F}"/>
              </a:ext>
            </a:extLst>
          </p:cNvPr>
          <p:cNvSpPr>
            <a:spLocks noGrp="1"/>
          </p:cNvSpPr>
          <p:nvPr/>
        </p:nvSpPr>
        <p:spPr>
          <a:xfrm>
            <a:off x="590550" y="5543550"/>
            <a:ext cx="10953750" cy="409575"/>
          </a:xfrm>
          <a:prstGeom prst="rect">
            <a:avLst/>
          </a:prstGeom>
          <a:noFill/>
          <a:ln w="0">
            <a:noFill/>
          </a:ln>
        </p:spPr>
        <p:txBody>
          <a:bodyPr lIns="0" tIns="0" rIns="0" bIns="0" anchor="t">
            <a:noAutofit/>
          </a:bodyPr>
          <a:lstStyle>
            <a:defPPr algn="l">
              <a:defRPr sz="2175" b="1">
                <a:solidFill>
                  <a:srgbClr val="13283C"/>
                </a:solidFill>
                <a:latin typeface="Arial"/>
                <a:ea typeface="Arial"/>
                <a:cs typeface="Arial"/>
              </a:defRPr>
            </a:defPPr>
            <a:lvl1pPr algn="l">
              <a:defRPr sz="2175" b="1">
                <a:solidFill>
                  <a:srgbClr val="13283C"/>
                </a:solidFill>
                <a:latin typeface="Arial"/>
                <a:ea typeface="Arial"/>
                <a:cs typeface="Arial"/>
              </a:defRPr>
            </a:lvl1pPr>
            <a:lvl2pPr algn="l">
              <a:defRPr sz="2175" b="1">
                <a:solidFill>
                  <a:srgbClr val="13283C"/>
                </a:solidFill>
                <a:latin typeface="Arial"/>
                <a:ea typeface="Arial"/>
                <a:cs typeface="Arial"/>
              </a:defRPr>
            </a:lvl2pPr>
            <a:lvl3pPr algn="l">
              <a:defRPr sz="2175" b="1">
                <a:solidFill>
                  <a:srgbClr val="13283C"/>
                </a:solidFill>
                <a:latin typeface="Arial"/>
                <a:ea typeface="Arial"/>
                <a:cs typeface="Arial"/>
              </a:defRPr>
            </a:lvl3pPr>
            <a:lvl4pPr algn="l">
              <a:defRPr sz="2175" b="1">
                <a:solidFill>
                  <a:srgbClr val="13283C"/>
                </a:solidFill>
                <a:latin typeface="Arial"/>
                <a:ea typeface="Arial"/>
                <a:cs typeface="Arial"/>
              </a:defRPr>
            </a:lvl4pPr>
            <a:lvl5pPr algn="l">
              <a:defRPr sz="2175" b="1">
                <a:solidFill>
                  <a:srgbClr val="13283C"/>
                </a:solidFill>
                <a:latin typeface="Arial"/>
                <a:ea typeface="Arial"/>
                <a:cs typeface="Arial"/>
              </a:defRPr>
            </a:lvl5pPr>
            <a:lvl6pPr algn="l">
              <a:defRPr sz="2175" b="1">
                <a:solidFill>
                  <a:srgbClr val="13283C"/>
                </a:solidFill>
                <a:latin typeface="Arial"/>
                <a:ea typeface="Arial"/>
                <a:cs typeface="Arial"/>
              </a:defRPr>
            </a:lvl6pPr>
            <a:lvl7pPr algn="l">
              <a:defRPr sz="2175" b="1">
                <a:solidFill>
                  <a:srgbClr val="13283C"/>
                </a:solidFill>
                <a:latin typeface="Arial"/>
                <a:ea typeface="Arial"/>
                <a:cs typeface="Arial"/>
              </a:defRPr>
            </a:lvl7pPr>
            <a:lvl8pPr algn="l">
              <a:defRPr sz="2175" b="1">
                <a:solidFill>
                  <a:srgbClr val="13283C"/>
                </a:solidFill>
                <a:latin typeface="Arial"/>
                <a:ea typeface="Arial"/>
                <a:cs typeface="Arial"/>
              </a:defRPr>
            </a:lvl8pPr>
            <a:lvl9pPr algn="l">
              <a:defRPr sz="2175" b="1">
                <a:solidFill>
                  <a:srgbClr val="13283C"/>
                </a:solidFill>
                <a:latin typeface="Arial"/>
                <a:ea typeface="Arial"/>
                <a:cs typeface="Arial"/>
              </a:defRPr>
            </a:lvl9pPr>
          </a:lstStyle>
          <a:p>
            <a:pPr algn="l">
              <a:lnSpc>
                <a:spcPct val="110000"/>
              </a:lnSpc>
              <a:buNone/>
              <a:defRPr sz="2175" b="1">
                <a:solidFill>
                  <a:srgbClr val="13283C"/>
                </a:solidFill>
                <a:latin typeface="Arial"/>
                <a:ea typeface="Arial"/>
                <a:cs typeface="Arial"/>
              </a:defRPr>
            </a:pPr>
            <a:r>
              <a:rPr sz="2175" b="1">
                <a:solidFill>
                  <a:srgbClr val="13283C"/>
                </a:solidFill>
                <a:latin typeface="Arial"/>
                <a:ea typeface="Arial"/>
                <a:cs typeface="Arial"/>
              </a:rPr>
              <a:t>Interactions matter within the useful tracking bandwidth</a:t>
            </a:r>
          </a:p>
        </p:txBody>
      </p:sp>
      <p:sp>
        <p:nvSpPr>
          <p:cNvPr id="7" name="Nominal: ambos cocientes cruzados quedan bajo 10">
            <a:extLst>
              <a:ext uri="{FF2B5EF4-FFF2-40B4-BE49-F238E27FC236}">
                <a16:creationId xmlns:a16="http://schemas.microsoft.com/office/drawing/2014/main" id="{1D6CA7FD-3C35-4E50-9217-D2BB0703AFA3}"/>
              </a:ext>
            </a:extLst>
          </p:cNvPr>
          <p:cNvSpPr>
            <a:spLocks noGrp="1"/>
          </p:cNvSpPr>
          <p:nvPr/>
        </p:nvSpPr>
        <p:spPr>
          <a:xfrm>
            <a:off x="590550" y="6029325"/>
            <a:ext cx="10953750" cy="361950"/>
          </a:xfrm>
          <a:prstGeom prst="rect">
            <a:avLst/>
          </a:prstGeom>
          <a:noFill/>
          <a:ln w="0">
            <a:noFill/>
          </a:ln>
        </p:spPr>
        <p:txBody>
          <a:bodyPr lIns="0" tIns="0" rIns="0" bIns="0" anchor="t">
            <a:noAutofit/>
          </a:bodyPr>
          <a:lstStyle>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Nominal: both cross-channel ratios fall below 10% for ω &gt; 7.36 rad/s</a:t>
            </a:r>
          </a:p>
        </p:txBody>
      </p:sp>
    </p:spTree>
    <p:extLst>
      <p:ext uri="{BB962C8B-B14F-4D97-AF65-F5344CB8AC3E}">
        <p14:creationId xmlns:p14="http://schemas.microsoft.com/office/powerpoint/2010/main" val="1117611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bservabilidad">
            <a:extLst>
              <a:ext uri="{FF2B5EF4-FFF2-40B4-BE49-F238E27FC236}">
                <a16:creationId xmlns:a16="http://schemas.microsoft.com/office/drawing/2014/main" id="{50744E92-14F1-4B8F-805F-C91B629BD16E}"/>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Observability</a:t>
            </a:r>
          </a:p>
        </p:txBody>
      </p:sp>
      <p:sp>
        <p:nvSpPr>
          <p:cNvPr id="3" name="09 / 16">
            <a:extLst>
              <a:ext uri="{FF2B5EF4-FFF2-40B4-BE49-F238E27FC236}">
                <a16:creationId xmlns:a16="http://schemas.microsoft.com/office/drawing/2014/main" id="{E2F419DF-333E-4296-A762-47D839075DA0}"/>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12 / 19</a:t>
            </a:r>
          </a:p>
        </p:txBody>
      </p:sp>
      <p:sp>
        <p:nvSpPr>
          <p:cNvPr id="4" name="¿Podemos reconstruir los estados con las medicio">
            <a:extLst>
              <a:ext uri="{FF2B5EF4-FFF2-40B4-BE49-F238E27FC236}">
                <a16:creationId xmlns:a16="http://schemas.microsoft.com/office/drawing/2014/main" id="{46F0CA08-D08F-440E-B76C-507C73185FEB}"/>
              </a:ext>
            </a:extLst>
          </p:cNvPr>
          <p:cNvSpPr>
            <a:spLocks noGrp="1"/>
          </p:cNvSpPr>
          <p:nvPr/>
        </p:nvSpPr>
        <p:spPr>
          <a:xfrm>
            <a:off x="590550" y="1304925"/>
            <a:ext cx="10953750" cy="523875"/>
          </a:xfrm>
          <a:prstGeom prst="rect">
            <a:avLst/>
          </a:prstGeom>
          <a:noFill/>
          <a:ln w="0">
            <a:noFill/>
          </a:ln>
        </p:spPr>
        <p:txBody>
          <a:bodyPr lIns="0" tIns="0" rIns="0" bIns="0" anchor="t">
            <a:noAutofit/>
          </a:bodyPr>
          <a:lstStyle>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Can we reconstruct the states from measurements?</a:t>
            </a:r>
          </a:p>
        </p:txBody>
      </p:sp>
      <p:graphicFrame>
        <p:nvGraphicFramePr>
          <p:cNvPr id="5" name="Table 4">
            <a:extLst>
              <a:ext uri="{FF2B5EF4-FFF2-40B4-BE49-F238E27FC236}">
                <a16:creationId xmlns:a16="http://schemas.microsoft.com/office/drawing/2014/main" id="{072A9338-4703-43DD-9D09-ABEA6BA23AFF}"/>
              </a:ext>
            </a:extLst>
          </p:cNvPr>
          <p:cNvGraphicFramePr/>
          <p:nvPr/>
        </p:nvGraphicFramePr>
        <p:xfrm>
          <a:off x="590550" y="2305050"/>
          <a:ext cx="6191250" cy="2857500"/>
        </p:xfrm>
        <a:graphic>
          <a:graphicData uri="http://schemas.openxmlformats.org/drawingml/2006/table">
            <a:tbl>
              <a:tblPr/>
              <a:tblGrid>
                <a:gridCol w="4381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714375">
                <a:tc>
                  <a:txBody>
                    <a:bodyPr/>
                    <a:lstStyle/>
                    <a:p>
                      <a:r>
                        <a:rPr sz="2025" b="1">
                          <a:solidFill>
                            <a:srgbClr val="FFFFFF"/>
                          </a:solidFill>
                          <a:latin typeface="Arial"/>
                          <a:ea typeface="Arial"/>
                          <a:cs typeface="Arial"/>
                        </a:rPr>
                        <a:t>Measurements used</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2025" b="1">
                          <a:solidFill>
                            <a:srgbClr val="FFFFFF"/>
                          </a:solidFill>
                          <a:latin typeface="Arial"/>
                          <a:ea typeface="Arial"/>
                          <a:cs typeface="Arial"/>
                        </a:rPr>
                        <a:t>Rank of O</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714375">
                <a:tc>
                  <a:txBody>
                    <a:bodyPr/>
                    <a:lstStyle/>
                    <a:p>
                      <a:r>
                        <a:rPr sz="2025" b="0">
                          <a:solidFill>
                            <a:srgbClr val="13283C"/>
                          </a:solidFill>
                          <a:latin typeface="Arial"/>
                          <a:ea typeface="Arial"/>
                          <a:cs typeface="Arial"/>
                        </a:rPr>
                        <a:t>Acceleration a only</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2025" b="0">
                          <a:solidFill>
                            <a:srgbClr val="13283C"/>
                          </a:solidFill>
                          <a:latin typeface="Arial"/>
                          <a:ea typeface="Arial"/>
                          <a:cs typeface="Arial"/>
                        </a:rPr>
                        <a:t>4</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3283C"/>
                          </a:solidFill>
                          <a:latin typeface="Arial"/>
                          <a:ea typeface="Arial"/>
                          <a:cs typeface="Arial"/>
                        </a:rPr>
                        <a:t>Angle θ only</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2025" b="0">
                          <a:solidFill>
                            <a:srgbClr val="13283C"/>
                          </a:solidFill>
                          <a:latin typeface="Arial"/>
                          <a:ea typeface="Arial"/>
                          <a:cs typeface="Arial"/>
                        </a:rPr>
                        <a:t>4</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714375">
                <a:tc>
                  <a:txBody>
                    <a:bodyPr/>
                    <a:lstStyle/>
                    <a:p>
                      <a:r>
                        <a:rPr sz="2025" b="0">
                          <a:solidFill>
                            <a:srgbClr val="13283C"/>
                          </a:solidFill>
                          <a:latin typeface="Arial"/>
                          <a:ea typeface="Arial"/>
                          <a:cs typeface="Arial"/>
                        </a:rPr>
                        <a:t>Acceleration and angle</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2025" b="0">
                          <a:solidFill>
                            <a:srgbClr val="13283C"/>
                          </a:solidFill>
                          <a:latin typeface="Arial"/>
                          <a:ea typeface="Arial"/>
                          <a:cs typeface="Arial"/>
                        </a:rPr>
                        <a:t>4</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O = [C; CA; CA²; CA³]">
            <a:extLst>
              <a:ext uri="{FF2B5EF4-FFF2-40B4-BE49-F238E27FC236}">
                <a16:creationId xmlns:a16="http://schemas.microsoft.com/office/drawing/2014/main" id="{D3382DE5-86D7-48D0-81E8-F8C1483666BC}"/>
              </a:ext>
            </a:extLst>
          </p:cNvPr>
          <p:cNvSpPr>
            <a:spLocks noGrp="1"/>
          </p:cNvSpPr>
          <p:nvPr/>
        </p:nvSpPr>
        <p:spPr>
          <a:xfrm>
            <a:off x="7334250" y="2362200"/>
            <a:ext cx="4286250" cy="619125"/>
          </a:xfrm>
          <a:prstGeom prst="rect">
            <a:avLst/>
          </a:prstGeom>
          <a:noFill/>
          <a:ln w="0">
            <a:noFill/>
          </a:ln>
        </p:spPr>
        <p:txBody>
          <a:bodyPr lIns="0" tIns="0" rIns="0" bIns="0" anchor="t">
            <a:noAutofit/>
          </a:bodyPr>
          <a:lstStyle>
            <a:defPPr algn="l">
              <a:defRPr sz="2250" b="1">
                <a:solidFill>
                  <a:srgbClr val="13283C"/>
                </a:solidFill>
                <a:latin typeface="Arial"/>
                <a:ea typeface="Arial"/>
                <a:cs typeface="Arial"/>
              </a:defRPr>
            </a:defPPr>
            <a:lvl1pPr algn="l">
              <a:defRPr sz="2250" b="1">
                <a:solidFill>
                  <a:srgbClr val="13283C"/>
                </a:solidFill>
                <a:latin typeface="Arial"/>
                <a:ea typeface="Arial"/>
                <a:cs typeface="Arial"/>
              </a:defRPr>
            </a:lvl1pPr>
            <a:lvl2pPr algn="l">
              <a:defRPr sz="2250" b="1">
                <a:solidFill>
                  <a:srgbClr val="13283C"/>
                </a:solidFill>
                <a:latin typeface="Arial"/>
                <a:ea typeface="Arial"/>
                <a:cs typeface="Arial"/>
              </a:defRPr>
            </a:lvl2pPr>
            <a:lvl3pPr algn="l">
              <a:defRPr sz="2250" b="1">
                <a:solidFill>
                  <a:srgbClr val="13283C"/>
                </a:solidFill>
                <a:latin typeface="Arial"/>
                <a:ea typeface="Arial"/>
                <a:cs typeface="Arial"/>
              </a:defRPr>
            </a:lvl3pPr>
            <a:lvl4pPr algn="l">
              <a:defRPr sz="2250" b="1">
                <a:solidFill>
                  <a:srgbClr val="13283C"/>
                </a:solidFill>
                <a:latin typeface="Arial"/>
                <a:ea typeface="Arial"/>
                <a:cs typeface="Arial"/>
              </a:defRPr>
            </a:lvl4pPr>
            <a:lvl5pPr algn="l">
              <a:defRPr sz="2250" b="1">
                <a:solidFill>
                  <a:srgbClr val="13283C"/>
                </a:solidFill>
                <a:latin typeface="Arial"/>
                <a:ea typeface="Arial"/>
                <a:cs typeface="Arial"/>
              </a:defRPr>
            </a:lvl5pPr>
            <a:lvl6pPr algn="l">
              <a:defRPr sz="2250" b="1">
                <a:solidFill>
                  <a:srgbClr val="13283C"/>
                </a:solidFill>
                <a:latin typeface="Arial"/>
                <a:ea typeface="Arial"/>
                <a:cs typeface="Arial"/>
              </a:defRPr>
            </a:lvl6pPr>
            <a:lvl7pPr algn="l">
              <a:defRPr sz="2250" b="1">
                <a:solidFill>
                  <a:srgbClr val="13283C"/>
                </a:solidFill>
                <a:latin typeface="Arial"/>
                <a:ea typeface="Arial"/>
                <a:cs typeface="Arial"/>
              </a:defRPr>
            </a:lvl7pPr>
            <a:lvl8pPr algn="l">
              <a:defRPr sz="2250" b="1">
                <a:solidFill>
                  <a:srgbClr val="13283C"/>
                </a:solidFill>
                <a:latin typeface="Arial"/>
                <a:ea typeface="Arial"/>
                <a:cs typeface="Arial"/>
              </a:defRPr>
            </a:lvl8pPr>
            <a:lvl9pPr algn="l">
              <a:defRPr sz="2250" b="1">
                <a:solidFill>
                  <a:srgbClr val="13283C"/>
                </a:solidFill>
                <a:latin typeface="Arial"/>
                <a:ea typeface="Arial"/>
                <a:cs typeface="Arial"/>
              </a:defRPr>
            </a:lvl9pPr>
          </a:lstStyle>
          <a:p>
            <a:pPr algn="l">
              <a:lnSpc>
                <a:spcPct val="110000"/>
              </a:lnSpc>
              <a:buNone/>
              <a:defRPr sz="2250" b="1">
                <a:solidFill>
                  <a:srgbClr val="13283C"/>
                </a:solidFill>
                <a:latin typeface="Arial"/>
                <a:ea typeface="Arial"/>
                <a:cs typeface="Arial"/>
              </a:defRPr>
            </a:pPr>
            <a:r>
              <a:rPr sz="2250" b="1">
                <a:solidFill>
                  <a:srgbClr val="13283C"/>
                </a:solidFill>
                <a:latin typeface="Arial"/>
                <a:ea typeface="Arial"/>
                <a:cs typeface="Arial"/>
              </a:rPr>
              <a:t>O = [C; CA; CA²; CA³]</a:t>
            </a:r>
          </a:p>
        </p:txBody>
      </p:sp>
      <p:sp>
        <p:nvSpPr>
          <p:cNvPr id="7" name="Rango 4:&#10;los cuatro estados&#10;son observables">
            <a:extLst>
              <a:ext uri="{FF2B5EF4-FFF2-40B4-BE49-F238E27FC236}">
                <a16:creationId xmlns:a16="http://schemas.microsoft.com/office/drawing/2014/main" id="{5757E779-5F7E-4C9C-8A24-988AA20BD90F}"/>
              </a:ext>
            </a:extLst>
          </p:cNvPr>
          <p:cNvSpPr>
            <a:spLocks noGrp="1"/>
          </p:cNvSpPr>
          <p:nvPr/>
        </p:nvSpPr>
        <p:spPr>
          <a:xfrm>
            <a:off x="7334250" y="3333750"/>
            <a:ext cx="4191000" cy="1428750"/>
          </a:xfrm>
          <a:prstGeom prst="rect">
            <a:avLst/>
          </a:prstGeom>
          <a:noFill/>
          <a:ln w="0">
            <a:noFill/>
          </a:ln>
        </p:spPr>
        <p:txBody>
          <a:bodyPr lIns="0" tIns="0" rIns="0" bIns="0" anchor="t">
            <a:noAutofit/>
          </a:bodyPr>
          <a:lstStyle>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Rank 4:</a:t>
            </a:r>
          </a:p>
          <a:p>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all four states</a:t>
            </a:r>
          </a:p>
          <a:p>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are observable</a:t>
            </a:r>
          </a:p>
        </p:txBody>
      </p:sp>
      <p:sp>
        <p:nvSpPr>
          <p:cNvPr id="8" name="La precisión con ruido requiere normalización y ">
            <a:extLst>
              <a:ext uri="{FF2B5EF4-FFF2-40B4-BE49-F238E27FC236}">
                <a16:creationId xmlns:a16="http://schemas.microsoft.com/office/drawing/2014/main" id="{4BFC0DFF-21BF-48D9-BDDF-13A7A4782EEE}"/>
              </a:ext>
            </a:extLst>
          </p:cNvPr>
          <p:cNvSpPr>
            <a:spLocks noGrp="1"/>
          </p:cNvSpPr>
          <p:nvPr/>
        </p:nvSpPr>
        <p:spPr>
          <a:xfrm>
            <a:off x="590550" y="5753100"/>
            <a:ext cx="10858500" cy="600075"/>
          </a:xfrm>
          <a:prstGeom prst="rect">
            <a:avLst/>
          </a:prstGeom>
          <a:noFill/>
          <a:ln w="0">
            <a:noFill/>
          </a:ln>
        </p:spPr>
        <p:txBody>
          <a:bodyPr lIns="0" tIns="0" rIns="0" bIns="0" anchor="t">
            <a:noAutofit/>
          </a:bodyPr>
          <a:lstStyle>
            <a:defPPr algn="l">
              <a:defRPr sz="1875" b="0">
                <a:solidFill>
                  <a:srgbClr val="516474"/>
                </a:solidFill>
                <a:latin typeface="Arial"/>
                <a:ea typeface="Arial"/>
                <a:cs typeface="Arial"/>
              </a:defRPr>
            </a:defPPr>
            <a:lvl1pPr algn="l">
              <a:defRPr sz="1875" b="0">
                <a:solidFill>
                  <a:srgbClr val="516474"/>
                </a:solidFill>
                <a:latin typeface="Arial"/>
                <a:ea typeface="Arial"/>
                <a:cs typeface="Arial"/>
              </a:defRPr>
            </a:lvl1pPr>
            <a:lvl2pPr algn="l">
              <a:defRPr sz="1875" b="0">
                <a:solidFill>
                  <a:srgbClr val="516474"/>
                </a:solidFill>
                <a:latin typeface="Arial"/>
                <a:ea typeface="Arial"/>
                <a:cs typeface="Arial"/>
              </a:defRPr>
            </a:lvl2pPr>
            <a:lvl3pPr algn="l">
              <a:defRPr sz="1875" b="0">
                <a:solidFill>
                  <a:srgbClr val="516474"/>
                </a:solidFill>
                <a:latin typeface="Arial"/>
                <a:ea typeface="Arial"/>
                <a:cs typeface="Arial"/>
              </a:defRPr>
            </a:lvl3pPr>
            <a:lvl4pPr algn="l">
              <a:defRPr sz="1875" b="0">
                <a:solidFill>
                  <a:srgbClr val="516474"/>
                </a:solidFill>
                <a:latin typeface="Arial"/>
                <a:ea typeface="Arial"/>
                <a:cs typeface="Arial"/>
              </a:defRPr>
            </a:lvl4pPr>
            <a:lvl5pPr algn="l">
              <a:defRPr sz="1875" b="0">
                <a:solidFill>
                  <a:srgbClr val="516474"/>
                </a:solidFill>
                <a:latin typeface="Arial"/>
                <a:ea typeface="Arial"/>
                <a:cs typeface="Arial"/>
              </a:defRPr>
            </a:lvl5pPr>
            <a:lvl6pPr algn="l">
              <a:defRPr sz="1875" b="0">
                <a:solidFill>
                  <a:srgbClr val="516474"/>
                </a:solidFill>
                <a:latin typeface="Arial"/>
                <a:ea typeface="Arial"/>
                <a:cs typeface="Arial"/>
              </a:defRPr>
            </a:lvl6pPr>
            <a:lvl7pPr algn="l">
              <a:defRPr sz="1875" b="0">
                <a:solidFill>
                  <a:srgbClr val="516474"/>
                </a:solidFill>
                <a:latin typeface="Arial"/>
                <a:ea typeface="Arial"/>
                <a:cs typeface="Arial"/>
              </a:defRPr>
            </a:lvl7pPr>
            <a:lvl8pPr algn="l">
              <a:defRPr sz="1875" b="0">
                <a:solidFill>
                  <a:srgbClr val="516474"/>
                </a:solidFill>
                <a:latin typeface="Arial"/>
                <a:ea typeface="Arial"/>
                <a:cs typeface="Arial"/>
              </a:defRPr>
            </a:lvl8pPr>
            <a:lvl9pPr algn="l">
              <a:defRPr sz="1875" b="0">
                <a:solidFill>
                  <a:srgbClr val="516474"/>
                </a:solidFill>
                <a:latin typeface="Arial"/>
                <a:ea typeface="Arial"/>
                <a:cs typeface="Arial"/>
              </a:defRPr>
            </a:lvl9pPr>
          </a:lstStyle>
          <a:p>
            <a:pPr algn="l">
              <a:lnSpc>
                <a:spcPct val="110000"/>
              </a:lnSpc>
              <a:buNone/>
              <a:defRPr sz="1875" b="0">
                <a:solidFill>
                  <a:srgbClr val="516474"/>
                </a:solidFill>
                <a:latin typeface="Arial"/>
                <a:ea typeface="Arial"/>
                <a:cs typeface="Arial"/>
              </a:defRPr>
            </a:pPr>
            <a:r>
              <a:rPr sz="1875" b="0">
                <a:solidFill>
                  <a:srgbClr val="516474"/>
                </a:solidFill>
                <a:latin typeface="Arial"/>
                <a:ea typeface="Arial"/>
                <a:cs typeface="Arial"/>
              </a:rPr>
              <a:t>Accuracy in noise requires normalization and a sensor model</a:t>
            </a:r>
          </a:p>
        </p:txBody>
      </p:sp>
      <p:sp>
        <p:nvSpPr>
          <p:cNvPr id="9" name="Observable: known inputs and measured outputs re">
            <a:extLst>
              <a:ext uri="{FF2B5EF4-FFF2-40B4-BE49-F238E27FC236}">
                <a16:creationId xmlns:a16="http://schemas.microsoft.com/office/drawing/2014/main" id="{5AF0BA0F-3FC7-4040-8107-F4386C2A80C3}"/>
              </a:ext>
            </a:extLst>
          </p:cNvPr>
          <p:cNvSpPr>
            <a:spLocks noGrp="1"/>
          </p:cNvSpPr>
          <p:nvPr/>
        </p:nvSpPr>
        <p:spPr>
          <a:xfrm>
            <a:off x="590550" y="1905000"/>
            <a:ext cx="11010900" cy="304800"/>
          </a:xfrm>
          <a:prstGeom prst="rect">
            <a:avLst/>
          </a:prstGeom>
          <a:noFill/>
          <a:ln w="0">
            <a:noFill/>
          </a:ln>
        </p:spPr>
        <p:txBody>
          <a:bodyPr lIns="0" tIns="0" rIns="0" bIns="0" anchor="t">
            <a:noAutofit/>
          </a:bodyPr>
          <a:lstStyle>
            <a:defPPr>
              <a:defRPr sz="1800" b="0">
                <a:solidFill>
                  <a:srgbClr val="516474"/>
                </a:solidFill>
                <a:latin typeface="Arial"/>
                <a:ea typeface="Arial"/>
                <a:cs typeface="Arial"/>
              </a:defRPr>
            </a:defPPr>
            <a:lvl1pPr>
              <a:defRPr sz="1800" b="0">
                <a:solidFill>
                  <a:srgbClr val="516474"/>
                </a:solidFill>
                <a:latin typeface="Arial"/>
                <a:ea typeface="Arial"/>
                <a:cs typeface="Arial"/>
              </a:defRPr>
            </a:lvl1pPr>
            <a:lvl2pPr>
              <a:defRPr sz="1800" b="0">
                <a:solidFill>
                  <a:srgbClr val="516474"/>
                </a:solidFill>
                <a:latin typeface="Arial"/>
                <a:ea typeface="Arial"/>
                <a:cs typeface="Arial"/>
              </a:defRPr>
            </a:lvl2pPr>
            <a:lvl3pPr>
              <a:defRPr sz="1800" b="0">
                <a:solidFill>
                  <a:srgbClr val="516474"/>
                </a:solidFill>
                <a:latin typeface="Arial"/>
                <a:ea typeface="Arial"/>
                <a:cs typeface="Arial"/>
              </a:defRPr>
            </a:lvl3pPr>
            <a:lvl4pPr>
              <a:defRPr sz="1800" b="0">
                <a:solidFill>
                  <a:srgbClr val="516474"/>
                </a:solidFill>
                <a:latin typeface="Arial"/>
                <a:ea typeface="Arial"/>
                <a:cs typeface="Arial"/>
              </a:defRPr>
            </a:lvl4pPr>
            <a:lvl5pPr>
              <a:defRPr sz="1800" b="0">
                <a:solidFill>
                  <a:srgbClr val="516474"/>
                </a:solidFill>
                <a:latin typeface="Arial"/>
                <a:ea typeface="Arial"/>
                <a:cs typeface="Arial"/>
              </a:defRPr>
            </a:lvl5pPr>
            <a:lvl6pPr>
              <a:defRPr sz="1800" b="0">
                <a:solidFill>
                  <a:srgbClr val="516474"/>
                </a:solidFill>
                <a:latin typeface="Arial"/>
                <a:ea typeface="Arial"/>
                <a:cs typeface="Arial"/>
              </a:defRPr>
            </a:lvl6pPr>
            <a:lvl7pPr>
              <a:defRPr sz="1800" b="0">
                <a:solidFill>
                  <a:srgbClr val="516474"/>
                </a:solidFill>
                <a:latin typeface="Arial"/>
                <a:ea typeface="Arial"/>
                <a:cs typeface="Arial"/>
              </a:defRPr>
            </a:lvl7pPr>
            <a:lvl8pPr>
              <a:defRPr sz="1800" b="0">
                <a:solidFill>
                  <a:srgbClr val="516474"/>
                </a:solidFill>
                <a:latin typeface="Arial"/>
                <a:ea typeface="Arial"/>
                <a:cs typeface="Arial"/>
              </a:defRPr>
            </a:lvl8pPr>
            <a:lvl9pPr>
              <a:defRPr sz="1800" b="0">
                <a:solidFill>
                  <a:srgbClr val="516474"/>
                </a:solidFill>
                <a:latin typeface="Arial"/>
                <a:ea typeface="Arial"/>
                <a:cs typeface="Arial"/>
              </a:defRPr>
            </a:lvl9pPr>
          </a:lstStyle>
          <a:p>
            <a:pPr>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Observable: known inputs and measured outputs reveal the internal state</a:t>
            </a:r>
          </a:p>
        </p:txBody>
      </p:sp>
    </p:spTree>
    <p:extLst>
      <p:ext uri="{BB962C8B-B14F-4D97-AF65-F5344CB8AC3E}">
        <p14:creationId xmlns:p14="http://schemas.microsoft.com/office/powerpoint/2010/main" val="203210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ntrolabilidad">
            <a:extLst>
              <a:ext uri="{FF2B5EF4-FFF2-40B4-BE49-F238E27FC236}">
                <a16:creationId xmlns:a16="http://schemas.microsoft.com/office/drawing/2014/main" id="{F2E58DB9-C2C2-411C-AB10-2FC4962F8807}"/>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Controllability</a:t>
            </a:r>
          </a:p>
        </p:txBody>
      </p:sp>
      <p:sp>
        <p:nvSpPr>
          <p:cNvPr id="3" name="10 / 16">
            <a:extLst>
              <a:ext uri="{FF2B5EF4-FFF2-40B4-BE49-F238E27FC236}">
                <a16:creationId xmlns:a16="http://schemas.microsoft.com/office/drawing/2014/main" id="{F424B7C3-63DD-466A-B0DC-480C204FEC28}"/>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13 / 19</a:t>
            </a:r>
          </a:p>
        </p:txBody>
      </p:sp>
      <p:sp>
        <p:nvSpPr>
          <p:cNvPr id="4" name="¿Qué estados pueden alcanzar las entradas?">
            <a:extLst>
              <a:ext uri="{FF2B5EF4-FFF2-40B4-BE49-F238E27FC236}">
                <a16:creationId xmlns:a16="http://schemas.microsoft.com/office/drawing/2014/main" id="{8A55C27B-7479-4E37-B7CB-E9A8E2D3AD09}"/>
              </a:ext>
            </a:extLst>
          </p:cNvPr>
          <p:cNvSpPr>
            <a:spLocks noGrp="1"/>
          </p:cNvSpPr>
          <p:nvPr/>
        </p:nvSpPr>
        <p:spPr>
          <a:xfrm>
            <a:off x="590550" y="1304925"/>
            <a:ext cx="10858500" cy="523875"/>
          </a:xfrm>
          <a:prstGeom prst="rect">
            <a:avLst/>
          </a:prstGeom>
          <a:noFill/>
          <a:ln w="0">
            <a:noFill/>
          </a:ln>
        </p:spPr>
        <p:txBody>
          <a:bodyPr lIns="0" tIns="0" rIns="0" bIns="0" anchor="t">
            <a:noAutofit/>
          </a:bodyPr>
          <a:lstStyle>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Which states can the inputs reach?</a:t>
            </a:r>
          </a:p>
        </p:txBody>
      </p:sp>
      <p:graphicFrame>
        <p:nvGraphicFramePr>
          <p:cNvPr id="5" name="Table 4">
            <a:extLst>
              <a:ext uri="{FF2B5EF4-FFF2-40B4-BE49-F238E27FC236}">
                <a16:creationId xmlns:a16="http://schemas.microsoft.com/office/drawing/2014/main" id="{C281BBB1-DF84-4623-8DBC-002646029595}"/>
              </a:ext>
            </a:extLst>
          </p:cNvPr>
          <p:cNvGraphicFramePr/>
          <p:nvPr/>
        </p:nvGraphicFramePr>
        <p:xfrm>
          <a:off x="590550" y="2266950"/>
          <a:ext cx="7286625" cy="3381375"/>
        </p:xfrm>
        <a:graphic>
          <a:graphicData uri="http://schemas.openxmlformats.org/drawingml/2006/table">
            <a:tbl>
              <a:tblPr/>
              <a:tblGrid>
                <a:gridCol w="5953125">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676275">
                <a:tc>
                  <a:txBody>
                    <a:bodyPr/>
                    <a:lstStyle/>
                    <a:p>
                      <a:r>
                        <a:rPr sz="1875" b="1">
                          <a:solidFill>
                            <a:srgbClr val="FFFFFF"/>
                          </a:solidFill>
                          <a:latin typeface="Arial"/>
                          <a:ea typeface="Arial"/>
                          <a:cs typeface="Arial"/>
                        </a:rPr>
                        <a:t>Scenario</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1875" b="1">
                          <a:solidFill>
                            <a:srgbClr val="FFFFFF"/>
                          </a:solidFill>
                          <a:latin typeface="Arial"/>
                          <a:ea typeface="Arial"/>
                          <a:cs typeface="Arial"/>
                        </a:rPr>
                        <a:t>Rank</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676275">
                <a:tc>
                  <a:txBody>
                    <a:bodyPr/>
                    <a:lstStyle/>
                    <a:p>
                      <a:r>
                        <a:rPr sz="1875" b="0">
                          <a:solidFill>
                            <a:srgbClr val="13283C"/>
                          </a:solidFill>
                          <a:latin typeface="Arial"/>
                          <a:ea typeface="Arial"/>
                          <a:cs typeface="Arial"/>
                        </a:rPr>
                        <a:t>Both inputs</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875" b="0">
                          <a:solidFill>
                            <a:srgbClr val="13283C"/>
                          </a:solidFill>
                          <a:latin typeface="Arial"/>
                          <a:ea typeface="Arial"/>
                          <a:cs typeface="Arial"/>
                        </a:rPr>
                        <a:t>4</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676275">
                <a:tc>
                  <a:txBody>
                    <a:bodyPr/>
                    <a:lstStyle/>
                    <a:p>
                      <a:r>
                        <a:rPr sz="1875" b="0">
                          <a:solidFill>
                            <a:srgbClr val="13283C"/>
                          </a:solidFill>
                          <a:latin typeface="Arial"/>
                          <a:ea typeface="Arial"/>
                          <a:cs typeface="Arial"/>
                        </a:rPr>
                        <a:t>One external command, nominal A</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875" b="0">
                          <a:solidFill>
                            <a:srgbClr val="13283C"/>
                          </a:solidFill>
                          <a:latin typeface="Arial"/>
                          <a:ea typeface="Arial"/>
                          <a:cs typeface="Arial"/>
                        </a:rPr>
                        <a:t>4</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676275">
                <a:tc>
                  <a:txBody>
                    <a:bodyPr/>
                    <a:lstStyle/>
                    <a:p>
                      <a:r>
                        <a:rPr sz="1875" b="0">
                          <a:solidFill>
                            <a:srgbClr val="13283C"/>
                          </a:solidFill>
                          <a:latin typeface="Arial"/>
                          <a:ea typeface="Arial"/>
                          <a:cs typeface="Arial"/>
                        </a:rPr>
                        <a:t>Jammed servo</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875" b="0">
                          <a:solidFill>
                            <a:srgbClr val="13283C"/>
                          </a:solidFill>
                          <a:latin typeface="Arial"/>
                          <a:ea typeface="Arial"/>
                          <a:cs typeface="Arial"/>
                        </a:rPr>
                        <a:t>3</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r h="676275">
                <a:tc>
                  <a:txBody>
                    <a:bodyPr/>
                    <a:lstStyle/>
                    <a:p>
                      <a:r>
                        <a:rPr sz="1875" b="0">
                          <a:solidFill>
                            <a:srgbClr val="13283C"/>
                          </a:solidFill>
                          <a:latin typeface="Arial"/>
                          <a:ea typeface="Arial"/>
                          <a:cs typeface="Arial"/>
                        </a:rPr>
                        <a:t>K₂ = 0</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875" b="0">
                          <a:solidFill>
                            <a:srgbClr val="13283C"/>
                          </a:solidFill>
                          <a:latin typeface="Arial"/>
                          <a:ea typeface="Arial"/>
                          <a:cs typeface="Arial"/>
                        </a:rPr>
                        <a:t>3</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4"/>
                  </a:ext>
                </a:extLst>
              </a:tr>
            </a:tbl>
          </a:graphicData>
        </a:graphic>
      </p:graphicFrame>
      <p:sp>
        <p:nvSpPr>
          <p:cNvPr id="6" name="M = [B AB A²B A³B]">
            <a:extLst>
              <a:ext uri="{FF2B5EF4-FFF2-40B4-BE49-F238E27FC236}">
                <a16:creationId xmlns:a16="http://schemas.microsoft.com/office/drawing/2014/main" id="{1A1E0396-8B7F-40CA-81FE-D97B89B31616}"/>
              </a:ext>
            </a:extLst>
          </p:cNvPr>
          <p:cNvSpPr>
            <a:spLocks noGrp="1"/>
          </p:cNvSpPr>
          <p:nvPr/>
        </p:nvSpPr>
        <p:spPr>
          <a:xfrm>
            <a:off x="8334375" y="2333625"/>
            <a:ext cx="3286125" cy="904875"/>
          </a:xfrm>
          <a:prstGeom prst="rect">
            <a:avLst/>
          </a:prstGeom>
          <a:noFill/>
          <a:ln w="0">
            <a:noFill/>
          </a:ln>
        </p:spPr>
        <p:txBody>
          <a:bodyPr lIns="0" tIns="0" rIns="0" bIns="0" anchor="t">
            <a:noAutofit/>
          </a:bodyPr>
          <a:lstStyle>
            <a:defPPr algn="l">
              <a:defRPr sz="2175" b="1">
                <a:solidFill>
                  <a:srgbClr val="13283C"/>
                </a:solidFill>
                <a:latin typeface="Arial"/>
                <a:ea typeface="Arial"/>
                <a:cs typeface="Arial"/>
              </a:defRPr>
            </a:defPPr>
            <a:lvl1pPr algn="l">
              <a:defRPr sz="2175" b="1">
                <a:solidFill>
                  <a:srgbClr val="13283C"/>
                </a:solidFill>
                <a:latin typeface="Arial"/>
                <a:ea typeface="Arial"/>
                <a:cs typeface="Arial"/>
              </a:defRPr>
            </a:lvl1pPr>
            <a:lvl2pPr algn="l">
              <a:defRPr sz="2175" b="1">
                <a:solidFill>
                  <a:srgbClr val="13283C"/>
                </a:solidFill>
                <a:latin typeface="Arial"/>
                <a:ea typeface="Arial"/>
                <a:cs typeface="Arial"/>
              </a:defRPr>
            </a:lvl2pPr>
            <a:lvl3pPr algn="l">
              <a:defRPr sz="2175" b="1">
                <a:solidFill>
                  <a:srgbClr val="13283C"/>
                </a:solidFill>
                <a:latin typeface="Arial"/>
                <a:ea typeface="Arial"/>
                <a:cs typeface="Arial"/>
              </a:defRPr>
            </a:lvl3pPr>
            <a:lvl4pPr algn="l">
              <a:defRPr sz="2175" b="1">
                <a:solidFill>
                  <a:srgbClr val="13283C"/>
                </a:solidFill>
                <a:latin typeface="Arial"/>
                <a:ea typeface="Arial"/>
                <a:cs typeface="Arial"/>
              </a:defRPr>
            </a:lvl4pPr>
            <a:lvl5pPr algn="l">
              <a:defRPr sz="2175" b="1">
                <a:solidFill>
                  <a:srgbClr val="13283C"/>
                </a:solidFill>
                <a:latin typeface="Arial"/>
                <a:ea typeface="Arial"/>
                <a:cs typeface="Arial"/>
              </a:defRPr>
            </a:lvl5pPr>
            <a:lvl6pPr algn="l">
              <a:defRPr sz="2175" b="1">
                <a:solidFill>
                  <a:srgbClr val="13283C"/>
                </a:solidFill>
                <a:latin typeface="Arial"/>
                <a:ea typeface="Arial"/>
                <a:cs typeface="Arial"/>
              </a:defRPr>
            </a:lvl6pPr>
            <a:lvl7pPr algn="l">
              <a:defRPr sz="2175" b="1">
                <a:solidFill>
                  <a:srgbClr val="13283C"/>
                </a:solidFill>
                <a:latin typeface="Arial"/>
                <a:ea typeface="Arial"/>
                <a:cs typeface="Arial"/>
              </a:defRPr>
            </a:lvl7pPr>
            <a:lvl8pPr algn="l">
              <a:defRPr sz="2175" b="1">
                <a:solidFill>
                  <a:srgbClr val="13283C"/>
                </a:solidFill>
                <a:latin typeface="Arial"/>
                <a:ea typeface="Arial"/>
                <a:cs typeface="Arial"/>
              </a:defRPr>
            </a:lvl8pPr>
            <a:lvl9pPr algn="l">
              <a:defRPr sz="2175" b="1">
                <a:solidFill>
                  <a:srgbClr val="13283C"/>
                </a:solidFill>
                <a:latin typeface="Arial"/>
                <a:ea typeface="Arial"/>
                <a:cs typeface="Arial"/>
              </a:defRPr>
            </a:lvl9pPr>
          </a:lstStyle>
          <a:p>
            <a:pPr algn="l">
              <a:lnSpc>
                <a:spcPct val="110000"/>
              </a:lnSpc>
              <a:buNone/>
              <a:defRPr sz="2175" b="1">
                <a:solidFill>
                  <a:srgbClr val="13283C"/>
                </a:solidFill>
                <a:latin typeface="Arial"/>
                <a:ea typeface="Arial"/>
                <a:cs typeface="Arial"/>
              </a:defRPr>
            </a:pPr>
            <a:r>
              <a:rPr sz="2175" b="1">
                <a:solidFill>
                  <a:srgbClr val="13283C"/>
                </a:solidFill>
                <a:latin typeface="Arial"/>
                <a:ea typeface="Arial"/>
                <a:cs typeface="Arial"/>
              </a:rPr>
              <a:t>M = [B AB A²B A³B]</a:t>
            </a:r>
          </a:p>
        </p:txBody>
      </p:sp>
      <p:sp>
        <p:nvSpPr>
          <p:cNvPr id="7" name="Servo trabado:&#10;δ queda fija">
            <a:extLst>
              <a:ext uri="{FF2B5EF4-FFF2-40B4-BE49-F238E27FC236}">
                <a16:creationId xmlns:a16="http://schemas.microsoft.com/office/drawing/2014/main" id="{2A9FEC81-D0A1-4454-AC79-F3305AADECBE}"/>
              </a:ext>
            </a:extLst>
          </p:cNvPr>
          <p:cNvSpPr>
            <a:spLocks noGrp="1"/>
          </p:cNvSpPr>
          <p:nvPr/>
        </p:nvSpPr>
        <p:spPr>
          <a:xfrm>
            <a:off x="8334375" y="3762375"/>
            <a:ext cx="3286125" cy="952500"/>
          </a:xfrm>
          <a:prstGeom prst="rect">
            <a:avLst/>
          </a:prstGeom>
          <a:noFill/>
          <a:ln w="0">
            <a:noFill/>
          </a:ln>
        </p:spPr>
        <p:txBody>
          <a:bodyPr lIns="0" tIns="0" rIns="0" bIns="0" anchor="t">
            <a:noAutofit/>
          </a:bodyPr>
          <a:lstStyle>
            <a:defPPr algn="l">
              <a:defRPr sz="2325" b="1">
                <a:solidFill>
                  <a:srgbClr val="D66A2C"/>
                </a:solidFill>
                <a:latin typeface="Arial"/>
                <a:ea typeface="Arial"/>
                <a:cs typeface="Arial"/>
              </a:defRPr>
            </a:defPPr>
            <a:lvl1pPr algn="l">
              <a:defRPr sz="2325" b="1">
                <a:solidFill>
                  <a:srgbClr val="D66A2C"/>
                </a:solidFill>
                <a:latin typeface="Arial"/>
                <a:ea typeface="Arial"/>
                <a:cs typeface="Arial"/>
              </a:defRPr>
            </a:lvl1pPr>
            <a:lvl2pPr algn="l">
              <a:defRPr sz="2325" b="1">
                <a:solidFill>
                  <a:srgbClr val="D66A2C"/>
                </a:solidFill>
                <a:latin typeface="Arial"/>
                <a:ea typeface="Arial"/>
                <a:cs typeface="Arial"/>
              </a:defRPr>
            </a:lvl2pPr>
            <a:lvl3pPr algn="l">
              <a:defRPr sz="2325" b="1">
                <a:solidFill>
                  <a:srgbClr val="D66A2C"/>
                </a:solidFill>
                <a:latin typeface="Arial"/>
                <a:ea typeface="Arial"/>
                <a:cs typeface="Arial"/>
              </a:defRPr>
            </a:lvl3pPr>
            <a:lvl4pPr algn="l">
              <a:defRPr sz="2325" b="1">
                <a:solidFill>
                  <a:srgbClr val="D66A2C"/>
                </a:solidFill>
                <a:latin typeface="Arial"/>
                <a:ea typeface="Arial"/>
                <a:cs typeface="Arial"/>
              </a:defRPr>
            </a:lvl4pPr>
            <a:lvl5pPr algn="l">
              <a:defRPr sz="2325" b="1">
                <a:solidFill>
                  <a:srgbClr val="D66A2C"/>
                </a:solidFill>
                <a:latin typeface="Arial"/>
                <a:ea typeface="Arial"/>
                <a:cs typeface="Arial"/>
              </a:defRPr>
            </a:lvl5pPr>
            <a:lvl6pPr algn="l">
              <a:defRPr sz="2325" b="1">
                <a:solidFill>
                  <a:srgbClr val="D66A2C"/>
                </a:solidFill>
                <a:latin typeface="Arial"/>
                <a:ea typeface="Arial"/>
                <a:cs typeface="Arial"/>
              </a:defRPr>
            </a:lvl6pPr>
            <a:lvl7pPr algn="l">
              <a:defRPr sz="2325" b="1">
                <a:solidFill>
                  <a:srgbClr val="D66A2C"/>
                </a:solidFill>
                <a:latin typeface="Arial"/>
                <a:ea typeface="Arial"/>
                <a:cs typeface="Arial"/>
              </a:defRPr>
            </a:lvl7pPr>
            <a:lvl8pPr algn="l">
              <a:defRPr sz="2325" b="1">
                <a:solidFill>
                  <a:srgbClr val="D66A2C"/>
                </a:solidFill>
                <a:latin typeface="Arial"/>
                <a:ea typeface="Arial"/>
                <a:cs typeface="Arial"/>
              </a:defRPr>
            </a:lvl8pPr>
            <a:lvl9pPr algn="l">
              <a:defRPr sz="2325" b="1">
                <a:solidFill>
                  <a:srgbClr val="D66A2C"/>
                </a:solidFill>
                <a:latin typeface="Arial"/>
                <a:ea typeface="Arial"/>
                <a:cs typeface="Arial"/>
              </a:defRPr>
            </a:lvl9pPr>
          </a:lstStyle>
          <a:p>
            <a:pPr algn="l">
              <a:lnSpc>
                <a:spcPct val="110000"/>
              </a:lnSpc>
              <a:buNone/>
              <a:defRPr sz="2325" b="1">
                <a:solidFill>
                  <a:srgbClr val="D66A2C"/>
                </a:solidFill>
                <a:latin typeface="Arial"/>
                <a:ea typeface="Arial"/>
                <a:cs typeface="Arial"/>
              </a:defRPr>
            </a:pPr>
            <a:r>
              <a:rPr sz="2325" b="1">
                <a:solidFill>
                  <a:srgbClr val="D66A2C"/>
                </a:solidFill>
                <a:latin typeface="Arial"/>
                <a:ea typeface="Arial"/>
                <a:cs typeface="Arial"/>
              </a:rPr>
              <a:t>Jammed servo:</a:t>
            </a:r>
          </a:p>
          <a:p>
            <a:pPr algn="l">
              <a:lnSpc>
                <a:spcPct val="110000"/>
              </a:lnSpc>
              <a:buNone/>
              <a:defRPr sz="2325" b="1">
                <a:solidFill>
                  <a:srgbClr val="D66A2C"/>
                </a:solidFill>
                <a:latin typeface="Arial"/>
                <a:ea typeface="Arial"/>
                <a:cs typeface="Arial"/>
              </a:defRPr>
            </a:pPr>
            <a:r>
              <a:rPr sz="2325" b="1">
                <a:solidFill>
                  <a:srgbClr val="D66A2C"/>
                </a:solidFill>
                <a:latin typeface="Arial"/>
                <a:ea typeface="Arial"/>
                <a:cs typeface="Arial"/>
              </a:rPr>
              <a:t>δ remains fixed</a:t>
            </a:r>
          </a:p>
        </p:txBody>
      </p:sp>
      <p:sp>
        <p:nvSpPr>
          <p:cNvPr id="8" name="El controlador original resulta inestable en las">
            <a:extLst>
              <a:ext uri="{FF2B5EF4-FFF2-40B4-BE49-F238E27FC236}">
                <a16:creationId xmlns:a16="http://schemas.microsoft.com/office/drawing/2014/main" id="{BE21673E-8DEB-4FB4-A3A4-91992E8CCC8D}"/>
              </a:ext>
            </a:extLst>
          </p:cNvPr>
          <p:cNvSpPr>
            <a:spLocks noGrp="1"/>
          </p:cNvSpPr>
          <p:nvPr/>
        </p:nvSpPr>
        <p:spPr>
          <a:xfrm>
            <a:off x="590550" y="5962650"/>
            <a:ext cx="10953750" cy="438150"/>
          </a:xfrm>
          <a:prstGeom prst="rect">
            <a:avLst/>
          </a:prstGeom>
          <a:noFill/>
          <a:ln w="0">
            <a:noFill/>
          </a:ln>
        </p:spPr>
        <p:txBody>
          <a:bodyPr lIns="0" tIns="0" rIns="0" bIns="0" anchor="t">
            <a:noAutofit/>
          </a:bodyPr>
          <a:lstStyle>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The original controller is unstable under the steering failures studied</a:t>
            </a:r>
          </a:p>
        </p:txBody>
      </p:sp>
      <p:sp>
        <p:nvSpPr>
          <p:cNvPr id="9" name="Controllable: inputs can move the state between ">
            <a:extLst>
              <a:ext uri="{FF2B5EF4-FFF2-40B4-BE49-F238E27FC236}">
                <a16:creationId xmlns:a16="http://schemas.microsoft.com/office/drawing/2014/main" id="{6F3BC935-6E32-42C8-B52A-860E56CDA3E5}"/>
              </a:ext>
            </a:extLst>
          </p:cNvPr>
          <p:cNvSpPr>
            <a:spLocks noGrp="1"/>
          </p:cNvSpPr>
          <p:nvPr/>
        </p:nvSpPr>
        <p:spPr>
          <a:xfrm>
            <a:off x="590550" y="1905000"/>
            <a:ext cx="11010900" cy="295275"/>
          </a:xfrm>
          <a:prstGeom prst="rect">
            <a:avLst/>
          </a:prstGeom>
          <a:noFill/>
          <a:ln w="0">
            <a:noFill/>
          </a:ln>
        </p:spPr>
        <p:txBody>
          <a:bodyPr lIns="0" tIns="0" rIns="0" bIns="0" anchor="t">
            <a:noAutofit/>
          </a:bodyPr>
          <a:lstStyle>
            <a:defPPr>
              <a:defRPr sz="1800" b="0">
                <a:solidFill>
                  <a:srgbClr val="516474"/>
                </a:solidFill>
                <a:latin typeface="Arial"/>
                <a:ea typeface="Arial"/>
                <a:cs typeface="Arial"/>
              </a:defRPr>
            </a:defPPr>
            <a:lvl1pPr>
              <a:defRPr sz="1800" b="0">
                <a:solidFill>
                  <a:srgbClr val="516474"/>
                </a:solidFill>
                <a:latin typeface="Arial"/>
                <a:ea typeface="Arial"/>
                <a:cs typeface="Arial"/>
              </a:defRPr>
            </a:lvl1pPr>
            <a:lvl2pPr>
              <a:defRPr sz="1800" b="0">
                <a:solidFill>
                  <a:srgbClr val="516474"/>
                </a:solidFill>
                <a:latin typeface="Arial"/>
                <a:ea typeface="Arial"/>
                <a:cs typeface="Arial"/>
              </a:defRPr>
            </a:lvl2pPr>
            <a:lvl3pPr>
              <a:defRPr sz="1800" b="0">
                <a:solidFill>
                  <a:srgbClr val="516474"/>
                </a:solidFill>
                <a:latin typeface="Arial"/>
                <a:ea typeface="Arial"/>
                <a:cs typeface="Arial"/>
              </a:defRPr>
            </a:lvl3pPr>
            <a:lvl4pPr>
              <a:defRPr sz="1800" b="0">
                <a:solidFill>
                  <a:srgbClr val="516474"/>
                </a:solidFill>
                <a:latin typeface="Arial"/>
                <a:ea typeface="Arial"/>
                <a:cs typeface="Arial"/>
              </a:defRPr>
            </a:lvl4pPr>
            <a:lvl5pPr>
              <a:defRPr sz="1800" b="0">
                <a:solidFill>
                  <a:srgbClr val="516474"/>
                </a:solidFill>
                <a:latin typeface="Arial"/>
                <a:ea typeface="Arial"/>
                <a:cs typeface="Arial"/>
              </a:defRPr>
            </a:lvl5pPr>
            <a:lvl6pPr>
              <a:defRPr sz="1800" b="0">
                <a:solidFill>
                  <a:srgbClr val="516474"/>
                </a:solidFill>
                <a:latin typeface="Arial"/>
                <a:ea typeface="Arial"/>
                <a:cs typeface="Arial"/>
              </a:defRPr>
            </a:lvl6pPr>
            <a:lvl7pPr>
              <a:defRPr sz="1800" b="0">
                <a:solidFill>
                  <a:srgbClr val="516474"/>
                </a:solidFill>
                <a:latin typeface="Arial"/>
                <a:ea typeface="Arial"/>
                <a:cs typeface="Arial"/>
              </a:defRPr>
            </a:lvl7pPr>
            <a:lvl8pPr>
              <a:defRPr sz="1800" b="0">
                <a:solidFill>
                  <a:srgbClr val="516474"/>
                </a:solidFill>
                <a:latin typeface="Arial"/>
                <a:ea typeface="Arial"/>
                <a:cs typeface="Arial"/>
              </a:defRPr>
            </a:lvl8pPr>
            <a:lvl9pPr>
              <a:defRPr sz="1800" b="0">
                <a:solidFill>
                  <a:srgbClr val="516474"/>
                </a:solidFill>
                <a:latin typeface="Arial"/>
                <a:ea typeface="Arial"/>
                <a:cs typeface="Arial"/>
              </a:defRPr>
            </a:lvl9pPr>
          </a:lstStyle>
          <a:p>
            <a:pPr>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Controllable: inputs can move the state between arbitrary conditions in finite time</a:t>
            </a:r>
          </a:p>
        </p:txBody>
      </p:sp>
    </p:spTree>
    <p:extLst>
      <p:ext uri="{BB962C8B-B14F-4D97-AF65-F5344CB8AC3E}">
        <p14:creationId xmlns:p14="http://schemas.microsoft.com/office/powerpoint/2010/main" val="1896494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lección de ganancias">
            <a:extLst>
              <a:ext uri="{FF2B5EF4-FFF2-40B4-BE49-F238E27FC236}">
                <a16:creationId xmlns:a16="http://schemas.microsoft.com/office/drawing/2014/main" id="{E99A892A-4564-44D8-BC7F-FA251ECD0F0E}"/>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Gain selection</a:t>
            </a:r>
          </a:p>
        </p:txBody>
      </p:sp>
      <p:sp>
        <p:nvSpPr>
          <p:cNvPr id="3" name="11 / 16">
            <a:extLst>
              <a:ext uri="{FF2B5EF4-FFF2-40B4-BE49-F238E27FC236}">
                <a16:creationId xmlns:a16="http://schemas.microsoft.com/office/drawing/2014/main" id="{3FC684A2-12F8-46CC-9977-5CBE566B9D57}"/>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14 / 19</a:t>
            </a:r>
          </a:p>
        </p:txBody>
      </p:sp>
      <p:graphicFrame>
        <p:nvGraphicFramePr>
          <p:cNvPr id="4" name="Chart">
            <a:extLst>
              <a:ext uri="{FF2B5EF4-FFF2-40B4-BE49-F238E27FC236}">
                <a16:creationId xmlns:a16="http://schemas.microsoft.com/office/drawing/2014/main" id="{CDFD0969-2550-4F7A-8DD1-656A1D41A862}"/>
              </a:ext>
            </a:extLst>
          </p:cNvPr>
          <p:cNvGraphicFramePr/>
          <p:nvPr/>
        </p:nvGraphicFramePr>
        <p:xfrm>
          <a:off x="400050" y="1619250"/>
          <a:ext cx="7239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5" name="Límites adoptados">
            <a:extLst>
              <a:ext uri="{FF2B5EF4-FFF2-40B4-BE49-F238E27FC236}">
                <a16:creationId xmlns:a16="http://schemas.microsoft.com/office/drawing/2014/main" id="{6F372E1D-C444-4824-B8C5-9FE5A33FC0A4}"/>
              </a:ext>
            </a:extLst>
          </p:cNvPr>
          <p:cNvSpPr>
            <a:spLocks noGrp="1"/>
          </p:cNvSpPr>
          <p:nvPr/>
        </p:nvSpPr>
        <p:spPr>
          <a:xfrm>
            <a:off x="8143875" y="1743075"/>
            <a:ext cx="3429000" cy="447675"/>
          </a:xfrm>
          <a:prstGeom prst="rect">
            <a:avLst/>
          </a:prstGeom>
          <a:noFill/>
          <a:ln w="0">
            <a:noFill/>
          </a:ln>
        </p:spPr>
        <p:txBody>
          <a:bodyPr lIns="0" tIns="0" rIns="0" bIns="0" anchor="t">
            <a:noAutofit/>
          </a:bodyPr>
          <a:lstStyle>
            <a:defPPr algn="l">
              <a:defRPr sz="2250" b="1">
                <a:solidFill>
                  <a:srgbClr val="087E8B"/>
                </a:solidFill>
                <a:latin typeface="Arial"/>
                <a:ea typeface="Arial"/>
                <a:cs typeface="Arial"/>
              </a:defRPr>
            </a:defPPr>
            <a:lvl1pPr algn="l">
              <a:defRPr sz="2250" b="1">
                <a:solidFill>
                  <a:srgbClr val="087E8B"/>
                </a:solidFill>
                <a:latin typeface="Arial"/>
                <a:ea typeface="Arial"/>
                <a:cs typeface="Arial"/>
              </a:defRPr>
            </a:lvl1pPr>
            <a:lvl2pPr algn="l">
              <a:defRPr sz="2250" b="1">
                <a:solidFill>
                  <a:srgbClr val="087E8B"/>
                </a:solidFill>
                <a:latin typeface="Arial"/>
                <a:ea typeface="Arial"/>
                <a:cs typeface="Arial"/>
              </a:defRPr>
            </a:lvl2pPr>
            <a:lvl3pPr algn="l">
              <a:defRPr sz="2250" b="1">
                <a:solidFill>
                  <a:srgbClr val="087E8B"/>
                </a:solidFill>
                <a:latin typeface="Arial"/>
                <a:ea typeface="Arial"/>
                <a:cs typeface="Arial"/>
              </a:defRPr>
            </a:lvl3pPr>
            <a:lvl4pPr algn="l">
              <a:defRPr sz="2250" b="1">
                <a:solidFill>
                  <a:srgbClr val="087E8B"/>
                </a:solidFill>
                <a:latin typeface="Arial"/>
                <a:ea typeface="Arial"/>
                <a:cs typeface="Arial"/>
              </a:defRPr>
            </a:lvl4pPr>
            <a:lvl5pPr algn="l">
              <a:defRPr sz="2250" b="1">
                <a:solidFill>
                  <a:srgbClr val="087E8B"/>
                </a:solidFill>
                <a:latin typeface="Arial"/>
                <a:ea typeface="Arial"/>
                <a:cs typeface="Arial"/>
              </a:defRPr>
            </a:lvl5pPr>
            <a:lvl6pPr algn="l">
              <a:defRPr sz="2250" b="1">
                <a:solidFill>
                  <a:srgbClr val="087E8B"/>
                </a:solidFill>
                <a:latin typeface="Arial"/>
                <a:ea typeface="Arial"/>
                <a:cs typeface="Arial"/>
              </a:defRPr>
            </a:lvl6pPr>
            <a:lvl7pPr algn="l">
              <a:defRPr sz="2250" b="1">
                <a:solidFill>
                  <a:srgbClr val="087E8B"/>
                </a:solidFill>
                <a:latin typeface="Arial"/>
                <a:ea typeface="Arial"/>
                <a:cs typeface="Arial"/>
              </a:defRPr>
            </a:lvl7pPr>
            <a:lvl8pPr algn="l">
              <a:defRPr sz="2250" b="1">
                <a:solidFill>
                  <a:srgbClr val="087E8B"/>
                </a:solidFill>
                <a:latin typeface="Arial"/>
                <a:ea typeface="Arial"/>
                <a:cs typeface="Arial"/>
              </a:defRPr>
            </a:lvl8pPr>
            <a:lvl9pPr algn="l">
              <a:defRPr sz="2250" b="1">
                <a:solidFill>
                  <a:srgbClr val="087E8B"/>
                </a:solidFill>
                <a:latin typeface="Arial"/>
                <a:ea typeface="Arial"/>
                <a:cs typeface="Arial"/>
              </a:defRPr>
            </a:lvl9pPr>
          </a:lstStyle>
          <a:p>
            <a:pPr algn="l">
              <a:lnSpc>
                <a:spcPct val="110000"/>
              </a:lnSpc>
              <a:buNone/>
              <a:defRPr sz="2250" b="1">
                <a:solidFill>
                  <a:srgbClr val="087E8B"/>
                </a:solidFill>
                <a:latin typeface="Arial"/>
                <a:ea typeface="Arial"/>
                <a:cs typeface="Arial"/>
              </a:defRPr>
            </a:pPr>
            <a:r>
              <a:rPr sz="2250" b="1">
                <a:solidFill>
                  <a:srgbClr val="087E8B"/>
                </a:solidFill>
                <a:latin typeface="Arial"/>
                <a:ea typeface="Arial"/>
                <a:cs typeface="Arial"/>
              </a:rPr>
              <a:t>Design limits</a:t>
            </a:r>
          </a:p>
        </p:txBody>
      </p:sp>
      <p:sp>
        <p:nvSpPr>
          <p:cNvPr id="6" name="Sobrepaso ≤ 10 %">
            <a:extLst>
              <a:ext uri="{FF2B5EF4-FFF2-40B4-BE49-F238E27FC236}">
                <a16:creationId xmlns:a16="http://schemas.microsoft.com/office/drawing/2014/main" id="{CB34D6E2-1B15-4B1C-BCFF-FB1D001C128C}"/>
              </a:ext>
            </a:extLst>
          </p:cNvPr>
          <p:cNvSpPr>
            <a:spLocks noGrp="1"/>
          </p:cNvSpPr>
          <p:nvPr/>
        </p:nvSpPr>
        <p:spPr>
          <a:xfrm>
            <a:off x="8143875" y="2505075"/>
            <a:ext cx="3429000" cy="40005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Overshoot ≤ 10%</a:t>
            </a:r>
          </a:p>
        </p:txBody>
      </p:sp>
      <p:sp>
        <p:nvSpPr>
          <p:cNvPr id="7" name="Asentamiento ≤ 3 s">
            <a:extLst>
              <a:ext uri="{FF2B5EF4-FFF2-40B4-BE49-F238E27FC236}">
                <a16:creationId xmlns:a16="http://schemas.microsoft.com/office/drawing/2014/main" id="{757BDC0F-AE11-4B32-884F-1567309D1C41}"/>
              </a:ext>
            </a:extLst>
          </p:cNvPr>
          <p:cNvSpPr>
            <a:spLocks noGrp="1"/>
          </p:cNvSpPr>
          <p:nvPr/>
        </p:nvSpPr>
        <p:spPr>
          <a:xfrm>
            <a:off x="8143875" y="3057525"/>
            <a:ext cx="3429000" cy="40005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Settling time ≤ 3 s</a:t>
            </a:r>
          </a:p>
        </p:txBody>
      </p:sp>
      <p:sp>
        <p:nvSpPr>
          <p:cNvPr id="8" name="Error final ≤ 5 %">
            <a:extLst>
              <a:ext uri="{FF2B5EF4-FFF2-40B4-BE49-F238E27FC236}">
                <a16:creationId xmlns:a16="http://schemas.microsoft.com/office/drawing/2014/main" id="{6D1B2B23-C8EE-458D-A718-5BC584CB5A7E}"/>
              </a:ext>
            </a:extLst>
          </p:cNvPr>
          <p:cNvSpPr>
            <a:spLocks noGrp="1"/>
          </p:cNvSpPr>
          <p:nvPr/>
        </p:nvSpPr>
        <p:spPr>
          <a:xfrm>
            <a:off x="8143875" y="3609975"/>
            <a:ext cx="3429000" cy="40005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Final error ≤ 5%</a:t>
            </a:r>
          </a:p>
        </p:txBody>
      </p:sp>
      <p:sp>
        <p:nvSpPr>
          <p:cNvPr id="9" name="Deflexión ≤ 5°">
            <a:extLst>
              <a:ext uri="{FF2B5EF4-FFF2-40B4-BE49-F238E27FC236}">
                <a16:creationId xmlns:a16="http://schemas.microsoft.com/office/drawing/2014/main" id="{2C5094DE-5036-431F-B296-CBD508B6B33E}"/>
              </a:ext>
            </a:extLst>
          </p:cNvPr>
          <p:cNvSpPr>
            <a:spLocks noGrp="1"/>
          </p:cNvSpPr>
          <p:nvPr/>
        </p:nvSpPr>
        <p:spPr>
          <a:xfrm>
            <a:off x="8143875" y="4162425"/>
            <a:ext cx="3429000" cy="40005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Deflection ≤ 5°</a:t>
            </a:r>
          </a:p>
        </p:txBody>
      </p:sp>
      <p:sp>
        <p:nvSpPr>
          <p:cNvPr id="10" name="G₁₁(0) &gt; 0">
            <a:extLst>
              <a:ext uri="{FF2B5EF4-FFF2-40B4-BE49-F238E27FC236}">
                <a16:creationId xmlns:a16="http://schemas.microsoft.com/office/drawing/2014/main" id="{506C46C6-31A6-46BA-8684-6D6FA69F8F13}"/>
              </a:ext>
            </a:extLst>
          </p:cNvPr>
          <p:cNvSpPr>
            <a:spLocks noGrp="1"/>
          </p:cNvSpPr>
          <p:nvPr/>
        </p:nvSpPr>
        <p:spPr>
          <a:xfrm>
            <a:off x="8143875" y="4714875"/>
            <a:ext cx="3429000" cy="400050"/>
          </a:xfrm>
          <a:prstGeom prst="rect">
            <a:avLst/>
          </a:prstGeom>
          <a:noFill/>
          <a:ln w="0">
            <a:noFill/>
          </a:ln>
        </p:spPr>
        <p:txBody>
          <a:bodyPr lIns="0" tIns="0" rIns="0" bIns="0" anchor="t">
            <a:noAutofit/>
          </a:bodyPr>
          <a:lstStyle>
            <a:defPPr algn="l">
              <a:defRPr sz="2025" b="0">
                <a:solidFill>
                  <a:srgbClr val="13283C"/>
                </a:solidFill>
                <a:latin typeface="Arial"/>
                <a:ea typeface="Arial"/>
                <a:cs typeface="Arial"/>
              </a:defRPr>
            </a:defPPr>
            <a:lvl1pPr algn="l">
              <a:defRPr sz="2025" b="0">
                <a:solidFill>
                  <a:srgbClr val="13283C"/>
                </a:solidFill>
                <a:latin typeface="Arial"/>
                <a:ea typeface="Arial"/>
                <a:cs typeface="Arial"/>
              </a:defRPr>
            </a:lvl1pPr>
            <a:lvl2pPr algn="l">
              <a:defRPr sz="2025" b="0">
                <a:solidFill>
                  <a:srgbClr val="13283C"/>
                </a:solidFill>
                <a:latin typeface="Arial"/>
                <a:ea typeface="Arial"/>
                <a:cs typeface="Arial"/>
              </a:defRPr>
            </a:lvl2pPr>
            <a:lvl3pPr algn="l">
              <a:defRPr sz="2025" b="0">
                <a:solidFill>
                  <a:srgbClr val="13283C"/>
                </a:solidFill>
                <a:latin typeface="Arial"/>
                <a:ea typeface="Arial"/>
                <a:cs typeface="Arial"/>
              </a:defRPr>
            </a:lvl3pPr>
            <a:lvl4pPr algn="l">
              <a:defRPr sz="2025" b="0">
                <a:solidFill>
                  <a:srgbClr val="13283C"/>
                </a:solidFill>
                <a:latin typeface="Arial"/>
                <a:ea typeface="Arial"/>
                <a:cs typeface="Arial"/>
              </a:defRPr>
            </a:lvl4pPr>
            <a:lvl5pPr algn="l">
              <a:defRPr sz="2025" b="0">
                <a:solidFill>
                  <a:srgbClr val="13283C"/>
                </a:solidFill>
                <a:latin typeface="Arial"/>
                <a:ea typeface="Arial"/>
                <a:cs typeface="Arial"/>
              </a:defRPr>
            </a:lvl5pPr>
            <a:lvl6pPr algn="l">
              <a:defRPr sz="2025" b="0">
                <a:solidFill>
                  <a:srgbClr val="13283C"/>
                </a:solidFill>
                <a:latin typeface="Arial"/>
                <a:ea typeface="Arial"/>
                <a:cs typeface="Arial"/>
              </a:defRPr>
            </a:lvl6pPr>
            <a:lvl7pPr algn="l">
              <a:defRPr sz="2025" b="0">
                <a:solidFill>
                  <a:srgbClr val="13283C"/>
                </a:solidFill>
                <a:latin typeface="Arial"/>
                <a:ea typeface="Arial"/>
                <a:cs typeface="Arial"/>
              </a:defRPr>
            </a:lvl7pPr>
            <a:lvl8pPr algn="l">
              <a:defRPr sz="2025" b="0">
                <a:solidFill>
                  <a:srgbClr val="13283C"/>
                </a:solidFill>
                <a:latin typeface="Arial"/>
                <a:ea typeface="Arial"/>
                <a:cs typeface="Arial"/>
              </a:defRPr>
            </a:lvl8pPr>
            <a:lvl9pPr algn="l">
              <a:defRPr sz="2025" b="0">
                <a:solidFill>
                  <a:srgbClr val="13283C"/>
                </a:solidFill>
                <a:latin typeface="Arial"/>
                <a:ea typeface="Arial"/>
                <a:cs typeface="Arial"/>
              </a:defRPr>
            </a:lvl9pPr>
          </a:lstStyle>
          <a:p>
            <a:pPr algn="l">
              <a:lnSpc>
                <a:spcPct val="110000"/>
              </a:lnSpc>
              <a:buNone/>
              <a:defRPr sz="2025" b="0">
                <a:solidFill>
                  <a:srgbClr val="13283C"/>
                </a:solidFill>
                <a:latin typeface="Arial"/>
                <a:ea typeface="Arial"/>
                <a:cs typeface="Arial"/>
              </a:defRPr>
            </a:pPr>
            <a:r>
              <a:rPr sz="2025" b="0">
                <a:solidFill>
                  <a:srgbClr val="13283C"/>
                </a:solidFill>
                <a:latin typeface="Arial"/>
                <a:ea typeface="Arial"/>
                <a:cs typeface="Arial"/>
              </a:rPr>
              <a:t>G₁₁(0) &gt; 0</a:t>
            </a:r>
          </a:p>
        </p:txBody>
      </p:sp>
      <p:sp>
        <p:nvSpPr>
          <p:cNvPr id="11" name="Barrido: 2400 pares. La región recomendada conti">
            <a:extLst>
              <a:ext uri="{FF2B5EF4-FFF2-40B4-BE49-F238E27FC236}">
                <a16:creationId xmlns:a16="http://schemas.microsoft.com/office/drawing/2014/main" id="{890A2B8D-9448-4D14-9267-E8FD7DC91793}"/>
              </a:ext>
            </a:extLst>
          </p:cNvPr>
          <p:cNvSpPr>
            <a:spLocks noGrp="1"/>
          </p:cNvSpPr>
          <p:nvPr/>
        </p:nvSpPr>
        <p:spPr>
          <a:xfrm>
            <a:off x="590550" y="5962650"/>
            <a:ext cx="10953750" cy="419100"/>
          </a:xfrm>
          <a:prstGeom prst="rect">
            <a:avLst/>
          </a:prstGeom>
          <a:noFill/>
          <a:ln w="0">
            <a:noFill/>
          </a:ln>
        </p:spPr>
        <p:txBody>
          <a:bodyPr lIns="0" tIns="0" rIns="0" bIns="0" anchor="t">
            <a:noAutofit/>
          </a:bodyPr>
          <a:lstStyle>
            <a:defPPr algn="l">
              <a:defRPr sz="1725" b="0">
                <a:solidFill>
                  <a:srgbClr val="516474"/>
                </a:solidFill>
                <a:latin typeface="Arial"/>
                <a:ea typeface="Arial"/>
                <a:cs typeface="Arial"/>
              </a:defRPr>
            </a:defPPr>
            <a:lvl1pPr algn="l">
              <a:defRPr sz="1725" b="0">
                <a:solidFill>
                  <a:srgbClr val="516474"/>
                </a:solidFill>
                <a:latin typeface="Arial"/>
                <a:ea typeface="Arial"/>
                <a:cs typeface="Arial"/>
              </a:defRPr>
            </a:lvl1pPr>
            <a:lvl2pPr algn="l">
              <a:defRPr sz="1725" b="0">
                <a:solidFill>
                  <a:srgbClr val="516474"/>
                </a:solidFill>
                <a:latin typeface="Arial"/>
                <a:ea typeface="Arial"/>
                <a:cs typeface="Arial"/>
              </a:defRPr>
            </a:lvl2pPr>
            <a:lvl3pPr algn="l">
              <a:defRPr sz="1725" b="0">
                <a:solidFill>
                  <a:srgbClr val="516474"/>
                </a:solidFill>
                <a:latin typeface="Arial"/>
                <a:ea typeface="Arial"/>
                <a:cs typeface="Arial"/>
              </a:defRPr>
            </a:lvl3pPr>
            <a:lvl4pPr algn="l">
              <a:defRPr sz="1725" b="0">
                <a:solidFill>
                  <a:srgbClr val="516474"/>
                </a:solidFill>
                <a:latin typeface="Arial"/>
                <a:ea typeface="Arial"/>
                <a:cs typeface="Arial"/>
              </a:defRPr>
            </a:lvl4pPr>
            <a:lvl5pPr algn="l">
              <a:defRPr sz="1725" b="0">
                <a:solidFill>
                  <a:srgbClr val="516474"/>
                </a:solidFill>
                <a:latin typeface="Arial"/>
                <a:ea typeface="Arial"/>
                <a:cs typeface="Arial"/>
              </a:defRPr>
            </a:lvl5pPr>
            <a:lvl6pPr algn="l">
              <a:defRPr sz="1725" b="0">
                <a:solidFill>
                  <a:srgbClr val="516474"/>
                </a:solidFill>
                <a:latin typeface="Arial"/>
                <a:ea typeface="Arial"/>
                <a:cs typeface="Arial"/>
              </a:defRPr>
            </a:lvl6pPr>
            <a:lvl7pPr algn="l">
              <a:defRPr sz="1725" b="0">
                <a:solidFill>
                  <a:srgbClr val="516474"/>
                </a:solidFill>
                <a:latin typeface="Arial"/>
                <a:ea typeface="Arial"/>
                <a:cs typeface="Arial"/>
              </a:defRPr>
            </a:lvl7pPr>
            <a:lvl8pPr algn="l">
              <a:defRPr sz="1725" b="0">
                <a:solidFill>
                  <a:srgbClr val="516474"/>
                </a:solidFill>
                <a:latin typeface="Arial"/>
                <a:ea typeface="Arial"/>
                <a:cs typeface="Arial"/>
              </a:defRPr>
            </a:lvl8pPr>
            <a:lvl9pPr algn="l">
              <a:defRPr sz="1725" b="0">
                <a:solidFill>
                  <a:srgbClr val="516474"/>
                </a:solidFill>
                <a:latin typeface="Arial"/>
                <a:ea typeface="Arial"/>
                <a:cs typeface="Arial"/>
              </a:defRPr>
            </a:lvl9pPr>
          </a:lstStyle>
          <a:p>
            <a:pPr algn="l">
              <a:lnSpc>
                <a:spcPct val="110000"/>
              </a:lnSpc>
              <a:buNone/>
              <a:defRPr sz="1725" b="0">
                <a:solidFill>
                  <a:srgbClr val="516474"/>
                </a:solidFill>
                <a:latin typeface="Arial"/>
                <a:ea typeface="Arial"/>
                <a:cs typeface="Arial"/>
              </a:defRPr>
            </a:pPr>
            <a:r>
              <a:rPr sz="1725" b="0">
                <a:solidFill>
                  <a:srgbClr val="516474"/>
                </a:solidFill>
                <a:latin typeface="Arial"/>
                <a:ea typeface="Arial"/>
                <a:cs typeface="Arial"/>
              </a:rPr>
              <a:t>Grid search: 2400 pairs. The recommended region contains specific gain pairs</a:t>
            </a:r>
          </a:p>
        </p:txBody>
      </p:sp>
    </p:spTree>
    <p:extLst>
      <p:ext uri="{BB962C8B-B14F-4D97-AF65-F5344CB8AC3E}">
        <p14:creationId xmlns:p14="http://schemas.microsoft.com/office/powerpoint/2010/main" val="77578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mparación de desempeño">
            <a:extLst>
              <a:ext uri="{FF2B5EF4-FFF2-40B4-BE49-F238E27FC236}">
                <a16:creationId xmlns:a16="http://schemas.microsoft.com/office/drawing/2014/main" id="{1DEE57C1-EEEA-417E-AFF3-C4132DBDA6FD}"/>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Performance comparison</a:t>
            </a:r>
          </a:p>
        </p:txBody>
      </p:sp>
      <p:sp>
        <p:nvSpPr>
          <p:cNvPr id="3" name="12 / 16">
            <a:extLst>
              <a:ext uri="{FF2B5EF4-FFF2-40B4-BE49-F238E27FC236}">
                <a16:creationId xmlns:a16="http://schemas.microsoft.com/office/drawing/2014/main" id="{9F61E919-7808-4B4B-A8F5-F69149B9F5AC}"/>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15 / 19</a:t>
            </a:r>
          </a:p>
        </p:txBody>
      </p:sp>
      <p:sp>
        <p:nvSpPr>
          <p:cNvPr id="4" name="Punto elegido: K₁ = 4,5 y K₂ = 1,3">
            <a:extLst>
              <a:ext uri="{FF2B5EF4-FFF2-40B4-BE49-F238E27FC236}">
                <a16:creationId xmlns:a16="http://schemas.microsoft.com/office/drawing/2014/main" id="{D109E369-2426-44E6-832D-411726F8E21C}"/>
              </a:ext>
            </a:extLst>
          </p:cNvPr>
          <p:cNvSpPr>
            <a:spLocks noGrp="1"/>
          </p:cNvSpPr>
          <p:nvPr/>
        </p:nvSpPr>
        <p:spPr>
          <a:xfrm>
            <a:off x="590550" y="1276350"/>
            <a:ext cx="10953750" cy="457200"/>
          </a:xfrm>
          <a:prstGeom prst="rect">
            <a:avLst/>
          </a:prstGeom>
          <a:noFill/>
          <a:ln w="0">
            <a:noFill/>
          </a:ln>
        </p:spPr>
        <p:txBody>
          <a:bodyPr lIns="0" tIns="0" rIns="0" bIns="0" anchor="t">
            <a:noAutofit/>
          </a:bodyPr>
          <a:lstStyle>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Chosen point: K₁ = 4.5 and K₂ = 1.3</a:t>
            </a:r>
          </a:p>
        </p:txBody>
      </p:sp>
      <p:graphicFrame>
        <p:nvGraphicFramePr>
          <p:cNvPr id="5" name="Chart">
            <a:extLst>
              <a:ext uri="{FF2B5EF4-FFF2-40B4-BE49-F238E27FC236}">
                <a16:creationId xmlns:a16="http://schemas.microsoft.com/office/drawing/2014/main" id="{58F4012C-C2E4-4970-BA46-A68CA41A17F0}"/>
              </a:ext>
            </a:extLst>
          </p:cNvPr>
          <p:cNvGraphicFramePr/>
          <p:nvPr/>
        </p:nvGraphicFramePr>
        <p:xfrm>
          <a:off x="333375" y="2000250"/>
          <a:ext cx="7096125" cy="3524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595C3FDC-353E-4572-BDE3-053472F91C9B}"/>
              </a:ext>
            </a:extLst>
          </p:cNvPr>
          <p:cNvGraphicFramePr/>
          <p:nvPr/>
        </p:nvGraphicFramePr>
        <p:xfrm>
          <a:off x="7667625" y="2047875"/>
          <a:ext cx="3905250" cy="3095625"/>
        </p:xfrm>
        <a:graphic>
          <a:graphicData uri="http://schemas.openxmlformats.org/drawingml/2006/table">
            <a:tbl>
              <a:tblPr/>
              <a:tblGrid>
                <a:gridCol w="154305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181100">
                  <a:extLst>
                    <a:ext uri="{9D8B030D-6E8A-4147-A177-3AD203B41FA5}">
                      <a16:colId xmlns:a16="http://schemas.microsoft.com/office/drawing/2014/main" val="20002"/>
                    </a:ext>
                  </a:extLst>
                </a:gridCol>
              </a:tblGrid>
              <a:tr h="619125">
                <a:tc>
                  <a:txBody>
                    <a:bodyPr/>
                    <a:lstStyle/>
                    <a:p>
                      <a:r>
                        <a:rPr sz="1650" b="1">
                          <a:solidFill>
                            <a:srgbClr val="FFFFFF"/>
                          </a:solidFill>
                          <a:latin typeface="Arial"/>
                          <a:ea typeface="Arial"/>
                          <a:cs typeface="Arial"/>
                        </a:rPr>
                        <a:t>Metric</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1650" b="1">
                          <a:solidFill>
                            <a:srgbClr val="FFFFFF"/>
                          </a:solidFill>
                          <a:latin typeface="Arial"/>
                          <a:ea typeface="Arial"/>
                          <a:cs typeface="Arial"/>
                        </a:rPr>
                        <a:t>Nominal</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1650" b="1">
                          <a:solidFill>
                            <a:srgbClr val="FFFFFF"/>
                          </a:solidFill>
                          <a:latin typeface="Arial"/>
                          <a:ea typeface="Arial"/>
                          <a:cs typeface="Arial"/>
                        </a:rPr>
                        <a:t>Chosen</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619125">
                <a:tc>
                  <a:txBody>
                    <a:bodyPr/>
                    <a:lstStyle/>
                    <a:p>
                      <a:r>
                        <a:rPr sz="1650" b="0">
                          <a:solidFill>
                            <a:srgbClr val="13283C"/>
                          </a:solidFill>
                          <a:latin typeface="Arial"/>
                          <a:ea typeface="Arial"/>
                          <a:cs typeface="Arial"/>
                        </a:rPr>
                        <a:t>Overshoot</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650" b="0">
                          <a:solidFill>
                            <a:srgbClr val="13283C"/>
                          </a:solidFill>
                          <a:latin typeface="Arial"/>
                          <a:ea typeface="Arial"/>
                          <a:cs typeface="Arial"/>
                        </a:rPr>
                        <a:t>16.39 %</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650" b="0">
                          <a:solidFill>
                            <a:srgbClr val="13283C"/>
                          </a:solidFill>
                          <a:latin typeface="Arial"/>
                          <a:ea typeface="Arial"/>
                          <a:cs typeface="Arial"/>
                        </a:rPr>
                        <a:t>0.82 %</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650" b="0">
                          <a:solidFill>
                            <a:srgbClr val="13283C"/>
                          </a:solidFill>
                          <a:latin typeface="Arial"/>
                          <a:ea typeface="Arial"/>
                          <a:cs typeface="Arial"/>
                        </a:rPr>
                        <a:t>Settling time</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650" b="0">
                          <a:solidFill>
                            <a:srgbClr val="13283C"/>
                          </a:solidFill>
                          <a:latin typeface="Arial"/>
                          <a:ea typeface="Arial"/>
                          <a:cs typeface="Arial"/>
                        </a:rPr>
                        <a:t>3.64 s</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650" b="0">
                          <a:solidFill>
                            <a:srgbClr val="13283C"/>
                          </a:solidFill>
                          <a:latin typeface="Arial"/>
                          <a:ea typeface="Arial"/>
                          <a:cs typeface="Arial"/>
                        </a:rPr>
                        <a:t>1.62 s</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619125">
                <a:tc>
                  <a:txBody>
                    <a:bodyPr/>
                    <a:lstStyle/>
                    <a:p>
                      <a:r>
                        <a:rPr sz="1650" b="0">
                          <a:solidFill>
                            <a:srgbClr val="13283C"/>
                          </a:solidFill>
                          <a:latin typeface="Arial"/>
                          <a:ea typeface="Arial"/>
                          <a:cs typeface="Arial"/>
                        </a:rPr>
                        <a:t>Final error</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650" b="0">
                          <a:solidFill>
                            <a:srgbClr val="13283C"/>
                          </a:solidFill>
                          <a:latin typeface="Arial"/>
                          <a:ea typeface="Arial"/>
                          <a:cs typeface="Arial"/>
                        </a:rPr>
                        <a:t>4.03 %</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1650" b="0">
                          <a:solidFill>
                            <a:srgbClr val="13283C"/>
                          </a:solidFill>
                          <a:latin typeface="Arial"/>
                          <a:ea typeface="Arial"/>
                          <a:cs typeface="Arial"/>
                        </a:rPr>
                        <a:t>3.25 %</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650" b="0">
                          <a:solidFill>
                            <a:srgbClr val="13283C"/>
                          </a:solidFill>
                          <a:latin typeface="Arial"/>
                          <a:ea typeface="Arial"/>
                          <a:cs typeface="Arial"/>
                        </a:rPr>
                        <a:t>Nozzle peak</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650" b="0">
                          <a:solidFill>
                            <a:srgbClr val="13283C"/>
                          </a:solidFill>
                          <a:latin typeface="Arial"/>
                          <a:ea typeface="Arial"/>
                          <a:cs typeface="Arial"/>
                        </a:rPr>
                        <a:t>2.01°</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1650" b="0">
                          <a:solidFill>
                            <a:srgbClr val="13283C"/>
                          </a:solidFill>
                          <a:latin typeface="Arial"/>
                          <a:ea typeface="Arial"/>
                          <a:cs typeface="Arial"/>
                        </a:rPr>
                        <a:t>4.49°</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4"/>
                  </a:ext>
                </a:extLst>
              </a:tr>
            </a:tbl>
          </a:graphicData>
        </a:graphic>
      </p:graphicFrame>
      <p:sp>
        <p:nvSpPr>
          <p:cNvPr id="7" name="Acoplamientos: 177 % / 21 % en el nominal y 31 %">
            <a:extLst>
              <a:ext uri="{FF2B5EF4-FFF2-40B4-BE49-F238E27FC236}">
                <a16:creationId xmlns:a16="http://schemas.microsoft.com/office/drawing/2014/main" id="{3C92FADC-494B-490E-B18B-4DDDC1EB2DDD}"/>
              </a:ext>
            </a:extLst>
          </p:cNvPr>
          <p:cNvSpPr>
            <a:spLocks noGrp="1"/>
          </p:cNvSpPr>
          <p:nvPr/>
        </p:nvSpPr>
        <p:spPr>
          <a:xfrm>
            <a:off x="590550" y="5734050"/>
            <a:ext cx="10858500" cy="409575"/>
          </a:xfrm>
          <a:prstGeom prst="rect">
            <a:avLst/>
          </a:prstGeom>
          <a:noFill/>
          <a:ln w="0">
            <a:noFill/>
          </a:ln>
        </p:spPr>
        <p:txBody>
          <a:bodyPr lIns="0" tIns="0" rIns="0" bIns="0" anchor="t">
            <a:noAutofit/>
          </a:bodyPr>
          <a:lstStyle>
            <a:defPPr algn="l">
              <a:defRPr sz="1875" b="1">
                <a:solidFill>
                  <a:srgbClr val="13283C"/>
                </a:solidFill>
                <a:latin typeface="Arial"/>
                <a:ea typeface="Arial"/>
                <a:cs typeface="Arial"/>
              </a:defRPr>
            </a:defPPr>
            <a:lvl1pPr algn="l">
              <a:defRPr sz="1875" b="1">
                <a:solidFill>
                  <a:srgbClr val="13283C"/>
                </a:solidFill>
                <a:latin typeface="Arial"/>
                <a:ea typeface="Arial"/>
                <a:cs typeface="Arial"/>
              </a:defRPr>
            </a:lvl1pPr>
            <a:lvl2pPr algn="l">
              <a:defRPr sz="1875" b="1">
                <a:solidFill>
                  <a:srgbClr val="13283C"/>
                </a:solidFill>
                <a:latin typeface="Arial"/>
                <a:ea typeface="Arial"/>
                <a:cs typeface="Arial"/>
              </a:defRPr>
            </a:lvl2pPr>
            <a:lvl3pPr algn="l">
              <a:defRPr sz="1875" b="1">
                <a:solidFill>
                  <a:srgbClr val="13283C"/>
                </a:solidFill>
                <a:latin typeface="Arial"/>
                <a:ea typeface="Arial"/>
                <a:cs typeface="Arial"/>
              </a:defRPr>
            </a:lvl3pPr>
            <a:lvl4pPr algn="l">
              <a:defRPr sz="1875" b="1">
                <a:solidFill>
                  <a:srgbClr val="13283C"/>
                </a:solidFill>
                <a:latin typeface="Arial"/>
                <a:ea typeface="Arial"/>
                <a:cs typeface="Arial"/>
              </a:defRPr>
            </a:lvl4pPr>
            <a:lvl5pPr algn="l">
              <a:defRPr sz="1875" b="1">
                <a:solidFill>
                  <a:srgbClr val="13283C"/>
                </a:solidFill>
                <a:latin typeface="Arial"/>
                <a:ea typeface="Arial"/>
                <a:cs typeface="Arial"/>
              </a:defRPr>
            </a:lvl5pPr>
            <a:lvl6pPr algn="l">
              <a:defRPr sz="1875" b="1">
                <a:solidFill>
                  <a:srgbClr val="13283C"/>
                </a:solidFill>
                <a:latin typeface="Arial"/>
                <a:ea typeface="Arial"/>
                <a:cs typeface="Arial"/>
              </a:defRPr>
            </a:lvl6pPr>
            <a:lvl7pPr algn="l">
              <a:defRPr sz="1875" b="1">
                <a:solidFill>
                  <a:srgbClr val="13283C"/>
                </a:solidFill>
                <a:latin typeface="Arial"/>
                <a:ea typeface="Arial"/>
                <a:cs typeface="Arial"/>
              </a:defRPr>
            </a:lvl7pPr>
            <a:lvl8pPr algn="l">
              <a:defRPr sz="1875" b="1">
                <a:solidFill>
                  <a:srgbClr val="13283C"/>
                </a:solidFill>
                <a:latin typeface="Arial"/>
                <a:ea typeface="Arial"/>
                <a:cs typeface="Arial"/>
              </a:defRPr>
            </a:lvl8pPr>
            <a:lvl9pPr algn="l">
              <a:defRPr sz="1875" b="1">
                <a:solidFill>
                  <a:srgbClr val="13283C"/>
                </a:solidFill>
                <a:latin typeface="Arial"/>
                <a:ea typeface="Arial"/>
                <a:cs typeface="Arial"/>
              </a:defRPr>
            </a:lvl9pPr>
          </a:lstStyle>
          <a:p>
            <a:pPr algn="l">
              <a:lnSpc>
                <a:spcPct val="110000"/>
              </a:lnSpc>
              <a:buNone/>
              <a:defRPr sz="1875" b="1">
                <a:solidFill>
                  <a:srgbClr val="13283C"/>
                </a:solidFill>
                <a:latin typeface="Arial"/>
                <a:ea typeface="Arial"/>
                <a:cs typeface="Arial"/>
              </a:defRPr>
            </a:pPr>
            <a:r>
              <a:rPr sz="1875" b="1">
                <a:solidFill>
                  <a:srgbClr val="13283C"/>
                </a:solidFill>
                <a:latin typeface="Arial"/>
                <a:ea typeface="Arial"/>
                <a:cs typeface="Arial"/>
              </a:rPr>
              <a:t>Coupling: 177% / 21% nominal and 31% / 28% at the chosen point</a:t>
            </a:r>
          </a:p>
        </p:txBody>
      </p:sp>
      <p:sp>
        <p:nvSpPr>
          <p:cNvPr id="8" name="Sobrepaso y asentamiento respecto al valor final">
            <a:extLst>
              <a:ext uri="{FF2B5EF4-FFF2-40B4-BE49-F238E27FC236}">
                <a16:creationId xmlns:a16="http://schemas.microsoft.com/office/drawing/2014/main" id="{D54877B5-B21F-4C5D-9D53-06FF3D4B4E9D}"/>
              </a:ext>
            </a:extLst>
          </p:cNvPr>
          <p:cNvSpPr>
            <a:spLocks noGrp="1"/>
          </p:cNvSpPr>
          <p:nvPr/>
        </p:nvSpPr>
        <p:spPr>
          <a:xfrm>
            <a:off x="590550" y="6162675"/>
            <a:ext cx="10858500" cy="295275"/>
          </a:xfrm>
          <a:prstGeom prst="rect">
            <a:avLst/>
          </a:prstGeom>
          <a:noFill/>
          <a:ln w="0">
            <a:noFill/>
          </a:ln>
        </p:spPr>
        <p:txBody>
          <a:bodyPr lIns="0" tIns="0" rIns="0" bIns="0" anchor="t">
            <a:noAutofit/>
          </a:bodyPr>
          <a:lstStyle>
            <a:defPPr algn="l">
              <a:defRPr sz="1575" b="0">
                <a:solidFill>
                  <a:srgbClr val="516474"/>
                </a:solidFill>
                <a:latin typeface="Arial"/>
                <a:ea typeface="Arial"/>
                <a:cs typeface="Arial"/>
              </a:defRPr>
            </a:defPPr>
            <a:lvl1pPr algn="l">
              <a:defRPr sz="1575" b="0">
                <a:solidFill>
                  <a:srgbClr val="516474"/>
                </a:solidFill>
                <a:latin typeface="Arial"/>
                <a:ea typeface="Arial"/>
                <a:cs typeface="Arial"/>
              </a:defRPr>
            </a:lvl1pPr>
            <a:lvl2pPr algn="l">
              <a:defRPr sz="1575" b="0">
                <a:solidFill>
                  <a:srgbClr val="516474"/>
                </a:solidFill>
                <a:latin typeface="Arial"/>
                <a:ea typeface="Arial"/>
                <a:cs typeface="Arial"/>
              </a:defRPr>
            </a:lvl2pPr>
            <a:lvl3pPr algn="l">
              <a:defRPr sz="1575" b="0">
                <a:solidFill>
                  <a:srgbClr val="516474"/>
                </a:solidFill>
                <a:latin typeface="Arial"/>
                <a:ea typeface="Arial"/>
                <a:cs typeface="Arial"/>
              </a:defRPr>
            </a:lvl3pPr>
            <a:lvl4pPr algn="l">
              <a:defRPr sz="1575" b="0">
                <a:solidFill>
                  <a:srgbClr val="516474"/>
                </a:solidFill>
                <a:latin typeface="Arial"/>
                <a:ea typeface="Arial"/>
                <a:cs typeface="Arial"/>
              </a:defRPr>
            </a:lvl4pPr>
            <a:lvl5pPr algn="l">
              <a:defRPr sz="1575" b="0">
                <a:solidFill>
                  <a:srgbClr val="516474"/>
                </a:solidFill>
                <a:latin typeface="Arial"/>
                <a:ea typeface="Arial"/>
                <a:cs typeface="Arial"/>
              </a:defRPr>
            </a:lvl5pPr>
            <a:lvl6pPr algn="l">
              <a:defRPr sz="1575" b="0">
                <a:solidFill>
                  <a:srgbClr val="516474"/>
                </a:solidFill>
                <a:latin typeface="Arial"/>
                <a:ea typeface="Arial"/>
                <a:cs typeface="Arial"/>
              </a:defRPr>
            </a:lvl6pPr>
            <a:lvl7pPr algn="l">
              <a:defRPr sz="1575" b="0">
                <a:solidFill>
                  <a:srgbClr val="516474"/>
                </a:solidFill>
                <a:latin typeface="Arial"/>
                <a:ea typeface="Arial"/>
                <a:cs typeface="Arial"/>
              </a:defRPr>
            </a:lvl7pPr>
            <a:lvl8pPr algn="l">
              <a:defRPr sz="1575" b="0">
                <a:solidFill>
                  <a:srgbClr val="516474"/>
                </a:solidFill>
                <a:latin typeface="Arial"/>
                <a:ea typeface="Arial"/>
                <a:cs typeface="Arial"/>
              </a:defRPr>
            </a:lvl8pPr>
            <a:lvl9pPr algn="l">
              <a:defRPr sz="1575" b="0">
                <a:solidFill>
                  <a:srgbClr val="516474"/>
                </a:solidFill>
                <a:latin typeface="Arial"/>
                <a:ea typeface="Arial"/>
                <a:cs typeface="Arial"/>
              </a:defRPr>
            </a:lvl9pPr>
          </a:lstStyle>
          <a:p>
            <a:pPr algn="l">
              <a:lnSpc>
                <a:spcPct val="110000"/>
              </a:lnSpc>
              <a:buNone/>
              <a:defRPr sz="1575" b="0">
                <a:solidFill>
                  <a:srgbClr val="516474"/>
                </a:solidFill>
                <a:latin typeface="Arial"/>
                <a:ea typeface="Arial"/>
                <a:cs typeface="Arial"/>
              </a:defRPr>
            </a:pPr>
            <a:r>
              <a:rPr sz="1575" b="0">
                <a:solidFill>
                  <a:srgbClr val="516474"/>
                </a:solidFill>
                <a:latin typeface="Arial"/>
                <a:ea typeface="Arial"/>
                <a:cs typeface="Arial"/>
              </a:rPr>
              <a:t>Overshoot and settling use the final value. Nozzle peak uses both steps</a:t>
            </a:r>
          </a:p>
        </p:txBody>
      </p:sp>
    </p:spTree>
    <p:extLst>
      <p:ext uri="{BB962C8B-B14F-4D97-AF65-F5344CB8AC3E}">
        <p14:creationId xmlns:p14="http://schemas.microsoft.com/office/powerpoint/2010/main" val="1267472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uestreo y retardo">
            <a:extLst>
              <a:ext uri="{FF2B5EF4-FFF2-40B4-BE49-F238E27FC236}">
                <a16:creationId xmlns:a16="http://schemas.microsoft.com/office/drawing/2014/main" id="{F2988F02-034F-4735-84EF-EBF5EE988D5C}"/>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Sampling and delay</a:t>
            </a:r>
          </a:p>
        </p:txBody>
      </p:sp>
      <p:sp>
        <p:nvSpPr>
          <p:cNvPr id="3" name="13 / 16">
            <a:extLst>
              <a:ext uri="{FF2B5EF4-FFF2-40B4-BE49-F238E27FC236}">
                <a16:creationId xmlns:a16="http://schemas.microsoft.com/office/drawing/2014/main" id="{D12871C0-E7C5-4D09-A596-333B0AD77F87}"/>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16 / 19</a:t>
            </a:r>
          </a:p>
        </p:txBody>
      </p:sp>
      <p:graphicFrame>
        <p:nvGraphicFramePr>
          <p:cNvPr id="4" name="Chart">
            <a:extLst>
              <a:ext uri="{FF2B5EF4-FFF2-40B4-BE49-F238E27FC236}">
                <a16:creationId xmlns:a16="http://schemas.microsoft.com/office/drawing/2014/main" id="{A7D00157-202E-4E94-A4FB-A4327E8C4F86}"/>
              </a:ext>
            </a:extLst>
          </p:cNvPr>
          <p:cNvGraphicFramePr/>
          <p:nvPr/>
        </p:nvGraphicFramePr>
        <p:xfrm>
          <a:off x="361950" y="1809750"/>
          <a:ext cx="76200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5" name="20 actualizaciones/s">
            <a:extLst>
              <a:ext uri="{FF2B5EF4-FFF2-40B4-BE49-F238E27FC236}">
                <a16:creationId xmlns:a16="http://schemas.microsoft.com/office/drawing/2014/main" id="{7E98CE22-77C3-4B6D-9490-EBB38F1158B4}"/>
              </a:ext>
            </a:extLst>
          </p:cNvPr>
          <p:cNvSpPr>
            <a:spLocks noGrp="1"/>
          </p:cNvSpPr>
          <p:nvPr/>
        </p:nvSpPr>
        <p:spPr>
          <a:xfrm>
            <a:off x="8334375" y="1857375"/>
            <a:ext cx="3238500" cy="666750"/>
          </a:xfrm>
          <a:prstGeom prst="rect">
            <a:avLst/>
          </a:prstGeom>
          <a:noFill/>
          <a:ln w="0">
            <a:noFill/>
          </a:ln>
        </p:spPr>
        <p:txBody>
          <a:bodyPr lIns="0" tIns="0" rIns="0" bIns="0" anchor="t">
            <a:noAutofit/>
          </a:bodyPr>
          <a:lstStyle>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20 updates/s</a:t>
            </a:r>
          </a:p>
        </p:txBody>
      </p:sp>
      <p:sp>
        <p:nvSpPr>
          <p:cNvPr id="6" name="T elegido&#10;0,05 s">
            <a:extLst>
              <a:ext uri="{FF2B5EF4-FFF2-40B4-BE49-F238E27FC236}">
                <a16:creationId xmlns:a16="http://schemas.microsoft.com/office/drawing/2014/main" id="{3D60CE01-EC8A-42D7-9DB4-F16C7DBCA546}"/>
              </a:ext>
            </a:extLst>
          </p:cNvPr>
          <p:cNvSpPr>
            <a:spLocks noGrp="1"/>
          </p:cNvSpPr>
          <p:nvPr/>
        </p:nvSpPr>
        <p:spPr>
          <a:xfrm>
            <a:off x="8334375" y="2876550"/>
            <a:ext cx="3238500" cy="857250"/>
          </a:xfrm>
          <a:prstGeom prst="rect">
            <a:avLst/>
          </a:prstGeom>
          <a:noFill/>
          <a:ln w="0">
            <a:noFill/>
          </a:ln>
        </p:spPr>
        <p:txBody>
          <a:bodyPr lIns="0" tIns="0" rIns="0" bIns="0" anchor="t">
            <a:noAutofit/>
          </a:bodyPr>
          <a:lstStyle>
            <a:defPPr algn="l">
              <a:defRPr sz="2325" b="0">
                <a:solidFill>
                  <a:srgbClr val="13283C"/>
                </a:solidFill>
                <a:latin typeface="Arial"/>
                <a:ea typeface="Arial"/>
                <a:cs typeface="Arial"/>
              </a:defRPr>
            </a:defPPr>
            <a:lvl1pPr algn="l">
              <a:defRPr sz="2325" b="0">
                <a:solidFill>
                  <a:srgbClr val="13283C"/>
                </a:solidFill>
                <a:latin typeface="Arial"/>
                <a:ea typeface="Arial"/>
                <a:cs typeface="Arial"/>
              </a:defRPr>
            </a:lvl1pPr>
            <a:lvl2pPr algn="l">
              <a:defRPr sz="2325" b="0">
                <a:solidFill>
                  <a:srgbClr val="13283C"/>
                </a:solidFill>
                <a:latin typeface="Arial"/>
                <a:ea typeface="Arial"/>
                <a:cs typeface="Arial"/>
              </a:defRPr>
            </a:lvl2pPr>
            <a:lvl3pPr algn="l">
              <a:defRPr sz="2325" b="0">
                <a:solidFill>
                  <a:srgbClr val="13283C"/>
                </a:solidFill>
                <a:latin typeface="Arial"/>
                <a:ea typeface="Arial"/>
                <a:cs typeface="Arial"/>
              </a:defRPr>
            </a:lvl3pPr>
            <a:lvl4pPr algn="l">
              <a:defRPr sz="2325" b="0">
                <a:solidFill>
                  <a:srgbClr val="13283C"/>
                </a:solidFill>
                <a:latin typeface="Arial"/>
                <a:ea typeface="Arial"/>
                <a:cs typeface="Arial"/>
              </a:defRPr>
            </a:lvl4pPr>
            <a:lvl5pPr algn="l">
              <a:defRPr sz="2325" b="0">
                <a:solidFill>
                  <a:srgbClr val="13283C"/>
                </a:solidFill>
                <a:latin typeface="Arial"/>
                <a:ea typeface="Arial"/>
                <a:cs typeface="Arial"/>
              </a:defRPr>
            </a:lvl5pPr>
            <a:lvl6pPr algn="l">
              <a:defRPr sz="2325" b="0">
                <a:solidFill>
                  <a:srgbClr val="13283C"/>
                </a:solidFill>
                <a:latin typeface="Arial"/>
                <a:ea typeface="Arial"/>
                <a:cs typeface="Arial"/>
              </a:defRPr>
            </a:lvl6pPr>
            <a:lvl7pPr algn="l">
              <a:defRPr sz="2325" b="0">
                <a:solidFill>
                  <a:srgbClr val="13283C"/>
                </a:solidFill>
                <a:latin typeface="Arial"/>
                <a:ea typeface="Arial"/>
                <a:cs typeface="Arial"/>
              </a:defRPr>
            </a:lvl7pPr>
            <a:lvl8pPr algn="l">
              <a:defRPr sz="2325" b="0">
                <a:solidFill>
                  <a:srgbClr val="13283C"/>
                </a:solidFill>
                <a:latin typeface="Arial"/>
                <a:ea typeface="Arial"/>
                <a:cs typeface="Arial"/>
              </a:defRPr>
            </a:lvl8pPr>
            <a:lvl9pPr algn="l">
              <a:defRPr sz="2325" b="0">
                <a:solidFill>
                  <a:srgbClr val="13283C"/>
                </a:solidFill>
                <a:latin typeface="Arial"/>
                <a:ea typeface="Arial"/>
                <a:cs typeface="Arial"/>
              </a:defRPr>
            </a:lvl9pPr>
          </a:lstStyle>
          <a:p>
            <a:pPr algn="l">
              <a:lnSpc>
                <a:spcPct val="110000"/>
              </a:lnSpc>
              <a:buNone/>
              <a:defRPr sz="2325" b="0">
                <a:solidFill>
                  <a:srgbClr val="13283C"/>
                </a:solidFill>
                <a:latin typeface="Arial"/>
                <a:ea typeface="Arial"/>
                <a:cs typeface="Arial"/>
              </a:defRPr>
            </a:pPr>
            <a:r>
              <a:rPr sz="2325" b="0">
                <a:solidFill>
                  <a:srgbClr val="13283C"/>
                </a:solidFill>
                <a:latin typeface="Arial"/>
                <a:ea typeface="Arial"/>
                <a:cs typeface="Arial"/>
              </a:rPr>
              <a:t>Chosen T</a:t>
            </a:r>
          </a:p>
          <a:p>
            <a:pPr algn="l">
              <a:lnSpc>
                <a:spcPct val="110000"/>
              </a:lnSpc>
              <a:buNone/>
              <a:defRPr sz="2325" b="0">
                <a:solidFill>
                  <a:srgbClr val="13283C"/>
                </a:solidFill>
                <a:latin typeface="Arial"/>
                <a:ea typeface="Arial"/>
                <a:cs typeface="Arial"/>
              </a:defRPr>
            </a:pPr>
            <a:r>
              <a:rPr sz="2325" b="0">
                <a:solidFill>
                  <a:srgbClr val="13283C"/>
                </a:solidFill>
                <a:latin typeface="Arial"/>
                <a:ea typeface="Arial"/>
                <a:cs typeface="Arial"/>
              </a:rPr>
              <a:t>0.05 s</a:t>
            </a:r>
          </a:p>
        </p:txBody>
      </p:sp>
      <p:sp>
        <p:nvSpPr>
          <p:cNvPr id="7" name="T máximo con retardo&#10;≈ 0,114 s">
            <a:extLst>
              <a:ext uri="{FF2B5EF4-FFF2-40B4-BE49-F238E27FC236}">
                <a16:creationId xmlns:a16="http://schemas.microsoft.com/office/drawing/2014/main" id="{EA7539BB-8C68-4B9E-9867-9C0C5C56DFE1}"/>
              </a:ext>
            </a:extLst>
          </p:cNvPr>
          <p:cNvSpPr>
            <a:spLocks noGrp="1"/>
          </p:cNvSpPr>
          <p:nvPr/>
        </p:nvSpPr>
        <p:spPr>
          <a:xfrm>
            <a:off x="8334375" y="4238625"/>
            <a:ext cx="3238500" cy="904875"/>
          </a:xfrm>
          <a:prstGeom prst="rect">
            <a:avLst/>
          </a:prstGeom>
          <a:noFill/>
          <a:ln w="0">
            <a:noFill/>
          </a:ln>
        </p:spPr>
        <p:txBody>
          <a:bodyPr lIns="0" tIns="0" rIns="0" bIns="0" anchor="t">
            <a:noAutofit/>
          </a:bodyPr>
          <a:lstStyle>
            <a:defPPr algn="l">
              <a:defRPr sz="2175" b="0">
                <a:solidFill>
                  <a:srgbClr val="13283C"/>
                </a:solidFill>
                <a:latin typeface="Arial"/>
                <a:ea typeface="Arial"/>
                <a:cs typeface="Arial"/>
              </a:defRPr>
            </a:defPPr>
            <a:lvl1pPr algn="l">
              <a:defRPr sz="2175" b="0">
                <a:solidFill>
                  <a:srgbClr val="13283C"/>
                </a:solidFill>
                <a:latin typeface="Arial"/>
                <a:ea typeface="Arial"/>
                <a:cs typeface="Arial"/>
              </a:defRPr>
            </a:lvl1pPr>
            <a:lvl2pPr algn="l">
              <a:defRPr sz="2175" b="0">
                <a:solidFill>
                  <a:srgbClr val="13283C"/>
                </a:solidFill>
                <a:latin typeface="Arial"/>
                <a:ea typeface="Arial"/>
                <a:cs typeface="Arial"/>
              </a:defRPr>
            </a:lvl2pPr>
            <a:lvl3pPr algn="l">
              <a:defRPr sz="2175" b="0">
                <a:solidFill>
                  <a:srgbClr val="13283C"/>
                </a:solidFill>
                <a:latin typeface="Arial"/>
                <a:ea typeface="Arial"/>
                <a:cs typeface="Arial"/>
              </a:defRPr>
            </a:lvl3pPr>
            <a:lvl4pPr algn="l">
              <a:defRPr sz="2175" b="0">
                <a:solidFill>
                  <a:srgbClr val="13283C"/>
                </a:solidFill>
                <a:latin typeface="Arial"/>
                <a:ea typeface="Arial"/>
                <a:cs typeface="Arial"/>
              </a:defRPr>
            </a:lvl4pPr>
            <a:lvl5pPr algn="l">
              <a:defRPr sz="2175" b="0">
                <a:solidFill>
                  <a:srgbClr val="13283C"/>
                </a:solidFill>
                <a:latin typeface="Arial"/>
                <a:ea typeface="Arial"/>
                <a:cs typeface="Arial"/>
              </a:defRPr>
            </a:lvl5pPr>
            <a:lvl6pPr algn="l">
              <a:defRPr sz="2175" b="0">
                <a:solidFill>
                  <a:srgbClr val="13283C"/>
                </a:solidFill>
                <a:latin typeface="Arial"/>
                <a:ea typeface="Arial"/>
                <a:cs typeface="Arial"/>
              </a:defRPr>
            </a:lvl6pPr>
            <a:lvl7pPr algn="l">
              <a:defRPr sz="2175" b="0">
                <a:solidFill>
                  <a:srgbClr val="13283C"/>
                </a:solidFill>
                <a:latin typeface="Arial"/>
                <a:ea typeface="Arial"/>
                <a:cs typeface="Arial"/>
              </a:defRPr>
            </a:lvl7pPr>
            <a:lvl8pPr algn="l">
              <a:defRPr sz="2175" b="0">
                <a:solidFill>
                  <a:srgbClr val="13283C"/>
                </a:solidFill>
                <a:latin typeface="Arial"/>
                <a:ea typeface="Arial"/>
                <a:cs typeface="Arial"/>
              </a:defRPr>
            </a:lvl8pPr>
            <a:lvl9pPr algn="l">
              <a:defRPr sz="2175" b="0">
                <a:solidFill>
                  <a:srgbClr val="13283C"/>
                </a:solidFill>
                <a:latin typeface="Arial"/>
                <a:ea typeface="Arial"/>
                <a:cs typeface="Arial"/>
              </a:defRPr>
            </a:lvl9pPr>
          </a:lstStyle>
          <a:p>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Maximum T with delay</a:t>
            </a:r>
          </a:p>
          <a:p>
            <a:pPr algn="l">
              <a:lnSpc>
                <a:spcPct val="110000"/>
              </a:lnSpc>
              <a:buNone/>
              <a:defRPr sz="2175" b="0">
                <a:solidFill>
                  <a:srgbClr val="13283C"/>
                </a:solidFill>
                <a:latin typeface="Arial"/>
                <a:ea typeface="Arial"/>
                <a:cs typeface="Arial"/>
              </a:defRPr>
            </a:pPr>
            <a:r>
              <a:rPr sz="2175" b="0">
                <a:solidFill>
                  <a:srgbClr val="13283C"/>
                </a:solidFill>
                <a:latin typeface="Arial"/>
                <a:ea typeface="Arial"/>
                <a:cs typeface="Arial"/>
              </a:rPr>
              <a:t>≈ 0.114 s</a:t>
            </a:r>
          </a:p>
        </p:txBody>
      </p:sp>
      <p:sp>
        <p:nvSpPr>
          <p:cNvPr id="8" name="El límite es ≈ 2,27 veces el periodo elegido, ba">
            <a:extLst>
              <a:ext uri="{FF2B5EF4-FFF2-40B4-BE49-F238E27FC236}">
                <a16:creationId xmlns:a16="http://schemas.microsoft.com/office/drawing/2014/main" id="{1B03EBEF-62A0-4D97-B51B-EC269C9886E9}"/>
              </a:ext>
            </a:extLst>
          </p:cNvPr>
          <p:cNvSpPr>
            <a:spLocks noGrp="1"/>
          </p:cNvSpPr>
          <p:nvPr/>
        </p:nvSpPr>
        <p:spPr>
          <a:xfrm>
            <a:off x="590550" y="5981700"/>
            <a:ext cx="10858500" cy="419100"/>
          </a:xfrm>
          <a:prstGeom prst="rect">
            <a:avLst/>
          </a:prstGeom>
          <a:noFill/>
          <a:ln w="0">
            <a:noFill/>
          </a:ln>
        </p:spPr>
        <p:txBody>
          <a:bodyPr lIns="0" tIns="0" rIns="0" bIns="0" anchor="t">
            <a:noAutofit/>
          </a:bodyPr>
          <a:lstStyle>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The limit is ≈ 2.27 times the chosen period under the assumed delay model</a:t>
            </a:r>
          </a:p>
        </p:txBody>
      </p:sp>
    </p:spTree>
    <p:extLst>
      <p:ext uri="{BB962C8B-B14F-4D97-AF65-F5344CB8AC3E}">
        <p14:creationId xmlns:p14="http://schemas.microsoft.com/office/powerpoint/2010/main" val="1752913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sa variable">
            <a:extLst>
              <a:ext uri="{FF2B5EF4-FFF2-40B4-BE49-F238E27FC236}">
                <a16:creationId xmlns:a16="http://schemas.microsoft.com/office/drawing/2014/main" id="{140D2A18-45B8-4DBB-A6BA-70FDD4CA61F5}"/>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Variable mass</a:t>
            </a:r>
          </a:p>
        </p:txBody>
      </p:sp>
      <p:sp>
        <p:nvSpPr>
          <p:cNvPr id="3" name="14 / 16">
            <a:extLst>
              <a:ext uri="{FF2B5EF4-FFF2-40B4-BE49-F238E27FC236}">
                <a16:creationId xmlns:a16="http://schemas.microsoft.com/office/drawing/2014/main" id="{EBD08EC4-220E-4C4A-A849-A3ED3B01D56F}"/>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17 / 19</a:t>
            </a:r>
          </a:p>
        </p:txBody>
      </p:sp>
      <p:sp>
        <p:nvSpPr>
          <p:cNvPr id="4" name="El consumo de combustible cambia la dinámica">
            <a:extLst>
              <a:ext uri="{FF2B5EF4-FFF2-40B4-BE49-F238E27FC236}">
                <a16:creationId xmlns:a16="http://schemas.microsoft.com/office/drawing/2014/main" id="{58989A3D-C3CB-4228-997B-FFAEBFE448CB}"/>
              </a:ext>
            </a:extLst>
          </p:cNvPr>
          <p:cNvSpPr>
            <a:spLocks noGrp="1"/>
          </p:cNvSpPr>
          <p:nvPr/>
        </p:nvSpPr>
        <p:spPr>
          <a:xfrm>
            <a:off x="590550" y="1285875"/>
            <a:ext cx="10858500" cy="504825"/>
          </a:xfrm>
          <a:prstGeom prst="rect">
            <a:avLst/>
          </a:prstGeom>
          <a:noFill/>
          <a:ln w="0">
            <a:noFill/>
          </a:ln>
        </p:spPr>
        <p:txBody>
          <a:bodyPr lIns="0" tIns="0" rIns="0" bIns="0" anchor="t">
            <a:noAutofit/>
          </a:bodyPr>
          <a:lstStyle>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Fuel consumption changes the dynamics</a:t>
            </a:r>
          </a:p>
        </p:txBody>
      </p:sp>
      <p:graphicFrame>
        <p:nvGraphicFramePr>
          <p:cNvPr id="5" name="Chart">
            <a:extLst>
              <a:ext uri="{FF2B5EF4-FFF2-40B4-BE49-F238E27FC236}">
                <a16:creationId xmlns:a16="http://schemas.microsoft.com/office/drawing/2014/main" id="{1DE53E56-59FF-45E7-A6D5-BCAEF2DBC35C}"/>
              </a:ext>
            </a:extLst>
          </p:cNvPr>
          <p:cNvGraphicFramePr/>
          <p:nvPr/>
        </p:nvGraphicFramePr>
        <p:xfrm>
          <a:off x="381000" y="2095500"/>
          <a:ext cx="7143750" cy="3524250"/>
        </p:xfrm>
        <a:graphic>
          <a:graphicData uri="http://schemas.openxmlformats.org/drawingml/2006/chart">
            <c:chart xmlns:c="http://schemas.openxmlformats.org/drawingml/2006/chart" xmlns:r="http://schemas.openxmlformats.org/officeDocument/2006/relationships" r:id="rId3"/>
          </a:graphicData>
        </a:graphic>
      </p:graphicFrame>
      <p:sp>
        <p:nvSpPr>
          <p:cNvPr id="6" name="ρ = m₀ / m(t)">
            <a:extLst>
              <a:ext uri="{FF2B5EF4-FFF2-40B4-BE49-F238E27FC236}">
                <a16:creationId xmlns:a16="http://schemas.microsoft.com/office/drawing/2014/main" id="{2B54CA8F-E8EE-4D2C-AE44-B4380B7B3FE9}"/>
              </a:ext>
            </a:extLst>
          </p:cNvPr>
          <p:cNvSpPr>
            <a:spLocks noGrp="1"/>
          </p:cNvSpPr>
          <p:nvPr/>
        </p:nvSpPr>
        <p:spPr>
          <a:xfrm>
            <a:off x="8096250" y="2257425"/>
            <a:ext cx="3429000" cy="590550"/>
          </a:xfrm>
          <a:prstGeom prst="rect">
            <a:avLst/>
          </a:prstGeom>
          <a:noFill/>
          <a:ln w="0">
            <a:noFill/>
          </a:ln>
        </p:spPr>
        <p:txBody>
          <a:bodyPr lIns="0" tIns="0" rIns="0" bIns="0" anchor="t">
            <a:noAutofit/>
          </a:bodyPr>
          <a:lstStyle>
            <a:defPPr algn="l">
              <a:defRPr sz="2700" b="1">
                <a:solidFill>
                  <a:srgbClr val="13283C"/>
                </a:solidFill>
                <a:latin typeface="Arial"/>
                <a:ea typeface="Arial"/>
                <a:cs typeface="Arial"/>
              </a:defRPr>
            </a:defPPr>
            <a:lvl1pPr algn="l">
              <a:defRPr sz="2700" b="1">
                <a:solidFill>
                  <a:srgbClr val="13283C"/>
                </a:solidFill>
                <a:latin typeface="Arial"/>
                <a:ea typeface="Arial"/>
                <a:cs typeface="Arial"/>
              </a:defRPr>
            </a:lvl1pPr>
            <a:lvl2pPr algn="l">
              <a:defRPr sz="2700" b="1">
                <a:solidFill>
                  <a:srgbClr val="13283C"/>
                </a:solidFill>
                <a:latin typeface="Arial"/>
                <a:ea typeface="Arial"/>
                <a:cs typeface="Arial"/>
              </a:defRPr>
            </a:lvl2pPr>
            <a:lvl3pPr algn="l">
              <a:defRPr sz="2700" b="1">
                <a:solidFill>
                  <a:srgbClr val="13283C"/>
                </a:solidFill>
                <a:latin typeface="Arial"/>
                <a:ea typeface="Arial"/>
                <a:cs typeface="Arial"/>
              </a:defRPr>
            </a:lvl3pPr>
            <a:lvl4pPr algn="l">
              <a:defRPr sz="2700" b="1">
                <a:solidFill>
                  <a:srgbClr val="13283C"/>
                </a:solidFill>
                <a:latin typeface="Arial"/>
                <a:ea typeface="Arial"/>
                <a:cs typeface="Arial"/>
              </a:defRPr>
            </a:lvl4pPr>
            <a:lvl5pPr algn="l">
              <a:defRPr sz="2700" b="1">
                <a:solidFill>
                  <a:srgbClr val="13283C"/>
                </a:solidFill>
                <a:latin typeface="Arial"/>
                <a:ea typeface="Arial"/>
                <a:cs typeface="Arial"/>
              </a:defRPr>
            </a:lvl5pPr>
            <a:lvl6pPr algn="l">
              <a:defRPr sz="2700" b="1">
                <a:solidFill>
                  <a:srgbClr val="13283C"/>
                </a:solidFill>
                <a:latin typeface="Arial"/>
                <a:ea typeface="Arial"/>
                <a:cs typeface="Arial"/>
              </a:defRPr>
            </a:lvl6pPr>
            <a:lvl7pPr algn="l">
              <a:defRPr sz="2700" b="1">
                <a:solidFill>
                  <a:srgbClr val="13283C"/>
                </a:solidFill>
                <a:latin typeface="Arial"/>
                <a:ea typeface="Arial"/>
                <a:cs typeface="Arial"/>
              </a:defRPr>
            </a:lvl7pPr>
            <a:lvl8pPr algn="l">
              <a:defRPr sz="2700" b="1">
                <a:solidFill>
                  <a:srgbClr val="13283C"/>
                </a:solidFill>
                <a:latin typeface="Arial"/>
                <a:ea typeface="Arial"/>
                <a:cs typeface="Arial"/>
              </a:defRPr>
            </a:lvl8pPr>
            <a:lvl9pPr algn="l">
              <a:defRPr sz="2700" b="1">
                <a:solidFill>
                  <a:srgbClr val="13283C"/>
                </a:solidFill>
                <a:latin typeface="Arial"/>
                <a:ea typeface="Arial"/>
                <a:cs typeface="Arial"/>
              </a:defRPr>
            </a:lvl9pPr>
          </a:lstStyle>
          <a:p>
            <a:pPr algn="l">
              <a:lnSpc>
                <a:spcPct val="110000"/>
              </a:lnSpc>
              <a:buNone/>
              <a:defRPr sz="2700" b="1">
                <a:solidFill>
                  <a:srgbClr val="13283C"/>
                </a:solidFill>
                <a:latin typeface="Arial"/>
                <a:ea typeface="Arial"/>
                <a:cs typeface="Arial"/>
              </a:defRPr>
            </a:pPr>
            <a:r>
              <a:rPr sz="2700" b="1">
                <a:solidFill>
                  <a:srgbClr val="13283C"/>
                </a:solidFill>
                <a:latin typeface="Arial"/>
                <a:ea typeface="Arial"/>
                <a:cs typeface="Arial"/>
              </a:rPr>
              <a:t>ρ = m₀ / m(t)</a:t>
            </a:r>
          </a:p>
        </p:txBody>
      </p:sp>
      <p:sp>
        <p:nvSpPr>
          <p:cNvPr id="7" name="dx/dt = A(t)x + B(t)u">
            <a:extLst>
              <a:ext uri="{FF2B5EF4-FFF2-40B4-BE49-F238E27FC236}">
                <a16:creationId xmlns:a16="http://schemas.microsoft.com/office/drawing/2014/main" id="{12E374C9-3DB4-4118-80B2-E0E2F4C5B6E0}"/>
              </a:ext>
            </a:extLst>
          </p:cNvPr>
          <p:cNvSpPr>
            <a:spLocks noGrp="1"/>
          </p:cNvSpPr>
          <p:nvPr/>
        </p:nvSpPr>
        <p:spPr>
          <a:xfrm>
            <a:off x="8096250" y="3333750"/>
            <a:ext cx="3429000" cy="904875"/>
          </a:xfrm>
          <a:prstGeom prst="rect">
            <a:avLst/>
          </a:prstGeom>
          <a:noFill/>
          <a:ln w="0">
            <a:noFill/>
          </a:ln>
        </p:spPr>
        <p:txBody>
          <a:bodyPr lIns="0" tIns="0" rIns="0" bIns="0" anchor="t">
            <a:noAutofit/>
          </a:bodyPr>
          <a:lstStyle>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dx/dt = A(t)x + B(t)u</a:t>
            </a:r>
          </a:p>
        </p:txBody>
      </p:sp>
      <p:sp>
        <p:nvSpPr>
          <p:cNvPr id="8" name="Programación propuesta:&#10;Kᵢ(t) = Kᵢ₀ / ρ">
            <a:extLst>
              <a:ext uri="{FF2B5EF4-FFF2-40B4-BE49-F238E27FC236}">
                <a16:creationId xmlns:a16="http://schemas.microsoft.com/office/drawing/2014/main" id="{0F07475B-D443-407D-B996-29AEEA56836E}"/>
              </a:ext>
            </a:extLst>
          </p:cNvPr>
          <p:cNvSpPr>
            <a:spLocks noGrp="1"/>
          </p:cNvSpPr>
          <p:nvPr/>
        </p:nvSpPr>
        <p:spPr>
          <a:xfrm>
            <a:off x="8096250" y="4600575"/>
            <a:ext cx="3429000" cy="857250"/>
          </a:xfrm>
          <a:prstGeom prst="rect">
            <a:avLst/>
          </a:prstGeom>
          <a:noFill/>
          <a:ln w="0">
            <a:noFill/>
          </a:ln>
        </p:spPr>
        <p:txBody>
          <a:bodyPr lIns="0" tIns="0" rIns="0" bIns="0" anchor="t">
            <a:noAutofit/>
          </a:bodyPr>
          <a:lstStyle>
            <a:defPPr algn="l">
              <a:defRPr sz="2100" b="0">
                <a:solidFill>
                  <a:srgbClr val="13283C"/>
                </a:solidFill>
                <a:latin typeface="Arial"/>
                <a:ea typeface="Arial"/>
                <a:cs typeface="Arial"/>
              </a:defRPr>
            </a:defPPr>
            <a:lvl1pPr algn="l">
              <a:defRPr sz="2100" b="0">
                <a:solidFill>
                  <a:srgbClr val="13283C"/>
                </a:solidFill>
                <a:latin typeface="Arial"/>
                <a:ea typeface="Arial"/>
                <a:cs typeface="Arial"/>
              </a:defRPr>
            </a:lvl1pPr>
            <a:lvl2pPr algn="l">
              <a:defRPr sz="2100" b="0">
                <a:solidFill>
                  <a:srgbClr val="13283C"/>
                </a:solidFill>
                <a:latin typeface="Arial"/>
                <a:ea typeface="Arial"/>
                <a:cs typeface="Arial"/>
              </a:defRPr>
            </a:lvl2pPr>
            <a:lvl3pPr algn="l">
              <a:defRPr sz="2100" b="0">
                <a:solidFill>
                  <a:srgbClr val="13283C"/>
                </a:solidFill>
                <a:latin typeface="Arial"/>
                <a:ea typeface="Arial"/>
                <a:cs typeface="Arial"/>
              </a:defRPr>
            </a:lvl3pPr>
            <a:lvl4pPr algn="l">
              <a:defRPr sz="2100" b="0">
                <a:solidFill>
                  <a:srgbClr val="13283C"/>
                </a:solidFill>
                <a:latin typeface="Arial"/>
                <a:ea typeface="Arial"/>
                <a:cs typeface="Arial"/>
              </a:defRPr>
            </a:lvl4pPr>
            <a:lvl5pPr algn="l">
              <a:defRPr sz="2100" b="0">
                <a:solidFill>
                  <a:srgbClr val="13283C"/>
                </a:solidFill>
                <a:latin typeface="Arial"/>
                <a:ea typeface="Arial"/>
                <a:cs typeface="Arial"/>
              </a:defRPr>
            </a:lvl5pPr>
            <a:lvl6pPr algn="l">
              <a:defRPr sz="2100" b="0">
                <a:solidFill>
                  <a:srgbClr val="13283C"/>
                </a:solidFill>
                <a:latin typeface="Arial"/>
                <a:ea typeface="Arial"/>
                <a:cs typeface="Arial"/>
              </a:defRPr>
            </a:lvl6pPr>
            <a:lvl7pPr algn="l">
              <a:defRPr sz="2100" b="0">
                <a:solidFill>
                  <a:srgbClr val="13283C"/>
                </a:solidFill>
                <a:latin typeface="Arial"/>
                <a:ea typeface="Arial"/>
                <a:cs typeface="Arial"/>
              </a:defRPr>
            </a:lvl7pPr>
            <a:lvl8pPr algn="l">
              <a:defRPr sz="2100" b="0">
                <a:solidFill>
                  <a:srgbClr val="13283C"/>
                </a:solidFill>
                <a:latin typeface="Arial"/>
                <a:ea typeface="Arial"/>
                <a:cs typeface="Arial"/>
              </a:defRPr>
            </a:lvl8pPr>
            <a:lvl9pPr algn="l">
              <a:defRPr sz="2100" b="0">
                <a:solidFill>
                  <a:srgbClr val="13283C"/>
                </a:solidFill>
                <a:latin typeface="Arial"/>
                <a:ea typeface="Arial"/>
                <a:cs typeface="Arial"/>
              </a:defRPr>
            </a:lvl9pPr>
          </a:lstStyle>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Proposed gain schedule:</a:t>
            </a:r>
          </a:p>
          <a:p>
            <a:pPr algn="l">
              <a:lnSpc>
                <a:spcPct val="110000"/>
              </a:lnSpc>
              <a:buNone/>
              <a:defRPr sz="2100" b="0">
                <a:solidFill>
                  <a:srgbClr val="13283C"/>
                </a:solidFill>
                <a:latin typeface="Arial"/>
                <a:ea typeface="Arial"/>
                <a:cs typeface="Arial"/>
              </a:defRPr>
            </a:pPr>
            <a:r>
              <a:rPr sz="2100" b="0">
                <a:solidFill>
                  <a:srgbClr val="13283C"/>
                </a:solidFill>
                <a:latin typeface="Arial"/>
                <a:ea typeface="Arial"/>
                <a:cs typeface="Arial"/>
              </a:rPr>
              <a:t>Kᵢ(t) = Kᵢ₀ / ρ</a:t>
            </a:r>
          </a:p>
        </p:txBody>
      </p:sp>
      <p:sp>
        <p:nvSpPr>
          <p:cNvPr id="9" name="Resultados con coeficientes congelados y el esca">
            <a:extLst>
              <a:ext uri="{FF2B5EF4-FFF2-40B4-BE49-F238E27FC236}">
                <a16:creationId xmlns:a16="http://schemas.microsoft.com/office/drawing/2014/main" id="{6BEB0602-12B0-4F25-9093-AE6532CC5CD4}"/>
              </a:ext>
            </a:extLst>
          </p:cNvPr>
          <p:cNvSpPr>
            <a:spLocks noGrp="1"/>
          </p:cNvSpPr>
          <p:nvPr/>
        </p:nvSpPr>
        <p:spPr>
          <a:xfrm>
            <a:off x="590550" y="5962650"/>
            <a:ext cx="10858500" cy="419100"/>
          </a:xfrm>
          <a:prstGeom prst="rect">
            <a:avLst/>
          </a:prstGeom>
          <a:noFill/>
          <a:ln w="0">
            <a:noFill/>
          </a:ln>
        </p:spPr>
        <p:txBody>
          <a:bodyPr lIns="0" tIns="0" rIns="0" bIns="0" anchor="t">
            <a:noAutofit/>
          </a:bodyPr>
          <a:lstStyle>
            <a:defPPr algn="l">
              <a:defRPr sz="1800" b="0">
                <a:solidFill>
                  <a:srgbClr val="516474"/>
                </a:solidFill>
                <a:latin typeface="Arial"/>
                <a:ea typeface="Arial"/>
                <a:cs typeface="Arial"/>
              </a:defRPr>
            </a:defPPr>
            <a:lvl1pPr algn="l">
              <a:defRPr sz="1800" b="0">
                <a:solidFill>
                  <a:srgbClr val="516474"/>
                </a:solidFill>
                <a:latin typeface="Arial"/>
                <a:ea typeface="Arial"/>
                <a:cs typeface="Arial"/>
              </a:defRPr>
            </a:lvl1pPr>
            <a:lvl2pPr algn="l">
              <a:defRPr sz="1800" b="0">
                <a:solidFill>
                  <a:srgbClr val="516474"/>
                </a:solidFill>
                <a:latin typeface="Arial"/>
                <a:ea typeface="Arial"/>
                <a:cs typeface="Arial"/>
              </a:defRPr>
            </a:lvl2pPr>
            <a:lvl3pPr algn="l">
              <a:defRPr sz="1800" b="0">
                <a:solidFill>
                  <a:srgbClr val="516474"/>
                </a:solidFill>
                <a:latin typeface="Arial"/>
                <a:ea typeface="Arial"/>
                <a:cs typeface="Arial"/>
              </a:defRPr>
            </a:lvl3pPr>
            <a:lvl4pPr algn="l">
              <a:defRPr sz="1800" b="0">
                <a:solidFill>
                  <a:srgbClr val="516474"/>
                </a:solidFill>
                <a:latin typeface="Arial"/>
                <a:ea typeface="Arial"/>
                <a:cs typeface="Arial"/>
              </a:defRPr>
            </a:lvl4pPr>
            <a:lvl5pPr algn="l">
              <a:defRPr sz="1800" b="0">
                <a:solidFill>
                  <a:srgbClr val="516474"/>
                </a:solidFill>
                <a:latin typeface="Arial"/>
                <a:ea typeface="Arial"/>
                <a:cs typeface="Arial"/>
              </a:defRPr>
            </a:lvl5pPr>
            <a:lvl6pPr algn="l">
              <a:defRPr sz="1800" b="0">
                <a:solidFill>
                  <a:srgbClr val="516474"/>
                </a:solidFill>
                <a:latin typeface="Arial"/>
                <a:ea typeface="Arial"/>
                <a:cs typeface="Arial"/>
              </a:defRPr>
            </a:lvl6pPr>
            <a:lvl7pPr algn="l">
              <a:defRPr sz="1800" b="0">
                <a:solidFill>
                  <a:srgbClr val="516474"/>
                </a:solidFill>
                <a:latin typeface="Arial"/>
                <a:ea typeface="Arial"/>
                <a:cs typeface="Arial"/>
              </a:defRPr>
            </a:lvl7pPr>
            <a:lvl8pPr algn="l">
              <a:defRPr sz="1800" b="0">
                <a:solidFill>
                  <a:srgbClr val="516474"/>
                </a:solidFill>
                <a:latin typeface="Arial"/>
                <a:ea typeface="Arial"/>
                <a:cs typeface="Arial"/>
              </a:defRPr>
            </a:lvl8pPr>
            <a:lvl9pPr algn="l">
              <a:defRPr sz="1800" b="0">
                <a:solidFill>
                  <a:srgbClr val="516474"/>
                </a:solidFill>
                <a:latin typeface="Arial"/>
                <a:ea typeface="Arial"/>
                <a:cs typeface="Arial"/>
              </a:defRPr>
            </a:lvl9pPr>
          </a:lstStyle>
          <a:p>
            <a:pPr algn="l">
              <a:lnSpc>
                <a:spcPct val="110000"/>
              </a:lnSpc>
              <a:buNone/>
              <a:defRPr sz="1800" b="0">
                <a:solidFill>
                  <a:srgbClr val="516474"/>
                </a:solidFill>
                <a:latin typeface="Arial"/>
                <a:ea typeface="Arial"/>
                <a:cs typeface="Arial"/>
              </a:defRPr>
            </a:pPr>
            <a:r>
              <a:rPr sz="1800" b="0">
                <a:solidFill>
                  <a:srgbClr val="516474"/>
                </a:solidFill>
                <a:latin typeface="Arial"/>
                <a:ea typeface="Arial"/>
                <a:cs typeface="Arial"/>
              </a:rPr>
              <a:t>Results use frozen coefficients and the scaling assumed in the report</a:t>
            </a:r>
          </a:p>
        </p:txBody>
      </p:sp>
    </p:spTree>
    <p:extLst>
      <p:ext uri="{BB962C8B-B14F-4D97-AF65-F5344CB8AC3E}">
        <p14:creationId xmlns:p14="http://schemas.microsoft.com/office/powerpoint/2010/main" val="347529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uiñada">
            <a:extLst>
              <a:ext uri="{FF2B5EF4-FFF2-40B4-BE49-F238E27FC236}">
                <a16:creationId xmlns:a16="http://schemas.microsoft.com/office/drawing/2014/main" id="{0572202F-DCF8-4ADA-B921-C0A0465CA7E0}"/>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Yaw</a:t>
            </a:r>
          </a:p>
        </p:txBody>
      </p:sp>
      <p:sp>
        <p:nvSpPr>
          <p:cNvPr id="3" name="15 / 16">
            <a:extLst>
              <a:ext uri="{FF2B5EF4-FFF2-40B4-BE49-F238E27FC236}">
                <a16:creationId xmlns:a16="http://schemas.microsoft.com/office/drawing/2014/main" id="{CE57202B-E3C7-4120-8492-7CDF0F332330}"/>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18 / 19</a:t>
            </a:r>
          </a:p>
        </p:txBody>
      </p:sp>
      <p:sp>
        <p:nvSpPr>
          <p:cNvPr id="4" name="Un tercer canal para la orientación lateral">
            <a:extLst>
              <a:ext uri="{FF2B5EF4-FFF2-40B4-BE49-F238E27FC236}">
                <a16:creationId xmlns:a16="http://schemas.microsoft.com/office/drawing/2014/main" id="{43A09112-68C3-4552-9AE8-3C346443DFDF}"/>
              </a:ext>
            </a:extLst>
          </p:cNvPr>
          <p:cNvSpPr>
            <a:spLocks noGrp="1"/>
          </p:cNvSpPr>
          <p:nvPr/>
        </p:nvSpPr>
        <p:spPr>
          <a:xfrm>
            <a:off x="590550" y="1295400"/>
            <a:ext cx="10858500" cy="523875"/>
          </a:xfrm>
          <a:prstGeom prst="rect">
            <a:avLst/>
          </a:prstGeom>
          <a:noFill/>
          <a:ln w="0">
            <a:noFill/>
          </a:ln>
        </p:spPr>
        <p:txBody>
          <a:bodyPr lIns="0" tIns="0" rIns="0" bIns="0" anchor="t">
            <a:noAutofit/>
          </a:bodyPr>
          <a:lstStyle>
            <a:defPPr algn="l">
              <a:defRPr sz="2325" b="1">
                <a:solidFill>
                  <a:srgbClr val="087E8B"/>
                </a:solidFill>
                <a:latin typeface="Arial"/>
                <a:ea typeface="Arial"/>
                <a:cs typeface="Arial"/>
              </a:defRPr>
            </a:defPPr>
            <a:lvl1pPr algn="l">
              <a:defRPr sz="2325" b="1">
                <a:solidFill>
                  <a:srgbClr val="087E8B"/>
                </a:solidFill>
                <a:latin typeface="Arial"/>
                <a:ea typeface="Arial"/>
                <a:cs typeface="Arial"/>
              </a:defRPr>
            </a:lvl1pPr>
            <a:lvl2pPr algn="l">
              <a:defRPr sz="2325" b="1">
                <a:solidFill>
                  <a:srgbClr val="087E8B"/>
                </a:solidFill>
                <a:latin typeface="Arial"/>
                <a:ea typeface="Arial"/>
                <a:cs typeface="Arial"/>
              </a:defRPr>
            </a:lvl2pPr>
            <a:lvl3pPr algn="l">
              <a:defRPr sz="2325" b="1">
                <a:solidFill>
                  <a:srgbClr val="087E8B"/>
                </a:solidFill>
                <a:latin typeface="Arial"/>
                <a:ea typeface="Arial"/>
                <a:cs typeface="Arial"/>
              </a:defRPr>
            </a:lvl3pPr>
            <a:lvl4pPr algn="l">
              <a:defRPr sz="2325" b="1">
                <a:solidFill>
                  <a:srgbClr val="087E8B"/>
                </a:solidFill>
                <a:latin typeface="Arial"/>
                <a:ea typeface="Arial"/>
                <a:cs typeface="Arial"/>
              </a:defRPr>
            </a:lvl4pPr>
            <a:lvl5pPr algn="l">
              <a:defRPr sz="2325" b="1">
                <a:solidFill>
                  <a:srgbClr val="087E8B"/>
                </a:solidFill>
                <a:latin typeface="Arial"/>
                <a:ea typeface="Arial"/>
                <a:cs typeface="Arial"/>
              </a:defRPr>
            </a:lvl5pPr>
            <a:lvl6pPr algn="l">
              <a:defRPr sz="2325" b="1">
                <a:solidFill>
                  <a:srgbClr val="087E8B"/>
                </a:solidFill>
                <a:latin typeface="Arial"/>
                <a:ea typeface="Arial"/>
                <a:cs typeface="Arial"/>
              </a:defRPr>
            </a:lvl6pPr>
            <a:lvl7pPr algn="l">
              <a:defRPr sz="2325" b="1">
                <a:solidFill>
                  <a:srgbClr val="087E8B"/>
                </a:solidFill>
                <a:latin typeface="Arial"/>
                <a:ea typeface="Arial"/>
                <a:cs typeface="Arial"/>
              </a:defRPr>
            </a:lvl7pPr>
            <a:lvl8pPr algn="l">
              <a:defRPr sz="2325" b="1">
                <a:solidFill>
                  <a:srgbClr val="087E8B"/>
                </a:solidFill>
                <a:latin typeface="Arial"/>
                <a:ea typeface="Arial"/>
                <a:cs typeface="Arial"/>
              </a:defRPr>
            </a:lvl8pPr>
            <a:lvl9pPr algn="l">
              <a:defRPr sz="2325" b="1">
                <a:solidFill>
                  <a:srgbClr val="087E8B"/>
                </a:solidFill>
                <a:latin typeface="Arial"/>
                <a:ea typeface="Arial"/>
                <a:cs typeface="Arial"/>
              </a:defRPr>
            </a:lvl9pPr>
          </a:lstStyle>
          <a:p>
            <a:pPr algn="l">
              <a:lnSpc>
                <a:spcPct val="110000"/>
              </a:lnSpc>
              <a:buNone/>
              <a:defRPr sz="2325" b="1">
                <a:solidFill>
                  <a:srgbClr val="087E8B"/>
                </a:solidFill>
                <a:latin typeface="Arial"/>
                <a:ea typeface="Arial"/>
                <a:cs typeface="Arial"/>
              </a:defRPr>
            </a:pPr>
            <a:r>
              <a:rPr sz="2325" b="1">
                <a:solidFill>
                  <a:srgbClr val="087E8B"/>
                </a:solidFill>
                <a:latin typeface="Arial"/>
                <a:ea typeface="Arial"/>
                <a:cs typeface="Arial"/>
              </a:rPr>
              <a:t>A third channel for lateral attitude</a:t>
            </a:r>
          </a:p>
        </p:txBody>
      </p:sp>
      <p:sp>
        <p:nvSpPr>
          <p:cNvPr id="5" name="Nuevos estados&#10;ψ, r y ζ">
            <a:extLst>
              <a:ext uri="{FF2B5EF4-FFF2-40B4-BE49-F238E27FC236}">
                <a16:creationId xmlns:a16="http://schemas.microsoft.com/office/drawing/2014/main" id="{6EBC8522-1CC2-484B-AC7F-1092C44455AD}"/>
              </a:ext>
            </a:extLst>
          </p:cNvPr>
          <p:cNvSpPr>
            <a:spLocks noGrp="1"/>
          </p:cNvSpPr>
          <p:nvPr/>
        </p:nvSpPr>
        <p:spPr>
          <a:xfrm>
            <a:off x="590550" y="2305050"/>
            <a:ext cx="6191250" cy="952500"/>
          </a:xfrm>
          <a:prstGeom prst="rect">
            <a:avLst/>
          </a:prstGeom>
          <a:noFill/>
          <a:ln w="0">
            <a:noFill/>
          </a:ln>
        </p:spPr>
        <p:txBody>
          <a:bodyPr lIns="0" tIns="0" rIns="0" bIns="0" anchor="t">
            <a:noAutofit/>
          </a:bodyPr>
          <a:lstStyle>
            <a:defPPr algn="l">
              <a:defRPr sz="2775" b="1">
                <a:solidFill>
                  <a:srgbClr val="13283C"/>
                </a:solidFill>
                <a:latin typeface="Arial"/>
                <a:ea typeface="Arial"/>
                <a:cs typeface="Arial"/>
              </a:defRPr>
            </a:defPPr>
            <a:lvl1pPr algn="l">
              <a:defRPr sz="2775" b="1">
                <a:solidFill>
                  <a:srgbClr val="13283C"/>
                </a:solidFill>
                <a:latin typeface="Arial"/>
                <a:ea typeface="Arial"/>
                <a:cs typeface="Arial"/>
              </a:defRPr>
            </a:lvl1pPr>
            <a:lvl2pPr algn="l">
              <a:defRPr sz="2775" b="1">
                <a:solidFill>
                  <a:srgbClr val="13283C"/>
                </a:solidFill>
                <a:latin typeface="Arial"/>
                <a:ea typeface="Arial"/>
                <a:cs typeface="Arial"/>
              </a:defRPr>
            </a:lvl2pPr>
            <a:lvl3pPr algn="l">
              <a:defRPr sz="2775" b="1">
                <a:solidFill>
                  <a:srgbClr val="13283C"/>
                </a:solidFill>
                <a:latin typeface="Arial"/>
                <a:ea typeface="Arial"/>
                <a:cs typeface="Arial"/>
              </a:defRPr>
            </a:lvl3pPr>
            <a:lvl4pPr algn="l">
              <a:defRPr sz="2775" b="1">
                <a:solidFill>
                  <a:srgbClr val="13283C"/>
                </a:solidFill>
                <a:latin typeface="Arial"/>
                <a:ea typeface="Arial"/>
                <a:cs typeface="Arial"/>
              </a:defRPr>
            </a:lvl4pPr>
            <a:lvl5pPr algn="l">
              <a:defRPr sz="2775" b="1">
                <a:solidFill>
                  <a:srgbClr val="13283C"/>
                </a:solidFill>
                <a:latin typeface="Arial"/>
                <a:ea typeface="Arial"/>
                <a:cs typeface="Arial"/>
              </a:defRPr>
            </a:lvl5pPr>
            <a:lvl6pPr algn="l">
              <a:defRPr sz="2775" b="1">
                <a:solidFill>
                  <a:srgbClr val="13283C"/>
                </a:solidFill>
                <a:latin typeface="Arial"/>
                <a:ea typeface="Arial"/>
                <a:cs typeface="Arial"/>
              </a:defRPr>
            </a:lvl6pPr>
            <a:lvl7pPr algn="l">
              <a:defRPr sz="2775" b="1">
                <a:solidFill>
                  <a:srgbClr val="13283C"/>
                </a:solidFill>
                <a:latin typeface="Arial"/>
                <a:ea typeface="Arial"/>
                <a:cs typeface="Arial"/>
              </a:defRPr>
            </a:lvl7pPr>
            <a:lvl8pPr algn="l">
              <a:defRPr sz="2775" b="1">
                <a:solidFill>
                  <a:srgbClr val="13283C"/>
                </a:solidFill>
                <a:latin typeface="Arial"/>
                <a:ea typeface="Arial"/>
                <a:cs typeface="Arial"/>
              </a:defRPr>
            </a:lvl8pPr>
            <a:lvl9pPr algn="l">
              <a:defRPr sz="2775" b="1">
                <a:solidFill>
                  <a:srgbClr val="13283C"/>
                </a:solidFill>
                <a:latin typeface="Arial"/>
                <a:ea typeface="Arial"/>
                <a:cs typeface="Arial"/>
              </a:defRPr>
            </a:lvl9pPr>
          </a:lstStyle>
          <a:p>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Additional states</a:t>
            </a:r>
          </a:p>
          <a:p>
            <a:pPr algn="l">
              <a:lnSpc>
                <a:spcPct val="110000"/>
              </a:lnSpc>
              <a:buNone/>
              <a:defRPr sz="2775" b="1">
                <a:solidFill>
                  <a:srgbClr val="13283C"/>
                </a:solidFill>
                <a:latin typeface="Arial"/>
                <a:ea typeface="Arial"/>
                <a:cs typeface="Arial"/>
              </a:defRPr>
            </a:pPr>
            <a:r>
              <a:rPr sz="2775" b="1">
                <a:solidFill>
                  <a:srgbClr val="13283C"/>
                </a:solidFill>
                <a:latin typeface="Arial"/>
                <a:ea typeface="Arial"/>
                <a:cs typeface="Arial"/>
              </a:rPr>
              <a:t>ψ, r and ζ</a:t>
            </a:r>
          </a:p>
        </p:txBody>
      </p:sp>
      <p:sp>
        <p:nvSpPr>
          <p:cNvPr id="6" name="7 estados&#10;3 entradas y 3 salidas">
            <a:extLst>
              <a:ext uri="{FF2B5EF4-FFF2-40B4-BE49-F238E27FC236}">
                <a16:creationId xmlns:a16="http://schemas.microsoft.com/office/drawing/2014/main" id="{4742E91D-5028-4204-AD07-D440C1181BC6}"/>
              </a:ext>
            </a:extLst>
          </p:cNvPr>
          <p:cNvSpPr>
            <a:spLocks noGrp="1"/>
          </p:cNvSpPr>
          <p:nvPr/>
        </p:nvSpPr>
        <p:spPr>
          <a:xfrm>
            <a:off x="590550" y="3743325"/>
            <a:ext cx="6191250" cy="1028700"/>
          </a:xfrm>
          <a:prstGeom prst="rect">
            <a:avLst/>
          </a:prstGeom>
          <a:noFill/>
          <a:ln w="0">
            <a:noFill/>
          </a:ln>
        </p:spPr>
        <p:txBody>
          <a:bodyPr lIns="0" tIns="0" rIns="0" bIns="0" anchor="t">
            <a:noAutofit/>
          </a:bodyPr>
          <a:lstStyle>
            <a:defPPr algn="l">
              <a:defRPr sz="2400" b="0">
                <a:solidFill>
                  <a:srgbClr val="13283C"/>
                </a:solidFill>
                <a:latin typeface="Arial"/>
                <a:ea typeface="Arial"/>
                <a:cs typeface="Arial"/>
              </a:defRPr>
            </a:defPPr>
            <a:lvl1pPr algn="l">
              <a:defRPr sz="2400" b="0">
                <a:solidFill>
                  <a:srgbClr val="13283C"/>
                </a:solidFill>
                <a:latin typeface="Arial"/>
                <a:ea typeface="Arial"/>
                <a:cs typeface="Arial"/>
              </a:defRPr>
            </a:lvl1pPr>
            <a:lvl2pPr algn="l">
              <a:defRPr sz="2400" b="0">
                <a:solidFill>
                  <a:srgbClr val="13283C"/>
                </a:solidFill>
                <a:latin typeface="Arial"/>
                <a:ea typeface="Arial"/>
                <a:cs typeface="Arial"/>
              </a:defRPr>
            </a:lvl2pPr>
            <a:lvl3pPr algn="l">
              <a:defRPr sz="2400" b="0">
                <a:solidFill>
                  <a:srgbClr val="13283C"/>
                </a:solidFill>
                <a:latin typeface="Arial"/>
                <a:ea typeface="Arial"/>
                <a:cs typeface="Arial"/>
              </a:defRPr>
            </a:lvl3pPr>
            <a:lvl4pPr algn="l">
              <a:defRPr sz="2400" b="0">
                <a:solidFill>
                  <a:srgbClr val="13283C"/>
                </a:solidFill>
                <a:latin typeface="Arial"/>
                <a:ea typeface="Arial"/>
                <a:cs typeface="Arial"/>
              </a:defRPr>
            </a:lvl4pPr>
            <a:lvl5pPr algn="l">
              <a:defRPr sz="2400" b="0">
                <a:solidFill>
                  <a:srgbClr val="13283C"/>
                </a:solidFill>
                <a:latin typeface="Arial"/>
                <a:ea typeface="Arial"/>
                <a:cs typeface="Arial"/>
              </a:defRPr>
            </a:lvl5pPr>
            <a:lvl6pPr algn="l">
              <a:defRPr sz="2400" b="0">
                <a:solidFill>
                  <a:srgbClr val="13283C"/>
                </a:solidFill>
                <a:latin typeface="Arial"/>
                <a:ea typeface="Arial"/>
                <a:cs typeface="Arial"/>
              </a:defRPr>
            </a:lvl6pPr>
            <a:lvl7pPr algn="l">
              <a:defRPr sz="2400" b="0">
                <a:solidFill>
                  <a:srgbClr val="13283C"/>
                </a:solidFill>
                <a:latin typeface="Arial"/>
                <a:ea typeface="Arial"/>
                <a:cs typeface="Arial"/>
              </a:defRPr>
            </a:lvl7pPr>
            <a:lvl8pPr algn="l">
              <a:defRPr sz="2400" b="0">
                <a:solidFill>
                  <a:srgbClr val="13283C"/>
                </a:solidFill>
                <a:latin typeface="Arial"/>
                <a:ea typeface="Arial"/>
                <a:cs typeface="Arial"/>
              </a:defRPr>
            </a:lvl8pPr>
            <a:lvl9pPr algn="l">
              <a:defRPr sz="2400" b="0">
                <a:solidFill>
                  <a:srgbClr val="13283C"/>
                </a:solidFill>
                <a:latin typeface="Arial"/>
                <a:ea typeface="Arial"/>
                <a:cs typeface="Arial"/>
              </a:defRPr>
            </a:lvl9pPr>
          </a:lstStyle>
          <a:p>
            <a:pPr algn="l">
              <a:lnSpc>
                <a:spcPct val="110000"/>
              </a:lnSpc>
              <a:buNone/>
              <a:defRPr sz="2400" b="0">
                <a:solidFill>
                  <a:srgbClr val="13283C"/>
                </a:solidFill>
                <a:latin typeface="Arial"/>
                <a:ea typeface="Arial"/>
                <a:cs typeface="Arial"/>
              </a:defRPr>
            </a:pPr>
            <a:r>
              <a:rPr sz="2400" b="0">
                <a:solidFill>
                  <a:srgbClr val="13283C"/>
                </a:solidFill>
                <a:latin typeface="Arial"/>
                <a:ea typeface="Arial"/>
                <a:cs typeface="Arial"/>
              </a:rPr>
              <a:t>7 states</a:t>
            </a:r>
          </a:p>
          <a:p>
            <a:pPr algn="l">
              <a:lnSpc>
                <a:spcPct val="110000"/>
              </a:lnSpc>
              <a:buNone/>
              <a:defRPr sz="2400" b="0">
                <a:solidFill>
                  <a:srgbClr val="13283C"/>
                </a:solidFill>
                <a:latin typeface="Arial"/>
                <a:ea typeface="Arial"/>
                <a:cs typeface="Arial"/>
              </a:defRPr>
            </a:pPr>
            <a:r>
              <a:rPr sz="2400" b="0">
                <a:solidFill>
                  <a:srgbClr val="13283C"/>
                </a:solidFill>
                <a:latin typeface="Arial"/>
                <a:ea typeface="Arial"/>
                <a:cs typeface="Arial"/>
              </a:rPr>
              <a:t>3 inputs and 3 outputs</a:t>
            </a:r>
          </a:p>
        </p:txBody>
      </p:sp>
      <p:sp>
        <p:nvSpPr>
          <p:cNvPr id="7" name="La aceleración perturba la guiñada&#10;en la extensi">
            <a:extLst>
              <a:ext uri="{FF2B5EF4-FFF2-40B4-BE49-F238E27FC236}">
                <a16:creationId xmlns:a16="http://schemas.microsoft.com/office/drawing/2014/main" id="{D60C881C-F588-4790-9B76-34E37E82E44F}"/>
              </a:ext>
            </a:extLst>
          </p:cNvPr>
          <p:cNvSpPr>
            <a:spLocks noGrp="1"/>
          </p:cNvSpPr>
          <p:nvPr/>
        </p:nvSpPr>
        <p:spPr>
          <a:xfrm>
            <a:off x="590550" y="5276850"/>
            <a:ext cx="6191250" cy="819150"/>
          </a:xfrm>
          <a:prstGeom prst="rect">
            <a:avLst/>
          </a:prstGeom>
          <a:noFill/>
          <a:ln w="0">
            <a:noFill/>
          </a:ln>
        </p:spPr>
        <p:txBody>
          <a:bodyPr lIns="0" tIns="0" rIns="0" bIns="0" anchor="t">
            <a:noAutofit/>
          </a:bodyPr>
          <a:lstStyle>
            <a:defPPr algn="l">
              <a:defRPr sz="2100" b="1">
                <a:solidFill>
                  <a:srgbClr val="087E8B"/>
                </a:solidFill>
                <a:latin typeface="Arial"/>
                <a:ea typeface="Arial"/>
                <a:cs typeface="Arial"/>
              </a:defRPr>
            </a:defPPr>
            <a:lvl1pPr algn="l">
              <a:defRPr sz="2100" b="1">
                <a:solidFill>
                  <a:srgbClr val="087E8B"/>
                </a:solidFill>
                <a:latin typeface="Arial"/>
                <a:ea typeface="Arial"/>
                <a:cs typeface="Arial"/>
              </a:defRPr>
            </a:lvl1pPr>
            <a:lvl2pPr algn="l">
              <a:defRPr sz="2100" b="1">
                <a:solidFill>
                  <a:srgbClr val="087E8B"/>
                </a:solidFill>
                <a:latin typeface="Arial"/>
                <a:ea typeface="Arial"/>
                <a:cs typeface="Arial"/>
              </a:defRPr>
            </a:lvl2pPr>
            <a:lvl3pPr algn="l">
              <a:defRPr sz="2100" b="1">
                <a:solidFill>
                  <a:srgbClr val="087E8B"/>
                </a:solidFill>
                <a:latin typeface="Arial"/>
                <a:ea typeface="Arial"/>
                <a:cs typeface="Arial"/>
              </a:defRPr>
            </a:lvl3pPr>
            <a:lvl4pPr algn="l">
              <a:defRPr sz="2100" b="1">
                <a:solidFill>
                  <a:srgbClr val="087E8B"/>
                </a:solidFill>
                <a:latin typeface="Arial"/>
                <a:ea typeface="Arial"/>
                <a:cs typeface="Arial"/>
              </a:defRPr>
            </a:lvl4pPr>
            <a:lvl5pPr algn="l">
              <a:defRPr sz="2100" b="1">
                <a:solidFill>
                  <a:srgbClr val="087E8B"/>
                </a:solidFill>
                <a:latin typeface="Arial"/>
                <a:ea typeface="Arial"/>
                <a:cs typeface="Arial"/>
              </a:defRPr>
            </a:lvl5pPr>
            <a:lvl6pPr algn="l">
              <a:defRPr sz="2100" b="1">
                <a:solidFill>
                  <a:srgbClr val="087E8B"/>
                </a:solidFill>
                <a:latin typeface="Arial"/>
                <a:ea typeface="Arial"/>
                <a:cs typeface="Arial"/>
              </a:defRPr>
            </a:lvl6pPr>
            <a:lvl7pPr algn="l">
              <a:defRPr sz="2100" b="1">
                <a:solidFill>
                  <a:srgbClr val="087E8B"/>
                </a:solidFill>
                <a:latin typeface="Arial"/>
                <a:ea typeface="Arial"/>
                <a:cs typeface="Arial"/>
              </a:defRPr>
            </a:lvl7pPr>
            <a:lvl8pPr algn="l">
              <a:defRPr sz="2100" b="1">
                <a:solidFill>
                  <a:srgbClr val="087E8B"/>
                </a:solidFill>
                <a:latin typeface="Arial"/>
                <a:ea typeface="Arial"/>
                <a:cs typeface="Arial"/>
              </a:defRPr>
            </a:lvl8pPr>
            <a:lvl9pPr algn="l">
              <a:defRPr sz="2100" b="1">
                <a:solidFill>
                  <a:srgbClr val="087E8B"/>
                </a:solidFill>
                <a:latin typeface="Arial"/>
                <a:ea typeface="Arial"/>
                <a:cs typeface="Arial"/>
              </a:defRPr>
            </a:lvl9pPr>
          </a:lstStyle>
          <a:p>
            <a:pPr algn="l">
              <a:lnSpc>
                <a:spcPct val="110000"/>
              </a:lnSpc>
              <a:buNone/>
              <a:defRPr sz="2100" b="1">
                <a:solidFill>
                  <a:srgbClr val="087E8B"/>
                </a:solidFill>
                <a:latin typeface="Arial"/>
                <a:ea typeface="Arial"/>
                <a:cs typeface="Arial"/>
              </a:defRPr>
            </a:pPr>
            <a:r>
              <a:rPr sz="2100" b="1">
                <a:solidFill>
                  <a:srgbClr val="087E8B"/>
                </a:solidFill>
                <a:latin typeface="Arial"/>
                <a:ea typeface="Arial"/>
                <a:cs typeface="Arial"/>
              </a:rPr>
              <a:t>Acceleration perturbs yaw</a:t>
            </a:r>
          </a:p>
          <a:p>
            <a:pPr algn="l">
              <a:lnSpc>
                <a:spcPct val="110000"/>
              </a:lnSpc>
              <a:buNone/>
              <a:defRPr sz="2100" b="1">
                <a:solidFill>
                  <a:srgbClr val="087E8B"/>
                </a:solidFill>
                <a:latin typeface="Arial"/>
                <a:ea typeface="Arial"/>
                <a:cs typeface="Arial"/>
              </a:defRPr>
            </a:pPr>
            <a:r>
              <a:rPr sz="2100" b="1">
                <a:solidFill>
                  <a:srgbClr val="087E8B"/>
                </a:solidFill>
                <a:latin typeface="Arial"/>
                <a:ea typeface="Arial"/>
                <a:cs typeface="Arial"/>
              </a:rPr>
              <a:t>in the proposed extension</a:t>
            </a:r>
          </a:p>
        </p:txBody>
      </p:sp>
      <p:pic>
        <p:nvPicPr>
          <p:cNvPr id="8" name="Picture 7">
            <a:extLst>
              <a:ext uri="{FF2B5EF4-FFF2-40B4-BE49-F238E27FC236}">
                <a16:creationId xmlns:a16="http://schemas.microsoft.com/office/drawing/2014/main" id="{E0A75A0E-BCB9-418E-9C1F-62CEC6D432A8}"/>
              </a:ext>
            </a:extLst>
          </p:cNvPr>
          <p:cNvPicPr>
            <a:picLocks noChangeAspect="1"/>
          </p:cNvPicPr>
          <p:nvPr/>
        </p:nvPicPr>
        <p:blipFill>
          <a:blip r:embed="rId3"/>
          <a:stretch/>
        </p:blipFill>
        <p:spPr>
          <a:xfrm>
            <a:off x="7654470" y="1685925"/>
            <a:ext cx="3836309" cy="4429125"/>
          </a:xfrm>
          <a:prstGeom prst="rect">
            <a:avLst/>
          </a:prstGeom>
        </p:spPr>
      </p:pic>
    </p:spTree>
    <p:extLst>
      <p:ext uri="{BB962C8B-B14F-4D97-AF65-F5344CB8AC3E}">
        <p14:creationId xmlns:p14="http://schemas.microsoft.com/office/powerpoint/2010/main" val="7382783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nclusiones">
            <a:extLst>
              <a:ext uri="{FF2B5EF4-FFF2-40B4-BE49-F238E27FC236}">
                <a16:creationId xmlns:a16="http://schemas.microsoft.com/office/drawing/2014/main" id="{0C7CDC7D-22CC-492B-9E08-8954D27A4706}"/>
              </a:ext>
            </a:extLst>
          </p:cNvPr>
          <p:cNvSpPr>
            <a:spLocks noGrp="1"/>
          </p:cNvSpPr>
          <p:nvPr/>
        </p:nvSpPr>
        <p:spPr>
          <a:xfrm>
            <a:off x="590550" y="400050"/>
            <a:ext cx="11010900" cy="685800"/>
          </a:xfrm>
          <a:prstGeom prst="rect">
            <a:avLst/>
          </a:prstGeom>
          <a:noFill/>
          <a:ln w="0">
            <a:noFill/>
          </a:ln>
        </p:spPr>
        <p:txBody>
          <a:bodyPr lIns="0" tIns="0" rIns="0" bIns="0" anchor="t">
            <a:noAutofit/>
          </a:bodyPr>
          <a:lstStyle>
            <a:defPPr algn="l">
              <a:defRPr sz="3300" b="1">
                <a:solidFill>
                  <a:srgbClr val="13283C"/>
                </a:solidFill>
                <a:latin typeface="Arial"/>
                <a:ea typeface="Arial"/>
                <a:cs typeface="Arial"/>
              </a:defRPr>
            </a:defPPr>
            <a:lvl1pPr algn="l">
              <a:defRPr sz="3300" b="1">
                <a:solidFill>
                  <a:srgbClr val="13283C"/>
                </a:solidFill>
                <a:latin typeface="Arial"/>
                <a:ea typeface="Arial"/>
                <a:cs typeface="Arial"/>
              </a:defRPr>
            </a:lvl1pPr>
            <a:lvl2pPr algn="l">
              <a:defRPr sz="3300" b="1">
                <a:solidFill>
                  <a:srgbClr val="13283C"/>
                </a:solidFill>
                <a:latin typeface="Arial"/>
                <a:ea typeface="Arial"/>
                <a:cs typeface="Arial"/>
              </a:defRPr>
            </a:lvl2pPr>
            <a:lvl3pPr algn="l">
              <a:defRPr sz="3300" b="1">
                <a:solidFill>
                  <a:srgbClr val="13283C"/>
                </a:solidFill>
                <a:latin typeface="Arial"/>
                <a:ea typeface="Arial"/>
                <a:cs typeface="Arial"/>
              </a:defRPr>
            </a:lvl3pPr>
            <a:lvl4pPr algn="l">
              <a:defRPr sz="3300" b="1">
                <a:solidFill>
                  <a:srgbClr val="13283C"/>
                </a:solidFill>
                <a:latin typeface="Arial"/>
                <a:ea typeface="Arial"/>
                <a:cs typeface="Arial"/>
              </a:defRPr>
            </a:lvl4pPr>
            <a:lvl5pPr algn="l">
              <a:defRPr sz="3300" b="1">
                <a:solidFill>
                  <a:srgbClr val="13283C"/>
                </a:solidFill>
                <a:latin typeface="Arial"/>
                <a:ea typeface="Arial"/>
                <a:cs typeface="Arial"/>
              </a:defRPr>
            </a:lvl5pPr>
            <a:lvl6pPr algn="l">
              <a:defRPr sz="3300" b="1">
                <a:solidFill>
                  <a:srgbClr val="13283C"/>
                </a:solidFill>
                <a:latin typeface="Arial"/>
                <a:ea typeface="Arial"/>
                <a:cs typeface="Arial"/>
              </a:defRPr>
            </a:lvl6pPr>
            <a:lvl7pPr algn="l">
              <a:defRPr sz="3300" b="1">
                <a:solidFill>
                  <a:srgbClr val="13283C"/>
                </a:solidFill>
                <a:latin typeface="Arial"/>
                <a:ea typeface="Arial"/>
                <a:cs typeface="Arial"/>
              </a:defRPr>
            </a:lvl7pPr>
            <a:lvl8pPr algn="l">
              <a:defRPr sz="3300" b="1">
                <a:solidFill>
                  <a:srgbClr val="13283C"/>
                </a:solidFill>
                <a:latin typeface="Arial"/>
                <a:ea typeface="Arial"/>
                <a:cs typeface="Arial"/>
              </a:defRPr>
            </a:lvl8pPr>
            <a:lvl9pPr algn="l">
              <a:defRPr sz="3300" b="1">
                <a:solidFill>
                  <a:srgbClr val="13283C"/>
                </a:solidFill>
                <a:latin typeface="Arial"/>
                <a:ea typeface="Arial"/>
                <a:cs typeface="Arial"/>
              </a:defRPr>
            </a:lvl9pPr>
          </a:lstStyle>
          <a:p>
            <a:pPr algn="l">
              <a:lnSpc>
                <a:spcPct val="110000"/>
              </a:lnSpc>
              <a:buNone/>
              <a:defRPr sz="3300" b="1">
                <a:solidFill>
                  <a:srgbClr val="13283C"/>
                </a:solidFill>
                <a:latin typeface="Arial"/>
                <a:ea typeface="Arial"/>
                <a:cs typeface="Arial"/>
              </a:defRPr>
            </a:pPr>
            <a:r>
              <a:rPr sz="3300" b="1">
                <a:solidFill>
                  <a:srgbClr val="13283C"/>
                </a:solidFill>
                <a:latin typeface="Arial"/>
                <a:ea typeface="Arial"/>
                <a:cs typeface="Arial"/>
              </a:rPr>
              <a:t>Conclusions</a:t>
            </a:r>
          </a:p>
        </p:txBody>
      </p:sp>
      <p:sp>
        <p:nvSpPr>
          <p:cNvPr id="3" name="16 / 16">
            <a:extLst>
              <a:ext uri="{FF2B5EF4-FFF2-40B4-BE49-F238E27FC236}">
                <a16:creationId xmlns:a16="http://schemas.microsoft.com/office/drawing/2014/main" id="{B46A2570-AB49-4149-BD08-8B06B9E7A1BE}"/>
              </a:ext>
            </a:extLst>
          </p:cNvPr>
          <p:cNvSpPr>
            <a:spLocks noGrp="1"/>
          </p:cNvSpPr>
          <p:nvPr/>
        </p:nvSpPr>
        <p:spPr>
          <a:xfrm>
            <a:off x="10429875" y="6429375"/>
            <a:ext cx="1143000" cy="238125"/>
          </a:xfrm>
          <a:prstGeom prst="rect">
            <a:avLst/>
          </a:prstGeom>
          <a:noFill/>
          <a:ln w="0">
            <a:noFill/>
          </a:ln>
        </p:spPr>
        <p:txBody>
          <a:bodyPr lIns="0" tIns="0" rIns="0" bIns="0" anchor="t">
            <a:noAutofit/>
          </a:bodyPr>
          <a:lstStyle>
            <a:defPPr algn="r">
              <a:defRPr sz="1275" b="0">
                <a:solidFill>
                  <a:srgbClr val="516474"/>
                </a:solidFill>
                <a:latin typeface="Arial"/>
                <a:ea typeface="Arial"/>
                <a:cs typeface="Arial"/>
              </a:defRPr>
            </a:defPPr>
            <a:lvl1pPr algn="r">
              <a:defRPr sz="1275" b="0">
                <a:solidFill>
                  <a:srgbClr val="516474"/>
                </a:solidFill>
                <a:latin typeface="Arial"/>
                <a:ea typeface="Arial"/>
                <a:cs typeface="Arial"/>
              </a:defRPr>
            </a:lvl1pPr>
            <a:lvl2pPr algn="r">
              <a:defRPr sz="1275" b="0">
                <a:solidFill>
                  <a:srgbClr val="516474"/>
                </a:solidFill>
                <a:latin typeface="Arial"/>
                <a:ea typeface="Arial"/>
                <a:cs typeface="Arial"/>
              </a:defRPr>
            </a:lvl2pPr>
            <a:lvl3pPr algn="r">
              <a:defRPr sz="1275" b="0">
                <a:solidFill>
                  <a:srgbClr val="516474"/>
                </a:solidFill>
                <a:latin typeface="Arial"/>
                <a:ea typeface="Arial"/>
                <a:cs typeface="Arial"/>
              </a:defRPr>
            </a:lvl3pPr>
            <a:lvl4pPr algn="r">
              <a:defRPr sz="1275" b="0">
                <a:solidFill>
                  <a:srgbClr val="516474"/>
                </a:solidFill>
                <a:latin typeface="Arial"/>
                <a:ea typeface="Arial"/>
                <a:cs typeface="Arial"/>
              </a:defRPr>
            </a:lvl4pPr>
            <a:lvl5pPr algn="r">
              <a:defRPr sz="1275" b="0">
                <a:solidFill>
                  <a:srgbClr val="516474"/>
                </a:solidFill>
                <a:latin typeface="Arial"/>
                <a:ea typeface="Arial"/>
                <a:cs typeface="Arial"/>
              </a:defRPr>
            </a:lvl5pPr>
            <a:lvl6pPr algn="r">
              <a:defRPr sz="1275" b="0">
                <a:solidFill>
                  <a:srgbClr val="516474"/>
                </a:solidFill>
                <a:latin typeface="Arial"/>
                <a:ea typeface="Arial"/>
                <a:cs typeface="Arial"/>
              </a:defRPr>
            </a:lvl6pPr>
            <a:lvl7pPr algn="r">
              <a:defRPr sz="1275" b="0">
                <a:solidFill>
                  <a:srgbClr val="516474"/>
                </a:solidFill>
                <a:latin typeface="Arial"/>
                <a:ea typeface="Arial"/>
                <a:cs typeface="Arial"/>
              </a:defRPr>
            </a:lvl7pPr>
            <a:lvl8pPr algn="r">
              <a:defRPr sz="1275" b="0">
                <a:solidFill>
                  <a:srgbClr val="516474"/>
                </a:solidFill>
                <a:latin typeface="Arial"/>
                <a:ea typeface="Arial"/>
                <a:cs typeface="Arial"/>
              </a:defRPr>
            </a:lvl8pPr>
            <a:lvl9pPr algn="r">
              <a:defRPr sz="1275" b="0">
                <a:solidFill>
                  <a:srgbClr val="516474"/>
                </a:solidFill>
                <a:latin typeface="Arial"/>
                <a:ea typeface="Arial"/>
                <a:cs typeface="Arial"/>
              </a:defRPr>
            </a:lvl9pPr>
          </a:lstStyle>
          <a:p>
            <a:pPr algn="r">
              <a:lnSpc>
                <a:spcPct val="110000"/>
              </a:lnSpc>
              <a:buNone/>
              <a:defRPr sz="1275" b="0">
                <a:solidFill>
                  <a:srgbClr val="516474"/>
                </a:solidFill>
                <a:latin typeface="Arial"/>
                <a:ea typeface="Arial"/>
                <a:cs typeface="Arial"/>
              </a:defRPr>
            </a:pPr>
            <a:r>
              <a:rPr sz="1275" b="0">
                <a:solidFill>
                  <a:srgbClr val="516474"/>
                </a:solidFill>
                <a:latin typeface="Arial"/>
                <a:ea typeface="Arial"/>
                <a:cs typeface="Arial"/>
              </a:rPr>
              <a:t>19 / 19</a:t>
            </a:r>
          </a:p>
        </p:txBody>
      </p:sp>
      <p:sp>
        <p:nvSpPr>
          <p:cNvPr id="4" name="El punto elegido mejora la respuesta angular">
            <a:extLst>
              <a:ext uri="{FF2B5EF4-FFF2-40B4-BE49-F238E27FC236}">
                <a16:creationId xmlns:a16="http://schemas.microsoft.com/office/drawing/2014/main" id="{00328AB0-A7EA-450F-83DA-0315BEEBEBB9}"/>
              </a:ext>
            </a:extLst>
          </p:cNvPr>
          <p:cNvSpPr>
            <a:spLocks noGrp="1"/>
          </p:cNvSpPr>
          <p:nvPr/>
        </p:nvSpPr>
        <p:spPr>
          <a:xfrm>
            <a:off x="590550" y="1428750"/>
            <a:ext cx="10858500" cy="571500"/>
          </a:xfrm>
          <a:prstGeom prst="rect">
            <a:avLst/>
          </a:prstGeom>
          <a:noFill/>
          <a:ln w="0">
            <a:noFill/>
          </a:ln>
        </p:spPr>
        <p:txBody>
          <a:bodyPr lIns="0" tIns="0" rIns="0" bIns="0" anchor="t">
            <a:noAutofit/>
          </a:bodyPr>
          <a:lstStyle>
            <a:defPPr algn="l">
              <a:defRPr sz="2700" b="1">
                <a:solidFill>
                  <a:srgbClr val="087E8B"/>
                </a:solidFill>
                <a:latin typeface="Arial"/>
                <a:ea typeface="Arial"/>
                <a:cs typeface="Arial"/>
              </a:defRPr>
            </a:defPPr>
            <a:lvl1pPr algn="l">
              <a:defRPr sz="2700" b="1">
                <a:solidFill>
                  <a:srgbClr val="087E8B"/>
                </a:solidFill>
                <a:latin typeface="Arial"/>
                <a:ea typeface="Arial"/>
                <a:cs typeface="Arial"/>
              </a:defRPr>
            </a:lvl1pPr>
            <a:lvl2pPr algn="l">
              <a:defRPr sz="2700" b="1">
                <a:solidFill>
                  <a:srgbClr val="087E8B"/>
                </a:solidFill>
                <a:latin typeface="Arial"/>
                <a:ea typeface="Arial"/>
                <a:cs typeface="Arial"/>
              </a:defRPr>
            </a:lvl2pPr>
            <a:lvl3pPr algn="l">
              <a:defRPr sz="2700" b="1">
                <a:solidFill>
                  <a:srgbClr val="087E8B"/>
                </a:solidFill>
                <a:latin typeface="Arial"/>
                <a:ea typeface="Arial"/>
                <a:cs typeface="Arial"/>
              </a:defRPr>
            </a:lvl3pPr>
            <a:lvl4pPr algn="l">
              <a:defRPr sz="2700" b="1">
                <a:solidFill>
                  <a:srgbClr val="087E8B"/>
                </a:solidFill>
                <a:latin typeface="Arial"/>
                <a:ea typeface="Arial"/>
                <a:cs typeface="Arial"/>
              </a:defRPr>
            </a:lvl4pPr>
            <a:lvl5pPr algn="l">
              <a:defRPr sz="2700" b="1">
                <a:solidFill>
                  <a:srgbClr val="087E8B"/>
                </a:solidFill>
                <a:latin typeface="Arial"/>
                <a:ea typeface="Arial"/>
                <a:cs typeface="Arial"/>
              </a:defRPr>
            </a:lvl5pPr>
            <a:lvl6pPr algn="l">
              <a:defRPr sz="2700" b="1">
                <a:solidFill>
                  <a:srgbClr val="087E8B"/>
                </a:solidFill>
                <a:latin typeface="Arial"/>
                <a:ea typeface="Arial"/>
                <a:cs typeface="Arial"/>
              </a:defRPr>
            </a:lvl6pPr>
            <a:lvl7pPr algn="l">
              <a:defRPr sz="2700" b="1">
                <a:solidFill>
                  <a:srgbClr val="087E8B"/>
                </a:solidFill>
                <a:latin typeface="Arial"/>
                <a:ea typeface="Arial"/>
                <a:cs typeface="Arial"/>
              </a:defRPr>
            </a:lvl7pPr>
            <a:lvl8pPr algn="l">
              <a:defRPr sz="2700" b="1">
                <a:solidFill>
                  <a:srgbClr val="087E8B"/>
                </a:solidFill>
                <a:latin typeface="Arial"/>
                <a:ea typeface="Arial"/>
                <a:cs typeface="Arial"/>
              </a:defRPr>
            </a:lvl8pPr>
            <a:lvl9pPr algn="l">
              <a:defRPr sz="2700" b="1">
                <a:solidFill>
                  <a:srgbClr val="087E8B"/>
                </a:solidFill>
                <a:latin typeface="Arial"/>
                <a:ea typeface="Arial"/>
                <a:cs typeface="Arial"/>
              </a:defRPr>
            </a:lvl9pPr>
          </a:lstStyle>
          <a:p>
            <a:pPr algn="l">
              <a:lnSpc>
                <a:spcPct val="110000"/>
              </a:lnSpc>
              <a:buNone/>
              <a:defRPr sz="2700" b="1">
                <a:solidFill>
                  <a:srgbClr val="087E8B"/>
                </a:solidFill>
                <a:latin typeface="Arial"/>
                <a:ea typeface="Arial"/>
                <a:cs typeface="Arial"/>
              </a:defRPr>
            </a:pPr>
            <a:r>
              <a:rPr sz="2700" b="1">
                <a:solidFill>
                  <a:srgbClr val="087E8B"/>
                </a:solidFill>
                <a:latin typeface="Arial"/>
                <a:ea typeface="Arial"/>
                <a:cs typeface="Arial"/>
              </a:rPr>
              <a:t>The chosen gains improve the pitch response</a:t>
            </a:r>
          </a:p>
        </p:txBody>
      </p:sp>
      <p:graphicFrame>
        <p:nvGraphicFramePr>
          <p:cNvPr id="5" name="Table 4">
            <a:extLst>
              <a:ext uri="{FF2B5EF4-FFF2-40B4-BE49-F238E27FC236}">
                <a16:creationId xmlns:a16="http://schemas.microsoft.com/office/drawing/2014/main" id="{FEDB8FAE-2FEF-4EBA-8D67-D0281D34D751}"/>
              </a:ext>
            </a:extLst>
          </p:cNvPr>
          <p:cNvGraphicFramePr/>
          <p:nvPr/>
        </p:nvGraphicFramePr>
        <p:xfrm>
          <a:off x="590550" y="2390775"/>
          <a:ext cx="10858500" cy="3048000"/>
        </p:xfrm>
        <a:graphic>
          <a:graphicData uri="http://schemas.openxmlformats.org/drawingml/2006/table">
            <a:tbl>
              <a:tblPr/>
              <a:tblGrid>
                <a:gridCol w="5095875">
                  <a:extLst>
                    <a:ext uri="{9D8B030D-6E8A-4147-A177-3AD203B41FA5}">
                      <a16:colId xmlns:a16="http://schemas.microsoft.com/office/drawing/2014/main" val="20000"/>
                    </a:ext>
                  </a:extLst>
                </a:gridCol>
                <a:gridCol w="5762625">
                  <a:extLst>
                    <a:ext uri="{9D8B030D-6E8A-4147-A177-3AD203B41FA5}">
                      <a16:colId xmlns:a16="http://schemas.microsoft.com/office/drawing/2014/main" val="20001"/>
                    </a:ext>
                  </a:extLst>
                </a:gridCol>
              </a:tblGrid>
              <a:tr h="609600">
                <a:tc>
                  <a:txBody>
                    <a:bodyPr/>
                    <a:lstStyle/>
                    <a:p>
                      <a:r>
                        <a:rPr sz="2100" b="1">
                          <a:solidFill>
                            <a:srgbClr val="FFFFFF"/>
                          </a:solidFill>
                          <a:latin typeface="Arial"/>
                          <a:ea typeface="Arial"/>
                          <a:cs typeface="Arial"/>
                        </a:rPr>
                        <a:t>Result</a:t>
                      </a:r>
                    </a:p>
                  </a:txBody>
                  <a:tcPr anchor="ctr">
                    <a:lnL w="5715">
                      <a:solidFill>
                        <a:srgbClr val="DFE6EB"/>
                      </a:solidFill>
                      <a:prstDash val="soli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tc>
                  <a:txBody>
                    <a:bodyPr/>
                    <a:lstStyle/>
                    <a:p>
                      <a:r>
                        <a:rPr sz="2100" b="1">
                          <a:solidFill>
                            <a:srgbClr val="FFFFFF"/>
                          </a:solidFill>
                          <a:latin typeface="Arial"/>
                          <a:ea typeface="Arial"/>
                          <a:cs typeface="Arial"/>
                        </a:rPr>
                        <a:t>Recommended point</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a:solidFill>
                        <a:srgbClr val="DFE6EB"/>
                      </a:solidFill>
                      <a:prstDash val="solid"/>
                    </a:lnT>
                    <a:lnB w="5715">
                      <a:solidFill>
                        <a:srgbClr val="DFE6EB"/>
                      </a:solidFill>
                      <a:prstDash val="solid"/>
                    </a:lnB>
                    <a:solidFill>
                      <a:srgbClr val="13283C"/>
                    </a:solidFill>
                  </a:tcPr>
                </a:tc>
                <a:extLst>
                  <a:ext uri="{0D108BD9-81ED-4DB2-BD59-A6C34878D82A}">
                    <a16:rowId xmlns:a16="http://schemas.microsoft.com/office/drawing/2014/main" val="10000"/>
                  </a:ext>
                </a:extLst>
              </a:tr>
              <a:tr h="609600">
                <a:tc>
                  <a:txBody>
                    <a:bodyPr/>
                    <a:lstStyle/>
                    <a:p>
                      <a:r>
                        <a:rPr sz="2100" b="0">
                          <a:solidFill>
                            <a:srgbClr val="13283C"/>
                          </a:solidFill>
                          <a:latin typeface="Arial"/>
                          <a:ea typeface="Arial"/>
                          <a:cs typeface="Arial"/>
                        </a:rPr>
                        <a:t>Gains</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2100" b="0">
                          <a:solidFill>
                            <a:srgbClr val="13283C"/>
                          </a:solidFill>
                          <a:latin typeface="Arial"/>
                          <a:ea typeface="Arial"/>
                          <a:cs typeface="Arial"/>
                        </a:rPr>
                        <a:t>K₁ = 4.5   K₂ = 1.3</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1"/>
                  </a:ext>
                </a:extLst>
              </a:tr>
              <a:tr h="609600">
                <a:tc>
                  <a:txBody>
                    <a:bodyPr/>
                    <a:lstStyle/>
                    <a:p>
                      <a:r>
                        <a:rPr sz="2100" b="0">
                          <a:solidFill>
                            <a:srgbClr val="13283C"/>
                          </a:solidFill>
                          <a:latin typeface="Arial"/>
                          <a:ea typeface="Arial"/>
                          <a:cs typeface="Arial"/>
                        </a:rPr>
                        <a:t>Overshoot / settling time</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2100" b="0">
                          <a:solidFill>
                            <a:srgbClr val="13283C"/>
                          </a:solidFill>
                          <a:latin typeface="Arial"/>
                          <a:ea typeface="Arial"/>
                          <a:cs typeface="Arial"/>
                        </a:rPr>
                        <a:t>0.82 % / 1.62 s</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2"/>
                  </a:ext>
                </a:extLst>
              </a:tr>
              <a:tr h="609600">
                <a:tc>
                  <a:txBody>
                    <a:bodyPr/>
                    <a:lstStyle/>
                    <a:p>
                      <a:r>
                        <a:rPr sz="2100" b="0">
                          <a:solidFill>
                            <a:srgbClr val="13283C"/>
                          </a:solidFill>
                          <a:latin typeface="Arial"/>
                          <a:ea typeface="Arial"/>
                          <a:cs typeface="Arial"/>
                        </a:rPr>
                        <a:t>Coupling</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tc>
                  <a:txBody>
                    <a:bodyPr/>
                    <a:lstStyle/>
                    <a:p>
                      <a:r>
                        <a:rPr sz="2100" b="0">
                          <a:solidFill>
                            <a:srgbClr val="13283C"/>
                          </a:solidFill>
                          <a:latin typeface="Arial"/>
                          <a:ea typeface="Arial"/>
                          <a:cs typeface="Arial"/>
                        </a:rPr>
                        <a:t>31 % / 28 %</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FFFFF"/>
                    </a:solidFill>
                  </a:tcPr>
                </a:tc>
                <a:extLst>
                  <a:ext uri="{0D108BD9-81ED-4DB2-BD59-A6C34878D82A}">
                    <a16:rowId xmlns:a16="http://schemas.microsoft.com/office/drawing/2014/main" val="10003"/>
                  </a:ext>
                </a:extLst>
              </a:tr>
              <a:tr h="609600">
                <a:tc>
                  <a:txBody>
                    <a:bodyPr/>
                    <a:lstStyle/>
                    <a:p>
                      <a:r>
                        <a:rPr sz="2100" b="0">
                          <a:solidFill>
                            <a:srgbClr val="13283C"/>
                          </a:solidFill>
                          <a:latin typeface="Arial"/>
                          <a:ea typeface="Arial"/>
                          <a:cs typeface="Arial"/>
                        </a:rPr>
                        <a:t>Sampling period</a:t>
                      </a:r>
                    </a:p>
                  </a:txBody>
                  <a:tcPr anchor="ctr">
                    <a:lnL w="5715">
                      <a:solidFill>
                        <a:srgbClr val="DFE6EB"/>
                      </a:solidFill>
                      <a:prstDash val="soli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tc>
                  <a:txBody>
                    <a:bodyPr/>
                    <a:lstStyle/>
                    <a:p>
                      <a:r>
                        <a:rPr sz="2100" b="0">
                          <a:solidFill>
                            <a:srgbClr val="13283C"/>
                          </a:solidFill>
                          <a:latin typeface="Arial"/>
                          <a:ea typeface="Arial"/>
                          <a:cs typeface="Arial"/>
                        </a:rPr>
                        <a:t>0.05 s</a:t>
                      </a:r>
                    </a:p>
                  </a:txBody>
                  <a:tcPr anchor="ctr">
                    <a:lnL w="5715" cap="flat" cmpd="sng" algn="ctr">
                      <a:solidFill>
                        <a:srgbClr val="DFE6EB"/>
                      </a:solidFill>
                      <a:prstDash val="solid"/>
                      <a:round/>
                      <a:headEnd type="none" w="med" len="med"/>
                      <a:tailEnd type="none" w="med" len="med"/>
                    </a:lnL>
                    <a:lnR w="5715">
                      <a:solidFill>
                        <a:srgbClr val="DFE6EB"/>
                      </a:solidFill>
                      <a:prstDash val="solid"/>
                    </a:lnR>
                    <a:lnT w="5715" cap="flat" cmpd="sng" algn="ctr">
                      <a:solidFill>
                        <a:srgbClr val="DFE6EB"/>
                      </a:solidFill>
                      <a:prstDash val="solid"/>
                      <a:round/>
                      <a:headEnd type="none" w="med" len="med"/>
                      <a:tailEnd type="none" w="med" len="med"/>
                    </a:lnT>
                    <a:lnB w="5715">
                      <a:solidFill>
                        <a:srgbClr val="DFE6EB"/>
                      </a:solidFill>
                      <a:prstDash val="solid"/>
                    </a:lnB>
                    <a:solidFill>
                      <a:srgbClr val="F3F6F8"/>
                    </a:solidFill>
                  </a:tcPr>
                </a:tc>
                <a:extLst>
                  <a:ext uri="{0D108BD9-81ED-4DB2-BD59-A6C34878D82A}">
                    <a16:rowId xmlns:a16="http://schemas.microsoft.com/office/drawing/2014/main" val="10004"/>
                  </a:ext>
                </a:extLst>
              </a:tr>
            </a:tbl>
          </a:graphicData>
        </a:graphic>
      </p:graphicFrame>
      <p:sp>
        <p:nvSpPr>
          <p:cNvPr id="6" name="La aceleración y la orientación deben analizarse">
            <a:extLst>
              <a:ext uri="{FF2B5EF4-FFF2-40B4-BE49-F238E27FC236}">
                <a16:creationId xmlns:a16="http://schemas.microsoft.com/office/drawing/2014/main" id="{22FECD54-E01D-4B4A-B9C0-A6E272711B8B}"/>
              </a:ext>
            </a:extLst>
          </p:cNvPr>
          <p:cNvSpPr>
            <a:spLocks noGrp="1"/>
          </p:cNvSpPr>
          <p:nvPr/>
        </p:nvSpPr>
        <p:spPr>
          <a:xfrm>
            <a:off x="590550" y="5838825"/>
            <a:ext cx="10858500" cy="485775"/>
          </a:xfrm>
          <a:prstGeom prst="rect">
            <a:avLst/>
          </a:prstGeom>
          <a:noFill/>
          <a:ln w="0">
            <a:noFill/>
          </a:ln>
        </p:spPr>
        <p:txBody>
          <a:bodyPr lIns="0" tIns="0" rIns="0" bIns="0" anchor="t">
            <a:noAutofit/>
          </a:bodyPr>
          <a:lstStyle>
            <a:defPPr algn="l">
              <a:defRPr sz="2175" b="1">
                <a:solidFill>
                  <a:srgbClr val="13283C"/>
                </a:solidFill>
                <a:latin typeface="Arial"/>
                <a:ea typeface="Arial"/>
                <a:cs typeface="Arial"/>
              </a:defRPr>
            </a:defPPr>
            <a:lvl1pPr algn="l">
              <a:defRPr sz="2175" b="1">
                <a:solidFill>
                  <a:srgbClr val="13283C"/>
                </a:solidFill>
                <a:latin typeface="Arial"/>
                <a:ea typeface="Arial"/>
                <a:cs typeface="Arial"/>
              </a:defRPr>
            </a:lvl1pPr>
            <a:lvl2pPr algn="l">
              <a:defRPr sz="2175" b="1">
                <a:solidFill>
                  <a:srgbClr val="13283C"/>
                </a:solidFill>
                <a:latin typeface="Arial"/>
                <a:ea typeface="Arial"/>
                <a:cs typeface="Arial"/>
              </a:defRPr>
            </a:lvl2pPr>
            <a:lvl3pPr algn="l">
              <a:defRPr sz="2175" b="1">
                <a:solidFill>
                  <a:srgbClr val="13283C"/>
                </a:solidFill>
                <a:latin typeface="Arial"/>
                <a:ea typeface="Arial"/>
                <a:cs typeface="Arial"/>
              </a:defRPr>
            </a:lvl3pPr>
            <a:lvl4pPr algn="l">
              <a:defRPr sz="2175" b="1">
                <a:solidFill>
                  <a:srgbClr val="13283C"/>
                </a:solidFill>
                <a:latin typeface="Arial"/>
                <a:ea typeface="Arial"/>
                <a:cs typeface="Arial"/>
              </a:defRPr>
            </a:lvl4pPr>
            <a:lvl5pPr algn="l">
              <a:defRPr sz="2175" b="1">
                <a:solidFill>
                  <a:srgbClr val="13283C"/>
                </a:solidFill>
                <a:latin typeface="Arial"/>
                <a:ea typeface="Arial"/>
                <a:cs typeface="Arial"/>
              </a:defRPr>
            </a:lvl5pPr>
            <a:lvl6pPr algn="l">
              <a:defRPr sz="2175" b="1">
                <a:solidFill>
                  <a:srgbClr val="13283C"/>
                </a:solidFill>
                <a:latin typeface="Arial"/>
                <a:ea typeface="Arial"/>
                <a:cs typeface="Arial"/>
              </a:defRPr>
            </a:lvl6pPr>
            <a:lvl7pPr algn="l">
              <a:defRPr sz="2175" b="1">
                <a:solidFill>
                  <a:srgbClr val="13283C"/>
                </a:solidFill>
                <a:latin typeface="Arial"/>
                <a:ea typeface="Arial"/>
                <a:cs typeface="Arial"/>
              </a:defRPr>
            </a:lvl7pPr>
            <a:lvl8pPr algn="l">
              <a:defRPr sz="2175" b="1">
                <a:solidFill>
                  <a:srgbClr val="13283C"/>
                </a:solidFill>
                <a:latin typeface="Arial"/>
                <a:ea typeface="Arial"/>
                <a:cs typeface="Arial"/>
              </a:defRPr>
            </a:lvl8pPr>
            <a:lvl9pPr algn="l">
              <a:defRPr sz="2175" b="1">
                <a:solidFill>
                  <a:srgbClr val="13283C"/>
                </a:solidFill>
                <a:latin typeface="Arial"/>
                <a:ea typeface="Arial"/>
                <a:cs typeface="Arial"/>
              </a:defRPr>
            </a:lvl9pPr>
          </a:lstStyle>
          <a:p>
            <a:pPr algn="l">
              <a:lnSpc>
                <a:spcPct val="110000"/>
              </a:lnSpc>
              <a:buNone/>
              <a:defRPr sz="2175" b="1">
                <a:solidFill>
                  <a:srgbClr val="13283C"/>
                </a:solidFill>
                <a:latin typeface="Arial"/>
                <a:ea typeface="Arial"/>
                <a:cs typeface="Arial"/>
              </a:defRPr>
            </a:pPr>
            <a:r>
              <a:rPr sz="2175" b="1">
                <a:solidFill>
                  <a:srgbClr val="13283C"/>
                </a:solidFill>
                <a:latin typeface="Arial"/>
                <a:ea typeface="Arial"/>
                <a:cs typeface="Arial"/>
              </a:rPr>
              <a:t>Acceleration and attitude require a combined analysis</a:t>
            </a:r>
          </a:p>
        </p:txBody>
      </p:sp>
    </p:spTree>
    <p:extLst>
      <p:ext uri="{BB962C8B-B14F-4D97-AF65-F5344CB8AC3E}">
        <p14:creationId xmlns:p14="http://schemas.microsoft.com/office/powerpoint/2010/main" val="5101704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3928</Words>
  <Application>Microsoft Office PowerPoint</Application>
  <DocSecurity>0</DocSecurity>
  <PresentationFormat>Widescreen</PresentationFormat>
  <Paragraphs>330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Jose Javier Rivera Cruz</cp:lastModifiedBy>
  <cp:revision>1</cp:revision>
  <dcterms:created xsi:type="dcterms:W3CDTF">2026-10-29T20:30:13Z</dcterms:created>
  <dcterms:modified xsi:type="dcterms:W3CDTF">2026-10-29T21:01:15Z</dcterms:modified>
</cp:coreProperties>
</file>