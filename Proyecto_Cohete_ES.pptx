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6.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8.xml" ContentType="application/vnd.openxmlformats-officedocument.drawingml.chart+xml"/>
  <Override PartName="/ppt/slides/charts/chart9.xml" ContentType="application/vnd.openxmlformats-officedocument.drawingml.chart+xml"/>
  <Override PartName="/ppt/slides/charts/chart10.xml" ContentType="application/vnd.openxmlformats-officedocument.drawingml.chart+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398350cf24412e" /><Relationship Type="http://schemas.openxmlformats.org/officeDocument/2006/relationships/extended-properties" Target="/docProps/app.xml" Id="Reb5b5f7ff23444bb" /><Relationship Type="http://schemas.openxmlformats.org/officeDocument/2006/relationships/officeDocument" Target="/ppt/presentation.xml" Id="R655e5aa943ef4ac9" /></Relationships>
</file>

<file path=ppt/presentation.xml><?xml version="1.0" encoding="utf-8"?>
<p:presentation xmlns:p="http://schemas.openxmlformats.org/presentationml/2006/main">
  <p:sldMasterIdLst>
    <p:sldMasterId xmlns:r="http://schemas.openxmlformats.org/officeDocument/2006/relationships" id="2147483648" r:id="Rf488cd7c8cee4529"/>
  </p:sldMasterIdLst>
  <p:notesMasterIdLst>
    <p:notesMasterId xmlns:r="http://schemas.openxmlformats.org/officeDocument/2006/relationships" r:id="Raa09eae5cb4a4a8d"/>
  </p:notesMasterIdLst>
  <p:sldIdLst>
    <p:sldId xmlns:r="http://schemas.openxmlformats.org/officeDocument/2006/relationships" id="256" r:id="Rfedb85e596c44cb3"/>
    <p:sldId xmlns:r="http://schemas.openxmlformats.org/officeDocument/2006/relationships" id="257" r:id="R0a366e4ff6434bfa"/>
    <p:sldId xmlns:r="http://schemas.openxmlformats.org/officeDocument/2006/relationships" id="258" r:id="Raa219842d1614a97"/>
    <p:sldId xmlns:r="http://schemas.openxmlformats.org/officeDocument/2006/relationships" id="259" r:id="R9b757a5cc39344be"/>
    <p:sldId xmlns:r="http://schemas.openxmlformats.org/officeDocument/2006/relationships" id="260" r:id="R6303ab6cf3834e4e"/>
    <p:sldId xmlns:r="http://schemas.openxmlformats.org/officeDocument/2006/relationships" id="261" r:id="R4a716dcc8b974aae"/>
    <p:sldId xmlns:r="http://schemas.openxmlformats.org/officeDocument/2006/relationships" id="262" r:id="R0432b2e8d88a407d"/>
    <p:sldId xmlns:r="http://schemas.openxmlformats.org/officeDocument/2006/relationships" id="263" r:id="R3b5209656c404a12"/>
    <p:sldId xmlns:r="http://schemas.openxmlformats.org/officeDocument/2006/relationships" id="264" r:id="R583634ee9a0e4eb4"/>
    <p:sldId xmlns:r="http://schemas.openxmlformats.org/officeDocument/2006/relationships" id="265" r:id="Re8d55449f2624e65"/>
    <p:sldId xmlns:r="http://schemas.openxmlformats.org/officeDocument/2006/relationships" id="266" r:id="R3fb7b5717aa44e39"/>
    <p:sldId xmlns:r="http://schemas.openxmlformats.org/officeDocument/2006/relationships" id="267" r:id="Rd03d474e33e1473d"/>
    <p:sldId xmlns:r="http://schemas.openxmlformats.org/officeDocument/2006/relationships" id="268" r:id="Rd7ad615798484b80"/>
    <p:sldId xmlns:r="http://schemas.openxmlformats.org/officeDocument/2006/relationships" id="269" r:id="R564ef163c0584bf3"/>
    <p:sldId xmlns:r="http://schemas.openxmlformats.org/officeDocument/2006/relationships" id="270" r:id="R4552be6a4d704f70"/>
    <p:sldId xmlns:r="http://schemas.openxmlformats.org/officeDocument/2006/relationships" id="271" r:id="R08e05ad959e34d44"/>
    <p:sldId xmlns:r="http://schemas.openxmlformats.org/officeDocument/2006/relationships" id="272" r:id="Re3a6ef1ffbcd41e4"/>
    <p:sldId xmlns:r="http://schemas.openxmlformats.org/officeDocument/2006/relationships" id="273" r:id="R66a2e88942eb426d"/>
    <p:sldId xmlns:r="http://schemas.openxmlformats.org/officeDocument/2006/relationships" id="274" r:id="R7c9608c2cb684a90"/>
    <p:sldId xmlns:r="http://schemas.openxmlformats.org/officeDocument/2006/relationships" id="275" r:id="Rde05c62eb5824672"/>
    <p:sldId xmlns:r="http://schemas.openxmlformats.org/officeDocument/2006/relationships" id="276" r:id="R6c5611a5e32d4adc"/>
    <p:sldId xmlns:r="http://schemas.openxmlformats.org/officeDocument/2006/relationships" id="277" r:id="Rd14f7726eca94dcf"/>
    <p:sldId xmlns:r="http://schemas.openxmlformats.org/officeDocument/2006/relationships" id="278" r:id="Rea611b8f25584f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a50c1488584b5e" /><Relationship Type="http://schemas.openxmlformats.org/officeDocument/2006/relationships/slideMaster" Target="/ppt/slideMasters/slideMaster1.xml" Id="Rf488cd7c8cee4529" /><Relationship Type="http://schemas.openxmlformats.org/officeDocument/2006/relationships/notesMaster" Target="/ppt/notesMasters/notesMaster1.xml" Id="Raa09eae5cb4a4a8d" /><Relationship Type="http://schemas.openxmlformats.org/officeDocument/2006/relationships/presProps" Target="/ppt/presProps.xml" Id="Rf592ae7d291541f4" /><Relationship Type="http://schemas.openxmlformats.org/officeDocument/2006/relationships/tableStyles" Target="/ppt/tableStyles.xml" Id="Rab02e8e51d834f8f" /><Relationship Type="http://schemas.openxmlformats.org/officeDocument/2006/relationships/slide" Target="/ppt/slides/slide1.xml" Id="Rfedb85e596c44cb3" /><Relationship Type="http://schemas.openxmlformats.org/officeDocument/2006/relationships/slide" Target="/ppt/slides/slide2.xml" Id="R0a366e4ff6434bfa" /><Relationship Type="http://schemas.openxmlformats.org/officeDocument/2006/relationships/slide" Target="/ppt/slides/slide3.xml" Id="Raa219842d1614a97" /><Relationship Type="http://schemas.openxmlformats.org/officeDocument/2006/relationships/slide" Target="/ppt/slides/slide4.xml" Id="R9b757a5cc39344be" /><Relationship Type="http://schemas.openxmlformats.org/officeDocument/2006/relationships/slide" Target="/ppt/slides/slide5.xml" Id="R6303ab6cf3834e4e" /><Relationship Type="http://schemas.openxmlformats.org/officeDocument/2006/relationships/slide" Target="/ppt/slides/slide6.xml" Id="R4a716dcc8b974aae" /><Relationship Type="http://schemas.openxmlformats.org/officeDocument/2006/relationships/slide" Target="/ppt/slides/slide7.xml" Id="R0432b2e8d88a407d" /><Relationship Type="http://schemas.openxmlformats.org/officeDocument/2006/relationships/slide" Target="/ppt/slides/slide8.xml" Id="R3b5209656c404a12" /><Relationship Type="http://schemas.openxmlformats.org/officeDocument/2006/relationships/slide" Target="/ppt/slides/slide9.xml" Id="R583634ee9a0e4eb4" /><Relationship Type="http://schemas.openxmlformats.org/officeDocument/2006/relationships/slide" Target="/ppt/slides/slide10.xml" Id="Re8d55449f2624e65" /><Relationship Type="http://schemas.openxmlformats.org/officeDocument/2006/relationships/slide" Target="/ppt/slides/slide11.xml" Id="R3fb7b5717aa44e39" /><Relationship Type="http://schemas.openxmlformats.org/officeDocument/2006/relationships/slide" Target="/ppt/slides/slide12.xml" Id="Rd03d474e33e1473d" /><Relationship Type="http://schemas.openxmlformats.org/officeDocument/2006/relationships/slide" Target="/ppt/slides/slide13.xml" Id="Rd7ad615798484b80" /><Relationship Type="http://schemas.openxmlformats.org/officeDocument/2006/relationships/slide" Target="/ppt/slides/slide14.xml" Id="R564ef163c0584bf3" /><Relationship Type="http://schemas.openxmlformats.org/officeDocument/2006/relationships/slide" Target="/ppt/slides/slide15.xml" Id="R4552be6a4d704f70" /><Relationship Type="http://schemas.openxmlformats.org/officeDocument/2006/relationships/slide" Target="/ppt/slides/slide16.xml" Id="R08e05ad959e34d44" /><Relationship Type="http://schemas.openxmlformats.org/officeDocument/2006/relationships/slide" Target="/ppt/slides/slide17.xml" Id="Re3a6ef1ffbcd41e4" /><Relationship Type="http://schemas.openxmlformats.org/officeDocument/2006/relationships/slide" Target="/ppt/slides/slide18.xml" Id="R66a2e88942eb426d" /><Relationship Type="http://schemas.openxmlformats.org/officeDocument/2006/relationships/slide" Target="/ppt/slides/slide19.xml" Id="R7c9608c2cb684a90" /><Relationship Type="http://schemas.openxmlformats.org/officeDocument/2006/relationships/slide" Target="/ppt/slides/slide20.xml" Id="Rde05c62eb5824672" /><Relationship Type="http://schemas.openxmlformats.org/officeDocument/2006/relationships/slide" Target="/ppt/slides/slide21.xml" Id="R6c5611a5e32d4adc" /><Relationship Type="http://schemas.openxmlformats.org/officeDocument/2006/relationships/slide" Target="/ppt/slides/slide22.xml" Id="Rd14f7726eca94dcf" /><Relationship Type="http://schemas.openxmlformats.org/officeDocument/2006/relationships/slide" Target="/ppt/slides/slide23.xml" Id="Rea611b8f25584f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71a05b7e774e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968f078a464b0b" /><Relationship Type="http://schemas.openxmlformats.org/officeDocument/2006/relationships/notesMaster" Target="/ppt/notesMasters/notesMaster1.xml" Id="Rc776ea9d539e43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a9060593a642b8" /><Relationship Type="http://schemas.openxmlformats.org/officeDocument/2006/relationships/notesMaster" Target="/ppt/notesMasters/notesMaster1.xml" Id="R47bbe9a66bee4c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8907ccd7484d08" /><Relationship Type="http://schemas.openxmlformats.org/officeDocument/2006/relationships/notesMaster" Target="/ppt/notesMasters/notesMaster1.xml" Id="R84fd7f5b52ae4e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c6c974a5b14a70" /><Relationship Type="http://schemas.openxmlformats.org/officeDocument/2006/relationships/notesMaster" Target="/ppt/notesMasters/notesMaster1.xml" Id="R01e2a692d2c54b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da2ad152924827" /><Relationship Type="http://schemas.openxmlformats.org/officeDocument/2006/relationships/notesMaster" Target="/ppt/notesMasters/notesMaster1.xml" Id="R6364ef4ed01244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02fdbddaec4d2f" /><Relationship Type="http://schemas.openxmlformats.org/officeDocument/2006/relationships/notesMaster" Target="/ppt/notesMasters/notesMaster1.xml" Id="R55f285bc53bb4d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65be4015db483b" /><Relationship Type="http://schemas.openxmlformats.org/officeDocument/2006/relationships/notesMaster" Target="/ppt/notesMasters/notesMaster1.xml" Id="Re1f78a5e703048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3cf34b196d4d37" /><Relationship Type="http://schemas.openxmlformats.org/officeDocument/2006/relationships/notesMaster" Target="/ppt/notesMasters/notesMaster1.xml" Id="R79283ec0c71643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03a2452eaf40e8" /><Relationship Type="http://schemas.openxmlformats.org/officeDocument/2006/relationships/notesMaster" Target="/ppt/notesMasters/notesMaster1.xml" Id="R30974864570748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e2e8a900054e0f" /><Relationship Type="http://schemas.openxmlformats.org/officeDocument/2006/relationships/notesMaster" Target="/ppt/notesMasters/notesMaster1.xml" Id="R0feaea9288ec44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cd36b890bd433b" /><Relationship Type="http://schemas.openxmlformats.org/officeDocument/2006/relationships/notesMaster" Target="/ppt/notesMasters/notesMaster1.xml" Id="Rc2b0299141ea41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d69f29bf644351" /><Relationship Type="http://schemas.openxmlformats.org/officeDocument/2006/relationships/notesMaster" Target="/ppt/notesMasters/notesMaster1.xml" Id="Rf771ba9632a54d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f9eebdf66944b20" /><Relationship Type="http://schemas.openxmlformats.org/officeDocument/2006/relationships/notesMaster" Target="/ppt/notesMasters/notesMaster1.xml" Id="R9cca32948a204c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edaefff0b54b2c" /><Relationship Type="http://schemas.openxmlformats.org/officeDocument/2006/relationships/notesMaster" Target="/ppt/notesMasters/notesMaster1.xml" Id="Rcbff0323c4d14d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1b5770ab0241c6" /><Relationship Type="http://schemas.openxmlformats.org/officeDocument/2006/relationships/notesMaster" Target="/ppt/notesMasters/notesMaster1.xml" Id="Rc74698205a2d4e3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8c3227c768450c" /><Relationship Type="http://schemas.openxmlformats.org/officeDocument/2006/relationships/notesMaster" Target="/ppt/notesMasters/notesMaster1.xml" Id="R63374511b9274a7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b2375fd296440e9" /><Relationship Type="http://schemas.openxmlformats.org/officeDocument/2006/relationships/notesMaster" Target="/ppt/notesMasters/notesMaster1.xml" Id="Rd9ed6359abeb47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cf67340e7a349b1" /><Relationship Type="http://schemas.openxmlformats.org/officeDocument/2006/relationships/notesMaster" Target="/ppt/notesMasters/notesMaster1.xml" Id="R3a9c0c53239d426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7953e1dd3b423f" /><Relationship Type="http://schemas.openxmlformats.org/officeDocument/2006/relationships/notesMaster" Target="/ppt/notesMasters/notesMaster1.xml" Id="R3c3786682fe743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108bc6529644083" /><Relationship Type="http://schemas.openxmlformats.org/officeDocument/2006/relationships/notesMaster" Target="/ppt/notesMasters/notesMaster1.xml" Id="Rb71c075f16144df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7476c8f83e54b4d" /><Relationship Type="http://schemas.openxmlformats.org/officeDocument/2006/relationships/notesMaster" Target="/ppt/notesMasters/notesMaster1.xml" Id="R55c630c3bf7b42f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d662da939e9453c" /><Relationship Type="http://schemas.openxmlformats.org/officeDocument/2006/relationships/notesMaster" Target="/ppt/notesMasters/notesMaster1.xml" Id="Rd38b63fe00fa47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b6e6dbafe1f4cda" /><Relationship Type="http://schemas.openxmlformats.org/officeDocument/2006/relationships/notesMaster" Target="/ppt/notesMasters/notesMaster1.xml" Id="R623b98713b0349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30 segundos</a:t>
            </a:r>
          </a:p>
          <a:p xmlns:a="http://schemas.openxmlformats.org/drawingml/2006/main">
            <a:r>
              <a:t/>
            </a:r>
          </a:p>
          <a:p xmlns:a="http://schemas.openxmlformats.org/drawingml/2006/main">
            <a:r>
              <a:t>Estudiamos un modelo lineal de cohete en el plano de cabeceo. La pregunta central fue cómo acelerar y orientar el vehículo cuando las dos acciones se afectan mutuamente. Voy a explicar el modelo, las pruebas que realizamos y cómo usamos los resultados para elegir las ganancias y el periodo de muestreo. La fotografía es contextual y no corresponde a un vehículo identificado con los parámetros del modelo.</a:t>
            </a:r>
          </a:p>
          <a:p xmlns:a="http://schemas.openxmlformats.org/drawingml/2006/main">
            <a:r>
              <a:t/>
            </a:r>
          </a:p>
          <a:p xmlns:a="http://schemas.openxmlformats.org/drawingml/2006/main">
            <a:r>
              <a:t>Fuentes: Reporte_ES.pdf, p. 1. Fotografía: NASA/Bill Ingalls, Artemis I. https://www.planetary.org/space-images/artemis-i-launch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50 segundos</a:t>
            </a:r>
          </a:p>
          <a:p xmlns:a="http://schemas.openxmlformats.org/drawingml/2006/main">
            <a:r>
              <a:t/>
            </a:r>
          </a:p>
          <a:p xmlns:a="http://schemas.openxmlformats.org/drawingml/2006/main">
            <a:r>
              <a:t>El cohete debe seguir una referencia de aceleración y una referencia de orientación. La tobera modifica la dirección del empuje para producir un momento de control. Al inclinar el vehículo también cambia la aceleración que representa nuestro modelo. Además, una desalineación del empuje puede generar un giro. Por eso estudiamos un sistema con dos entradas y dos salidas. En la figura conviene señalar el centro de masa, el centro de presión y la deflexión de la tobera. El alcance del trabajo es una ventana del ascenso y el plano de cabeceo.</a:t>
            </a:r>
          </a:p>
          <a:p xmlns:a="http://schemas.openxmlformats.org/drawingml/2006/main">
            <a:r>
              <a:t/>
            </a:r>
          </a:p>
          <a:p xmlns:a="http://schemas.openxmlformats.org/drawingml/2006/main">
            <a:r>
              <a:t>Fuentes: Reporte_ES.pdf, pp. 1–3. proyectoCohete.pdf, p. 2, figura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65 segundos</a:t>
            </a:r>
          </a:p>
          <a:p xmlns:a="http://schemas.openxmlformats.org/drawingml/2006/main">
            <a:r>
              <a:t/>
            </a:r>
          </a:p>
          <a:p xmlns:a="http://schemas.openxmlformats.org/drawingml/2006/main">
            <a:r>
              <a:t>Elegimos cuatro estados: aceleración axial a, ángulo de cabeceo theta, velocidad angular omega y deflexión real de la tobera delta. Las salidas principales son a y theta. La IMU también puede proporcionar omega, aunque en el análisis de observabilidad estudiamos casos donde solo usamos una salida. u1 es una referencia axial y u2 una referencia angular. Para interpretar u1 como porcentaje hace falta fijar su normalización. Suponemos ángulos pequeños, masa e inercia constantes y un fuselaje rígido. Con esos supuestos escribimos un sistema lineal de cuatro estados. Las cuatro ecuaciones completas quedan en las diapositivas de apoyo. La matriz A describe la dinámica interna; B relaciona las órdenes con los estados; C selecciona las salidas medidas. Sus dimensiones son cuatro por cuatro, cuatro por dos y dos por cuatro. D es cero: una orden finita no pasa directamente a la salida sin dinámica.</a:t>
            </a:r>
          </a:p>
          <a:p xmlns:a="http://schemas.openxmlformats.org/drawingml/2006/main">
            <a:r>
              <a:t/>
            </a:r>
          </a:p>
          <a:p xmlns:a="http://schemas.openxmlformats.org/drawingml/2006/main">
            <a:r>
              <a:t>Fuentes: Reporte_ES.pdf, pp. 2–3. proyectoCohete.pdf, pp.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60 segundos</a:t>
            </a:r>
          </a:p>
          <a:p xmlns:a="http://schemas.openxmlformats.org/drawingml/2006/main">
            <a:r>
              <a:t/>
            </a:r>
          </a:p>
          <a:p xmlns:a="http://schemas.openxmlformats.org/drawingml/2006/main">
            <a:r>
              <a:t>Cada ecuación diferencial describe cómo cambia un estado. La ecuación de aceleración combina la respuesta del motor, el comando axial y el acoplamiento gravitatorio. La ecuación del ángulo integra la velocidad angular. La ecuación de velocidad angular combina el efecto aerodinámico desestabilizante, el amortiguamiento y los momentos producidos por la tobera y la desalineación del empuje. La ecuación de la tobera incorpora la respuesta del servo y la realimentación de ángulo y velocidad angular. K1 ajusta la corrección axial y K2 la corrección de dirección. Lambda pondera la contribución de la velocidad angular. Mantener delta como estado permite estudiar el retardo del servo y cuánto se mueve la tobera. Las ecuaciones completas quedan en las diapositivas de apoyo.</a:t>
            </a:r>
          </a:p>
          <a:p xmlns:a="http://schemas.openxmlformats.org/drawingml/2006/main">
            <a:r>
              <a:t/>
            </a:r>
          </a:p>
          <a:p xmlns:a="http://schemas.openxmlformats.org/drawingml/2006/main">
            <a:r>
              <a:t>Fuentes: Reporte_ES.pdf, p. 2, ecuaciones (1)–(4). TSII-PROJECT-NB.ipynb, celda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55 segundos</a:t>
            </a:r>
          </a:p>
          <a:p xmlns:a="http://schemas.openxmlformats.org/drawingml/2006/main">
            <a:r>
              <a:t/>
            </a:r>
          </a:p>
          <a:p xmlns:a="http://schemas.openxmlformats.org/drawingml/2006/main">
            <a:r>
              <a:t>Partimos de las ecuaciones, construimos A, B y C y comprobamos que el diagrama de cuatro integradores representa sus trayectorias. Cada integrador acumula la derivada de un estado. Después calculamos la matriz de transferencia y los autovalores. Simulamos pulso, senoide e impulso, cada uno en u1, en u2 y en ambas entradas. Finalmente comparamos ganancias con límites cuantitativos y separamos la planta continua del controlador digital para estudiar el muestreo. K1 actúa sobre el canal del motor y K2 sobre la corrección de actitud. Las bibliotecas de cálculo fueron NumPy, SciPy y SymPy, y el reporte utilizó Matplotlib para las figuras. El notebook aplica tres tipos de señal a tres configuraciones de entrada, para un total de nueve casos. Cada figura utiliza ejes verticales separados para aceleración y ángulo porque sus unidades son distintas.</a:t>
            </a:r>
          </a:p>
          <a:p xmlns:a="http://schemas.openxmlformats.org/drawingml/2006/main">
            <a:r>
              <a:t/>
            </a:r>
          </a:p>
          <a:p xmlns:a="http://schemas.openxmlformats.org/drawingml/2006/main">
            <a:r>
              <a:t>Fuentes: Reporte_ES.pdf, pp. 2–5, figura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70 segundos</a:t>
            </a:r>
          </a:p>
          <a:p xmlns:a="http://schemas.openxmlformats.org/drawingml/2006/main">
            <a:r>
              <a:t/>
            </a:r>
          </a:p>
          <a:p xmlns:a="http://schemas.openxmlformats.org/drawingml/2006/main">
            <a:r>
              <a:t>En este proyecto buscamos estabilidad asintótica: que las desviaciones del equilibrio decaigan. Los cuatro polos nominales tienen parte real negativa. El par complejo explica la oscilación y el polo cercano a menos diecisiete está asociado principalmente al servo. También usamos Routh–Hurwitz y un barrido de ganancias. Para K1 igual a uno, el umbral de K2 es aproximadamente cero punto cero ochenta y uno. Con K2 igual a cero aparece un polo positivo de aproximadamente cero punto cinco cincuenta y siete. Por tanto, la realimentación de dirección es necesaria para estabilizar el controlador original dentro de estas condiciones. Estabilidad por sí sola todavía no asegura rapidez ni seguimiento satisfactorio.</a:t>
            </a:r>
          </a:p>
          <a:p xmlns:a="http://schemas.openxmlformats.org/drawingml/2006/main">
            <a:r>
              <a:t/>
            </a:r>
          </a:p>
          <a:p xmlns:a="http://schemas.openxmlformats.org/drawingml/2006/main">
            <a:r>
              <a:t>Fuentes: Reporte_ES.pdf, pp. 4–5. Cálculo con las ecuaciones nominales.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60 segundos</a:t>
            </a:r>
          </a:p>
          <a:p xmlns:a="http://schemas.openxmlformats.org/drawingml/2006/main">
            <a:r>
              <a:t/>
            </a:r>
          </a:p>
          <a:p xmlns:a="http://schemas.openxmlformats.org/drawingml/2006/main">
            <a:r>
              <a:t>Esta es la figura original de pulso rectangular guardada en el notebook. Se lee de izquierda a derecha: u1 sola, u2 sola y ambas entradas. El azul representa aceleración, con el eje izquierdo. El rojo representa cabeceo, con el eje derecho. Sus unidades y escalas son distintas, por lo que la altura visual de las curvas no representa directamente el porcentaje de acoplamiento. Con u1 se obtiene principalmente aceleración y también una pequeña inclinación por la desalineación del empuje. Con u2 cambia mucho la aceleración por el término gravitatorio. Las respuestas simultáneas se suman porque el modelo es lineal. A los cinco segundos se apaga el comando y las salidas decaen. Son pruebas formales con entradas unitarias.</a:t>
            </a:r>
          </a:p>
          <a:p xmlns:a="http://schemas.openxmlformats.org/drawingml/2006/main">
            <a:r>
              <a:t/>
            </a:r>
          </a:p>
          <a:p xmlns:a="http://schemas.openxmlformats.org/drawingml/2006/main">
            <a:r>
              <a:t>Fuentes: TSII-PROJECT-NB.ipynb, celda 16, imagen guardada en la salida. Parámetros nominales en la celda 11 y función de simulación en la celda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55 segundos</a:t>
            </a:r>
          </a:p>
          <a:p xmlns:a="http://schemas.openxmlformats.org/drawingml/2006/main">
            <a:r>
              <a:t/>
            </a:r>
          </a:p>
          <a:p xmlns:a="http://schemas.openxmlformats.org/drawingml/2006/main">
            <a:r>
              <a:t>La figura original del notebook utiliza seno de t. Por tanto, la frecuencia angular es un radián por segundo y el período es aproximadamente 6,28 segundos. Después del transitorio inicial, ambas salidas oscilan a esa frecuencia. Sus amplitudes y fases dependen de las funciones de transferencia. Con u2 sola y comando unitario, la amplitud axial es aproximadamente 7,85 y la angular aproximadamente 1,21. Son ganancias de respuesta en frecuencia evaluadas a un radián por segundo. Esto conecta la simulación temporal con el análisis en frecuencia. El panel de ambas entradas muestra la respuesta combinada.</a:t>
            </a:r>
          </a:p>
          <a:p xmlns:a="http://schemas.openxmlformats.org/drawingml/2006/main">
            <a:r>
              <a:t/>
            </a:r>
          </a:p>
          <a:p xmlns:a="http://schemas.openxmlformats.org/drawingml/2006/main">
            <a:r>
              <a:t>Fuentes: TSII-PROJECT-NB.ipynb, celda 17, imagen guardada en la salida. G(j1) del modelo nominal.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55 segundos</a:t>
            </a:r>
          </a:p>
          <a:p xmlns:a="http://schemas.openxmlformats.org/drawingml/2006/main">
            <a:r>
              <a:t/>
            </a:r>
          </a:p>
          <a:p xmlns:a="http://schemas.openxmlformats.org/drawingml/2006/main">
            <a:r>
              <a:t>El impulso es una excitación ideal muy breve que permite observar la dinámica natural. La figura compara cada entrada por separado y ambas simultáneamente. Los polos nominales hacen que las respuestas decaigan hacia cero. Un impulso en u1 produce un salto inicial en aceleración de aproximadamente 0,0699. Esto es compatible con D igual a cero: D excluye el paso directo de una orden finita, mientras que un impulso de Dirac puede cambiar instantáneamente el estado en una cantidad dada por su área multiplicada por B. Los demás caminos pasan por dinámica adicional. La figura sirve para identificar decaimiento y oscilación. Una excitación angular unitaria es una prueba matemática y no valida maniobras físicas con cualquier inclinación.</a:t>
            </a:r>
          </a:p>
          <a:p xmlns:a="http://schemas.openxmlformats.org/drawingml/2006/main">
            <a:r>
              <a:t/>
            </a:r>
          </a:p>
          <a:p xmlns:a="http://schemas.openxmlformats.org/drawingml/2006/main">
            <a:r>
              <a:t>Fuentes: TSII-PROJECT-NB.ipynb, celda 18, imagen guardada en la salida. Matrices del modelo en la celda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70 segundos</a:t>
            </a:r>
          </a:p>
          <a:p xmlns:a="http://schemas.openxmlformats.org/drawingml/2006/main">
            <a:r>
              <a:t/>
            </a:r>
          </a:p>
          <a:p xmlns:a="http://schemas.openxmlformats.org/drawingml/2006/main">
            <a:r>
              <a:t>Para comparar efectos de salidas con unidades distintas fijamos amplitudes de prueba: u1 igual a diez en la escala del modelo y u2 igual a cinco grados. Aplicamos cada escalón por separado. El comando axial produce una aceleración final de cero punto cuatro cincuenta y nueve metros por segundo cuadrado. El comando angular produce una caída máxima de aceleración cercana a cero punto ocho doce. Al dividirlas obtenemos ciento setenta y siete por ciento. En sentido inverso, el comando axial desvía el ángulo hasta alrededor de un grado, frente a cinco punto veinte grados de respuesta principal, y obtenemos veinte punto seis por ciento. Son porcentajes definidos para estas amplitudes, no constantes universales del vehículo.</a:t>
            </a:r>
          </a:p>
          <a:p xmlns:a="http://schemas.openxmlformats.org/drawingml/2006/main">
            <a:r>
              <a:t/>
            </a:r>
          </a:p>
          <a:p xmlns:a="http://schemas.openxmlformats.org/drawingml/2006/main">
            <a:r>
              <a:t>Fuentes: Reporte_ES.pdf, pp. 6–7, cuadro III y figura 10. Definición: máximo absoluto de salida cruzada dividido entre valor final absoluto de salida principal.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65 segundos</a:t>
            </a:r>
          </a:p>
          <a:p xmlns:a="http://schemas.openxmlformats.org/drawingml/2006/main">
            <a:r>
              <a:t/>
            </a:r>
          </a:p>
          <a:p xmlns:a="http://schemas.openxmlformats.org/drawingml/2006/main">
            <a:r>
              <a:t>La respuesta en frecuencia muestra cómo cambia la capacidad de seguimiento con la rapidez de una orden. La gráfica presenta magnitudes de los dos canales principales normalizadas por su ganancia de baja frecuencia. El ancho de banda se mide en el cruce de menos tres decibeles. En el nominal encontramos aproximadamente dos punto cero seis radianes por segundo para aceleración y dos punto veintiséis para cabeceo. Las funciones cruzadas tienen bandas cercanas a uno punto treinta y nueve. Las interacciones siguen siendo importantes en la banda útil. Con el nominal, ambos cocientes cruzados caen por debajo del diez por ciento solo por encima de siete punto treinta y seis radianes por segundo, donde el seguimiento directo ya está atenuado.</a:t>
            </a:r>
          </a:p>
          <a:p xmlns:a="http://schemas.openxmlformats.org/drawingml/2006/main">
            <a:r>
              <a:t/>
            </a:r>
          </a:p>
          <a:p xmlns:a="http://schemas.openxmlformats.org/drawingml/2006/main">
            <a:r>
              <a:t>Fuentes: Reporte_ES.pdf, pp. 7–9, figuras 11–13. Curvas de G(jω) nominal, magnitud relativa a G(0).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65 segundos</a:t>
            </a:r>
          </a:p>
          <a:p xmlns:a="http://schemas.openxmlformats.org/drawingml/2006/main">
            <a:r>
              <a:t/>
            </a:r>
          </a:p>
          <a:p xmlns:a="http://schemas.openxmlformats.org/drawingml/2006/main">
            <a:r>
              <a:t>La observabilidad permite inferir el movimiento interno a partir de la historia de las mediciones y de las órdenes conocidas. La observabilidad pregunta si podemos reconstruir los estados a partir de las entradas conocidas y la historia de las mediciones. Construimos la matriz con C, CA, CA al cuadrado y CA al cubo. Su rango debe ser cuatro. Obtuvimos rango cuatro con ambos sensores, con solo aceleración y con solo ángulo. El acoplamiento hace que los estados no medidos dejen información en la salida. Esto permite plantear un observador para omega y delta. El rango es una propiedad matemática ideal. La precisión con ruido necesita escalas consistentes y un modelo de sensores; los valores singulares sin normalizar no demuestran por sí solos un factor físico de fragilidad.</a:t>
            </a:r>
          </a:p>
          <a:p xmlns:a="http://schemas.openxmlformats.org/drawingml/2006/main">
            <a:r>
              <a:t/>
            </a:r>
          </a:p>
          <a:p xmlns:a="http://schemas.openxmlformats.org/drawingml/2006/main">
            <a:r>
              <a:t>Fuentes: Reporte_ES.pdf, p. 9, cuadro IV. Se conserva la conclusión de rango y se precisa la interpretación de sensibilidad.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65 segundos</a:t>
            </a:r>
          </a:p>
          <a:p xmlns:a="http://schemas.openxmlformats.org/drawingml/2006/main">
            <a:r>
              <a:t/>
            </a:r>
          </a:p>
          <a:p xmlns:a="http://schemas.openxmlformats.org/drawingml/2006/main">
            <a:r>
              <a:t>La controlabilidad se refiere a alcanzar estados arbitrarios mediante entradas adecuadas en un tiempo finito, dentro del modelo ideal. La controlabilidad pregunta si las entradas pueden llevar el estado a cualquier condición deseada dentro del modelo ideal. Con ambas entradas el rango es cuatro. Al eliminar solamente un comando externo y conservar la realimentación nominal, también obtenemos rango cuatro. Una falla física del servo es otro caso: imponemos delta punto igual a cero y el rango completo cae a tres. No podemos modificar la deflexión trabada, y el controlador original deja un modo inestable. Eso no demuestra que sea imposible estabilizar los otros tres estados mediante un rediseño ideal. La autoridad real del motor y las saturaciones tendrían que comprobarse. Distinguir ausencia de comando y falla física evita una interpretación equivocada.</a:t>
            </a:r>
          </a:p>
          <a:p xmlns:a="http://schemas.openxmlformats.org/drawingml/2006/main">
            <a:r>
              <a:t/>
            </a:r>
          </a:p>
          <a:p xmlns:a="http://schemas.openxmlformats.org/drawingml/2006/main">
            <a:r>
              <a:t>Fuentes: Reporte_ES.pdf, p. 9, cuadro V. Rangos calculados con A nominal para pérdida de comando y con última fila de A nula para servo trabado.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70 segundos</a:t>
            </a:r>
          </a:p>
          <a:p xmlns:a="http://schemas.openxmlformats.org/drawingml/2006/main">
            <a:r>
              <a:t/>
            </a:r>
          </a:p>
          <a:p xmlns:a="http://schemas.openxmlformats.org/drawingml/2006/main">
            <a:r>
              <a:t>La estabilidad dejó muchos candidatos. Para elegir usamos límites de diseño: sobrepaso angular de hasta diez por ciento, asentamiento de hasta tres segundos, error final de hasta cinco por ciento, deflexión máxima de cinco grados y ganancia axial estática positiva. Evaluamos una cuadrícula de dos mil cuatrocientos pares. La zona factible cumple esos límites. Dentro de ella preferimos los pares cuyo peor acoplamiento se acerca al menor valor encontrado. La figura reconstruye esa región con los criterios declarados. Los límites exteriores de K1 y K2 no garantizan que cualquier combinación dentro de un rectángulo sea igual de conveniente. Elegimos el punto cuatro punto cinco, uno punto tres, que sí cumple los criterios.</a:t>
            </a:r>
          </a:p>
          <a:p xmlns:a="http://schemas.openxmlformats.org/drawingml/2006/main">
            <a:r>
              <a:t/>
            </a:r>
          </a:p>
          <a:p xmlns:a="http://schemas.openxmlformats.org/drawingml/2006/main">
            <a:r>
              <a:t>Fuentes: Reporte_ES.pdf, pp. 10–11, figura 15. Región reconstruida de las ecuaciones y criterios declarados, sin usar el conteo de puntos como conclusión.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80 segundos</a:t>
            </a:r>
          </a:p>
          <a:p xmlns:a="http://schemas.openxmlformats.org/drawingml/2006/main">
            <a:r>
              <a:t/>
            </a:r>
          </a:p>
          <a:p xmlns:a="http://schemas.openxmlformats.org/drawingml/2006/main">
            <a:r>
              <a:t>Aquí comparamos la respuesta angular nominal y la recomendada ante cinco grados. La recomendada rebota menos y llega antes a su valor final. El sobrepaso baja de dieciséis punto treinta y nueve a cero punto ochenta y dos por ciento. El asentamiento baja de tres punto sesenta y cuatro a uno punto sesenta y dos segundos. El error final se mantiene bajo cinco por ciento. A cambio, la tobera pasa de alrededor de dos grados a cuatro punto cuarenta y nueve, cerca del límite de cinco. El acoplamiento hacia aceleración baja de ciento setenta y siete a treinta y uno por ciento y el inverso sube de veintiuno a veintiocho. Por eso describimos la elección como un compromiso entre criterios. El sobrepaso se mide respecto al valor final y el error final respecto al comando.</a:t>
            </a:r>
          </a:p>
          <a:p xmlns:a="http://schemas.openxmlformats.org/drawingml/2006/main">
            <a:r>
              <a:t/>
            </a:r>
          </a:p>
          <a:p xmlns:a="http://schemas.openxmlformats.org/drawingml/2006/main">
            <a:r>
              <a:t>Fuentes: Reporte_ES.pdf, pp. 10–11, cuadro VI. Gráfica: escalón u2 = 5°, u1 = 0. Excursión máxima de tobera: ambos escalones simultáneos, como en los criterios.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80 segundos</a:t>
            </a:r>
          </a:p>
          <a:p xmlns:a="http://schemas.openxmlformats.org/drawingml/2006/main">
            <a:r>
              <a:t/>
            </a:r>
          </a:p>
          <a:p xmlns:a="http://schemas.openxmlformats.org/drawingml/2006/main">
            <a:r>
              <a:t>Después verificamos si una computadora que corrige cada cero punto cero cinco segundos puede implementar esas ganancias. Eso equivale a veinte actualizaciones por segundo. Separamos la planta continua y el controlador, mantuvimos las órdenes con un retenedor de orden cero e incluimos un retardo de una muestra. El límite de estabilidad para el punto elegido es aproximadamente cero punto ciento trece cinco segundos con retardo. El cociente con el periodo elegido es dos punto veintisiete. Con T igual a cero punto uno la respuesta es más oscilatoria y tarda cerca de siete segundos en asentarse, pero sigue siendo estable. El resultado depende de este modelo de retardo. La gráfica muestra valores de la salida en los instantes de muestreo; la orden del actuador es la señal que se mantiene entre muestras.</a:t>
            </a:r>
          </a:p>
          <a:p xmlns:a="http://schemas.openxmlformats.org/drawingml/2006/main">
            <a:r>
              <a:t/>
            </a:r>
          </a:p>
          <a:p xmlns:a="http://schemas.openxmlformats.org/drawingml/2006/main">
            <a:r>
              <a:t>Fuentes: Reporte_ES.pdf, pp. 11–12, cuadro VII y figuras 16–18. Reconstrucción con planta ZOH y retardo de exactamente una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50 segundos</a:t>
            </a:r>
          </a:p>
          <a:p xmlns:a="http://schemas.openxmlformats.org/drawingml/2006/main">
            <a:r>
              <a:t/>
            </a:r>
          </a:p>
          <a:p xmlns:a="http://schemas.openxmlformats.org/drawingml/2006/main">
            <a:r>
              <a:t>La masa y la inercia cambian al consumir combustible, por lo que las matrices pasan a depender del tiempo. El reporte explora coeficientes congelados usando rho igual a masa inicial dividida entre masa actual. Bajo ese escalado, al llegar a la mitad de la masa el periodo máximo con retardo cae de aproximadamente cero punto ciento catorce a cero punto cero cincuenta y ocho segundos si dejamos las ganancias fijas. Dividir las ganancias por rho recupera aproximadamente cero punto ciento veintitrés. Es una propuesta bajo los supuestos de esa extensión. Los polos congelados no prueban la estabilidad de todo el vuelo y el balance físico de un vehículo que expulsa gases requiere una formulación específica.</a:t>
            </a:r>
          </a:p>
          <a:p xmlns:a="http://schemas.openxmlformats.org/drawingml/2006/main">
            <a:r>
              <a:t/>
            </a:r>
          </a:p>
          <a:p xmlns:a="http://schemas.openxmlformats.org/drawingml/2006/main">
            <a:r>
              <a:t>Fuentes: Reporte_ES.pdf, pp. 12–13, figura 20. Valores condicionados al escalado de coeficientes congelados del reporte. Balance de masa variable: NASA TN D-1838, sección III. https://ntrs.nasa.gov/api/citations/19630009857/downloads/19630009857.pdf?attachment=true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45 segundos</a:t>
            </a:r>
          </a:p>
          <a:p xmlns:a="http://schemas.openxmlformats.org/drawingml/2006/main">
            <a:r>
              <a:t/>
            </a:r>
          </a:p>
          <a:p xmlns:a="http://schemas.openxmlformats.org/drawingml/2006/main">
            <a:r>
              <a:t>Para incluir la orientación lateral añadimos el ángulo de guiñada psi, su velocidad r y la deflexión lateral zeta. Pasamos a siete estados, tres entradas y tres salidas. En la propuesta, la aceleración entra en el balance de giro lateral. Ese es el único enlace entre los bloques: empuje y cabeceo pueden perturbar la guiñada, mientras que el comando lateral no regresa al cabeceo dentro de estas ecuaciones. La matriz es triangular por bloques y sus autovalores se reúnen a partir de ambos bloques. Sigue siendo una extensión simplificada: no incluye alabeo ni toda la dinámica tridimensional.</a:t>
            </a:r>
          </a:p>
          <a:p xmlns:a="http://schemas.openxmlformats.org/drawingml/2006/main">
            <a:r>
              <a:t/>
            </a:r>
          </a:p>
          <a:p xmlns:a="http://schemas.openxmlformats.org/drawingml/2006/main">
            <a:r>
              <a:t>Fuentes: Reporte_ES.pdf, pp. 13–14, ecuaciones (8)–(9) y figura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45 segundos</a:t>
            </a:r>
          </a:p>
          <a:p xmlns:a="http://schemas.openxmlformats.org/drawingml/2006/main">
            <a:r>
              <a:t/>
            </a:r>
          </a:p>
          <a:p xmlns:a="http://schemas.openxmlformats.org/drawingml/2006/main">
            <a:r>
              <a:t>El hallazgo principal es que la aceleración y la orientación deben estudiarse juntas. La realimentación de dirección estabiliza el modelo, pero estabilidad no bastó para elegir el diseño. El punto recomendado mejora el sobrepaso y el asentamiento con una mayor excursión de tobera. También comprobamos que los estados pueden reconstruirse y que las fallas físicas cambian el alcance del control. Finalmente, el periodo de cero punto cero cinco segundos es estable bajo el modelo digital estudiado, con margen frente al límite calculado. Las conclusiones corresponden al modelo lineal, las amplitudes de prueba y los límites que adoptamos.</a:t>
            </a:r>
          </a:p>
          <a:p xmlns:a="http://schemas.openxmlformats.org/drawingml/2006/main">
            <a:r>
              <a:t/>
            </a:r>
          </a:p>
          <a:p xmlns:a="http://schemas.openxmlformats.org/drawingml/2006/main">
            <a:r>
              <a:t>Fuentes: Reporte_ES.pdf, pp. 13–14. Resumen de resultados verificados.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consulta, fuera del tiempo principal</a:t>
            </a:r>
          </a:p>
          <a:p xmlns:a="http://schemas.openxmlformats.org/drawingml/2006/main">
            <a:r>
              <a:t/>
            </a:r>
          </a:p>
          <a:p xmlns:a="http://schemas.openxmlformats.org/drawingml/2006/main">
            <a:r>
              <a:t>Diapositiva de consulta. La exposición principal termina en la diapositiva 19. Las diapositivas 21 a 23 sirven de apoyo para preguntas. Las tres figuras de las diapositivas 7 a 9 provienen de las salidas guardadas de las celdas 16, 17 y 18 del notebook, con las ganancias nominales K1 igual a 1 y K2 igual a 0,5. Los análisis restantes de ganancias, sensores y muestreo siguen el reporte y sus ecuaciones.</a:t>
            </a:r>
          </a:p>
          <a:p xmlns:a="http://schemas.openxmlformats.org/drawingml/2006/main">
            <a:r>
              <a:t/>
            </a:r>
          </a:p>
          <a:p xmlns:a="http://schemas.openxmlformats.org/drawingml/2006/main">
            <a:r>
              <a:t>Fuentes: Reporte_ES.pdf, p. 14. proyectoCohete.pdf, p. 7. TSII-PROJECT-NB.ipynb, celdas 11 y 15–18.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consulta, fuera del tiempo principal</a:t>
            </a:r>
          </a:p>
          <a:p xmlns:a="http://schemas.openxmlformats.org/drawingml/2006/main">
            <a:r>
              <a:t/>
            </a:r>
          </a:p>
          <a:p xmlns:a="http://schemas.openxmlformats.org/drawingml/2006/main">
            <a:r>
              <a:t>Usar si preguntan por las ecuaciones. La primera combina respuesta del motor, realimentación axial y acoplamiento gravitatorio. La segunda es la relación cinemática entre ángulo y velocidad angular. La tercera suma los efectos aerodinámicos, amortiguamiento, tobera y desalineación. La cuarta describe el servo con corrección de ángulo y velocidad. K1 y K2 ya están incorporadas en A y B. La convención de unidades y normalización de u1 debe quedar definida para interpretar físicamente el comando.</a:t>
            </a:r>
          </a:p>
          <a:p xmlns:a="http://schemas.openxmlformats.org/drawingml/2006/main">
            <a:r>
              <a:t/>
            </a:r>
          </a:p>
          <a:p xmlns:a="http://schemas.openxmlformats.org/drawingml/2006/main">
            <a:r>
              <a:t>Fuentes: Reporte_ES.pdf, p. 2, ecuaciones (1)–(4). proyectoCohete.pdf, pp.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consulta, fuera del tiempo principal</a:t>
            </a:r>
          </a:p>
          <a:p xmlns:a="http://schemas.openxmlformats.org/drawingml/2006/main">
            <a:r>
              <a:t/>
            </a:r>
          </a:p>
          <a:p xmlns:a="http://schemas.openxmlformats.org/drawingml/2006/main">
            <a:r>
              <a:t>Usar si preguntan cómo obtuvimos la matriz de transferencia o el polinomio en función de las ganancias. Definir alfa y beta permite escribir una forma compacta. El denominador P coincide con det(sI menos A). Cada función comparte ese polinomio antes de posibles cancelaciones. Las identidades se obtienen directamente de las ecuaciones nominales y C(sI menos A) inversa B. En el punto nominal, el denominador tiene los coeficientes mostrados y el sistema es de cuarto orden.</a:t>
            </a:r>
          </a:p>
          <a:p xmlns:a="http://schemas.openxmlformats.org/drawingml/2006/main">
            <a:r>
              <a:t/>
            </a:r>
          </a:p>
          <a:p xmlns:a="http://schemas.openxmlformats.org/drawingml/2006/main">
            <a:r>
              <a:t>Fuentes: Ecuaciones (1)–(4) de Reporte_ES.pdf, p. 2. Álgebra simbólica del modelo, con los parámetros nominales.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consulta, fuera del tiempo principal</a:t>
            </a:r>
          </a:p>
          <a:p xmlns:a="http://schemas.openxmlformats.org/drawingml/2006/main">
            <a:r>
              <a:t/>
            </a:r>
          </a:p>
          <a:p xmlns:a="http://schemas.openxmlformats.org/drawingml/2006/main">
            <a:r>
              <a:t>Esta diapositiva sirve de apoyo para comparar las respuestas angulares unitarias con u2 sola. Las figuras del notebook en la exposición principal muestran ambas salidas y las nueve configuraciones de prueba. Aplicamos tres señales para observar comportamientos distintos. El pulso dura cinco segundos y permite ver el encendido y apagado de una maniobra. La senoide muestra la respuesta a una orden periódica. El impulso excita la dinámica de manera breve y revela cómo decaen sus modos. Aquí mostramos la salida angular cuando actúa únicamente u2; el reporte contiene nueve combinaciones de prueba considerando las dos entradas y ambas salidas. Son excitaciones unitarias del modelo lineal. Una entrada angular unitaria equivale a un radián, por lo que estas curvas sirven para analizar el modelo y no para afirmar que mantiene validez física a cualquier inclinación. Después usamos una orden de cinco grados para seleccionar ganancias.</a:t>
            </a:r>
          </a:p>
          <a:p xmlns:a="http://schemas.openxmlformats.org/drawingml/2006/main">
            <a:r>
              <a:t/>
            </a:r>
          </a:p>
          <a:p xmlns:a="http://schemas.openxmlformats.org/drawingml/2006/main">
            <a:r>
              <a:t>Fuentes: Reporte_ES.pdf, pp. 5–6, figuras 6–8. Curvas reconstruidas de las ecuaciones (1)–(4), estado inicial nulo.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ab3b1f715942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7761376f4246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6e4ab31a8b45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076023ad0b45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65dc7ab7ce40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59133e08474c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89D0B1-300F-461C-AB29-5DB42EC4E5A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A2952F-0F1E-40AC-96BC-DDA44AEACC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5A7AD5-CF0C-4518-984E-EBD57927C6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E6CE22-74DC-46D2-84FB-8E3F583EA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355402D-998E-4AC2-97DB-AB5ACF4110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00A23D-01A5-4A6A-92E7-DBFF4F63E8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005236-AF64-4515-A3A9-F3A7610C92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C460EC9-A2F6-4B21-A353-5954C48008D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4B37CB-4254-4344-BADF-B6ECCE9192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2BD6D8-1237-45C3-9B93-40B5608F19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66c3c713084bbe" /><Relationship Type="http://schemas.openxmlformats.org/officeDocument/2006/relationships/slideLayout" Target="/ppt/slideLayouts/slideLayout1.xml" Id="R32c762c5058d4f61" /><Relationship Type="http://schemas.openxmlformats.org/officeDocument/2006/relationships/slideLayout" Target="/ppt/slideLayouts/slideLayout2.xml" Id="R84eaa7450a0e4b43" /><Relationship Type="http://schemas.openxmlformats.org/officeDocument/2006/relationships/slideLayout" Target="/ppt/slideLayouts/slideLayout3.xml" Id="R37f48b49e65c4f7a" /><Relationship Type="http://schemas.openxmlformats.org/officeDocument/2006/relationships/slideLayout" Target="/ppt/slideLayouts/slideLayout4.xml" Id="Rb1646b274b1b4fc8" /><Relationship Type="http://schemas.openxmlformats.org/officeDocument/2006/relationships/slideLayout" Target="/ppt/slideLayouts/slideLayout5.xml" Id="Rc320f01c66734f1d" /><Relationship Type="http://schemas.openxmlformats.org/officeDocument/2006/relationships/slideLayout" Target="/ppt/slideLayouts/slideLayout6.xml" Id="R1d1193e4f5b740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c762c5058d4f61"/>
    <p:sldLayoutId xmlns:r="http://schemas.openxmlformats.org/officeDocument/2006/relationships" id="2147483650" r:id="R84eaa7450a0e4b43"/>
    <p:sldLayoutId xmlns:r="http://schemas.openxmlformats.org/officeDocument/2006/relationships" id="2147483651" r:id="R37f48b49e65c4f7a"/>
    <p:sldLayoutId xmlns:r="http://schemas.openxmlformats.org/officeDocument/2006/relationships" id="2147483652" r:id="Rb1646b274b1b4fc8"/>
    <p:sldLayoutId xmlns:r="http://schemas.openxmlformats.org/officeDocument/2006/relationships" id="2147483653" r:id="Rc320f01c66734f1d"/>
    <p:sldLayoutId xmlns:r="http://schemas.openxmlformats.org/officeDocument/2006/relationships" id="2147483654" r:id="R1d1193e4f5b740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736d6dbf6c24143" /><Relationship Type="http://schemas.openxmlformats.org/officeDocument/2006/relationships/image" Target="/ppt/media/image.jpeg" Id="Rf87b4d6dd2eb492c" /><Relationship Type="http://schemas.openxmlformats.org/officeDocument/2006/relationships/notesSlide" Target="/ppt/notesSlides/notesSlide1.xml" Id="Rd222f540ede24e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7f85cf75e5449a" /><Relationship Type="http://schemas.openxmlformats.org/officeDocument/2006/relationships/image" Target="/ppt/media/image.png" Id="R3766b25d0a7b4b0f" /><Relationship Type="http://schemas.openxmlformats.org/officeDocument/2006/relationships/notesSlide" Target="/ppt/notesSlides/notesSlide2.xml" Id="R50d5171aac7345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fe74c0f33f416f" /><Relationship Type="http://schemas.openxmlformats.org/officeDocument/2006/relationships/notesSlide" Target="/ppt/notesSlides/notesSlide3.xml" Id="Re1074887ff9e4d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93b55acb5144e3" /><Relationship Type="http://schemas.openxmlformats.org/officeDocument/2006/relationships/notesSlide" Target="/ppt/notesSlides/notesSlide4.xml" Id="R524cfd0cd4a541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9cfc330bd374343" /><Relationship Type="http://schemas.openxmlformats.org/officeDocument/2006/relationships/image" Target="/ppt/media/image2.png" Id="R440bd43da4f24fa3" /><Relationship Type="http://schemas.openxmlformats.org/officeDocument/2006/relationships/notesSlide" Target="/ppt/notesSlides/notesSlide5.xml" Id="R69b15dc7e1544c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54f10676f434f6d" /><Relationship Type="http://schemas.openxmlformats.org/officeDocument/2006/relationships/chart" Target="/ppt/slides/charts/chart1.xml" Id="R313bb93ab1574783" /><Relationship Type="http://schemas.openxmlformats.org/officeDocument/2006/relationships/notesSlide" Target="/ppt/notesSlides/notesSlide6.xml" Id="R29e070baadb74a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ffcc6c45e54e80" /><Relationship Type="http://schemas.openxmlformats.org/officeDocument/2006/relationships/image" Target="/ppt/media/image3.png" Id="R48dd615c29574d38" /><Relationship Type="http://schemas.openxmlformats.org/officeDocument/2006/relationships/notesSlide" Target="/ppt/notesSlides/notesSlide7.xml" Id="R21f9469a4ced42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6b5b915c5e641f5" /><Relationship Type="http://schemas.openxmlformats.org/officeDocument/2006/relationships/image" Target="/ppt/media/image4.png" Id="R2452d10657494f9d" /><Relationship Type="http://schemas.openxmlformats.org/officeDocument/2006/relationships/notesSlide" Target="/ppt/notesSlides/notesSlide8.xml" Id="Re3ee8d1837324b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d14ea91264f4725" /><Relationship Type="http://schemas.openxmlformats.org/officeDocument/2006/relationships/image" Target="/ppt/media/image5.png" Id="Rbf6f6709c40a44cc" /><Relationship Type="http://schemas.openxmlformats.org/officeDocument/2006/relationships/notesSlide" Target="/ppt/notesSlides/notesSlide9.xml" Id="R65d66827f98347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e191a5ef684583" /><Relationship Type="http://schemas.openxmlformats.org/officeDocument/2006/relationships/chart" Target="/ppt/slides/charts/chart2.xml" Id="R159efb7386bb4dd7" /><Relationship Type="http://schemas.openxmlformats.org/officeDocument/2006/relationships/notesSlide" Target="/ppt/notesSlides/notesSlide10.xml" Id="R7e57b117e0904a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ce8ad55aff04cda" /><Relationship Type="http://schemas.openxmlformats.org/officeDocument/2006/relationships/chart" Target="/ppt/slides/charts/chart3.xml" Id="R603ccb91d9f04c0d" /><Relationship Type="http://schemas.openxmlformats.org/officeDocument/2006/relationships/notesSlide" Target="/ppt/notesSlides/notesSlide11.xml" Id="Ra2c9617e26fa48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b9b68ef1e98417c" /><Relationship Type="http://schemas.openxmlformats.org/officeDocument/2006/relationships/notesSlide" Target="/ppt/notesSlides/notesSlide12.xml" Id="R1b92857f72254b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4135ce649244243" /><Relationship Type="http://schemas.openxmlformats.org/officeDocument/2006/relationships/notesSlide" Target="/ppt/notesSlides/notesSlide13.xml" Id="R10e42f00990c4c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6fe6b462fa947d4" /><Relationship Type="http://schemas.openxmlformats.org/officeDocument/2006/relationships/chart" Target="/ppt/slides/charts/chart4.xml" Id="Rd1c6b57387d144f7" /><Relationship Type="http://schemas.openxmlformats.org/officeDocument/2006/relationships/notesSlide" Target="/ppt/notesSlides/notesSlide14.xml" Id="Ra000d26d60054ef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e62f8c9127e4b5c" /><Relationship Type="http://schemas.openxmlformats.org/officeDocument/2006/relationships/chart" Target="/ppt/slides/charts/chart5.xml" Id="Ra51d459b35004d83" /><Relationship Type="http://schemas.openxmlformats.org/officeDocument/2006/relationships/notesSlide" Target="/ppt/notesSlides/notesSlide15.xml" Id="R8af25daa6b304b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60ab895b08c4f43" /><Relationship Type="http://schemas.openxmlformats.org/officeDocument/2006/relationships/chart" Target="/ppt/slides/charts/chart6.xml" Id="Rc08e0398d6e24438" /><Relationship Type="http://schemas.openxmlformats.org/officeDocument/2006/relationships/notesSlide" Target="/ppt/notesSlides/notesSlide16.xml" Id="Re85a46caa6f043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4dea3f903a64005" /><Relationship Type="http://schemas.openxmlformats.org/officeDocument/2006/relationships/chart" Target="/ppt/slides/charts/chart7.xml" Id="R29b59b332c7b4a6d" /><Relationship Type="http://schemas.openxmlformats.org/officeDocument/2006/relationships/notesSlide" Target="/ppt/notesSlides/notesSlide17.xml" Id="Re7c0996142584d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b5a4d2d84f94196" /><Relationship Type="http://schemas.openxmlformats.org/officeDocument/2006/relationships/image" Target="/ppt/media/image6.png" Id="R2e7395fc7e4a4236" /><Relationship Type="http://schemas.openxmlformats.org/officeDocument/2006/relationships/notesSlide" Target="/ppt/notesSlides/notesSlide18.xml" Id="R2545a257eda743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57bbae23e4b4097" /><Relationship Type="http://schemas.openxmlformats.org/officeDocument/2006/relationships/notesSlide" Target="/ppt/notesSlides/notesSlide19.xml" Id="Rea46e57a7ea6485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5e54beb24354e0b" /><Relationship Type="http://schemas.openxmlformats.org/officeDocument/2006/relationships/notesSlide" Target="/ppt/notesSlides/notesSlide20.xml" Id="R96173d51ca634cd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5a55d71395248bf" /><Relationship Type="http://schemas.openxmlformats.org/officeDocument/2006/relationships/notesSlide" Target="/ppt/notesSlides/notesSlide21.xml" Id="Re1c686429da4408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51a08c8ff394daa" /><Relationship Type="http://schemas.openxmlformats.org/officeDocument/2006/relationships/notesSlide" Target="/ppt/notesSlides/notesSlide22.xml" Id="Rd119f671fdee4c2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92c3027bde7423c" /><Relationship Type="http://schemas.openxmlformats.org/officeDocument/2006/relationships/chart" Target="/ppt/slides/charts/chart8.xml" Id="Rf3242c2b7ef34db3" /><Relationship Type="http://schemas.openxmlformats.org/officeDocument/2006/relationships/chart" Target="/ppt/slides/charts/chart9.xml" Id="Rf3c82bede0814332" /><Relationship Type="http://schemas.openxmlformats.org/officeDocument/2006/relationships/chart" Target="/ppt/slides/charts/chart10.xml" Id="Rf90f0679e0ef4455" /><Relationship Type="http://schemas.openxmlformats.org/officeDocument/2006/relationships/notesSlide" Target="/ppt/notesSlides/notesSlide23.xml" Id="R84a0c7f3e15d438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3283C"/>
                </a:solidFill>
                <a:latin typeface="Arial"/>
                <a:ea typeface="Arial"/>
                <a:cs typeface="Arial"/>
              </a:rPr>
              <a:t>Polos del caso nominal</a:t>
            </a:r>
          </a:p>
        </c:rich>
      </c:tx>
      <c:overlay val="0"/>
      <c:txPr>
        <a:bodyPr xmlns:a="http://schemas.openxmlformats.org/drawingml/2006/main" anchorCtr="1"/>
        <a:lstStyle xmlns:a="http://schemas.openxmlformats.org/drawingml/2006/main"/>
        <a:p xmlns:a="http://schemas.openxmlformats.org/drawingml/2006/main">
          <a:pPr>
            <a:defRPr sz="1875" b="1">
              <a:solidFill>
                <a:srgbClr val="13283C"/>
              </a:solidFill>
              <a:latin typeface="Arial"/>
              <a:ea typeface="Arial"/>
              <a:cs typeface="Arial"/>
            </a:defRPr>
          </a:pPr>
        </a:p>
      </c:txPr>
    </c:title>
    <c:plotArea>
      <c:scatterChart>
        <c:scatterStyle val="marker"/>
        <c:varyColors val="0"/>
        <c:ser>
          <c:idx val="0"/>
          <c:order val="0"/>
          <c:tx>
            <c:v>Polos del caso nominal</c:v>
          </c:tx>
          <c:spPr>
            <a:solidFill xmlns:a="http://schemas.openxmlformats.org/drawingml/2006/main">
              <a:srgbClr val="087E8B"/>
            </a:solidFill>
            <a:ln xmlns:a="http://schemas.openxmlformats.org/drawingml/2006/main" w="0">
              <a:noFill/>
            </a:ln>
          </c:spPr>
          <c:marker>
            <c:symbol val="x"/>
            <c:size val="14"/>
            <c:spPr>
              <a:solidFill xmlns:a="http://schemas.openxmlformats.org/drawingml/2006/main">
                <a:srgbClr val="087E8B"/>
              </a:solidFill>
            </c:spPr>
          </c:marker>
          <c:xVal>
            <c:numRef>
              <c:f>'Chart Data'!$A$2:$A$5</c:f>
              <c:numCache>
                <c:formatCode>General</c:formatCode>
                <c:ptCount val="4"/>
                <c:pt idx="0">
                  <c:v>-17.26389565</c:v>
                </c:pt>
                <c:pt idx="1">
                  <c:v>-2.091927371</c:v>
                </c:pt>
                <c:pt idx="2">
                  <c:v>-1.065639288</c:v>
                </c:pt>
                <c:pt idx="3">
                  <c:v>-1.065639288</c:v>
                </c:pt>
              </c:numCache>
            </c:numRef>
          </c:xVal>
          <c:yVal>
            <c:numRef>
              <c:f>'Chart Data'!$B$2:$B$5</c:f>
              <c:numCache>
                <c:formatCode>0.0</c:formatCode>
                <c:ptCount val="4"/>
                <c:pt idx="0">
                  <c:v>0</c:v>
                </c:pt>
                <c:pt idx="1">
                  <c:v>0</c:v>
                </c:pt>
                <c:pt idx="2">
                  <c:v>1.198734201</c:v>
                </c:pt>
                <c:pt idx="3">
                  <c:v>-1.198734201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2"/>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Parte imaginaria (s⁻¹)</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0"/>
        <c:majorTickMark val="none"/>
        <c:minorTickMark val="none"/>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50112"/>
        <c:crossesAt val="0"/>
        <c:majorUnit val="1"/>
      </c:valAx>
      <c:valAx>
        <c:axId val="48650112"/>
        <c:scaling>
          <c:orientation val="minMax"/>
          <c:max val="1"/>
          <c:min val="-20"/>
        </c:scaling>
        <c:delete val="0"/>
        <c:axPos val="b"/>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Parte real (s⁻¹)</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
        <c:majorTickMark val="none"/>
        <c:minorTickMark val="none"/>
        <c:tickLblPos val="low"/>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72768"/>
        <c:crossesAt val="0"/>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3283C"/>
                </a:solidFill>
                <a:latin typeface="Arial"/>
                <a:ea typeface="Arial"/>
                <a:cs typeface="Arial"/>
              </a:rPr>
              <a:t>Acoplamiento con escalones de prueba</a:t>
            </a:r>
          </a:p>
        </c:rich>
      </c:tx>
      <c:overlay val="0"/>
      <c:txPr>
        <a:bodyPr xmlns:a="http://schemas.openxmlformats.org/drawingml/2006/main" anchorCtr="1"/>
        <a:lstStyle xmlns:a="http://schemas.openxmlformats.org/drawingml/2006/main"/>
        <a:p xmlns:a="http://schemas.openxmlformats.org/drawingml/2006/main">
          <a:pPr>
            <a:defRPr sz="1875" b="1">
              <a:solidFill>
                <a:srgbClr val="13283C"/>
              </a:solidFill>
              <a:latin typeface="Arial"/>
              <a:ea typeface="Arial"/>
              <a:cs typeface="Arial"/>
            </a:defRPr>
          </a:pPr>
        </a:p>
      </c:txPr>
    </c:title>
    <c:plotArea>
      <c:barChart>
        <c:barDir val="col"/>
        <c:grouping val="clustered"/>
        <c:varyColors val="0"/>
        <c:ser>
          <c:idx val="0"/>
          <c:order val="0"/>
          <c:tx>
            <c:v>Acoplamiento nominal</c:v>
          </c:tx>
          <c:spPr>
            <a:solidFill xmlns:a="http://schemas.openxmlformats.org/drawingml/2006/main">
              <a:srgbClr val="087E8B"/>
            </a:solidFill>
          </c:spPr>
          <c:invertIfNegative val="0"/>
          <c:cat>
            <c:strRef>
              <c:f>'Chart Data'!$A$2:$A$3</c:f>
              <c:strCache>
                <c:ptCount val="2"/>
                <c:pt idx="0">
                  <c:v>Dirección sobre aceleración</c:v>
                </c:pt>
                <c:pt idx="1">
                  <c:v>Empuje sobre cabeceo</c:v>
                </c:pt>
              </c:strCache>
            </c:strRef>
          </c:cat>
          <c:val>
            <c:numRef>
              <c:f>'Chart Data'!$B$2:$B$3</c:f>
              <c:numCache>
                <c:formatCode>0%</c:formatCode>
                <c:ptCount val="2"/>
                <c:pt idx="0">
                  <c:v>1.769006605</c:v>
                </c:pt>
                <c:pt idx="1">
                  <c:v>0.2062045712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75" b="1">
                  <a:solidFill>
                    <a:srgbClr val="13283C"/>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72768"/>
      </c:catAx>
      <c:valAx>
        <c:axId val="48672768"/>
        <c:scaling>
          <c:orientation val="minMax"/>
          <c:max val="2"/>
          <c:min val="0"/>
        </c:scaling>
        <c:delete val="0"/>
        <c:axPos val="l"/>
        <c:majorGridlines>
          <c:spPr>
            <a:ln xmlns:a="http://schemas.openxmlformats.org/drawingml/2006/main" w="9525">
              <a:solidFill>
                <a:srgbClr val="DFE6EB"/>
              </a:solidFill>
            </a:ln>
          </c:spPr>
        </c:majorGridlines>
        <c:title>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3283C"/>
                </a:solidFill>
                <a:latin typeface="Arial"/>
                <a:ea typeface="Arial"/>
                <a:cs typeface="Arial"/>
              </a:rPr>
              <a:t>Canales principales, ganancia normalizada</a:t>
            </a:r>
          </a:p>
        </c:rich>
      </c:tx>
      <c:overlay val="0"/>
      <c:txPr>
        <a:bodyPr xmlns:a="http://schemas.openxmlformats.org/drawingml/2006/main" anchorCtr="1"/>
        <a:lstStyle xmlns:a="http://schemas.openxmlformats.org/drawingml/2006/main"/>
        <a:p xmlns:a="http://schemas.openxmlformats.org/drawingml/2006/main">
          <a:pPr>
            <a:defRPr sz="1875" b="1">
              <a:solidFill>
                <a:srgbClr val="13283C"/>
              </a:solidFill>
              <a:latin typeface="Arial"/>
              <a:ea typeface="Arial"/>
              <a:cs typeface="Arial"/>
            </a:defRPr>
          </a:pPr>
        </a:p>
      </c:txPr>
    </c:title>
    <c:plotArea>
      <c:scatterChart>
        <c:scatterStyle val="line"/>
        <c:varyColors val="0"/>
        <c:ser>
          <c:idx val="0"/>
          <c:order val="0"/>
          <c:tx>
            <c:v>G₁₁, aceleración</c:v>
          </c:tx>
          <c:spPr>
            <a:solidFill xmlns:a="http://schemas.openxmlformats.org/drawingml/2006/main">
              <a:srgbClr val="087E8B"/>
            </a:solidFill>
            <a:ln xmlns:a="http://schemas.openxmlformats.org/drawingml/2006/main" w="28575">
              <a:solidFill>
                <a:srgbClr val="087E8B"/>
              </a:solidFill>
              <a:prstDash val="solid"/>
            </a:ln>
          </c:spPr>
          <c:marker>
            <c:symbol val="none"/>
          </c:marker>
          <c:xVal>
            <c:numRef>
              <c:f>'Chart Data'!$A$2:$A$162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Data'!$B$2:$B$162</c:f>
              <c:numCache>
                <c:formatCode>0.0</c:formatCode>
                <c:ptCount val="161"/>
                <c:pt idx="0">
                  <c:v>0</c:v>
                </c:pt>
                <c:pt idx="1">
                  <c:v>0.0006393235313</c:v>
                </c:pt>
                <c:pt idx="2">
                  <c:v>0.002537612817</c:v>
                </c:pt>
                <c:pt idx="3">
                  <c:v>0.005635082939</c:v>
                </c:pt>
                <c:pt idx="4">
                  <c:v>0.009829658513</c:v>
                </c:pt>
                <c:pt idx="5">
                  <c:v>0.01497345117</c:v>
                </c:pt>
                <c:pt idx="6">
                  <c:v>0.02086809102</c:v>
                </c:pt>
                <c:pt idx="7">
                  <c:v>0.02725918922</c:v>
                </c:pt>
                <c:pt idx="8">
                  <c:v>0.03383030522</c:v>
                </c:pt>
                <c:pt idx="9">
                  <c:v>0.0401968975</c:v>
                </c:pt>
                <c:pt idx="10">
                  <c:v>0.04590084549</c:v>
                </c:pt>
                <c:pt idx="11">
                  <c:v>0.05040623596</c:v>
                </c:pt>
                <c:pt idx="12">
                  <c:v>0.05309719617</c:v>
                </c:pt>
                <c:pt idx="13">
                  <c:v>0.05327861137</c:v>
                </c:pt>
                <c:pt idx="14">
                  <c:v>0.05018056319</c:v>
                </c:pt>
                <c:pt idx="15">
                  <c:v>0.04296724493</c:v>
                </c:pt>
                <c:pt idx="16">
                  <c:v>0.03075092576</c:v>
                </c:pt>
                <c:pt idx="17">
                  <c:v>0.01261123387</c:v>
                </c:pt>
                <c:pt idx="18">
                  <c:v>-0.01238039321</c:v>
                </c:pt>
                <c:pt idx="19">
                  <c:v>-0.04513176401</c:v>
                </c:pt>
                <c:pt idx="20">
                  <c:v>-0.08649774083</c:v>
                </c:pt>
                <c:pt idx="21">
                  <c:v>-0.1372465999</c:v>
                </c:pt>
                <c:pt idx="22">
                  <c:v>-0.198027185</c:v>
                </c:pt>
                <c:pt idx="23">
                  <c:v>-0.2693393321</c:v>
                </c:pt>
                <c:pt idx="24">
                  <c:v>-0.3515099943</c:v>
                </c:pt>
                <c:pt idx="25">
                  <c:v>-0.4446771392</c:v>
                </c:pt>
                <c:pt idx="26">
                  <c:v>-0.5487828379</c:v>
                </c:pt>
                <c:pt idx="27">
                  <c:v>-0.6635761115</c:v>
                </c:pt>
                <c:pt idx="28">
                  <c:v>-0.7886251631</c:v>
                </c:pt>
                <c:pt idx="29">
                  <c:v>-0.9233377615</c:v>
                </c:pt>
                <c:pt idx="30">
                  <c:v>-1.066987868</c:v>
                </c:pt>
                <c:pt idx="31">
                  <c:v>-1.218746207</c:v>
                </c:pt>
                <c:pt idx="32">
                  <c:v>-1.377712405</c:v>
                </c:pt>
                <c:pt idx="33">
                  <c:v>-1.542946489</c:v>
                </c:pt>
                <c:pt idx="34">
                  <c:v>-1.713497973</c:v>
                </c:pt>
                <c:pt idx="35">
                  <c:v>-1.888431204</c:v>
                </c:pt>
                <c:pt idx="36">
                  <c:v>-2.066846239</c:v>
                </c:pt>
                <c:pt idx="37">
                  <c:v>-2.247894951</c:v>
                </c:pt>
                <c:pt idx="38">
                  <c:v>-2.430792494</c:v>
                </c:pt>
                <c:pt idx="39">
                  <c:v>-2.614824525</c:v>
                </c:pt>
                <c:pt idx="40">
                  <c:v>-2.799350761</c:v>
                </c:pt>
                <c:pt idx="41">
                  <c:v>-2.983805526</c:v>
                </c:pt>
                <c:pt idx="42">
                  <c:v>-3.167695962</c:v>
                </c:pt>
                <c:pt idx="43">
                  <c:v>-3.350598521</c:v>
                </c:pt>
                <c:pt idx="44">
                  <c:v>-3.532154287</c:v>
                </c:pt>
                <c:pt idx="45">
                  <c:v>-3.712063586</c:v>
                </c:pt>
                <c:pt idx="46">
                  <c:v>-3.890080253</c:v>
                </c:pt>
                <c:pt idx="47">
                  <c:v>-4.066005841</c:v>
                </c:pt>
                <c:pt idx="48">
                  <c:v>-4.239683973</c:v>
                </c:pt>
                <c:pt idx="49">
                  <c:v>-4.410994982</c:v>
                </c:pt>
                <c:pt idx="50">
                  <c:v>-4.579850927</c:v>
                </c:pt>
                <c:pt idx="51">
                  <c:v>-4.746191046</c:v>
                </c:pt>
                <c:pt idx="52">
                  <c:v>-4.90997765</c:v>
                </c:pt>
                <c:pt idx="53">
                  <c:v>-5.071192467</c:v>
                </c:pt>
                <c:pt idx="54">
                  <c:v>-5.229833423</c:v>
                </c:pt>
                <c:pt idx="55">
                  <c:v>-5.385911816</c:v>
                </c:pt>
                <c:pt idx="56">
                  <c:v>-5.539449877</c:v>
                </c:pt>
                <c:pt idx="57">
                  <c:v>-5.690478659</c:v>
                </c:pt>
                <c:pt idx="58">
                  <c:v>-5.839036234</c:v>
                </c:pt>
                <c:pt idx="59">
                  <c:v>-5.985166155</c:v>
                </c:pt>
                <c:pt idx="60">
                  <c:v>-6.128916161</c:v>
                </c:pt>
                <c:pt idx="61">
                  <c:v>-6.270337081</c:v>
                </c:pt>
                <c:pt idx="62">
                  <c:v>-6.40948192</c:v>
                </c:pt>
                <c:pt idx="63">
                  <c:v>-6.546405102</c:v>
                </c:pt>
                <c:pt idx="64">
                  <c:v>-6.681161838</c:v>
                </c:pt>
                <c:pt idx="65">
                  <c:v>-6.813807614</c:v>
                </c:pt>
                <c:pt idx="66">
                  <c:v>-6.944397773</c:v>
                </c:pt>
                <c:pt idx="67">
                  <c:v>-7.072987179</c:v>
                </c:pt>
                <c:pt idx="68">
                  <c:v>-7.199629945</c:v>
                </c:pt>
                <c:pt idx="69">
                  <c:v>-7.324379223</c:v>
                </c:pt>
                <c:pt idx="70">
                  <c:v>-7.447287046</c:v>
                </c:pt>
                <c:pt idx="71">
                  <c:v>-7.5684042</c:v>
                </c:pt>
                <c:pt idx="72">
                  <c:v>-7.687780141</c:v>
                </c:pt>
                <c:pt idx="73">
                  <c:v>-7.805462927</c:v>
                </c:pt>
                <c:pt idx="74">
                  <c:v>-7.921499188</c:v>
                </c:pt>
                <c:pt idx="75">
                  <c:v>-8.035934096</c:v>
                </c:pt>
                <c:pt idx="76">
                  <c:v>-8.148811371</c:v>
                </c:pt>
                <c:pt idx="77">
                  <c:v>-8.260173279</c:v>
                </c:pt>
                <c:pt idx="78">
                  <c:v>-8.370060654</c:v>
                </c:pt>
                <c:pt idx="79">
                  <c:v>-8.478512921</c:v>
                </c:pt>
                <c:pt idx="80">
                  <c:v>-8.585568124</c:v>
                </c:pt>
                <c:pt idx="81">
                  <c:v>-8.691262965</c:v>
                </c:pt>
                <c:pt idx="82">
                  <c:v>-8.795632838</c:v>
                </c:pt>
                <c:pt idx="83">
                  <c:v>-8.89871187</c:v>
                </c:pt>
                <c:pt idx="84">
                  <c:v>-9.000532964</c:v>
                </c:pt>
                <c:pt idx="85">
                  <c:v>-9.10112784</c:v>
                </c:pt>
                <c:pt idx="86">
                  <c:v>-9.200527079</c:v>
                </c:pt>
                <c:pt idx="87">
                  <c:v>-9.298760163</c:v>
                </c:pt>
                <c:pt idx="88">
                  <c:v>-9.39585552</c:v>
                </c:pt>
                <c:pt idx="89">
                  <c:v>-9.491840566</c:v>
                </c:pt>
                <c:pt idx="90">
                  <c:v>-9.586741741</c:v>
                </c:pt>
                <c:pt idx="91">
                  <c:v>-9.680584556</c:v>
                </c:pt>
                <c:pt idx="92">
                  <c:v>-9.773393623</c:v>
                </c:pt>
                <c:pt idx="93">
                  <c:v>-9.865192699</c:v>
                </c:pt>
                <c:pt idx="94">
                  <c:v>-9.956004717</c:v>
                </c:pt>
                <c:pt idx="95">
                  <c:v>-10.04585183</c:v>
                </c:pt>
                <c:pt idx="96">
                  <c:v>-10.13475542</c:v>
                </c:pt>
                <c:pt idx="97">
                  <c:v>-10.22273616</c:v>
                </c:pt>
                <c:pt idx="98">
                  <c:v>-10.30981404</c:v>
                </c:pt>
                <c:pt idx="99">
                  <c:v>-10.39600836</c:v>
                </c:pt>
                <c:pt idx="100">
                  <c:v>-10.48133781</c:v>
                </c:pt>
                <c:pt idx="101">
                  <c:v>-10.56582047</c:v>
                </c:pt>
                <c:pt idx="102">
                  <c:v>-10.64947381</c:v>
                </c:pt>
                <c:pt idx="103">
                  <c:v>-10.73231478</c:v>
                </c:pt>
                <c:pt idx="104">
                  <c:v>-10.81435978</c:v>
                </c:pt>
                <c:pt idx="105">
                  <c:v>-10.89562468</c:v>
                </c:pt>
                <c:pt idx="106">
                  <c:v>-10.97612488</c:v>
                </c:pt>
                <c:pt idx="107">
                  <c:v>-11.0558753</c:v>
                </c:pt>
                <c:pt idx="108">
                  <c:v>-11.13489041</c:v>
                </c:pt>
                <c:pt idx="109">
                  <c:v>-11.21318424</c:v>
                </c:pt>
                <c:pt idx="110">
                  <c:v>-11.29077042</c:v>
                </c:pt>
                <c:pt idx="111">
                  <c:v>-11.36766215</c:v>
                </c:pt>
                <c:pt idx="112">
                  <c:v>-11.44387227</c:v>
                </c:pt>
                <c:pt idx="113">
                  <c:v>-11.51941325</c:v>
                </c:pt>
                <c:pt idx="114">
                  <c:v>-11.59429718</c:v>
                </c:pt>
                <c:pt idx="115">
                  <c:v>-11.66853584</c:v>
                </c:pt>
                <c:pt idx="116">
                  <c:v>-11.74214067</c:v>
                </c:pt>
                <c:pt idx="117">
                  <c:v>-11.81512278</c:v>
                </c:pt>
                <c:pt idx="118">
                  <c:v>-11.88749299</c:v>
                </c:pt>
                <c:pt idx="119">
                  <c:v>-11.95926184</c:v>
                </c:pt>
                <c:pt idx="120">
                  <c:v>-12.03043956</c:v>
                </c:pt>
                <c:pt idx="121">
                  <c:v>-12.10103612</c:v>
                </c:pt>
                <c:pt idx="122">
                  <c:v>-12.17106123</c:v>
                </c:pt>
                <c:pt idx="123">
                  <c:v>-12.24052435</c:v>
                </c:pt>
                <c:pt idx="124">
                  <c:v>-12.3094347</c:v>
                </c:pt>
                <c:pt idx="125">
                  <c:v>-12.37780125</c:v>
                </c:pt>
                <c:pt idx="126">
                  <c:v>-12.44563276</c:v>
                </c:pt>
                <c:pt idx="127">
                  <c:v>-12.51293775</c:v>
                </c:pt>
                <c:pt idx="128">
                  <c:v>-12.57972456</c:v>
                </c:pt>
                <c:pt idx="129">
                  <c:v>-12.64600129</c:v>
                </c:pt>
                <c:pt idx="130">
                  <c:v>-12.71177587</c:v>
                </c:pt>
                <c:pt idx="131">
                  <c:v>-12.77705604</c:v>
                </c:pt>
                <c:pt idx="132">
                  <c:v>-12.84184933</c:v>
                </c:pt>
                <c:pt idx="133">
                  <c:v>-12.90616312</c:v>
                </c:pt>
                <c:pt idx="134">
                  <c:v>-12.97000459</c:v>
                </c:pt>
                <c:pt idx="135">
                  <c:v>-13.03338078</c:v>
                </c:pt>
                <c:pt idx="136">
                  <c:v>-13.09629856</c:v>
                </c:pt>
                <c:pt idx="137">
                  <c:v>-13.15876464</c:v>
                </c:pt>
                <c:pt idx="138">
                  <c:v>-13.22078556</c:v>
                </c:pt>
                <c:pt idx="139">
                  <c:v>-13.28236776</c:v>
                </c:pt>
                <c:pt idx="140">
                  <c:v>-13.34351749</c:v>
                </c:pt>
                <c:pt idx="141">
                  <c:v>-13.40424089</c:v>
                </c:pt>
                <c:pt idx="142">
                  <c:v>-13.46454395</c:v>
                </c:pt>
                <c:pt idx="143">
                  <c:v>-13.52443255</c:v>
                </c:pt>
                <c:pt idx="144">
                  <c:v>-13.58391243</c:v>
                </c:pt>
                <c:pt idx="145">
                  <c:v>-13.6429892</c:v>
                </c:pt>
                <c:pt idx="146">
                  <c:v>-13.70166837</c:v>
                </c:pt>
                <c:pt idx="147">
                  <c:v>-13.75995532</c:v>
                </c:pt>
                <c:pt idx="148">
                  <c:v>-13.81785533</c:v>
                </c:pt>
                <c:pt idx="149">
                  <c:v>-13.87537357</c:v>
                </c:pt>
                <c:pt idx="150">
                  <c:v>-13.93251509</c:v>
                </c:pt>
                <c:pt idx="151">
                  <c:v>-13.98928485</c:v>
                </c:pt>
                <c:pt idx="152">
                  <c:v>-14.04568772</c:v>
                </c:pt>
                <c:pt idx="153">
                  <c:v>-14.10172844</c:v>
                </c:pt>
                <c:pt idx="154">
                  <c:v>-14.15741169</c:v>
                </c:pt>
                <c:pt idx="155">
                  <c:v>-14.21274203</c:v>
                </c:pt>
                <c:pt idx="156">
                  <c:v>-14.26772397</c:v>
                </c:pt>
                <c:pt idx="157">
                  <c:v>-14.32236189</c:v>
                </c:pt>
                <c:pt idx="158">
                  <c:v>-14.3766601</c:v>
                </c:pt>
                <c:pt idx="159">
                  <c:v>-14.43062285</c:v>
                </c:pt>
                <c:pt idx="160">
                  <c:v>-14.48425427</c:v>
                </c:pt>
              </c:numCache>
            </c:numRef>
          </c:yVal>
        </c:ser>
        <c:ser>
          <c:idx val="1"/>
          <c:order val="1"/>
          <c:tx>
            <c:v>G₂₂, cabeceo</c:v>
          </c:tx>
          <c:spPr>
            <a:solidFill xmlns:a="http://schemas.openxmlformats.org/drawingml/2006/main">
              <a:srgbClr val="D66A2C"/>
            </a:solidFill>
            <a:ln xmlns:a="http://schemas.openxmlformats.org/drawingml/2006/main" w="28575">
              <a:solidFill>
                <a:srgbClr val="D66A2C"/>
              </a:solidFill>
              <a:prstDash val="solid"/>
            </a:ln>
          </c:spPr>
          <c:marker>
            <c:symbol val="none"/>
          </c:marker>
          <c:xVal>
            <c:numRef>
              <c:f>'Chart Data'!$C$2:$C$162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Data'!$D$2:$D$162</c:f>
              <c:numCache>
                <c:formatCode>0.0</c:formatCode>
                <c:ptCount val="161"/>
                <c:pt idx="0">
                  <c:v>0</c:v>
                </c:pt>
                <c:pt idx="1">
                  <c:v>0.006857051604</c:v>
                </c:pt>
                <c:pt idx="2">
                  <c:v>0.02729198596</c:v>
                </c:pt>
                <c:pt idx="3">
                  <c:v>0.06089941553</c:v>
                </c:pt>
                <c:pt idx="4">
                  <c:v>0.1070143526</c:v>
                </c:pt>
                <c:pt idx="5">
                  <c:v>0.1647273458</c:v>
                </c:pt>
                <c:pt idx="6">
                  <c:v>0.2329041078</c:v>
                </c:pt>
                <c:pt idx="7">
                  <c:v>0.3102083613</c:v>
                </c:pt>
                <c:pt idx="8">
                  <c:v>0.3951266266</c:v>
                </c:pt>
                <c:pt idx="9">
                  <c:v>0.4859938339</c:v>
                </c:pt>
                <c:pt idx="10">
                  <c:v>0.5810189471</c:v>
                </c:pt>
                <c:pt idx="11">
                  <c:v>0.6783101654</c:v>
                </c:pt>
                <c:pt idx="12">
                  <c:v>0.7758996699</c:v>
                </c:pt>
                <c:pt idx="13">
                  <c:v>0.8717682385</c:v>
                </c:pt>
                <c:pt idx="14">
                  <c:v>0.9638703187</c:v>
                </c:pt>
                <c:pt idx="15">
                  <c:v>1.050160271</c:v>
                </c:pt>
                <c:pt idx="16">
                  <c:v>1.128620463</c:v>
                </c:pt>
                <c:pt idx="17">
                  <c:v>1.197291671</c:v>
                </c:pt>
                <c:pt idx="18">
                  <c:v>1.254305882</c:v>
                </c:pt>
                <c:pt idx="19">
                  <c:v>1.297921058</c:v>
                </c:pt>
                <c:pt idx="20">
                  <c:v>1.326556855</c:v>
                </c:pt>
                <c:pt idx="21">
                  <c:v>1.33882971</c:v>
                </c:pt>
                <c:pt idx="22">
                  <c:v>1.333585255</c:v>
                </c:pt>
                <c:pt idx="23">
                  <c:v>1.309925747</c:v>
                </c:pt>
                <c:pt idx="24">
                  <c:v>1.267230292</c:v>
                </c:pt>
                <c:pt idx="25">
                  <c:v>1.205165944</c:v>
                </c:pt>
                <c:pt idx="26">
                  <c:v>1.123688469</c:v>
                </c:pt>
                <c:pt idx="27">
                  <c:v>1.023032397</c:v>
                </c:pt>
                <c:pt idx="28">
                  <c:v>0.9036909552</c:v>
                </c:pt>
                <c:pt idx="29">
                  <c:v>0.7663873292</c:v>
                </c:pt>
                <c:pt idx="30">
                  <c:v>0.6120393794</c:v>
                </c:pt>
                <c:pt idx="31">
                  <c:v>0.4417203233</c:v>
                </c:pt>
                <c:pt idx="32">
                  <c:v>0.2566179616</c:v>
                </c:pt>
                <c:pt idx="33">
                  <c:v>0.05799481751</c:v>
                </c:pt>
                <c:pt idx="34">
                  <c:v>-0.152848862</c:v>
                </c:pt>
                <c:pt idx="35">
                  <c:v>-0.374607831</c:v>
                </c:pt>
                <c:pt idx="36">
                  <c:v>-0.605999444</c:v>
                </c:pt>
                <c:pt idx="37">
                  <c:v>-0.8457857934</c:v>
                </c:pt>
                <c:pt idx="38">
                  <c:v>-1.092790475</c:v>
                </c:pt>
                <c:pt idx="39">
                  <c:v>-1.345910375</c:v>
                </c:pt>
                <c:pt idx="40">
                  <c:v>-1.604123084</c:v>
                </c:pt>
                <c:pt idx="41">
                  <c:v>-1.866490616</c:v>
                </c:pt>
                <c:pt idx="42">
                  <c:v>-2.13216016</c:v>
                </c:pt>
                <c:pt idx="43">
                  <c:v>-2.400362534</c:v>
                </c:pt>
                <c:pt idx="44">
                  <c:v>-2.670408956</c:v>
                </c:pt>
                <c:pt idx="45">
                  <c:v>-2.941686648</c:v>
                </c:pt>
                <c:pt idx="46">
                  <c:v>-3.213653708</c:v>
                </c:pt>
                <c:pt idx="47">
                  <c:v>-3.485833591</c:v>
                </c:pt>
                <c:pt idx="48">
                  <c:v>-3.757809452</c:v>
                </c:pt>
                <c:pt idx="49">
                  <c:v>-4.029218567</c:v>
                </c:pt>
                <c:pt idx="50">
                  <c:v>-4.299746938</c:v>
                </c:pt>
                <c:pt idx="51">
                  <c:v>-4.569124199</c:v>
                </c:pt>
                <c:pt idx="52">
                  <c:v>-4.837118861</c:v>
                </c:pt>
                <c:pt idx="53">
                  <c:v>-5.103533942</c:v>
                </c:pt>
                <c:pt idx="54">
                  <c:v>-5.368202965</c:v>
                </c:pt>
                <c:pt idx="55">
                  <c:v>-5.630986343</c:v>
                </c:pt>
                <c:pt idx="56">
                  <c:v>-5.891768129</c:v>
                </c:pt>
                <c:pt idx="57">
                  <c:v>-6.150453096</c:v>
                </c:pt>
                <c:pt idx="58">
                  <c:v>-6.406964146</c:v>
                </c:pt>
                <c:pt idx="59">
                  <c:v>-6.661240002</c:v>
                </c:pt>
                <c:pt idx="60">
                  <c:v>-6.913233167</c:v>
                </c:pt>
                <c:pt idx="61">
                  <c:v>-7.162908121</c:v>
                </c:pt>
                <c:pt idx="62">
                  <c:v>-7.410239734</c:v>
                </c:pt>
                <c:pt idx="63">
                  <c:v>-7.655211865</c:v>
                </c:pt>
                <c:pt idx="64">
                  <c:v>-7.89781614</c:v>
                </c:pt>
                <c:pt idx="65">
                  <c:v>-8.138050871</c:v>
                </c:pt>
                <c:pt idx="66">
                  <c:v>-8.37592011</c:v>
                </c:pt>
                <c:pt idx="67">
                  <c:v>-8.611432831</c:v>
                </c:pt>
                <c:pt idx="68">
                  <c:v>-8.8446022</c:v>
                </c:pt>
                <c:pt idx="69">
                  <c:v>-9.075444946</c:v>
                </c:pt>
                <c:pt idx="70">
                  <c:v>-9.303980811</c:v>
                </c:pt>
                <c:pt idx="71">
                  <c:v>-9.530232067</c:v>
                </c:pt>
                <c:pt idx="72">
                  <c:v>-9.754223096</c:v>
                </c:pt>
                <c:pt idx="73">
                  <c:v>-9.975980025</c:v>
                </c:pt>
                <c:pt idx="74">
                  <c:v>-10.19553041</c:v>
                </c:pt>
                <c:pt idx="75">
                  <c:v>-10.41290295</c:v>
                </c:pt>
                <c:pt idx="76">
                  <c:v>-10.62812725</c:v>
                </c:pt>
                <c:pt idx="77">
                  <c:v>-10.84123363</c:v>
                </c:pt>
                <c:pt idx="78">
                  <c:v>-11.05225291</c:v>
                </c:pt>
                <c:pt idx="79">
                  <c:v>-11.26121629</c:v>
                </c:pt>
                <c:pt idx="80">
                  <c:v>-11.46815516</c:v>
                </c:pt>
                <c:pt idx="81">
                  <c:v>-11.67310106</c:v>
                </c:pt>
                <c:pt idx="82">
                  <c:v>-11.87608551</c:v>
                </c:pt>
                <c:pt idx="83">
                  <c:v>-12.07713995</c:v>
                </c:pt>
                <c:pt idx="84">
                  <c:v>-12.27629569</c:v>
                </c:pt>
                <c:pt idx="85">
                  <c:v>-12.47358379</c:v>
                </c:pt>
                <c:pt idx="86">
                  <c:v>-12.66903507</c:v>
                </c:pt>
                <c:pt idx="87">
                  <c:v>-12.86268</c:v>
                </c:pt>
                <c:pt idx="88">
                  <c:v>-13.05454874</c:v>
                </c:pt>
                <c:pt idx="89">
                  <c:v>-13.24467102</c:v>
                </c:pt>
                <c:pt idx="90">
                  <c:v>-13.43307619</c:v>
                </c:pt>
                <c:pt idx="91">
                  <c:v>-13.61979315</c:v>
                </c:pt>
                <c:pt idx="92">
                  <c:v>-13.80485036</c:v>
                </c:pt>
                <c:pt idx="93">
                  <c:v>-13.98827582</c:v>
                </c:pt>
                <c:pt idx="94">
                  <c:v>-14.17009703</c:v>
                </c:pt>
                <c:pt idx="95">
                  <c:v>-14.35034105</c:v>
                </c:pt>
                <c:pt idx="96">
                  <c:v>-14.52903442</c:v>
                </c:pt>
                <c:pt idx="97">
                  <c:v>-14.70620322</c:v>
                </c:pt>
                <c:pt idx="98">
                  <c:v>-14.88187302</c:v>
                </c:pt>
                <c:pt idx="99">
                  <c:v>-15.05606892</c:v>
                </c:pt>
                <c:pt idx="100">
                  <c:v>-15.2288155</c:v>
                </c:pt>
                <c:pt idx="101">
                  <c:v>-15.40013691</c:v>
                </c:pt>
                <c:pt idx="102">
                  <c:v>-15.57005678</c:v>
                </c:pt>
                <c:pt idx="103">
                  <c:v>-15.73859827</c:v>
                </c:pt>
                <c:pt idx="104">
                  <c:v>-15.90578409</c:v>
                </c:pt>
                <c:pt idx="105">
                  <c:v>-16.07163647</c:v>
                </c:pt>
                <c:pt idx="106">
                  <c:v>-16.2361772</c:v>
                </c:pt>
                <c:pt idx="107">
                  <c:v>-16.39942762</c:v>
                </c:pt>
                <c:pt idx="108">
                  <c:v>-16.56140861</c:v>
                </c:pt>
                <c:pt idx="109">
                  <c:v>-16.72214063</c:v>
                </c:pt>
                <c:pt idx="110">
                  <c:v>-16.88164372</c:v>
                </c:pt>
                <c:pt idx="111">
                  <c:v>-17.0399375</c:v>
                </c:pt>
                <c:pt idx="112">
                  <c:v>-17.19704118</c:v>
                </c:pt>
                <c:pt idx="113">
                  <c:v>-17.35297356</c:v>
                </c:pt>
                <c:pt idx="114">
                  <c:v>-17.50775306</c:v>
                </c:pt>
                <c:pt idx="115">
                  <c:v>-17.66139771</c:v>
                </c:pt>
                <c:pt idx="116">
                  <c:v>-17.81392517</c:v>
                </c:pt>
                <c:pt idx="117">
                  <c:v>-17.96535272</c:v>
                </c:pt>
                <c:pt idx="118">
                  <c:v>-18.11569729</c:v>
                </c:pt>
                <c:pt idx="119">
                  <c:v>-18.26497545</c:v>
                </c:pt>
                <c:pt idx="120">
                  <c:v>-18.41320344</c:v>
                </c:pt>
                <c:pt idx="121">
                  <c:v>-18.56039714</c:v>
                </c:pt>
                <c:pt idx="122">
                  <c:v>-18.70657213</c:v>
                </c:pt>
                <c:pt idx="123">
                  <c:v>-18.85174364</c:v>
                </c:pt>
                <c:pt idx="124">
                  <c:v>-18.99592662</c:v>
                </c:pt>
                <c:pt idx="125">
                  <c:v>-19.13913568</c:v>
                </c:pt>
                <c:pt idx="126">
                  <c:v>-19.28138515</c:v>
                </c:pt>
                <c:pt idx="127">
                  <c:v>-19.42268905</c:v>
                </c:pt>
                <c:pt idx="128">
                  <c:v>-19.56306115</c:v>
                </c:pt>
                <c:pt idx="129">
                  <c:v>-19.70251491</c:v>
                </c:pt>
                <c:pt idx="130">
                  <c:v>-19.84106352</c:v>
                </c:pt>
                <c:pt idx="131">
                  <c:v>-19.97871992</c:v>
                </c:pt>
                <c:pt idx="132">
                  <c:v>-20.11549678</c:v>
                </c:pt>
                <c:pt idx="133">
                  <c:v>-20.25140651</c:v>
                </c:pt>
                <c:pt idx="134">
                  <c:v>-20.38646129</c:v>
                </c:pt>
                <c:pt idx="135">
                  <c:v>-20.52067305</c:v>
                </c:pt>
                <c:pt idx="136">
                  <c:v>-20.65405349</c:v>
                </c:pt>
                <c:pt idx="137">
                  <c:v>-20.78661406</c:v>
                </c:pt>
                <c:pt idx="138">
                  <c:v>-20.918366</c:v>
                </c:pt>
                <c:pt idx="139">
                  <c:v>-21.04932034</c:v>
                </c:pt>
                <c:pt idx="140">
                  <c:v>-21.17948788</c:v>
                </c:pt>
                <c:pt idx="141">
                  <c:v>-21.30887921</c:v>
                </c:pt>
                <c:pt idx="142">
                  <c:v>-21.43750474</c:v>
                </c:pt>
                <c:pt idx="143">
                  <c:v>-21.56537465</c:v>
                </c:pt>
                <c:pt idx="144">
                  <c:v>-21.69249893</c:v>
                </c:pt>
                <c:pt idx="145">
                  <c:v>-21.8188874</c:v>
                </c:pt>
                <c:pt idx="146">
                  <c:v>-21.94454968</c:v>
                </c:pt>
                <c:pt idx="147">
                  <c:v>-22.0694952</c:v>
                </c:pt>
                <c:pt idx="148">
                  <c:v>-22.19373323</c:v>
                </c:pt>
                <c:pt idx="149">
                  <c:v>-22.31727286</c:v>
                </c:pt>
                <c:pt idx="150">
                  <c:v>-22.440123</c:v>
                </c:pt>
                <c:pt idx="151">
                  <c:v>-22.56229242</c:v>
                </c:pt>
                <c:pt idx="152">
                  <c:v>-22.68378969</c:v>
                </c:pt>
                <c:pt idx="153">
                  <c:v>-22.80462326</c:v>
                </c:pt>
                <c:pt idx="154">
                  <c:v>-22.9248014</c:v>
                </c:pt>
                <c:pt idx="155">
                  <c:v>-23.04433225</c:v>
                </c:pt>
                <c:pt idx="156">
                  <c:v>-23.16322378</c:v>
                </c:pt>
                <c:pt idx="157">
                  <c:v>-23.28148384</c:v>
                </c:pt>
                <c:pt idx="158">
                  <c:v>-23.3991201</c:v>
                </c:pt>
                <c:pt idx="159">
                  <c:v>-23.51614015</c:v>
                </c:pt>
                <c:pt idx="160">
                  <c:v>-23.63255139</c:v>
                </c:pt>
              </c:numCache>
            </c:numRef>
          </c:yVal>
        </c:ser>
        <c:ser>
          <c:idx val="2"/>
          <c:order val="2"/>
          <c:tx>
            <c:v>Nivel de −3 dB</c:v>
          </c:tx>
          <c:spPr>
            <a:solidFill xmlns:a="http://schemas.openxmlformats.org/drawingml/2006/main">
              <a:srgbClr val="087E8B"/>
            </a:solidFill>
            <a:ln xmlns:a="http://schemas.openxmlformats.org/drawingml/2006/main" w="19050">
              <a:solidFill>
                <a:srgbClr val="B6C3CC"/>
              </a:solidFill>
              <a:prstDash val="dash"/>
            </a:ln>
          </c:spPr>
          <c:marker>
            <c:symbol val="none"/>
          </c:marker>
          <c:xVal>
            <c:numRef>
              <c:f>'Chart Data'!$E$2:$E$3</c:f>
              <c:numCache>
                <c:formatCode>General</c:formatCode>
                <c:ptCount val="2"/>
                <c:pt idx="0">
                  <c:v>0</c:v>
                </c:pt>
                <c:pt idx="1">
                  <c:v>8</c:v>
                </c:pt>
              </c:numCache>
            </c:numRef>
          </c:xVal>
          <c:yVal>
            <c:numRef>
              <c:f>'Chart Data'!$F$2:$F$3</c:f>
              <c:numCache>
                <c:formatCode>0.0</c:formatCode>
                <c:ptCount val="2"/>
                <c:pt idx="0">
                  <c:v>-3</c:v>
                </c:pt>
                <c:pt idx="1">
                  <c:v>-3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
          <c:min val="-25"/>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Magnitud relativa (dB)</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0"/>
        <c:majorTickMark val="none"/>
        <c:minorTickMark val="none"/>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50112"/>
        <c:crossesAt val="0"/>
        <c:majorUnit val="5"/>
      </c:valAx>
      <c:valAx>
        <c:axId val="48650112"/>
        <c:scaling>
          <c:orientation val="minMax"/>
          <c:max val="8"/>
          <c:min val="0"/>
        </c:scaling>
        <c:delete val="0"/>
        <c:axPos val="b"/>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Frecuencia ω (rad/s)</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
        <c:majorTickMark val="none"/>
        <c:minorTickMark val="none"/>
        <c:tickLblPos val="low"/>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72768"/>
        <c:crossesAt val="-25"/>
        <c:majorUnit val="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3283C"/>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3283C"/>
                </a:solidFill>
                <a:latin typeface="Arial"/>
                <a:ea typeface="Arial"/>
                <a:cs typeface="Arial"/>
              </a:rPr>
              <a:t>Pares que cumplen los criterios</a:t>
            </a:r>
          </a:p>
        </c:rich>
      </c:tx>
      <c:overlay val="0"/>
      <c:txPr>
        <a:bodyPr xmlns:a="http://schemas.openxmlformats.org/drawingml/2006/main" anchorCtr="1"/>
        <a:lstStyle xmlns:a="http://schemas.openxmlformats.org/drawingml/2006/main"/>
        <a:p xmlns:a="http://schemas.openxmlformats.org/drawingml/2006/main">
          <a:pPr>
            <a:defRPr sz="1875" b="1">
              <a:solidFill>
                <a:srgbClr val="13283C"/>
              </a:solidFill>
              <a:latin typeface="Arial"/>
              <a:ea typeface="Arial"/>
              <a:cs typeface="Arial"/>
            </a:defRPr>
          </a:pPr>
        </a:p>
      </c:txPr>
    </c:title>
    <c:plotArea>
      <c:scatterChart>
        <c:scatterStyle val="marker"/>
        <c:varyColors val="0"/>
        <c:ser>
          <c:idx val="0"/>
          <c:order val="0"/>
          <c:tx>
            <c:v>Factible</c:v>
          </c:tx>
          <c:spPr>
            <a:solidFill xmlns:a="http://schemas.openxmlformats.org/drawingml/2006/main">
              <a:srgbClr val="087E8B"/>
            </a:solidFill>
            <a:ln xmlns:a="http://schemas.openxmlformats.org/drawingml/2006/main" w="0">
              <a:noFill/>
            </a:ln>
          </c:spPr>
          <c:marker>
            <c:symbol val="circle"/>
            <c:size val="5"/>
            <c:spPr>
              <a:solidFill xmlns:a="http://schemas.openxmlformats.org/drawingml/2006/main">
                <a:srgbClr val="B6C3CC"/>
              </a:solidFill>
            </c:spPr>
          </c:marker>
          <c:xVal>
            <c:numRef>
              <c:f>'Chart Data'!$A$2:$A$187</c:f>
              <c:numCache>
                <c:formatCode>General</c:formatCode>
                <c:ptCount val="186"/>
                <c:pt idx="0">
                  <c:v>0.5</c:v>
                </c:pt>
                <c:pt idx="1">
                  <c:v>0.5</c:v>
                </c:pt>
                <c:pt idx="2">
                  <c:v>0.5</c:v>
                </c:pt>
                <c:pt idx="3">
                  <c:v>0.5</c:v>
                </c:pt>
                <c:pt idx="4">
                  <c:v>0.5</c:v>
                </c:pt>
                <c:pt idx="5">
                  <c:v>0.5</c:v>
                </c:pt>
                <c:pt idx="6">
                  <c:v>0.5</c:v>
                </c:pt>
                <c:pt idx="7">
                  <c:v>0.5</c:v>
                </c:pt>
                <c:pt idx="8">
                  <c:v>0.5</c:v>
                </c:pt>
                <c:pt idx="9">
                  <c:v>1</c:v>
                </c:pt>
                <c:pt idx="10">
                  <c:v>1</c:v>
                </c:pt>
                <c:pt idx="11">
                  <c:v>1</c:v>
                </c:pt>
                <c:pt idx="12">
                  <c:v>1</c:v>
                </c:pt>
                <c:pt idx="13">
                  <c:v>1</c:v>
                </c:pt>
                <c:pt idx="14">
                  <c:v>1</c:v>
                </c:pt>
                <c:pt idx="15">
                  <c:v>1</c:v>
                </c:pt>
                <c:pt idx="16">
                  <c:v>1</c:v>
                </c:pt>
                <c:pt idx="17">
                  <c:v>1</c:v>
                </c:pt>
                <c:pt idx="18">
                  <c:v>1</c:v>
                </c:pt>
                <c:pt idx="19">
                  <c:v>1.5</c:v>
                </c:pt>
                <c:pt idx="20">
                  <c:v>1.5</c:v>
                </c:pt>
                <c:pt idx="21">
                  <c:v>1.5</c:v>
                </c:pt>
                <c:pt idx="22">
                  <c:v>1.5</c:v>
                </c:pt>
                <c:pt idx="23">
                  <c:v>1.5</c:v>
                </c:pt>
                <c:pt idx="24">
                  <c:v>1.5</c:v>
                </c:pt>
                <c:pt idx="25">
                  <c:v>1.5</c:v>
                </c:pt>
                <c:pt idx="26">
                  <c:v>1.5</c:v>
                </c:pt>
                <c:pt idx="27">
                  <c:v>1.5</c:v>
                </c:pt>
                <c:pt idx="28">
                  <c:v>1.5</c:v>
                </c:pt>
                <c:pt idx="29">
                  <c:v>1.5</c:v>
                </c:pt>
                <c:pt idx="30">
                  <c:v>2</c:v>
                </c:pt>
                <c:pt idx="31">
                  <c:v>2</c:v>
                </c:pt>
                <c:pt idx="32">
                  <c:v>2</c:v>
                </c:pt>
                <c:pt idx="33">
                  <c:v>2</c:v>
                </c:pt>
                <c:pt idx="34">
                  <c:v>2</c:v>
                </c:pt>
                <c:pt idx="35">
                  <c:v>2</c:v>
                </c:pt>
                <c:pt idx="36">
                  <c:v>2</c:v>
                </c:pt>
                <c:pt idx="37">
                  <c:v>2</c:v>
                </c:pt>
                <c:pt idx="38">
                  <c:v>2</c:v>
                </c:pt>
                <c:pt idx="39">
                  <c:v>2</c:v>
                </c:pt>
                <c:pt idx="40">
                  <c:v>2</c:v>
                </c:pt>
                <c:pt idx="41">
                  <c:v>2.5</c:v>
                </c:pt>
                <c:pt idx="42">
                  <c:v>2.5</c:v>
                </c:pt>
                <c:pt idx="43">
                  <c:v>2.5</c:v>
                </c:pt>
                <c:pt idx="44">
                  <c:v>2.5</c:v>
                </c:pt>
                <c:pt idx="45">
                  <c:v>2.5</c:v>
                </c:pt>
                <c:pt idx="46">
                  <c:v>2.5</c:v>
                </c:pt>
                <c:pt idx="47">
                  <c:v>2.5</c:v>
                </c:pt>
                <c:pt idx="48">
                  <c:v>2.5</c:v>
                </c:pt>
                <c:pt idx="49">
                  <c:v>2.5</c:v>
                </c:pt>
                <c:pt idx="50">
                  <c:v>2.5</c:v>
                </c:pt>
                <c:pt idx="51">
                  <c:v>2.5</c:v>
                </c:pt>
                <c:pt idx="52">
                  <c:v>2.5</c:v>
                </c:pt>
                <c:pt idx="53">
                  <c:v>3</c:v>
                </c:pt>
                <c:pt idx="54">
                  <c:v>3</c:v>
                </c:pt>
                <c:pt idx="55">
                  <c:v>3</c:v>
                </c:pt>
                <c:pt idx="56">
                  <c:v>3</c:v>
                </c:pt>
                <c:pt idx="57">
                  <c:v>3</c:v>
                </c:pt>
                <c:pt idx="58">
                  <c:v>3</c:v>
                </c:pt>
                <c:pt idx="59">
                  <c:v>3</c:v>
                </c:pt>
                <c:pt idx="60">
                  <c:v>3</c:v>
                </c:pt>
                <c:pt idx="61">
                  <c:v>3</c:v>
                </c:pt>
                <c:pt idx="62">
                  <c:v>3</c:v>
                </c:pt>
                <c:pt idx="63">
                  <c:v>3</c:v>
                </c:pt>
                <c:pt idx="64">
                  <c:v>3</c:v>
                </c:pt>
                <c:pt idx="65">
                  <c:v>3</c:v>
                </c:pt>
                <c:pt idx="66">
                  <c:v>3.5</c:v>
                </c:pt>
                <c:pt idx="67">
                  <c:v>3.5</c:v>
                </c:pt>
                <c:pt idx="68">
                  <c:v>3.5</c:v>
                </c:pt>
                <c:pt idx="69">
                  <c:v>3.5</c:v>
                </c:pt>
                <c:pt idx="70">
                  <c:v>3.5</c:v>
                </c:pt>
                <c:pt idx="71">
                  <c:v>3.5</c:v>
                </c:pt>
                <c:pt idx="72">
                  <c:v>3.5</c:v>
                </c:pt>
                <c:pt idx="73">
                  <c:v>3.5</c:v>
                </c:pt>
                <c:pt idx="74">
                  <c:v>3.5</c:v>
                </c:pt>
                <c:pt idx="75">
                  <c:v>3.5</c:v>
                </c:pt>
                <c:pt idx="76">
                  <c:v>3.5</c:v>
                </c:pt>
                <c:pt idx="77">
                  <c:v>3.5</c:v>
                </c:pt>
                <c:pt idx="78">
                  <c:v>3.5</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4.5</c:v>
                </c:pt>
                <c:pt idx="93">
                  <c:v>4.5</c:v>
                </c:pt>
                <c:pt idx="94">
                  <c:v>4.5</c:v>
                </c:pt>
                <c:pt idx="95">
                  <c:v>4.5</c:v>
                </c:pt>
                <c:pt idx="96">
                  <c:v>4.5</c:v>
                </c:pt>
                <c:pt idx="97">
                  <c:v>4.5</c:v>
                </c:pt>
                <c:pt idx="98">
                  <c:v>4.5</c:v>
                </c:pt>
                <c:pt idx="99">
                  <c:v>4.5</c:v>
                </c:pt>
                <c:pt idx="100">
                  <c:v>4.5</c:v>
                </c:pt>
                <c:pt idx="101">
                  <c:v>4.5</c:v>
                </c:pt>
                <c:pt idx="102">
                  <c:v>4.5</c:v>
                </c:pt>
                <c:pt idx="103">
                  <c:v>4.5</c:v>
                </c:pt>
                <c:pt idx="104">
                  <c:v>5</c:v>
                </c:pt>
                <c:pt idx="105">
                  <c:v>5</c:v>
                </c:pt>
                <c:pt idx="106">
                  <c:v>5</c:v>
                </c:pt>
                <c:pt idx="107">
                  <c:v>5</c:v>
                </c:pt>
                <c:pt idx="108">
                  <c:v>5</c:v>
                </c:pt>
                <c:pt idx="109">
                  <c:v>5</c:v>
                </c:pt>
                <c:pt idx="110">
                  <c:v>5</c:v>
                </c:pt>
                <c:pt idx="111">
                  <c:v>5</c:v>
                </c:pt>
                <c:pt idx="112">
                  <c:v>5</c:v>
                </c:pt>
                <c:pt idx="113">
                  <c:v>5</c:v>
                </c:pt>
                <c:pt idx="114">
                  <c:v>5</c:v>
                </c:pt>
                <c:pt idx="115">
                  <c:v>5.5</c:v>
                </c:pt>
                <c:pt idx="116">
                  <c:v>5.5</c:v>
                </c:pt>
                <c:pt idx="117">
                  <c:v>5.5</c:v>
                </c:pt>
                <c:pt idx="118">
                  <c:v>5.5</c:v>
                </c:pt>
                <c:pt idx="119">
                  <c:v>5.5</c:v>
                </c:pt>
                <c:pt idx="120">
                  <c:v>5.5</c:v>
                </c:pt>
                <c:pt idx="121">
                  <c:v>5.5</c:v>
                </c:pt>
                <c:pt idx="122">
                  <c:v>5.5</c:v>
                </c:pt>
                <c:pt idx="123">
                  <c:v>5.5</c:v>
                </c:pt>
                <c:pt idx="124">
                  <c:v>5.5</c:v>
                </c:pt>
                <c:pt idx="125">
                  <c:v>6</c:v>
                </c:pt>
                <c:pt idx="126">
                  <c:v>6</c:v>
                </c:pt>
                <c:pt idx="127">
                  <c:v>6</c:v>
                </c:pt>
                <c:pt idx="128">
                  <c:v>6</c:v>
                </c:pt>
                <c:pt idx="129">
                  <c:v>6</c:v>
                </c:pt>
                <c:pt idx="130">
                  <c:v>6</c:v>
                </c:pt>
                <c:pt idx="131">
                  <c:v>6</c:v>
                </c:pt>
                <c:pt idx="132">
                  <c:v>6</c:v>
                </c:pt>
                <c:pt idx="133">
                  <c:v>6</c:v>
                </c:pt>
                <c:pt idx="134">
                  <c:v>6.5</c:v>
                </c:pt>
                <c:pt idx="135">
                  <c:v>6.5</c:v>
                </c:pt>
                <c:pt idx="136">
                  <c:v>6.5</c:v>
                </c:pt>
                <c:pt idx="137">
                  <c:v>6.5</c:v>
                </c:pt>
                <c:pt idx="138">
                  <c:v>6.5</c:v>
                </c:pt>
                <c:pt idx="139">
                  <c:v>6.5</c:v>
                </c:pt>
                <c:pt idx="140">
                  <c:v>6.5</c:v>
                </c:pt>
                <c:pt idx="141">
                  <c:v>6.5</c:v>
                </c:pt>
                <c:pt idx="142">
                  <c:v>7</c:v>
                </c:pt>
                <c:pt idx="143">
                  <c:v>7</c:v>
                </c:pt>
                <c:pt idx="144">
                  <c:v>7</c:v>
                </c:pt>
                <c:pt idx="145">
                  <c:v>7</c:v>
                </c:pt>
                <c:pt idx="146">
                  <c:v>7</c:v>
                </c:pt>
                <c:pt idx="147">
                  <c:v>7</c:v>
                </c:pt>
                <c:pt idx="148">
                  <c:v>7</c:v>
                </c:pt>
                <c:pt idx="149">
                  <c:v>7</c:v>
                </c:pt>
                <c:pt idx="150">
                  <c:v>7.5</c:v>
                </c:pt>
                <c:pt idx="151">
                  <c:v>7.5</c:v>
                </c:pt>
                <c:pt idx="152">
                  <c:v>7.5</c:v>
                </c:pt>
                <c:pt idx="153">
                  <c:v>7.5</c:v>
                </c:pt>
                <c:pt idx="154">
                  <c:v>7.5</c:v>
                </c:pt>
                <c:pt idx="155">
                  <c:v>7.5</c:v>
                </c:pt>
                <c:pt idx="156">
                  <c:v>7.5</c:v>
                </c:pt>
                <c:pt idx="157">
                  <c:v>8</c:v>
                </c:pt>
                <c:pt idx="158">
                  <c:v>8</c:v>
                </c:pt>
                <c:pt idx="159">
                  <c:v>8</c:v>
                </c:pt>
                <c:pt idx="160">
                  <c:v>8</c:v>
                </c:pt>
                <c:pt idx="161">
                  <c:v>8</c:v>
                </c:pt>
                <c:pt idx="162">
                  <c:v>8</c:v>
                </c:pt>
                <c:pt idx="163">
                  <c:v>8.5</c:v>
                </c:pt>
                <c:pt idx="164">
                  <c:v>8.5</c:v>
                </c:pt>
                <c:pt idx="165">
                  <c:v>8.5</c:v>
                </c:pt>
                <c:pt idx="166">
                  <c:v>8.5</c:v>
                </c:pt>
                <c:pt idx="167">
                  <c:v>8.5</c:v>
                </c:pt>
                <c:pt idx="168">
                  <c:v>9</c:v>
                </c:pt>
                <c:pt idx="169">
                  <c:v>9</c:v>
                </c:pt>
                <c:pt idx="170">
                  <c:v>9</c:v>
                </c:pt>
                <c:pt idx="171">
                  <c:v>9</c:v>
                </c:pt>
                <c:pt idx="172">
                  <c:v>9.5</c:v>
                </c:pt>
                <c:pt idx="173">
                  <c:v>9.5</c:v>
                </c:pt>
                <c:pt idx="174">
                  <c:v>9.5</c:v>
                </c:pt>
                <c:pt idx="175">
                  <c:v>9.5</c:v>
                </c:pt>
                <c:pt idx="176">
                  <c:v>10</c:v>
                </c:pt>
                <c:pt idx="177">
                  <c:v>10</c:v>
                </c:pt>
                <c:pt idx="178">
                  <c:v>10</c:v>
                </c:pt>
                <c:pt idx="179">
                  <c:v>10.5</c:v>
                </c:pt>
                <c:pt idx="180">
                  <c:v>10.5</c:v>
                </c:pt>
                <c:pt idx="181">
                  <c:v>10.5</c:v>
                </c:pt>
                <c:pt idx="182">
                  <c:v>11</c:v>
                </c:pt>
                <c:pt idx="183">
                  <c:v>11</c:v>
                </c:pt>
                <c:pt idx="184">
                  <c:v>11.5</c:v>
                </c:pt>
                <c:pt idx="185">
                  <c:v>12</c:v>
                </c:pt>
              </c:numCache>
            </c:numRef>
          </c:xVal>
          <c:yVal>
            <c:numRef>
              <c:f>'Chart Data'!$B$2:$B$187</c:f>
              <c:numCache>
                <c:formatCode>0.0</c:formatCode>
                <c:ptCount val="186"/>
                <c:pt idx="0">
                  <c:v>1.05</c:v>
                </c:pt>
                <c:pt idx="1">
                  <c:v>1.1</c:v>
                </c:pt>
                <c:pt idx="2">
                  <c:v>1.15</c:v>
                </c:pt>
                <c:pt idx="3">
                  <c:v>1.2</c:v>
                </c:pt>
                <c:pt idx="4">
                  <c:v>1.25</c:v>
                </c:pt>
                <c:pt idx="5">
                  <c:v>1.3</c:v>
                </c:pt>
                <c:pt idx="6">
                  <c:v>1.35</c:v>
                </c:pt>
                <c:pt idx="7">
                  <c:v>1.4</c:v>
                </c:pt>
                <c:pt idx="8">
                  <c:v>1.45</c:v>
                </c:pt>
                <c:pt idx="9">
                  <c:v>1</c:v>
                </c:pt>
                <c:pt idx="10">
                  <c:v>1.05</c:v>
                </c:pt>
                <c:pt idx="11">
                  <c:v>1.1</c:v>
                </c:pt>
                <c:pt idx="12">
                  <c:v>1.15</c:v>
                </c:pt>
                <c:pt idx="13">
                  <c:v>1.2</c:v>
                </c:pt>
                <c:pt idx="14">
                  <c:v>1.25</c:v>
                </c:pt>
                <c:pt idx="15">
                  <c:v>1.3</c:v>
                </c:pt>
                <c:pt idx="16">
                  <c:v>1.35</c:v>
                </c:pt>
                <c:pt idx="17">
                  <c:v>1.4</c:v>
                </c:pt>
                <c:pt idx="18">
                  <c:v>1.45</c:v>
                </c:pt>
                <c:pt idx="19">
                  <c:v>0.95</c:v>
                </c:pt>
                <c:pt idx="20">
                  <c:v>1</c:v>
                </c:pt>
                <c:pt idx="21">
                  <c:v>1.05</c:v>
                </c:pt>
                <c:pt idx="22">
                  <c:v>1.1</c:v>
                </c:pt>
                <c:pt idx="23">
                  <c:v>1.15</c:v>
                </c:pt>
                <c:pt idx="24">
                  <c:v>1.2</c:v>
                </c:pt>
                <c:pt idx="25">
                  <c:v>1.25</c:v>
                </c:pt>
                <c:pt idx="26">
                  <c:v>1.3</c:v>
                </c:pt>
                <c:pt idx="27">
                  <c:v>1.35</c:v>
                </c:pt>
                <c:pt idx="28">
                  <c:v>1.4</c:v>
                </c:pt>
                <c:pt idx="29">
                  <c:v>1.45</c:v>
                </c:pt>
                <c:pt idx="30">
                  <c:v>0.95</c:v>
                </c:pt>
                <c:pt idx="31">
                  <c:v>1</c:v>
                </c:pt>
                <c:pt idx="32">
                  <c:v>1.05</c:v>
                </c:pt>
                <c:pt idx="33">
                  <c:v>1.1</c:v>
                </c:pt>
                <c:pt idx="34">
                  <c:v>1.15</c:v>
                </c:pt>
                <c:pt idx="35">
                  <c:v>1.2</c:v>
                </c:pt>
                <c:pt idx="36">
                  <c:v>1.25</c:v>
                </c:pt>
                <c:pt idx="37">
                  <c:v>1.3</c:v>
                </c:pt>
                <c:pt idx="38">
                  <c:v>1.35</c:v>
                </c:pt>
                <c:pt idx="39">
                  <c:v>1.4</c:v>
                </c:pt>
                <c:pt idx="40">
                  <c:v>1.45</c:v>
                </c:pt>
                <c:pt idx="41">
                  <c:v>0.9</c:v>
                </c:pt>
                <c:pt idx="42">
                  <c:v>0.95</c:v>
                </c:pt>
                <c:pt idx="43">
                  <c:v>1</c:v>
                </c:pt>
                <c:pt idx="44">
                  <c:v>1.05</c:v>
                </c:pt>
                <c:pt idx="45">
                  <c:v>1.1</c:v>
                </c:pt>
                <c:pt idx="46">
                  <c:v>1.15</c:v>
                </c:pt>
                <c:pt idx="47">
                  <c:v>1.2</c:v>
                </c:pt>
                <c:pt idx="48">
                  <c:v>1.25</c:v>
                </c:pt>
                <c:pt idx="49">
                  <c:v>1.3</c:v>
                </c:pt>
                <c:pt idx="50">
                  <c:v>1.35</c:v>
                </c:pt>
                <c:pt idx="51">
                  <c:v>1.4</c:v>
                </c:pt>
                <c:pt idx="52">
                  <c:v>1.45</c:v>
                </c:pt>
                <c:pt idx="53">
                  <c:v>0.85</c:v>
                </c:pt>
                <c:pt idx="54">
                  <c:v>0.9</c:v>
                </c:pt>
                <c:pt idx="55">
                  <c:v>0.95</c:v>
                </c:pt>
                <c:pt idx="56">
                  <c:v>1</c:v>
                </c:pt>
                <c:pt idx="57">
                  <c:v>1.05</c:v>
                </c:pt>
                <c:pt idx="58">
                  <c:v>1.1</c:v>
                </c:pt>
                <c:pt idx="59">
                  <c:v>1.15</c:v>
                </c:pt>
                <c:pt idx="60">
                  <c:v>1.2</c:v>
                </c:pt>
                <c:pt idx="61">
                  <c:v>1.25</c:v>
                </c:pt>
                <c:pt idx="62">
                  <c:v>1.3</c:v>
                </c:pt>
                <c:pt idx="63">
                  <c:v>1.35</c:v>
                </c:pt>
                <c:pt idx="64">
                  <c:v>1.4</c:v>
                </c:pt>
                <c:pt idx="65">
                  <c:v>1.45</c:v>
                </c:pt>
                <c:pt idx="66">
                  <c:v>0.85</c:v>
                </c:pt>
                <c:pt idx="67">
                  <c:v>0.9</c:v>
                </c:pt>
                <c:pt idx="68">
                  <c:v>0.95</c:v>
                </c:pt>
                <c:pt idx="69">
                  <c:v>1</c:v>
                </c:pt>
                <c:pt idx="70">
                  <c:v>1.05</c:v>
                </c:pt>
                <c:pt idx="71">
                  <c:v>1.1</c:v>
                </c:pt>
                <c:pt idx="72">
                  <c:v>1.15</c:v>
                </c:pt>
                <c:pt idx="73">
                  <c:v>1.2</c:v>
                </c:pt>
                <c:pt idx="74">
                  <c:v>1.25</c:v>
                </c:pt>
                <c:pt idx="75">
                  <c:v>1.3</c:v>
                </c:pt>
                <c:pt idx="76">
                  <c:v>1.35</c:v>
                </c:pt>
                <c:pt idx="77">
                  <c:v>1.4</c:v>
                </c:pt>
                <c:pt idx="78">
                  <c:v>1.45</c:v>
                </c:pt>
                <c:pt idx="79">
                  <c:v>0.85</c:v>
                </c:pt>
                <c:pt idx="80">
                  <c:v>0.9</c:v>
                </c:pt>
                <c:pt idx="81">
                  <c:v>0.95</c:v>
                </c:pt>
                <c:pt idx="82">
                  <c:v>1</c:v>
                </c:pt>
                <c:pt idx="83">
                  <c:v>1.05</c:v>
                </c:pt>
                <c:pt idx="84">
                  <c:v>1.1</c:v>
                </c:pt>
                <c:pt idx="85">
                  <c:v>1.15</c:v>
                </c:pt>
                <c:pt idx="86">
                  <c:v>1.2</c:v>
                </c:pt>
                <c:pt idx="87">
                  <c:v>1.25</c:v>
                </c:pt>
                <c:pt idx="88">
                  <c:v>1.3</c:v>
                </c:pt>
                <c:pt idx="89">
                  <c:v>1.35</c:v>
                </c:pt>
                <c:pt idx="90">
                  <c:v>1.4</c:v>
                </c:pt>
                <c:pt idx="91">
                  <c:v>1.45</c:v>
                </c:pt>
                <c:pt idx="92">
                  <c:v>0.9</c:v>
                </c:pt>
                <c:pt idx="93">
                  <c:v>0.95</c:v>
                </c:pt>
                <c:pt idx="94">
                  <c:v>1</c:v>
                </c:pt>
                <c:pt idx="95">
                  <c:v>1.05</c:v>
                </c:pt>
                <c:pt idx="96">
                  <c:v>1.1</c:v>
                </c:pt>
                <c:pt idx="97">
                  <c:v>1.15</c:v>
                </c:pt>
                <c:pt idx="98">
                  <c:v>1.2</c:v>
                </c:pt>
                <c:pt idx="99">
                  <c:v>1.25</c:v>
                </c:pt>
                <c:pt idx="100">
                  <c:v>1.3</c:v>
                </c:pt>
                <c:pt idx="101">
                  <c:v>1.35</c:v>
                </c:pt>
                <c:pt idx="102">
                  <c:v>1.4</c:v>
                </c:pt>
                <c:pt idx="103">
                  <c:v>1.45</c:v>
                </c:pt>
                <c:pt idx="104">
                  <c:v>0.95</c:v>
                </c:pt>
                <c:pt idx="105">
                  <c:v>1</c:v>
                </c:pt>
                <c:pt idx="106">
                  <c:v>1.05</c:v>
                </c:pt>
                <c:pt idx="107">
                  <c:v>1.1</c:v>
                </c:pt>
                <c:pt idx="108">
                  <c:v>1.15</c:v>
                </c:pt>
                <c:pt idx="109">
                  <c:v>1.2</c:v>
                </c:pt>
                <c:pt idx="110">
                  <c:v>1.25</c:v>
                </c:pt>
                <c:pt idx="111">
                  <c:v>1.3</c:v>
                </c:pt>
                <c:pt idx="112">
                  <c:v>1.35</c:v>
                </c:pt>
                <c:pt idx="113">
                  <c:v>1.4</c:v>
                </c:pt>
                <c:pt idx="114">
                  <c:v>1.45</c:v>
                </c:pt>
                <c:pt idx="115">
                  <c:v>1</c:v>
                </c:pt>
                <c:pt idx="116">
                  <c:v>1.05</c:v>
                </c:pt>
                <c:pt idx="117">
                  <c:v>1.1</c:v>
                </c:pt>
                <c:pt idx="118">
                  <c:v>1.15</c:v>
                </c:pt>
                <c:pt idx="119">
                  <c:v>1.2</c:v>
                </c:pt>
                <c:pt idx="120">
                  <c:v>1.25</c:v>
                </c:pt>
                <c:pt idx="121">
                  <c:v>1.3</c:v>
                </c:pt>
                <c:pt idx="122">
                  <c:v>1.35</c:v>
                </c:pt>
                <c:pt idx="123">
                  <c:v>1.4</c:v>
                </c:pt>
                <c:pt idx="124">
                  <c:v>1.45</c:v>
                </c:pt>
                <c:pt idx="125">
                  <c:v>1.05</c:v>
                </c:pt>
                <c:pt idx="126">
                  <c:v>1.1</c:v>
                </c:pt>
                <c:pt idx="127">
                  <c:v>1.15</c:v>
                </c:pt>
                <c:pt idx="128">
                  <c:v>1.2</c:v>
                </c:pt>
                <c:pt idx="129">
                  <c:v>1.25</c:v>
                </c:pt>
                <c:pt idx="130">
                  <c:v>1.3</c:v>
                </c:pt>
                <c:pt idx="131">
                  <c:v>1.35</c:v>
                </c:pt>
                <c:pt idx="132">
                  <c:v>1.4</c:v>
                </c:pt>
                <c:pt idx="133">
                  <c:v>1.45</c:v>
                </c:pt>
                <c:pt idx="134">
                  <c:v>1.1</c:v>
                </c:pt>
                <c:pt idx="135">
                  <c:v>1.15</c:v>
                </c:pt>
                <c:pt idx="136">
                  <c:v>1.2</c:v>
                </c:pt>
                <c:pt idx="137">
                  <c:v>1.25</c:v>
                </c:pt>
                <c:pt idx="138">
                  <c:v>1.3</c:v>
                </c:pt>
                <c:pt idx="139">
                  <c:v>1.35</c:v>
                </c:pt>
                <c:pt idx="140">
                  <c:v>1.4</c:v>
                </c:pt>
                <c:pt idx="141">
                  <c:v>1.45</c:v>
                </c:pt>
                <c:pt idx="142">
                  <c:v>1.1</c:v>
                </c:pt>
                <c:pt idx="143">
                  <c:v>1.15</c:v>
                </c:pt>
                <c:pt idx="144">
                  <c:v>1.2</c:v>
                </c:pt>
                <c:pt idx="145">
                  <c:v>1.25</c:v>
                </c:pt>
                <c:pt idx="146">
                  <c:v>1.3</c:v>
                </c:pt>
                <c:pt idx="147">
                  <c:v>1.35</c:v>
                </c:pt>
                <c:pt idx="148">
                  <c:v>1.4</c:v>
                </c:pt>
                <c:pt idx="149">
                  <c:v>1.45</c:v>
                </c:pt>
                <c:pt idx="150">
                  <c:v>1.15</c:v>
                </c:pt>
                <c:pt idx="151">
                  <c:v>1.2</c:v>
                </c:pt>
                <c:pt idx="152">
                  <c:v>1.25</c:v>
                </c:pt>
                <c:pt idx="153">
                  <c:v>1.3</c:v>
                </c:pt>
                <c:pt idx="154">
                  <c:v>1.35</c:v>
                </c:pt>
                <c:pt idx="155">
                  <c:v>1.4</c:v>
                </c:pt>
                <c:pt idx="156">
                  <c:v>1.45</c:v>
                </c:pt>
                <c:pt idx="157">
                  <c:v>1.2</c:v>
                </c:pt>
                <c:pt idx="158">
                  <c:v>1.25</c:v>
                </c:pt>
                <c:pt idx="159">
                  <c:v>1.3</c:v>
                </c:pt>
                <c:pt idx="160">
                  <c:v>1.35</c:v>
                </c:pt>
                <c:pt idx="161">
                  <c:v>1.4</c:v>
                </c:pt>
                <c:pt idx="162">
                  <c:v>1.45</c:v>
                </c:pt>
                <c:pt idx="163">
                  <c:v>1.25</c:v>
                </c:pt>
                <c:pt idx="164">
                  <c:v>1.3</c:v>
                </c:pt>
                <c:pt idx="165">
                  <c:v>1.35</c:v>
                </c:pt>
                <c:pt idx="166">
                  <c:v>1.4</c:v>
                </c:pt>
                <c:pt idx="167">
                  <c:v>1.45</c:v>
                </c:pt>
                <c:pt idx="168">
                  <c:v>1.3</c:v>
                </c:pt>
                <c:pt idx="169">
                  <c:v>1.35</c:v>
                </c:pt>
                <c:pt idx="170">
                  <c:v>1.4</c:v>
                </c:pt>
                <c:pt idx="171">
                  <c:v>1.45</c:v>
                </c:pt>
                <c:pt idx="172">
                  <c:v>1.3</c:v>
                </c:pt>
                <c:pt idx="173">
                  <c:v>1.35</c:v>
                </c:pt>
                <c:pt idx="174">
                  <c:v>1.4</c:v>
                </c:pt>
                <c:pt idx="175">
                  <c:v>1.45</c:v>
                </c:pt>
                <c:pt idx="176">
                  <c:v>1.35</c:v>
                </c:pt>
                <c:pt idx="177">
                  <c:v>1.4</c:v>
                </c:pt>
                <c:pt idx="178">
                  <c:v>1.45</c:v>
                </c:pt>
                <c:pt idx="179">
                  <c:v>1.35</c:v>
                </c:pt>
                <c:pt idx="180">
                  <c:v>1.4</c:v>
                </c:pt>
                <c:pt idx="181">
                  <c:v>1.45</c:v>
                </c:pt>
                <c:pt idx="182">
                  <c:v>1.4</c:v>
                </c:pt>
                <c:pt idx="183">
                  <c:v>1.45</c:v>
                </c:pt>
                <c:pt idx="184">
                  <c:v>1.45</c:v>
                </c:pt>
                <c:pt idx="185">
                  <c:v>1.45</c:v>
                </c:pt>
              </c:numCache>
            </c:numRef>
          </c:yVal>
        </c:ser>
        <c:ser>
          <c:idx val="1"/>
          <c:order val="1"/>
          <c:tx>
            <c:v>Menor acoplamiento</c:v>
          </c:tx>
          <c:spPr>
            <a:solidFill xmlns:a="http://schemas.openxmlformats.org/drawingml/2006/main">
              <a:srgbClr val="087E8B"/>
            </a:solidFill>
            <a:ln xmlns:a="http://schemas.openxmlformats.org/drawingml/2006/main" w="0">
              <a:noFill/>
            </a:ln>
          </c:spPr>
          <c:marker>
            <c:symbol val="circle"/>
            <c:size val="7"/>
            <c:spPr>
              <a:solidFill xmlns:a="http://schemas.openxmlformats.org/drawingml/2006/main">
                <a:srgbClr val="087E8B"/>
              </a:solidFill>
            </c:spPr>
          </c:marker>
          <c:xVal>
            <c:numRef>
              <c:f>'Chart Data'!$C$2:$C$28</c:f>
              <c:numCache>
                <c:formatCode>General</c:formatCode>
                <c:ptCount val="27"/>
                <c:pt idx="0">
                  <c:v>4</c:v>
                </c:pt>
                <c:pt idx="1">
                  <c:v>4</c:v>
                </c:pt>
                <c:pt idx="2">
                  <c:v>4</c:v>
                </c:pt>
                <c:pt idx="3">
                  <c:v>4</c:v>
                </c:pt>
                <c:pt idx="4">
                  <c:v>4.5</c:v>
                </c:pt>
                <c:pt idx="5">
                  <c:v>4.5</c:v>
                </c:pt>
                <c:pt idx="6">
                  <c:v>4.5</c:v>
                </c:pt>
                <c:pt idx="7">
                  <c:v>4.5</c:v>
                </c:pt>
                <c:pt idx="8">
                  <c:v>4.5</c:v>
                </c:pt>
                <c:pt idx="9">
                  <c:v>4.5</c:v>
                </c:pt>
                <c:pt idx="10">
                  <c:v>4.5</c:v>
                </c:pt>
                <c:pt idx="11">
                  <c:v>4.5</c:v>
                </c:pt>
                <c:pt idx="12">
                  <c:v>5</c:v>
                </c:pt>
                <c:pt idx="13">
                  <c:v>5</c:v>
                </c:pt>
                <c:pt idx="14">
                  <c:v>5</c:v>
                </c:pt>
                <c:pt idx="15">
                  <c:v>5</c:v>
                </c:pt>
                <c:pt idx="16">
                  <c:v>5</c:v>
                </c:pt>
                <c:pt idx="17">
                  <c:v>5</c:v>
                </c:pt>
                <c:pt idx="18">
                  <c:v>5.5</c:v>
                </c:pt>
                <c:pt idx="19">
                  <c:v>5.5</c:v>
                </c:pt>
                <c:pt idx="20">
                  <c:v>5.5</c:v>
                </c:pt>
                <c:pt idx="21">
                  <c:v>5.5</c:v>
                </c:pt>
                <c:pt idx="22">
                  <c:v>5.5</c:v>
                </c:pt>
                <c:pt idx="23">
                  <c:v>6</c:v>
                </c:pt>
                <c:pt idx="24">
                  <c:v>6</c:v>
                </c:pt>
                <c:pt idx="25">
                  <c:v>6</c:v>
                </c:pt>
                <c:pt idx="26">
                  <c:v>6.5</c:v>
                </c:pt>
              </c:numCache>
            </c:numRef>
          </c:xVal>
          <c:yVal>
            <c:numRef>
              <c:f>'Chart Data'!$D$2:$D$28</c:f>
              <c:numCache>
                <c:formatCode>0.0</c:formatCode>
                <c:ptCount val="27"/>
                <c:pt idx="0">
                  <c:v>1.3</c:v>
                </c:pt>
                <c:pt idx="1">
                  <c:v>1.35</c:v>
                </c:pt>
                <c:pt idx="2">
                  <c:v>1.4</c:v>
                </c:pt>
                <c:pt idx="3">
                  <c:v>1.45</c:v>
                </c:pt>
                <c:pt idx="4">
                  <c:v>1.1</c:v>
                </c:pt>
                <c:pt idx="5">
                  <c:v>1.15</c:v>
                </c:pt>
                <c:pt idx="6">
                  <c:v>1.2</c:v>
                </c:pt>
                <c:pt idx="7">
                  <c:v>1.25</c:v>
                </c:pt>
                <c:pt idx="8">
                  <c:v>1.3</c:v>
                </c:pt>
                <c:pt idx="9">
                  <c:v>1.35</c:v>
                </c:pt>
                <c:pt idx="10">
                  <c:v>1.4</c:v>
                </c:pt>
                <c:pt idx="11">
                  <c:v>1.45</c:v>
                </c:pt>
                <c:pt idx="12">
                  <c:v>1.2</c:v>
                </c:pt>
                <c:pt idx="13">
                  <c:v>1.25</c:v>
                </c:pt>
                <c:pt idx="14">
                  <c:v>1.3</c:v>
                </c:pt>
                <c:pt idx="15">
                  <c:v>1.35</c:v>
                </c:pt>
                <c:pt idx="16">
                  <c:v>1.4</c:v>
                </c:pt>
                <c:pt idx="17">
                  <c:v>1.45</c:v>
                </c:pt>
                <c:pt idx="18">
                  <c:v>1.25</c:v>
                </c:pt>
                <c:pt idx="19">
                  <c:v>1.3</c:v>
                </c:pt>
                <c:pt idx="20">
                  <c:v>1.35</c:v>
                </c:pt>
                <c:pt idx="21">
                  <c:v>1.4</c:v>
                </c:pt>
                <c:pt idx="22">
                  <c:v>1.45</c:v>
                </c:pt>
                <c:pt idx="23">
                  <c:v>1.35</c:v>
                </c:pt>
                <c:pt idx="24">
                  <c:v>1.4</c:v>
                </c:pt>
                <c:pt idx="25">
                  <c:v>1.45</c:v>
                </c:pt>
                <c:pt idx="26">
                  <c:v>1.45</c:v>
                </c:pt>
              </c:numCache>
            </c:numRef>
          </c:yVal>
        </c:ser>
        <c:ser>
          <c:idx val="2"/>
          <c:order val="2"/>
          <c:tx>
            <c:v>Punto elegido</c:v>
          </c:tx>
          <c:spPr>
            <a:solidFill xmlns:a="http://schemas.openxmlformats.org/drawingml/2006/main">
              <a:srgbClr val="087E8B"/>
            </a:solidFill>
            <a:ln xmlns:a="http://schemas.openxmlformats.org/drawingml/2006/main" w="0">
              <a:noFill/>
            </a:ln>
          </c:spPr>
          <c:marker>
            <c:symbol val="star"/>
            <c:size val="17"/>
            <c:spPr>
              <a:solidFill xmlns:a="http://schemas.openxmlformats.org/drawingml/2006/main">
                <a:srgbClr val="D66A2C"/>
              </a:solidFill>
            </c:spPr>
          </c:marker>
          <c:xVal>
            <c:numRef>
              <c:f>'Chart Data'!$E$2:$E$2</c:f>
              <c:numCache>
                <c:formatCode>General</c:formatCode>
                <c:ptCount val="1"/>
                <c:pt idx="0">
                  <c:v>4.5</c:v>
                </c:pt>
              </c:numCache>
            </c:numRef>
          </c:xVal>
          <c:yVal>
            <c:numRef>
              <c:f>'Chart Data'!$F$2:$F$2</c:f>
              <c:numCache>
                <c:formatCode>0.0</c:formatCode>
                <c:ptCount val="1"/>
                <c:pt idx="0">
                  <c:v>1.3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8"/>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K₂</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0"/>
        <c:majorTickMark val="none"/>
        <c:minorTickMark val="none"/>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50112"/>
        <c:crossesAt val="0"/>
        <c:majorUnit val="0.2"/>
      </c:valAx>
      <c:valAx>
        <c:axId val="48650112"/>
        <c:scaling>
          <c:orientation val="minMax"/>
          <c:max val="14"/>
          <c:min val="0"/>
        </c:scaling>
        <c:delete val="0"/>
        <c:axPos val="b"/>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K₁</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
        <c:majorTickMark val="none"/>
        <c:minorTickMark val="none"/>
        <c:tickLblPos val="low"/>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72768"/>
        <c:crossesAt val="0.8"/>
        <c:majorUnit val="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3283C"/>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3283C"/>
                </a:solidFill>
                <a:latin typeface="Arial"/>
                <a:ea typeface="Arial"/>
                <a:cs typeface="Arial"/>
              </a:rPr>
              <a:t>Respuesta al comando angular de 5°</a:t>
            </a:r>
          </a:p>
        </c:rich>
      </c:tx>
      <c:overlay val="0"/>
      <c:txPr>
        <a:bodyPr xmlns:a="http://schemas.openxmlformats.org/drawingml/2006/main" anchorCtr="1"/>
        <a:lstStyle xmlns:a="http://schemas.openxmlformats.org/drawingml/2006/main"/>
        <a:p xmlns:a="http://schemas.openxmlformats.org/drawingml/2006/main">
          <a:pPr>
            <a:defRPr sz="1875" b="1">
              <a:solidFill>
                <a:srgbClr val="13283C"/>
              </a:solidFill>
              <a:latin typeface="Arial"/>
              <a:ea typeface="Arial"/>
              <a:cs typeface="Arial"/>
            </a:defRPr>
          </a:pPr>
        </a:p>
      </c:txPr>
    </c:title>
    <c:plotArea>
      <c:scatterChart>
        <c:scatterStyle val="line"/>
        <c:varyColors val="0"/>
        <c:ser>
          <c:idx val="0"/>
          <c:order val="0"/>
          <c:tx>
            <c:v>Nominal</c:v>
          </c:tx>
          <c:spPr>
            <a:solidFill xmlns:a="http://schemas.openxmlformats.org/drawingml/2006/main">
              <a:srgbClr val="B6C3CC"/>
            </a:solidFill>
            <a:ln xmlns:a="http://schemas.openxmlformats.org/drawingml/2006/main" w="28575">
              <a:solidFill>
                <a:srgbClr val="B6C3CC"/>
              </a:solidFill>
              <a:prstDash val="solid"/>
            </a:ln>
          </c:spPr>
          <c:marker>
            <c:symbol val="none"/>
          </c:marker>
          <c:xVal>
            <c:numRef>
              <c:f>'Chart Data'!$A$2:$A$162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Data'!$B$2:$B$162</c:f>
              <c:numCache>
                <c:formatCode>0.0</c:formatCode>
                <c:ptCount val="161"/>
                <c:pt idx="0">
                  <c:v>-2.220446049E-15</c:v>
                </c:pt>
                <c:pt idx="1">
                  <c:v>0.00694671937</c:v>
                </c:pt>
                <c:pt idx="2">
                  <c:v>0.04454246627</c:v>
                </c:pt>
                <c:pt idx="3">
                  <c:v>0.1227165705</c:v>
                </c:pt>
                <c:pt idx="4">
                  <c:v>0.241184396</c:v>
                </c:pt>
                <c:pt idx="5">
                  <c:v>0.3957926588</c:v>
                </c:pt>
                <c:pt idx="6">
                  <c:v>0.5811633018</c:v>
                </c:pt>
                <c:pt idx="7">
                  <c:v>0.7917781437</c:v>
                </c:pt>
                <c:pt idx="8">
                  <c:v>1.022407769</c:v>
                </c:pt>
                <c:pt idx="9">
                  <c:v>1.268265613</c:v>
                </c:pt>
                <c:pt idx="10">
                  <c:v>1.525047815</c:v>
                </c:pt>
                <c:pt idx="11">
                  <c:v>1.788926462</c:v>
                </c:pt>
                <c:pt idx="12">
                  <c:v>2.056524644</c:v>
                </c:pt>
                <c:pt idx="13">
                  <c:v>2.324885226</c:v>
                </c:pt>
                <c:pt idx="14">
                  <c:v>2.591438278</c:v>
                </c:pt>
                <c:pt idx="15">
                  <c:v>2.853969158</c:v>
                </c:pt>
                <c:pt idx="16">
                  <c:v>3.110588048</c:v>
                </c:pt>
                <c:pt idx="17">
                  <c:v>3.359701187</c:v>
                </c:pt>
                <c:pt idx="18">
                  <c:v>3.599983877</c:v>
                </c:pt>
                <c:pt idx="19">
                  <c:v>3.830355205</c:v>
                </c:pt>
                <c:pt idx="20">
                  <c:v>4.04995444</c:v>
                </c:pt>
                <c:pt idx="21">
                  <c:v>4.258119012</c:v>
                </c:pt>
                <c:pt idx="22">
                  <c:v>4.454364009</c:v>
                </c:pt>
                <c:pt idx="23">
                  <c:v>4.638363108</c:v>
                </c:pt>
                <c:pt idx="24">
                  <c:v>4.80993087</c:v>
                </c:pt>
                <c:pt idx="25">
                  <c:v>4.96900633</c:v>
                </c:pt>
                <c:pt idx="26">
                  <c:v>5.11563781</c:v>
                </c:pt>
                <c:pt idx="27">
                  <c:v>5.249968909</c:v>
                </c:pt>
                <c:pt idx="28">
                  <c:v>5.372225576</c:v>
                </c:pt>
                <c:pt idx="29">
                  <c:v>5.482704242</c:v>
                </c:pt>
                <c:pt idx="30">
                  <c:v>5.581760928</c:v>
                </c:pt>
                <c:pt idx="31">
                  <c:v>5.669801293</c:v>
                </c:pt>
                <c:pt idx="32">
                  <c:v>5.74727155</c:v>
                </c:pt>
                <c:pt idx="33">
                  <c:v>5.814650225</c:v>
                </c:pt>
                <c:pt idx="34">
                  <c:v>5.872440677</c:v>
                </c:pt>
                <c:pt idx="35">
                  <c:v>5.921164365</c:v>
                </c:pt>
                <c:pt idx="36">
                  <c:v>5.961354791</c:v>
                </c:pt>
                <c:pt idx="37">
                  <c:v>5.993552092</c:v>
                </c:pt>
                <c:pt idx="38">
                  <c:v>6.018298226</c:v>
                </c:pt>
                <c:pt idx="39">
                  <c:v>6.036132723</c:v>
                </c:pt>
                <c:pt idx="40">
                  <c:v>6.047588949</c:v>
                </c:pt>
                <c:pt idx="41">
                  <c:v>6.053190864</c:v>
                </c:pt>
                <c:pt idx="42">
                  <c:v>6.053450216</c:v>
                </c:pt>
                <c:pt idx="43">
                  <c:v>6.048864154</c:v>
                </c:pt>
                <c:pt idx="44">
                  <c:v>6.039913221</c:v>
                </c:pt>
                <c:pt idx="45">
                  <c:v>6.027059693</c:v>
                </c:pt>
                <c:pt idx="46">
                  <c:v>6.010746243</c:v>
                </c:pt>
                <c:pt idx="47">
                  <c:v>5.991394891</c:v>
                </c:pt>
                <c:pt idx="48">
                  <c:v>5.969406219</c:v>
                </c:pt>
                <c:pt idx="49">
                  <c:v>5.945158832</c:v>
                </c:pt>
                <c:pt idx="50">
                  <c:v>5.919009026</c:v>
                </c:pt>
                <c:pt idx="51">
                  <c:v>5.891290653</c:v>
                </c:pt>
                <c:pt idx="52">
                  <c:v>5.862315161</c:v>
                </c:pt>
                <c:pt idx="53">
                  <c:v>5.832371781</c:v>
                </c:pt>
                <c:pt idx="54">
                  <c:v>5.801727849</c:v>
                </c:pt>
                <c:pt idx="55">
                  <c:v>5.770629251</c:v>
                </c:pt>
                <c:pt idx="56">
                  <c:v>5.739300956</c:v>
                </c:pt>
                <c:pt idx="57">
                  <c:v>5.707947649</c:v>
                </c:pt>
                <c:pt idx="58">
                  <c:v>5.676754425</c:v>
                </c:pt>
                <c:pt idx="59">
                  <c:v>5.645887548</c:v>
                </c:pt>
                <c:pt idx="60">
                  <c:v>5.615495255</c:v>
                </c:pt>
                <c:pt idx="61">
                  <c:v>5.585708599</c:v>
                </c:pt>
                <c:pt idx="62">
                  <c:v>5.556642315</c:v>
                </c:pt>
                <c:pt idx="63">
                  <c:v>5.528395714</c:v>
                </c:pt>
                <c:pt idx="64">
                  <c:v>5.501053574</c:v>
                </c:pt>
                <c:pt idx="65">
                  <c:v>5.474687046</c:v>
                </c:pt>
                <c:pt idx="66">
                  <c:v>5.449354551</c:v>
                </c:pt>
                <c:pt idx="67">
                  <c:v>5.42510267</c:v>
                </c:pt>
                <c:pt idx="68">
                  <c:v>5.40196702</c:v>
                </c:pt>
                <c:pt idx="69">
                  <c:v>5.379973111</c:v>
                </c:pt>
                <c:pt idx="70">
                  <c:v>5.359137185</c:v>
                </c:pt>
                <c:pt idx="71">
                  <c:v>5.339467024</c:v>
                </c:pt>
                <c:pt idx="72">
                  <c:v>5.320962735</c:v>
                </c:pt>
                <c:pt idx="73">
                  <c:v>5.303617503</c:v>
                </c:pt>
                <c:pt idx="74">
                  <c:v>5.287418313</c:v>
                </c:pt>
                <c:pt idx="75">
                  <c:v>5.272346637</c:v>
                </c:pt>
                <c:pt idx="76">
                  <c:v>5.258379091</c:v>
                </c:pt>
                <c:pt idx="77">
                  <c:v>5.245488053</c:v>
                </c:pt>
                <c:pt idx="78">
                  <c:v>5.233642243</c:v>
                </c:pt>
                <c:pt idx="79">
                  <c:v>5.222807279</c:v>
                </c:pt>
                <c:pt idx="80">
                  <c:v>5.212946185</c:v>
                </c:pt>
                <c:pt idx="81">
                  <c:v>5.204019868</c:v>
                </c:pt>
                <c:pt idx="82">
                  <c:v>5.195987567</c:v>
                </c:pt>
                <c:pt idx="83">
                  <c:v>5.188807259</c:v>
                </c:pt>
                <c:pt idx="84">
                  <c:v>5.182436035</c:v>
                </c:pt>
                <c:pt idx="85">
                  <c:v>5.176830447</c:v>
                </c:pt>
                <c:pt idx="86">
                  <c:v>5.171946822</c:v>
                </c:pt>
                <c:pt idx="87">
                  <c:v>5.167741546</c:v>
                </c:pt>
                <c:pt idx="88">
                  <c:v>5.164171315</c:v>
                </c:pt>
                <c:pt idx="89">
                  <c:v>5.161193372</c:v>
                </c:pt>
                <c:pt idx="90">
                  <c:v>5.1587657</c:v>
                </c:pt>
                <c:pt idx="91">
                  <c:v>5.156847207</c:v>
                </c:pt>
                <c:pt idx="92">
                  <c:v>5.155397875</c:v>
                </c:pt>
                <c:pt idx="93">
                  <c:v>5.154378898</c:v>
                </c:pt>
                <c:pt idx="94">
                  <c:v>5.153752786</c:v>
                </c:pt>
                <c:pt idx="95">
                  <c:v>5.153483466</c:v>
                </c:pt>
                <c:pt idx="96">
                  <c:v>5.153536354</c:v>
                </c:pt>
                <c:pt idx="97">
                  <c:v>5.153878412</c:v>
                </c:pt>
                <c:pt idx="98">
                  <c:v>5.154478192</c:v>
                </c:pt>
                <c:pt idx="99">
                  <c:v>5.15530587</c:v>
                </c:pt>
                <c:pt idx="100">
                  <c:v>5.156333255</c:v>
                </c:pt>
                <c:pt idx="101">
                  <c:v>5.157533801</c:v>
                </c:pt>
                <c:pt idx="102">
                  <c:v>5.158882597</c:v>
                </c:pt>
                <c:pt idx="103">
                  <c:v>5.160356356</c:v>
                </c:pt>
                <c:pt idx="104">
                  <c:v>5.161933392</c:v>
                </c:pt>
                <c:pt idx="105">
                  <c:v>5.163593585</c:v>
                </c:pt>
                <c:pt idx="106">
                  <c:v>5.165318351</c:v>
                </c:pt>
                <c:pt idx="107">
                  <c:v>5.167090594</c:v>
                </c:pt>
                <c:pt idx="108">
                  <c:v>5.168894664</c:v>
                </c:pt>
                <c:pt idx="109">
                  <c:v>5.170716303</c:v>
                </c:pt>
                <c:pt idx="110">
                  <c:v>5.17254259</c:v>
                </c:pt>
                <c:pt idx="111">
                  <c:v>5.174361885</c:v>
                </c:pt>
                <c:pt idx="112">
                  <c:v>5.176163773</c:v>
                </c:pt>
                <c:pt idx="113">
                  <c:v>5.177939</c:v>
                </c:pt>
                <c:pt idx="114">
                  <c:v>5.179679411</c:v>
                </c:pt>
                <c:pt idx="115">
                  <c:v>5.181377892</c:v>
                </c:pt>
                <c:pt idx="116">
                  <c:v>5.183028305</c:v>
                </c:pt>
                <c:pt idx="117">
                  <c:v>5.184625428</c:v>
                </c:pt>
                <c:pt idx="118">
                  <c:v>5.186164894</c:v>
                </c:pt>
                <c:pt idx="119">
                  <c:v>5.187643129</c:v>
                </c:pt>
                <c:pt idx="120">
                  <c:v>5.189057297</c:v>
                </c:pt>
                <c:pt idx="121">
                  <c:v>5.190405239</c:v>
                </c:pt>
                <c:pt idx="122">
                  <c:v>5.191685419</c:v>
                </c:pt>
                <c:pt idx="123">
                  <c:v>5.192896873</c:v>
                </c:pt>
                <c:pt idx="124">
                  <c:v>5.194039152</c:v>
                </c:pt>
                <c:pt idx="125">
                  <c:v>5.195112276</c:v>
                </c:pt>
                <c:pt idx="126">
                  <c:v>5.196116684</c:v>
                </c:pt>
                <c:pt idx="127">
                  <c:v>5.197053194</c:v>
                </c:pt>
                <c:pt idx="128">
                  <c:v>5.197922951</c:v>
                </c:pt>
                <c:pt idx="129">
                  <c:v>5.198727395</c:v>
                </c:pt>
                <c:pt idx="130">
                  <c:v>5.199468219</c:v>
                </c:pt>
                <c:pt idx="131">
                  <c:v>5.200147333</c:v>
                </c:pt>
                <c:pt idx="132">
                  <c:v>5.200766829</c:v>
                </c:pt>
                <c:pt idx="133">
                  <c:v>5.201328953</c:v>
                </c:pt>
                <c:pt idx="134">
                  <c:v>5.201836075</c:v>
                </c:pt>
                <c:pt idx="135">
                  <c:v>5.202290659</c:v>
                </c:pt>
                <c:pt idx="136">
                  <c:v>5.202695241</c:v>
                </c:pt>
                <c:pt idx="137">
                  <c:v>5.203052407</c:v>
                </c:pt>
                <c:pt idx="138">
                  <c:v>5.203364771</c:v>
                </c:pt>
                <c:pt idx="139">
                  <c:v>5.203634953</c:v>
                </c:pt>
                <c:pt idx="140">
                  <c:v>5.20386557</c:v>
                </c:pt>
                <c:pt idx="141">
                  <c:v>5.204059213</c:v>
                </c:pt>
                <c:pt idx="142">
                  <c:v>5.204218437</c:v>
                </c:pt>
                <c:pt idx="143">
                  <c:v>5.20434575</c:v>
                </c:pt>
                <c:pt idx="144">
                  <c:v>5.2044436</c:v>
                </c:pt>
                <c:pt idx="145">
                  <c:v>5.204514367</c:v>
                </c:pt>
                <c:pt idx="146">
                  <c:v>5.204560357</c:v>
                </c:pt>
                <c:pt idx="147">
                  <c:v>5.204583793</c:v>
                </c:pt>
                <c:pt idx="148">
                  <c:v>5.204586811</c:v>
                </c:pt>
                <c:pt idx="149">
                  <c:v>5.204571456</c:v>
                </c:pt>
                <c:pt idx="150">
                  <c:v>5.204539678</c:v>
                </c:pt>
                <c:pt idx="151">
                  <c:v>5.204493331</c:v>
                </c:pt>
                <c:pt idx="152">
                  <c:v>5.20443417</c:v>
                </c:pt>
                <c:pt idx="153">
                  <c:v>5.20436385</c:v>
                </c:pt>
                <c:pt idx="154">
                  <c:v>5.204283927</c:v>
                </c:pt>
                <c:pt idx="155">
                  <c:v>5.204195859</c:v>
                </c:pt>
                <c:pt idx="156">
                  <c:v>5.204101006</c:v>
                </c:pt>
                <c:pt idx="157">
                  <c:v>5.204000632</c:v>
                </c:pt>
                <c:pt idx="158">
                  <c:v>5.203895907</c:v>
                </c:pt>
                <c:pt idx="159">
                  <c:v>5.203787909</c:v>
                </c:pt>
                <c:pt idx="160">
                  <c:v>5.203677627</c:v>
                </c:pt>
              </c:numCache>
            </c:numRef>
          </c:yVal>
        </c:ser>
        <c:ser>
          <c:idx val="1"/>
          <c:order val="1"/>
          <c:tx>
            <c:v>Recomendado</c:v>
          </c:tx>
          <c:spPr>
            <a:solidFill xmlns:a="http://schemas.openxmlformats.org/drawingml/2006/main">
              <a:srgbClr val="087E8B"/>
            </a:solidFill>
            <a:ln xmlns:a="http://schemas.openxmlformats.org/drawingml/2006/main" w="28575">
              <a:solidFill>
                <a:srgbClr val="087E8B"/>
              </a:solidFill>
              <a:prstDash val="solid"/>
            </a:ln>
          </c:spPr>
          <c:marker>
            <c:symbol val="none"/>
          </c:marker>
          <c:xVal>
            <c:numRef>
              <c:f>'Chart Data'!$C$2:$C$162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Data'!$D$2:$D$162</c:f>
              <c:numCache>
                <c:formatCode>0.0</c:formatCode>
                <c:ptCount val="161"/>
                <c:pt idx="0">
                  <c:v>2.220446049E-15</c:v>
                </c:pt>
                <c:pt idx="1">
                  <c:v>0.01789095312</c:v>
                </c:pt>
                <c:pt idx="2">
                  <c:v>0.1118064851</c:v>
                </c:pt>
                <c:pt idx="3">
                  <c:v>0.296526868</c:v>
                </c:pt>
                <c:pt idx="4">
                  <c:v>0.5560003765</c:v>
                </c:pt>
                <c:pt idx="5">
                  <c:v>0.8651722764</c:v>
                </c:pt>
                <c:pt idx="6">
                  <c:v>1.200093122</c:v>
                </c:pt>
                <c:pt idx="7">
                  <c:v>1.541705861</c:v>
                </c:pt>
                <c:pt idx="8">
                  <c:v>1.876500521</c:v>
                </c:pt>
                <c:pt idx="9">
                  <c:v>2.19582021</c:v>
                </c:pt>
                <c:pt idx="10">
                  <c:v>2.494749327</c:v>
                </c:pt>
                <c:pt idx="11">
                  <c:v>2.771022426</c:v>
                </c:pt>
                <c:pt idx="12">
                  <c:v>3.024124125</c:v>
                </c:pt>
                <c:pt idx="13">
                  <c:v>3.25461594</c:v>
                </c:pt>
                <c:pt idx="14">
                  <c:v>3.463666565</c:v>
                </c:pt>
                <c:pt idx="15">
                  <c:v>3.652742487</c:v>
                </c:pt>
                <c:pt idx="16">
                  <c:v>3.823415148</c:v>
                </c:pt>
                <c:pt idx="17">
                  <c:v>3.97724789</c:v>
                </c:pt>
                <c:pt idx="18">
                  <c:v>4.11573475</c:v>
                </c:pt>
                <c:pt idx="19">
                  <c:v>4.24027135</c:v>
                </c:pt>
                <c:pt idx="20">
                  <c:v>4.35214462</c:v>
                </c:pt>
                <c:pt idx="21">
                  <c:v>4.452532892</c:v>
                </c:pt>
                <c:pt idx="22">
                  <c:v>4.542511182</c:v>
                </c:pt>
                <c:pt idx="23">
                  <c:v>4.623058693</c:v>
                </c:pt>
                <c:pt idx="24">
                  <c:v>4.69506689</c:v>
                </c:pt>
                <c:pt idx="25">
                  <c:v>4.759347343</c:v>
                </c:pt>
                <c:pt idx="26">
                  <c:v>4.816638989</c:v>
                </c:pt>
                <c:pt idx="27">
                  <c:v>4.867614705</c:v>
                </c:pt>
                <c:pt idx="28">
                  <c:v>4.912887209</c:v>
                </c:pt>
                <c:pt idx="29">
                  <c:v>4.953014353</c:v>
                </c:pt>
                <c:pt idx="30">
                  <c:v>4.988503893</c:v>
                </c:pt>
                <c:pt idx="31">
                  <c:v>5.019817788</c:v>
                </c:pt>
                <c:pt idx="32">
                  <c:v>5.047376113</c:v>
                </c:pt>
                <c:pt idx="33">
                  <c:v>5.071560628</c:v>
                </c:pt>
                <c:pt idx="34">
                  <c:v>5.092718031</c:v>
                </c:pt>
                <c:pt idx="35">
                  <c:v>5.111162954</c:v>
                </c:pt>
                <c:pt idx="36">
                  <c:v>5.127180704</c:v>
                </c:pt>
                <c:pt idx="37">
                  <c:v>5.141029786</c:v>
                </c:pt>
                <c:pt idx="38">
                  <c:v>5.152944222</c:v>
                </c:pt>
                <c:pt idx="39">
                  <c:v>5.163135679</c:v>
                </c:pt>
                <c:pt idx="40">
                  <c:v>5.17179543</c:v>
                </c:pt>
                <c:pt idx="41">
                  <c:v>5.179096147</c:v>
                </c:pt>
                <c:pt idx="42">
                  <c:v>5.185193562</c:v>
                </c:pt>
                <c:pt idx="43">
                  <c:v>5.190227973</c:v>
                </c:pt>
                <c:pt idx="44">
                  <c:v>5.19432564</c:v>
                </c:pt>
                <c:pt idx="45">
                  <c:v>5.197600054</c:v>
                </c:pt>
                <c:pt idx="46">
                  <c:v>5.20015311</c:v>
                </c:pt>
                <c:pt idx="47">
                  <c:v>5.202076171</c:v>
                </c:pt>
                <c:pt idx="48">
                  <c:v>5.203451047</c:v>
                </c:pt>
                <c:pt idx="49">
                  <c:v>5.204350889</c:v>
                </c:pt>
                <c:pt idx="50">
                  <c:v>5.204841005</c:v>
                </c:pt>
                <c:pt idx="51">
                  <c:v>5.20497961</c:v>
                </c:pt>
                <c:pt idx="52">
                  <c:v>5.2048185</c:v>
                </c:pt>
                <c:pt idx="53">
                  <c:v>5.204403679</c:v>
                </c:pt>
                <c:pt idx="54">
                  <c:v>5.203775922</c:v>
                </c:pt>
                <c:pt idx="55">
                  <c:v>5.202971292</c:v>
                </c:pt>
                <c:pt idx="56">
                  <c:v>5.202021607</c:v>
                </c:pt>
                <c:pt idx="57">
                  <c:v>5.20095487</c:v>
                </c:pt>
                <c:pt idx="58">
                  <c:v>5.199795656</c:v>
                </c:pt>
                <c:pt idx="59">
                  <c:v>5.198565463</c:v>
                </c:pt>
                <c:pt idx="60">
                  <c:v>5.197283032</c:v>
                </c:pt>
                <c:pt idx="61">
                  <c:v>5.195964637</c:v>
                </c:pt>
                <c:pt idx="62">
                  <c:v>5.194624351</c:v>
                </c:pt>
                <c:pt idx="63">
                  <c:v>5.193274279</c:v>
                </c:pt>
                <c:pt idx="64">
                  <c:v>5.191924776</c:v>
                </c:pt>
                <c:pt idx="65">
                  <c:v>5.190584638</c:v>
                </c:pt>
                <c:pt idx="66">
                  <c:v>5.189261285</c:v>
                </c:pt>
                <c:pt idx="67">
                  <c:v>5.18796091</c:v>
                </c:pt>
                <c:pt idx="68">
                  <c:v>5.186688627</c:v>
                </c:pt>
                <c:pt idx="69">
                  <c:v>5.185448599</c:v>
                </c:pt>
                <c:pt idx="70">
                  <c:v>5.184244153</c:v>
                </c:pt>
                <c:pt idx="71">
                  <c:v>5.183077881</c:v>
                </c:pt>
                <c:pt idx="72">
                  <c:v>5.181951735</c:v>
                </c:pt>
                <c:pt idx="73">
                  <c:v>5.180867113</c:v>
                </c:pt>
                <c:pt idx="74">
                  <c:v>5.179824928</c:v>
                </c:pt>
                <c:pt idx="75">
                  <c:v>5.178825675</c:v>
                </c:pt>
                <c:pt idx="76">
                  <c:v>5.177869496</c:v>
                </c:pt>
                <c:pt idx="77">
                  <c:v>5.176956225</c:v>
                </c:pt>
                <c:pt idx="78">
                  <c:v>5.17608544</c:v>
                </c:pt>
                <c:pt idx="79">
                  <c:v>5.175256502</c:v>
                </c:pt>
                <c:pt idx="80">
                  <c:v>5.174468594</c:v>
                </c:pt>
                <c:pt idx="81">
                  <c:v>5.173720748</c:v>
                </c:pt>
                <c:pt idx="82">
                  <c:v>5.173011881</c:v>
                </c:pt>
                <c:pt idx="83">
                  <c:v>5.172340814</c:v>
                </c:pt>
                <c:pt idx="84">
                  <c:v>5.171706295</c:v>
                </c:pt>
                <c:pt idx="85">
                  <c:v>5.171107022</c:v>
                </c:pt>
                <c:pt idx="86">
                  <c:v>5.170541654</c:v>
                </c:pt>
                <c:pt idx="87">
                  <c:v>5.170008829</c:v>
                </c:pt>
                <c:pt idx="88">
                  <c:v>5.169507173</c:v>
                </c:pt>
                <c:pt idx="89">
                  <c:v>5.169035316</c:v>
                </c:pt>
                <c:pt idx="90">
                  <c:v>5.168591895</c:v>
                </c:pt>
                <c:pt idx="91">
                  <c:v>5.168175566</c:v>
                </c:pt>
                <c:pt idx="92">
                  <c:v>5.167785005</c:v>
                </c:pt>
                <c:pt idx="93">
                  <c:v>5.16741892</c:v>
                </c:pt>
                <c:pt idx="94">
                  <c:v>5.167076051</c:v>
                </c:pt>
                <c:pt idx="95">
                  <c:v>5.166755174</c:v>
                </c:pt>
                <c:pt idx="96">
                  <c:v>5.166455102</c:v>
                </c:pt>
                <c:pt idx="97">
                  <c:v>5.166174692</c:v>
                </c:pt>
                <c:pt idx="98">
                  <c:v>5.16591284</c:v>
                </c:pt>
                <c:pt idx="99">
                  <c:v>5.165668489</c:v>
                </c:pt>
                <c:pt idx="100">
                  <c:v>5.165440621</c:v>
                </c:pt>
                <c:pt idx="101">
                  <c:v>5.165228266</c:v>
                </c:pt>
                <c:pt idx="102">
                  <c:v>5.165030494</c:v>
                </c:pt>
                <c:pt idx="103">
                  <c:v>5.164846422</c:v>
                </c:pt>
                <c:pt idx="104">
                  <c:v>5.164675206</c:v>
                </c:pt>
                <c:pt idx="105">
                  <c:v>5.164516046</c:v>
                </c:pt>
                <c:pt idx="106">
                  <c:v>5.164368182</c:v>
                </c:pt>
                <c:pt idx="107">
                  <c:v>5.164230892</c:v>
                </c:pt>
                <c:pt idx="108">
                  <c:v>5.164103496</c:v>
                </c:pt>
                <c:pt idx="109">
                  <c:v>5.163985348</c:v>
                </c:pt>
                <c:pt idx="110">
                  <c:v>5.163875839</c:v>
                </c:pt>
                <c:pt idx="111">
                  <c:v>5.163774395</c:v>
                </c:pt>
                <c:pt idx="112">
                  <c:v>5.163680474</c:v>
                </c:pt>
                <c:pt idx="113">
                  <c:v>5.163593566</c:v>
                </c:pt>
                <c:pt idx="114">
                  <c:v>5.163513192</c:v>
                </c:pt>
                <c:pt idx="115">
                  <c:v>5.1634389</c:v>
                </c:pt>
                <c:pt idx="116">
                  <c:v>5.163370269</c:v>
                </c:pt>
                <c:pt idx="117">
                  <c:v>5.163306901</c:v>
                </c:pt>
                <c:pt idx="118">
                  <c:v>5.163248423</c:v>
                </c:pt>
                <c:pt idx="119">
                  <c:v>5.163194488</c:v>
                </c:pt>
                <c:pt idx="120">
                  <c:v>5.163144769</c:v>
                </c:pt>
                <c:pt idx="121">
                  <c:v>5.163098962</c:v>
                </c:pt>
                <c:pt idx="122">
                  <c:v>5.163056781</c:v>
                </c:pt>
                <c:pt idx="123">
                  <c:v>5.16301796</c:v>
                </c:pt>
                <c:pt idx="124">
                  <c:v>5.162982251</c:v>
                </c:pt>
                <c:pt idx="125">
                  <c:v>5.162949423</c:v>
                </c:pt>
                <c:pt idx="126">
                  <c:v>5.162919259</c:v>
                </c:pt>
                <c:pt idx="127">
                  <c:v>5.162891559</c:v>
                </c:pt>
                <c:pt idx="128">
                  <c:v>5.162866135</c:v>
                </c:pt>
                <c:pt idx="129">
                  <c:v>5.162842813</c:v>
                </c:pt>
                <c:pt idx="130">
                  <c:v>5.162821433</c:v>
                </c:pt>
                <c:pt idx="131">
                  <c:v>5.162801842</c:v>
                </c:pt>
                <c:pt idx="132">
                  <c:v>5.162783903</c:v>
                </c:pt>
                <c:pt idx="133">
                  <c:v>5.162767485</c:v>
                </c:pt>
                <c:pt idx="134">
                  <c:v>5.162752469</c:v>
                </c:pt>
                <c:pt idx="135">
                  <c:v>5.162738742</c:v>
                </c:pt>
                <c:pt idx="136">
                  <c:v>5.162726203</c:v>
                </c:pt>
                <c:pt idx="137">
                  <c:v>5.162714755</c:v>
                </c:pt>
                <c:pt idx="138">
                  <c:v>5.16270431</c:v>
                </c:pt>
                <c:pt idx="139">
                  <c:v>5.162694787</c:v>
                </c:pt>
                <c:pt idx="140">
                  <c:v>5.16268611</c:v>
                </c:pt>
                <c:pt idx="141">
                  <c:v>5.162678209</c:v>
                </c:pt>
                <c:pt idx="142">
                  <c:v>5.162671021</c:v>
                </c:pt>
                <c:pt idx="143">
                  <c:v>5.162664484</c:v>
                </c:pt>
                <c:pt idx="144">
                  <c:v>5.162658545</c:v>
                </c:pt>
                <c:pt idx="145">
                  <c:v>5.162653154</c:v>
                </c:pt>
                <c:pt idx="146">
                  <c:v>5.162648263</c:v>
                </c:pt>
                <c:pt idx="147">
                  <c:v>5.16264383</c:v>
                </c:pt>
                <c:pt idx="148">
                  <c:v>5.162639814</c:v>
                </c:pt>
                <c:pt idx="149">
                  <c:v>5.162636181</c:v>
                </c:pt>
                <c:pt idx="150">
                  <c:v>5.162632897</c:v>
                </c:pt>
                <c:pt idx="151">
                  <c:v>5.16262993</c:v>
                </c:pt>
                <c:pt idx="152">
                  <c:v>5.162627254</c:v>
                </c:pt>
                <c:pt idx="153">
                  <c:v>5.162624841</c:v>
                </c:pt>
                <c:pt idx="154">
                  <c:v>5.162622668</c:v>
                </c:pt>
                <c:pt idx="155">
                  <c:v>5.162620714</c:v>
                </c:pt>
                <c:pt idx="156">
                  <c:v>5.162618959</c:v>
                </c:pt>
                <c:pt idx="157">
                  <c:v>5.162617384</c:v>
                </c:pt>
                <c:pt idx="158">
                  <c:v>5.162615973</c:v>
                </c:pt>
                <c:pt idx="159">
                  <c:v>5.16261471</c:v>
                </c:pt>
                <c:pt idx="160">
                  <c:v>5.162613582</c:v>
                </c:pt>
              </c:numCache>
            </c:numRef>
          </c:yVal>
        </c:ser>
        <c:ser>
          <c:idx val="2"/>
          <c:order val="2"/>
          <c:tx>
            <c:v>Referencia 5°</c:v>
          </c:tx>
          <c:spPr>
            <a:solidFill xmlns:a="http://schemas.openxmlformats.org/drawingml/2006/main">
              <a:srgbClr val="087E8B"/>
            </a:solidFill>
            <a:ln xmlns:a="http://schemas.openxmlformats.org/drawingml/2006/main" w="19050">
              <a:solidFill>
                <a:srgbClr val="D66A2C"/>
              </a:solidFill>
              <a:prstDash val="dash"/>
            </a:ln>
          </c:spPr>
          <c:marker>
            <c:symbol val="none"/>
          </c:marker>
          <c:xVal>
            <c:numRef>
              <c:f>'Chart Data'!$E$2:$E$3</c:f>
              <c:numCache>
                <c:formatCode>General</c:formatCode>
                <c:ptCount val="2"/>
                <c:pt idx="0">
                  <c:v>0</c:v>
                </c:pt>
                <c:pt idx="1">
                  <c:v>8</c:v>
                </c:pt>
              </c:numCache>
            </c:numRef>
          </c:xVal>
          <c:yVal>
            <c:numRef>
              <c:f>'Chart Data'!$F$2:$F$3</c:f>
              <c:numCache>
                <c:formatCode>0.0</c:formatCode>
                <c:ptCount val="2"/>
                <c:pt idx="0">
                  <c:v>5</c:v>
                </c:pt>
                <c:pt idx="1">
                  <c:v>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5"/>
          <c:min val="0"/>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θ (°)</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0"/>
        <c:majorTickMark val="none"/>
        <c:minorTickMark val="none"/>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50112"/>
        <c:crossesAt val="0"/>
        <c:majorUnit val="1"/>
      </c:valAx>
      <c:valAx>
        <c:axId val="48650112"/>
        <c:scaling>
          <c:orientation val="minMax"/>
          <c:max val="8"/>
          <c:min val="0"/>
        </c:scaling>
        <c:delete val="0"/>
        <c:axPos val="b"/>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Tiempo (s)</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
        <c:majorTickMark val="none"/>
        <c:minorTickMark val="none"/>
        <c:tickLblPos val="low"/>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72768"/>
        <c:crossesAt val="0"/>
        <c:majorUnit val="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3283C"/>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3283C"/>
                </a:solidFill>
                <a:latin typeface="Arial"/>
                <a:ea typeface="Arial"/>
                <a:cs typeface="Arial"/>
              </a:rPr>
              <a:t>Control con retardo de una muestra</a:t>
            </a:r>
          </a:p>
        </c:rich>
      </c:tx>
      <c:overlay val="0"/>
      <c:txPr>
        <a:bodyPr xmlns:a="http://schemas.openxmlformats.org/drawingml/2006/main" anchorCtr="1"/>
        <a:lstStyle xmlns:a="http://schemas.openxmlformats.org/drawingml/2006/main"/>
        <a:p xmlns:a="http://schemas.openxmlformats.org/drawingml/2006/main">
          <a:pPr>
            <a:defRPr sz="1875" b="1">
              <a:solidFill>
                <a:srgbClr val="13283C"/>
              </a:solidFill>
              <a:latin typeface="Arial"/>
              <a:ea typeface="Arial"/>
              <a:cs typeface="Arial"/>
            </a:defRPr>
          </a:pPr>
        </a:p>
      </c:txPr>
    </c:title>
    <c:plotArea>
      <c:scatterChart>
        <c:scatterStyle val="line"/>
        <c:varyColors val="0"/>
        <c:ser>
          <c:idx val="0"/>
          <c:order val="0"/>
          <c:tx>
            <c:v>Continuo</c:v>
          </c:tx>
          <c:spPr>
            <a:solidFill xmlns:a="http://schemas.openxmlformats.org/drawingml/2006/main">
              <a:srgbClr val="B6C3CC"/>
            </a:solidFill>
            <a:ln xmlns:a="http://schemas.openxmlformats.org/drawingml/2006/main" w="28575">
              <a:solidFill>
                <a:srgbClr val="B6C3CC"/>
              </a:solidFill>
              <a:prstDash val="solid"/>
            </a:ln>
          </c:spPr>
          <c:marker>
            <c:symbol val="none"/>
          </c:marker>
          <c:xVal>
            <c:numRef>
              <c:f>'Chart Data'!$A$2:$A$162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Data'!$B$2:$B$162</c:f>
              <c:numCache>
                <c:formatCode>0.0</c:formatCode>
                <c:ptCount val="161"/>
                <c:pt idx="0">
                  <c:v>2.220446049E-15</c:v>
                </c:pt>
                <c:pt idx="1">
                  <c:v>0.01789095312</c:v>
                </c:pt>
                <c:pt idx="2">
                  <c:v>0.1118064851</c:v>
                </c:pt>
                <c:pt idx="3">
                  <c:v>0.296526868</c:v>
                </c:pt>
                <c:pt idx="4">
                  <c:v>0.5560003765</c:v>
                </c:pt>
                <c:pt idx="5">
                  <c:v>0.8651722764</c:v>
                </c:pt>
                <c:pt idx="6">
                  <c:v>1.200093122</c:v>
                </c:pt>
                <c:pt idx="7">
                  <c:v>1.541705861</c:v>
                </c:pt>
                <c:pt idx="8">
                  <c:v>1.876500521</c:v>
                </c:pt>
                <c:pt idx="9">
                  <c:v>2.19582021</c:v>
                </c:pt>
                <c:pt idx="10">
                  <c:v>2.494749327</c:v>
                </c:pt>
                <c:pt idx="11">
                  <c:v>2.771022426</c:v>
                </c:pt>
                <c:pt idx="12">
                  <c:v>3.024124125</c:v>
                </c:pt>
                <c:pt idx="13">
                  <c:v>3.25461594</c:v>
                </c:pt>
                <c:pt idx="14">
                  <c:v>3.463666565</c:v>
                </c:pt>
                <c:pt idx="15">
                  <c:v>3.652742487</c:v>
                </c:pt>
                <c:pt idx="16">
                  <c:v>3.823415148</c:v>
                </c:pt>
                <c:pt idx="17">
                  <c:v>3.97724789</c:v>
                </c:pt>
                <c:pt idx="18">
                  <c:v>4.11573475</c:v>
                </c:pt>
                <c:pt idx="19">
                  <c:v>4.24027135</c:v>
                </c:pt>
                <c:pt idx="20">
                  <c:v>4.35214462</c:v>
                </c:pt>
                <c:pt idx="21">
                  <c:v>4.452532892</c:v>
                </c:pt>
                <c:pt idx="22">
                  <c:v>4.542511182</c:v>
                </c:pt>
                <c:pt idx="23">
                  <c:v>4.623058693</c:v>
                </c:pt>
                <c:pt idx="24">
                  <c:v>4.69506689</c:v>
                </c:pt>
                <c:pt idx="25">
                  <c:v>4.759347343</c:v>
                </c:pt>
                <c:pt idx="26">
                  <c:v>4.816638989</c:v>
                </c:pt>
                <c:pt idx="27">
                  <c:v>4.867614705</c:v>
                </c:pt>
                <c:pt idx="28">
                  <c:v>4.912887209</c:v>
                </c:pt>
                <c:pt idx="29">
                  <c:v>4.953014353</c:v>
                </c:pt>
                <c:pt idx="30">
                  <c:v>4.988503893</c:v>
                </c:pt>
                <c:pt idx="31">
                  <c:v>5.019817788</c:v>
                </c:pt>
                <c:pt idx="32">
                  <c:v>5.047376113</c:v>
                </c:pt>
                <c:pt idx="33">
                  <c:v>5.071560628</c:v>
                </c:pt>
                <c:pt idx="34">
                  <c:v>5.092718031</c:v>
                </c:pt>
                <c:pt idx="35">
                  <c:v>5.111162954</c:v>
                </c:pt>
                <c:pt idx="36">
                  <c:v>5.127180704</c:v>
                </c:pt>
                <c:pt idx="37">
                  <c:v>5.141029786</c:v>
                </c:pt>
                <c:pt idx="38">
                  <c:v>5.152944222</c:v>
                </c:pt>
                <c:pt idx="39">
                  <c:v>5.163135679</c:v>
                </c:pt>
                <c:pt idx="40">
                  <c:v>5.17179543</c:v>
                </c:pt>
                <c:pt idx="41">
                  <c:v>5.179096147</c:v>
                </c:pt>
                <c:pt idx="42">
                  <c:v>5.185193562</c:v>
                </c:pt>
                <c:pt idx="43">
                  <c:v>5.190227973</c:v>
                </c:pt>
                <c:pt idx="44">
                  <c:v>5.19432564</c:v>
                </c:pt>
                <c:pt idx="45">
                  <c:v>5.197600054</c:v>
                </c:pt>
                <c:pt idx="46">
                  <c:v>5.20015311</c:v>
                </c:pt>
                <c:pt idx="47">
                  <c:v>5.202076171</c:v>
                </c:pt>
                <c:pt idx="48">
                  <c:v>5.203451047</c:v>
                </c:pt>
                <c:pt idx="49">
                  <c:v>5.204350889</c:v>
                </c:pt>
                <c:pt idx="50">
                  <c:v>5.204841005</c:v>
                </c:pt>
                <c:pt idx="51">
                  <c:v>5.20497961</c:v>
                </c:pt>
                <c:pt idx="52">
                  <c:v>5.2048185</c:v>
                </c:pt>
                <c:pt idx="53">
                  <c:v>5.204403679</c:v>
                </c:pt>
                <c:pt idx="54">
                  <c:v>5.203775922</c:v>
                </c:pt>
                <c:pt idx="55">
                  <c:v>5.202971292</c:v>
                </c:pt>
                <c:pt idx="56">
                  <c:v>5.202021607</c:v>
                </c:pt>
                <c:pt idx="57">
                  <c:v>5.20095487</c:v>
                </c:pt>
                <c:pt idx="58">
                  <c:v>5.199795656</c:v>
                </c:pt>
                <c:pt idx="59">
                  <c:v>5.198565463</c:v>
                </c:pt>
                <c:pt idx="60">
                  <c:v>5.197283032</c:v>
                </c:pt>
                <c:pt idx="61">
                  <c:v>5.195964637</c:v>
                </c:pt>
                <c:pt idx="62">
                  <c:v>5.194624351</c:v>
                </c:pt>
                <c:pt idx="63">
                  <c:v>5.193274279</c:v>
                </c:pt>
                <c:pt idx="64">
                  <c:v>5.191924776</c:v>
                </c:pt>
                <c:pt idx="65">
                  <c:v>5.190584638</c:v>
                </c:pt>
                <c:pt idx="66">
                  <c:v>5.189261285</c:v>
                </c:pt>
                <c:pt idx="67">
                  <c:v>5.18796091</c:v>
                </c:pt>
                <c:pt idx="68">
                  <c:v>5.186688627</c:v>
                </c:pt>
                <c:pt idx="69">
                  <c:v>5.185448599</c:v>
                </c:pt>
                <c:pt idx="70">
                  <c:v>5.184244153</c:v>
                </c:pt>
                <c:pt idx="71">
                  <c:v>5.183077881</c:v>
                </c:pt>
                <c:pt idx="72">
                  <c:v>5.181951735</c:v>
                </c:pt>
                <c:pt idx="73">
                  <c:v>5.180867113</c:v>
                </c:pt>
                <c:pt idx="74">
                  <c:v>5.179824928</c:v>
                </c:pt>
                <c:pt idx="75">
                  <c:v>5.178825675</c:v>
                </c:pt>
                <c:pt idx="76">
                  <c:v>5.177869496</c:v>
                </c:pt>
                <c:pt idx="77">
                  <c:v>5.176956225</c:v>
                </c:pt>
                <c:pt idx="78">
                  <c:v>5.17608544</c:v>
                </c:pt>
                <c:pt idx="79">
                  <c:v>5.175256502</c:v>
                </c:pt>
                <c:pt idx="80">
                  <c:v>5.174468594</c:v>
                </c:pt>
                <c:pt idx="81">
                  <c:v>5.173720748</c:v>
                </c:pt>
                <c:pt idx="82">
                  <c:v>5.173011881</c:v>
                </c:pt>
                <c:pt idx="83">
                  <c:v>5.172340814</c:v>
                </c:pt>
                <c:pt idx="84">
                  <c:v>5.171706295</c:v>
                </c:pt>
                <c:pt idx="85">
                  <c:v>5.171107022</c:v>
                </c:pt>
                <c:pt idx="86">
                  <c:v>5.170541654</c:v>
                </c:pt>
                <c:pt idx="87">
                  <c:v>5.170008829</c:v>
                </c:pt>
                <c:pt idx="88">
                  <c:v>5.169507173</c:v>
                </c:pt>
                <c:pt idx="89">
                  <c:v>5.169035316</c:v>
                </c:pt>
                <c:pt idx="90">
                  <c:v>5.168591895</c:v>
                </c:pt>
                <c:pt idx="91">
                  <c:v>5.168175566</c:v>
                </c:pt>
                <c:pt idx="92">
                  <c:v>5.167785005</c:v>
                </c:pt>
                <c:pt idx="93">
                  <c:v>5.16741892</c:v>
                </c:pt>
                <c:pt idx="94">
                  <c:v>5.167076051</c:v>
                </c:pt>
                <c:pt idx="95">
                  <c:v>5.166755174</c:v>
                </c:pt>
                <c:pt idx="96">
                  <c:v>5.166455102</c:v>
                </c:pt>
                <c:pt idx="97">
                  <c:v>5.166174692</c:v>
                </c:pt>
                <c:pt idx="98">
                  <c:v>5.16591284</c:v>
                </c:pt>
                <c:pt idx="99">
                  <c:v>5.165668489</c:v>
                </c:pt>
                <c:pt idx="100">
                  <c:v>5.165440621</c:v>
                </c:pt>
                <c:pt idx="101">
                  <c:v>5.165228266</c:v>
                </c:pt>
                <c:pt idx="102">
                  <c:v>5.165030494</c:v>
                </c:pt>
                <c:pt idx="103">
                  <c:v>5.164846422</c:v>
                </c:pt>
                <c:pt idx="104">
                  <c:v>5.164675206</c:v>
                </c:pt>
                <c:pt idx="105">
                  <c:v>5.164516046</c:v>
                </c:pt>
                <c:pt idx="106">
                  <c:v>5.164368182</c:v>
                </c:pt>
                <c:pt idx="107">
                  <c:v>5.164230892</c:v>
                </c:pt>
                <c:pt idx="108">
                  <c:v>5.164103496</c:v>
                </c:pt>
                <c:pt idx="109">
                  <c:v>5.163985348</c:v>
                </c:pt>
                <c:pt idx="110">
                  <c:v>5.163875839</c:v>
                </c:pt>
                <c:pt idx="111">
                  <c:v>5.163774395</c:v>
                </c:pt>
                <c:pt idx="112">
                  <c:v>5.163680474</c:v>
                </c:pt>
                <c:pt idx="113">
                  <c:v>5.163593566</c:v>
                </c:pt>
                <c:pt idx="114">
                  <c:v>5.163513192</c:v>
                </c:pt>
                <c:pt idx="115">
                  <c:v>5.1634389</c:v>
                </c:pt>
                <c:pt idx="116">
                  <c:v>5.163370269</c:v>
                </c:pt>
                <c:pt idx="117">
                  <c:v>5.163306901</c:v>
                </c:pt>
                <c:pt idx="118">
                  <c:v>5.163248423</c:v>
                </c:pt>
                <c:pt idx="119">
                  <c:v>5.163194488</c:v>
                </c:pt>
                <c:pt idx="120">
                  <c:v>5.163144769</c:v>
                </c:pt>
                <c:pt idx="121">
                  <c:v>5.163098962</c:v>
                </c:pt>
                <c:pt idx="122">
                  <c:v>5.163056781</c:v>
                </c:pt>
                <c:pt idx="123">
                  <c:v>5.16301796</c:v>
                </c:pt>
                <c:pt idx="124">
                  <c:v>5.162982251</c:v>
                </c:pt>
                <c:pt idx="125">
                  <c:v>5.162949423</c:v>
                </c:pt>
                <c:pt idx="126">
                  <c:v>5.162919259</c:v>
                </c:pt>
                <c:pt idx="127">
                  <c:v>5.162891559</c:v>
                </c:pt>
                <c:pt idx="128">
                  <c:v>5.162866135</c:v>
                </c:pt>
                <c:pt idx="129">
                  <c:v>5.162842813</c:v>
                </c:pt>
                <c:pt idx="130">
                  <c:v>5.162821433</c:v>
                </c:pt>
                <c:pt idx="131">
                  <c:v>5.162801842</c:v>
                </c:pt>
                <c:pt idx="132">
                  <c:v>5.162783903</c:v>
                </c:pt>
                <c:pt idx="133">
                  <c:v>5.162767485</c:v>
                </c:pt>
                <c:pt idx="134">
                  <c:v>5.162752469</c:v>
                </c:pt>
                <c:pt idx="135">
                  <c:v>5.162738742</c:v>
                </c:pt>
                <c:pt idx="136">
                  <c:v>5.162726203</c:v>
                </c:pt>
                <c:pt idx="137">
                  <c:v>5.162714755</c:v>
                </c:pt>
                <c:pt idx="138">
                  <c:v>5.16270431</c:v>
                </c:pt>
                <c:pt idx="139">
                  <c:v>5.162694787</c:v>
                </c:pt>
                <c:pt idx="140">
                  <c:v>5.16268611</c:v>
                </c:pt>
                <c:pt idx="141">
                  <c:v>5.162678209</c:v>
                </c:pt>
                <c:pt idx="142">
                  <c:v>5.162671021</c:v>
                </c:pt>
                <c:pt idx="143">
                  <c:v>5.162664484</c:v>
                </c:pt>
                <c:pt idx="144">
                  <c:v>5.162658545</c:v>
                </c:pt>
                <c:pt idx="145">
                  <c:v>5.162653154</c:v>
                </c:pt>
                <c:pt idx="146">
                  <c:v>5.162648263</c:v>
                </c:pt>
                <c:pt idx="147">
                  <c:v>5.16264383</c:v>
                </c:pt>
                <c:pt idx="148">
                  <c:v>5.162639814</c:v>
                </c:pt>
                <c:pt idx="149">
                  <c:v>5.162636181</c:v>
                </c:pt>
                <c:pt idx="150">
                  <c:v>5.162632897</c:v>
                </c:pt>
                <c:pt idx="151">
                  <c:v>5.16262993</c:v>
                </c:pt>
                <c:pt idx="152">
                  <c:v>5.162627254</c:v>
                </c:pt>
                <c:pt idx="153">
                  <c:v>5.162624841</c:v>
                </c:pt>
                <c:pt idx="154">
                  <c:v>5.162622668</c:v>
                </c:pt>
                <c:pt idx="155">
                  <c:v>5.162620714</c:v>
                </c:pt>
                <c:pt idx="156">
                  <c:v>5.162618959</c:v>
                </c:pt>
                <c:pt idx="157">
                  <c:v>5.162617384</c:v>
                </c:pt>
                <c:pt idx="158">
                  <c:v>5.162615973</c:v>
                </c:pt>
                <c:pt idx="159">
                  <c:v>5.16261471</c:v>
                </c:pt>
                <c:pt idx="160">
                  <c:v>5.162613582</c:v>
                </c:pt>
              </c:numCache>
            </c:numRef>
          </c:yVal>
        </c:ser>
        <c:ser>
          <c:idx val="1"/>
          <c:order val="1"/>
          <c:tx>
            <c:v>T = 0,05 s, con retardo</c:v>
          </c:tx>
          <c:spPr>
            <a:solidFill xmlns:a="http://schemas.openxmlformats.org/drawingml/2006/main">
              <a:srgbClr val="087E8B"/>
            </a:solidFill>
            <a:ln xmlns:a="http://schemas.openxmlformats.org/drawingml/2006/main" w="28575">
              <a:solidFill>
                <a:srgbClr val="087E8B"/>
              </a:solidFill>
              <a:prstDash val="solid"/>
            </a:ln>
          </c:spPr>
          <c:marker>
            <c:symbol val="none"/>
          </c:marker>
          <c:xVal>
            <c:numRef>
              <c:f>'Chart Data'!$C$2:$C$162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Data'!$D$2:$D$162</c:f>
              <c:numCache>
                <c:formatCode>0.0</c:formatCode>
                <c:ptCount val="161"/>
                <c:pt idx="0">
                  <c:v>0</c:v>
                </c:pt>
                <c:pt idx="1">
                  <c:v>0</c:v>
                </c:pt>
                <c:pt idx="2">
                  <c:v>0.01816885702</c:v>
                </c:pt>
                <c:pt idx="3">
                  <c:v>0.1183870004</c:v>
                </c:pt>
                <c:pt idx="4">
                  <c:v>0.3317937807</c:v>
                </c:pt>
                <c:pt idx="5">
                  <c:v>0.6568101284</c:v>
                </c:pt>
                <c:pt idx="6">
                  <c:v>1.069528365</c:v>
                </c:pt>
                <c:pt idx="7">
                  <c:v>1.533945226</c:v>
                </c:pt>
                <c:pt idx="8">
                  <c:v>2.011285884</c:v>
                </c:pt>
                <c:pt idx="9">
                  <c:v>2.467138496</c:v>
                </c:pt>
                <c:pt idx="10">
                  <c:v>2.875920184</c:v>
                </c:pt>
                <c:pt idx="11">
                  <c:v>3.222723486</c:v>
                </c:pt>
                <c:pt idx="12">
                  <c:v>3.502983519</c:v>
                </c:pt>
                <c:pt idx="13">
                  <c:v>3.720619691</c:v>
                </c:pt>
                <c:pt idx="14">
                  <c:v>3.885360236</c:v>
                </c:pt>
                <c:pt idx="15">
                  <c:v>4.009888241</c:v>
                </c:pt>
                <c:pt idx="16">
                  <c:v>4.107299207</c:v>
                </c:pt>
                <c:pt idx="17">
                  <c:v>4.189177065</c:v>
                </c:pt>
                <c:pt idx="18">
                  <c:v>4.264415738</c:v>
                </c:pt>
                <c:pt idx="19">
                  <c:v>4.33876348</c:v>
                </c:pt>
                <c:pt idx="20">
                  <c:v>4.414962214</c:v>
                </c:pt>
                <c:pt idx="21">
                  <c:v>4.493297616</c:v>
                </c:pt>
                <c:pt idx="22">
                  <c:v>4.572363225</c:v>
                </c:pt>
                <c:pt idx="23">
                  <c:v>4.649863005</c:v>
                </c:pt>
                <c:pt idx="24">
                  <c:v>4.723319223</c:v>
                </c:pt>
                <c:pt idx="25">
                  <c:v>4.79060365</c:v>
                </c:pt>
                <c:pt idx="26">
                  <c:v>4.850259823</c:v>
                </c:pt>
                <c:pt idx="27">
                  <c:v>4.901625099</c:v>
                </c:pt>
                <c:pt idx="28">
                  <c:v>4.944789532</c:v>
                </c:pt>
                <c:pt idx="29">
                  <c:v>4.980443508</c:v>
                </c:pt>
                <c:pt idx="30">
                  <c:v>5.009668786</c:v>
                </c:pt>
                <c:pt idx="31">
                  <c:v>5.033721218</c:v>
                </c:pt>
                <c:pt idx="32">
                  <c:v>5.05384136</c:v>
                </c:pt>
                <c:pt idx="33">
                  <c:v>5.071114867</c:v>
                </c:pt>
                <c:pt idx="34">
                  <c:v>5.086390841</c:v>
                </c:pt>
                <c:pt idx="35">
                  <c:v>5.100255107</c:v>
                </c:pt>
                <c:pt idx="36">
                  <c:v>5.113047727</c:v>
                </c:pt>
                <c:pt idx="37">
                  <c:v>5.124910196</c:v>
                </c:pt>
                <c:pt idx="38">
                  <c:v>5.135847158</c:v>
                </c:pt>
                <c:pt idx="39">
                  <c:v>5.145789422</c:v>
                </c:pt>
                <c:pt idx="40">
                  <c:v>5.154648457</c:v>
                </c:pt>
                <c:pt idx="41">
                  <c:v>5.162356566</c:v>
                </c:pt>
                <c:pt idx="42">
                  <c:v>5.168890694</c:v>
                </c:pt>
                <c:pt idx="43">
                  <c:v>5.174280925</c:v>
                </c:pt>
                <c:pt idx="44">
                  <c:v>5.178606726</c:v>
                </c:pt>
                <c:pt idx="45">
                  <c:v>5.181985076</c:v>
                </c:pt>
                <c:pt idx="46">
                  <c:v>5.184554669</c:v>
                </c:pt>
                <c:pt idx="47">
                  <c:v>5.186459838</c:v>
                </c:pt>
                <c:pt idx="48">
                  <c:v>5.187836883</c:v>
                </c:pt>
                <c:pt idx="49">
                  <c:v>5.188804332</c:v>
                </c:pt>
                <c:pt idx="50">
                  <c:v>5.189457674</c:v>
                </c:pt>
                <c:pt idx="51">
                  <c:v>5.189868211</c:v>
                </c:pt>
                <c:pt idx="52">
                  <c:v>5.190085178</c:v>
                </c:pt>
                <c:pt idx="53">
                  <c:v>5.190139954</c:v>
                </c:pt>
                <c:pt idx="54">
                  <c:v>5.190051229</c:v>
                </c:pt>
                <c:pt idx="55">
                  <c:v>5.189830126</c:v>
                </c:pt>
                <c:pt idx="56">
                  <c:v>5.189484551</c:v>
                </c:pt>
                <c:pt idx="57">
                  <c:v>5.18902238</c:v>
                </c:pt>
                <c:pt idx="58">
                  <c:v>5.188453353</c:v>
                </c:pt>
                <c:pt idx="59">
                  <c:v>5.187789779</c:v>
                </c:pt>
                <c:pt idx="60">
                  <c:v>5.187046316</c:v>
                </c:pt>
                <c:pt idx="61">
                  <c:v>5.186239153</c:v>
                </c:pt>
                <c:pt idx="62">
                  <c:v>5.185384905</c:v>
                </c:pt>
                <c:pt idx="63">
                  <c:v>5.184499511</c:v>
                </c:pt>
                <c:pt idx="64">
                  <c:v>5.18359732</c:v>
                </c:pt>
                <c:pt idx="65">
                  <c:v>5.182690485</c:v>
                </c:pt>
                <c:pt idx="66">
                  <c:v>5.181788693</c:v>
                </c:pt>
                <c:pt idx="67">
                  <c:v>5.180899193</c:v>
                </c:pt>
                <c:pt idx="68">
                  <c:v>5.180027062</c:v>
                </c:pt>
                <c:pt idx="69">
                  <c:v>5.179175609</c:v>
                </c:pt>
                <c:pt idx="70">
                  <c:v>5.178346842</c:v>
                </c:pt>
                <c:pt idx="71">
                  <c:v>5.177541908</c:v>
                </c:pt>
                <c:pt idx="72">
                  <c:v>5.176761467</c:v>
                </c:pt>
                <c:pt idx="73">
                  <c:v>5.176005968</c:v>
                </c:pt>
                <c:pt idx="74">
                  <c:v>5.17527582</c:v>
                </c:pt>
                <c:pt idx="75">
                  <c:v>5.174571464</c:v>
                </c:pt>
                <c:pt idx="76">
                  <c:v>5.173893383</c:v>
                </c:pt>
                <c:pt idx="77">
                  <c:v>5.173242055</c:v>
                </c:pt>
                <c:pt idx="78">
                  <c:v>5.172617889</c:v>
                </c:pt>
                <c:pt idx="79">
                  <c:v>5.172021164</c:v>
                </c:pt>
                <c:pt idx="80">
                  <c:v>5.171451971</c:v>
                </c:pt>
                <c:pt idx="81">
                  <c:v>5.17091019</c:v>
                </c:pt>
                <c:pt idx="82">
                  <c:v>5.170395482</c:v>
                </c:pt>
                <c:pt idx="83">
                  <c:v>5.169907307</c:v>
                </c:pt>
                <c:pt idx="84">
                  <c:v>5.169444954</c:v>
                </c:pt>
                <c:pt idx="85">
                  <c:v>5.169007582</c:v>
                </c:pt>
                <c:pt idx="86">
                  <c:v>5.168594262</c:v>
                </c:pt>
                <c:pt idx="87">
                  <c:v>5.16820402</c:v>
                </c:pt>
                <c:pt idx="88">
                  <c:v>5.167835865</c:v>
                </c:pt>
                <c:pt idx="89">
                  <c:v>5.167488816</c:v>
                </c:pt>
                <c:pt idx="90">
                  <c:v>5.167161916</c:v>
                </c:pt>
                <c:pt idx="91">
                  <c:v>5.16685424</c:v>
                </c:pt>
                <c:pt idx="92">
                  <c:v>5.1665649</c:v>
                </c:pt>
                <c:pt idx="93">
                  <c:v>5.166293035</c:v>
                </c:pt>
                <c:pt idx="94">
                  <c:v>5.166037815</c:v>
                </c:pt>
                <c:pt idx="95">
                  <c:v>5.165798432</c:v>
                </c:pt>
                <c:pt idx="96">
                  <c:v>5.165574097</c:v>
                </c:pt>
                <c:pt idx="97">
                  <c:v>5.165364041</c:v>
                </c:pt>
                <c:pt idx="98">
                  <c:v>5.16516751</c:v>
                </c:pt>
                <c:pt idx="99">
                  <c:v>5.164983771</c:v>
                </c:pt>
                <c:pt idx="100">
                  <c:v>5.164812109</c:v>
                </c:pt>
                <c:pt idx="101">
                  <c:v>5.164651834</c:v>
                </c:pt>
                <c:pt idx="102">
                  <c:v>5.16450228</c:v>
                </c:pt>
                <c:pt idx="103">
                  <c:v>5.164362811</c:v>
                </c:pt>
                <c:pt idx="104">
                  <c:v>5.164232816</c:v>
                </c:pt>
                <c:pt idx="105">
                  <c:v>5.164111719</c:v>
                </c:pt>
                <c:pt idx="106">
                  <c:v>5.16399897</c:v>
                </c:pt>
                <c:pt idx="107">
                  <c:v>5.163894051</c:v>
                </c:pt>
                <c:pt idx="108">
                  <c:v>5.163796469</c:v>
                </c:pt>
                <c:pt idx="109">
                  <c:v>5.163705761</c:v>
                </c:pt>
                <c:pt idx="110">
                  <c:v>5.16362149</c:v>
                </c:pt>
                <c:pt idx="111">
                  <c:v>5.163543241</c:v>
                </c:pt>
                <c:pt idx="112">
                  <c:v>5.163470622</c:v>
                </c:pt>
                <c:pt idx="113">
                  <c:v>5.163403265</c:v>
                </c:pt>
                <c:pt idx="114">
                  <c:v>5.163340822</c:v>
                </c:pt>
                <c:pt idx="115">
                  <c:v>5.163282962</c:v>
                </c:pt>
                <c:pt idx="116">
                  <c:v>5.163229375</c:v>
                </c:pt>
                <c:pt idx="117">
                  <c:v>5.163179772</c:v>
                </c:pt>
                <c:pt idx="118">
                  <c:v>5.163133876</c:v>
                </c:pt>
                <c:pt idx="119">
                  <c:v>5.16309143</c:v>
                </c:pt>
                <c:pt idx="120">
                  <c:v>5.163052194</c:v>
                </c:pt>
                <c:pt idx="121">
                  <c:v>5.16301594</c:v>
                </c:pt>
                <c:pt idx="122">
                  <c:v>5.162982458</c:v>
                </c:pt>
                <c:pt idx="123">
                  <c:v>5.16295155</c:v>
                </c:pt>
                <c:pt idx="124">
                  <c:v>5.162923031</c:v>
                </c:pt>
                <c:pt idx="125">
                  <c:v>5.162896728</c:v>
                </c:pt>
                <c:pt idx="126">
                  <c:v>5.162872481</c:v>
                </c:pt>
                <c:pt idx="127">
                  <c:v>5.162850139</c:v>
                </c:pt>
                <c:pt idx="128">
                  <c:v>5.162829562</c:v>
                </c:pt>
                <c:pt idx="129">
                  <c:v>5.162810619</c:v>
                </c:pt>
                <c:pt idx="130">
                  <c:v>5.16279319</c:v>
                </c:pt>
                <c:pt idx="131">
                  <c:v>5.162777159</c:v>
                </c:pt>
                <c:pt idx="132">
                  <c:v>5.162762423</c:v>
                </c:pt>
                <c:pt idx="133">
                  <c:v>5.162748882</c:v>
                </c:pt>
                <c:pt idx="134">
                  <c:v>5.162736446</c:v>
                </c:pt>
                <c:pt idx="135">
                  <c:v>5.16272503</c:v>
                </c:pt>
                <c:pt idx="136">
                  <c:v>5.162714555</c:v>
                </c:pt>
                <c:pt idx="137">
                  <c:v>5.162704948</c:v>
                </c:pt>
                <c:pt idx="138">
                  <c:v>5.162696141</c:v>
                </c:pt>
                <c:pt idx="139">
                  <c:v>5.162688072</c:v>
                </c:pt>
                <c:pt idx="140">
                  <c:v>5.162680682</c:v>
                </c:pt>
                <c:pt idx="141">
                  <c:v>5.162673918</c:v>
                </c:pt>
                <c:pt idx="142">
                  <c:v>5.16266773</c:v>
                </c:pt>
                <c:pt idx="143">
                  <c:v>5.162662071</c:v>
                </c:pt>
                <c:pt idx="144">
                  <c:v>5.162656899</c:v>
                </c:pt>
                <c:pt idx="145">
                  <c:v>5.162652175</c:v>
                </c:pt>
                <c:pt idx="146">
                  <c:v>5.162647863</c:v>
                </c:pt>
                <c:pt idx="147">
                  <c:v>5.162643927</c:v>
                </c:pt>
                <c:pt idx="148">
                  <c:v>5.162640339</c:v>
                </c:pt>
                <c:pt idx="149">
                  <c:v>5.162637068</c:v>
                </c:pt>
                <c:pt idx="150">
                  <c:v>5.162634089</c:v>
                </c:pt>
                <c:pt idx="151">
                  <c:v>5.162631377</c:v>
                </c:pt>
                <c:pt idx="152">
                  <c:v>5.162628909</c:v>
                </c:pt>
                <c:pt idx="153">
                  <c:v>5.162626665</c:v>
                </c:pt>
                <c:pt idx="154">
                  <c:v>5.162624627</c:v>
                </c:pt>
                <c:pt idx="155">
                  <c:v>5.162622776</c:v>
                </c:pt>
                <c:pt idx="156">
                  <c:v>5.162621096</c:v>
                </c:pt>
                <c:pt idx="157">
                  <c:v>5.162619573</c:v>
                </c:pt>
                <c:pt idx="158">
                  <c:v>5.162618193</c:v>
                </c:pt>
                <c:pt idx="159">
                  <c:v>5.162616943</c:v>
                </c:pt>
                <c:pt idx="160">
                  <c:v>5.162615812</c:v>
                </c:pt>
              </c:numCache>
            </c:numRef>
          </c:yVal>
        </c:ser>
        <c:ser>
          <c:idx val="2"/>
          <c:order val="2"/>
          <c:tx>
            <c:v>T = 0,10 s, con retardo</c:v>
          </c:tx>
          <c:spPr>
            <a:solidFill xmlns:a="http://schemas.openxmlformats.org/drawingml/2006/main">
              <a:srgbClr val="D66A2C"/>
            </a:solidFill>
            <a:ln xmlns:a="http://schemas.openxmlformats.org/drawingml/2006/main" w="28575">
              <a:solidFill>
                <a:srgbClr val="D66A2C"/>
              </a:solidFill>
              <a:prstDash val="solid"/>
            </a:ln>
          </c:spPr>
          <c:marker>
            <c:symbol val="none"/>
          </c:marker>
          <c:xVal>
            <c:numRef>
              <c:f>'Chart Data'!$E$2:$E$82</c:f>
              <c:numCache>
                <c:formatCode>General</c:formatCode>
                <c:ptCount val="8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Cache>
            </c:numRef>
          </c:xVal>
          <c:yVal>
            <c:numRef>
              <c:f>'Chart Data'!$F$2:$F$82</c:f>
              <c:numCache>
                <c:formatCode>0.0</c:formatCode>
                <c:ptCount val="81"/>
                <c:pt idx="0">
                  <c:v>0</c:v>
                </c:pt>
                <c:pt idx="1">
                  <c:v>0</c:v>
                </c:pt>
                <c:pt idx="2">
                  <c:v>0.1183870004</c:v>
                </c:pt>
                <c:pt idx="3">
                  <c:v>0.6765091766</c:v>
                </c:pt>
                <c:pt idx="4">
                  <c:v>1.705909569</c:v>
                </c:pt>
                <c:pt idx="5">
                  <c:v>2.999980773</c:v>
                </c:pt>
                <c:pt idx="6">
                  <c:v>4.215743496</c:v>
                </c:pt>
                <c:pt idx="7">
                  <c:v>5.031948694</c:v>
                </c:pt>
                <c:pt idx="8">
                  <c:v>5.283287254</c:v>
                </c:pt>
                <c:pt idx="9">
                  <c:v>5.02108148</c:v>
                </c:pt>
                <c:pt idx="10">
                  <c:v>4.4807038</c:v>
                </c:pt>
                <c:pt idx="11">
                  <c:v>3.976087935</c:v>
                </c:pt>
                <c:pt idx="12">
                  <c:v>3.769552459</c:v>
                </c:pt>
                <c:pt idx="13">
                  <c:v>3.971655859</c:v>
                </c:pt>
                <c:pt idx="14">
                  <c:v>4.509569541</c:v>
                </c:pt>
                <c:pt idx="15">
                  <c:v>5.171821587</c:v>
                </c:pt>
                <c:pt idx="16">
                  <c:v>5.705697246</c:v>
                </c:pt>
                <c:pt idx="17">
                  <c:v>5.923959419</c:v>
                </c:pt>
                <c:pt idx="18">
                  <c:v>5.776953337</c:v>
                </c:pt>
                <c:pt idx="19">
                  <c:v>5.363427647</c:v>
                </c:pt>
                <c:pt idx="20">
                  <c:v>4.880219804</c:v>
                </c:pt>
                <c:pt idx="21">
                  <c:v>4.535737119</c:v>
                </c:pt>
                <c:pt idx="22">
                  <c:v>4.465012347</c:v>
                </c:pt>
                <c:pt idx="23">
                  <c:v>4.680691072</c:v>
                </c:pt>
                <c:pt idx="24">
                  <c:v>5.077202349</c:v>
                </c:pt>
                <c:pt idx="25">
                  <c:v>5.482519417</c:v>
                </c:pt>
                <c:pt idx="26">
                  <c:v>5.733022767</c:v>
                </c:pt>
                <c:pt idx="27">
                  <c:v>5.739406857</c:v>
                </c:pt>
                <c:pt idx="28">
                  <c:v>5.517562241</c:v>
                </c:pt>
                <c:pt idx="29">
                  <c:v>5.174488971</c:v>
                </c:pt>
                <c:pt idx="30">
                  <c:v>4.858268687</c:v>
                </c:pt>
                <c:pt idx="31">
                  <c:v>4.695036847</c:v>
                </c:pt>
                <c:pt idx="32">
                  <c:v>4.739481008</c:v>
                </c:pt>
                <c:pt idx="33">
                  <c:v>4.957952181</c:v>
                </c:pt>
                <c:pt idx="34">
                  <c:v>5.248642398</c:v>
                </c:pt>
                <c:pt idx="35">
                  <c:v>5.487918264</c:v>
                </c:pt>
                <c:pt idx="36">
                  <c:v>5.582092916</c:v>
                </c:pt>
                <c:pt idx="37">
                  <c:v>5.503236943</c:v>
                </c:pt>
                <c:pt idx="38">
                  <c:v>5.295677434</c:v>
                </c:pt>
                <c:pt idx="39">
                  <c:v>5.052706444</c:v>
                </c:pt>
                <c:pt idx="40">
                  <c:v>4.875139269</c:v>
                </c:pt>
                <c:pt idx="41">
                  <c:v>4.829868694</c:v>
                </c:pt>
                <c:pt idx="42">
                  <c:v>4.925227731</c:v>
                </c:pt>
                <c:pt idx="43">
                  <c:v>5.111918123</c:v>
                </c:pt>
                <c:pt idx="44">
                  <c:v>5.307247147</c:v>
                </c:pt>
                <c:pt idx="45">
                  <c:v>5.431126623</c:v>
                </c:pt>
                <c:pt idx="46">
                  <c:v>5.438366393</c:v>
                </c:pt>
                <c:pt idx="47">
                  <c:v>5.334435684</c:v>
                </c:pt>
                <c:pt idx="48">
                  <c:v>5.1695155</c:v>
                </c:pt>
                <c:pt idx="49">
                  <c:v>5.014851977</c:v>
                </c:pt>
                <c:pt idx="50">
                  <c:v>4.932304907</c:v>
                </c:pt>
                <c:pt idx="51">
                  <c:v>4.949944332</c:v>
                </c:pt>
                <c:pt idx="52">
                  <c:v>5.053149073</c:v>
                </c:pt>
                <c:pt idx="53">
                  <c:v>5.193677342</c:v>
                </c:pt>
                <c:pt idx="54">
                  <c:v>5.311707737</c:v>
                </c:pt>
                <c:pt idx="55">
                  <c:v>5.360955683</c:v>
                </c:pt>
                <c:pt idx="56">
                  <c:v>5.326450943</c:v>
                </c:pt>
                <c:pt idx="57">
                  <c:v>5.228305015</c:v>
                </c:pt>
                <c:pt idx="58">
                  <c:v>5.110971061</c:v>
                </c:pt>
                <c:pt idx="59">
                  <c:v>5.023420357</c:v>
                </c:pt>
                <c:pt idx="60">
                  <c:v>4.998944711</c:v>
                </c:pt>
                <c:pt idx="61">
                  <c:v>5.042805203</c:v>
                </c:pt>
                <c:pt idx="62">
                  <c:v>5.132160018</c:v>
                </c:pt>
                <c:pt idx="63">
                  <c:v>5.227397155</c:v>
                </c:pt>
                <c:pt idx="64">
                  <c:v>5.289435915</c:v>
                </c:pt>
                <c:pt idx="65">
                  <c:v>5.295539909</c:v>
                </c:pt>
                <c:pt idx="66">
                  <c:v>5.247336797</c:v>
                </c:pt>
                <c:pt idx="67">
                  <c:v>5.168365092</c:v>
                </c:pt>
                <c:pt idx="68">
                  <c:v>5.092913707</c:v>
                </c:pt>
                <c:pt idx="69">
                  <c:v>5.051321971</c:v>
                </c:pt>
                <c:pt idx="70">
                  <c:v>5.05796337</c:v>
                </c:pt>
                <c:pt idx="71">
                  <c:v>5.106589744</c:v>
                </c:pt>
                <c:pt idx="72">
                  <c:v>5.174382933</c:v>
                </c:pt>
                <c:pt idx="73">
                  <c:v>5.232429679</c:v>
                </c:pt>
                <c:pt idx="74">
                  <c:v>5.257898211</c:v>
                </c:pt>
                <c:pt idx="75">
                  <c:v>5.242852035</c:v>
                </c:pt>
                <c:pt idx="76">
                  <c:v>5.196373201</c:v>
                </c:pt>
                <c:pt idx="77">
                  <c:v>5.139626047</c:v>
                </c:pt>
                <c:pt idx="78">
                  <c:v>5.096383154</c:v>
                </c:pt>
                <c:pt idx="79">
                  <c:v>5.083190414</c:v>
                </c:pt>
                <c:pt idx="80">
                  <c:v>5.103187133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5"/>
          <c:min val="0"/>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θ (°)</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0"/>
        <c:majorTickMark val="none"/>
        <c:minorTickMark val="none"/>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50112"/>
        <c:crossesAt val="0"/>
        <c:majorUnit val="1"/>
      </c:valAx>
      <c:valAx>
        <c:axId val="48650112"/>
        <c:scaling>
          <c:orientation val="minMax"/>
          <c:max val="8"/>
          <c:min val="0"/>
        </c:scaling>
        <c:delete val="0"/>
        <c:axPos val="b"/>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Tiempo (s)</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
        <c:majorTickMark val="none"/>
        <c:minorTickMark val="none"/>
        <c:tickLblPos val="low"/>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72768"/>
        <c:crossesAt val="0"/>
        <c:majorUnit val="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3283C"/>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3283C"/>
                </a:solidFill>
                <a:latin typeface="Arial"/>
                <a:ea typeface="Arial"/>
                <a:cs typeface="Arial"/>
              </a:rPr>
              <a:t>Límite de muestreo con masa variable</a:t>
            </a:r>
          </a:p>
        </c:rich>
      </c:tx>
      <c:overlay val="0"/>
      <c:txPr>
        <a:bodyPr xmlns:a="http://schemas.openxmlformats.org/drawingml/2006/main" anchorCtr="1"/>
        <a:lstStyle xmlns:a="http://schemas.openxmlformats.org/drawingml/2006/main"/>
        <a:p xmlns:a="http://schemas.openxmlformats.org/drawingml/2006/main">
          <a:pPr>
            <a:defRPr sz="1875" b="1">
              <a:solidFill>
                <a:srgbClr val="13283C"/>
              </a:solidFill>
              <a:latin typeface="Arial"/>
              <a:ea typeface="Arial"/>
              <a:cs typeface="Arial"/>
            </a:defRPr>
          </a:pPr>
        </a:p>
      </c:txPr>
    </c:title>
    <c:plotArea>
      <c:barChart>
        <c:barDir val="col"/>
        <c:grouping val="clustered"/>
        <c:varyColors val="0"/>
        <c:ser>
          <c:idx val="0"/>
          <c:order val="0"/>
          <c:tx>
            <c:v>Ganancias fijas</c:v>
          </c:tx>
          <c:spPr>
            <a:solidFill xmlns:a="http://schemas.openxmlformats.org/drawingml/2006/main">
              <a:srgbClr val="B6C3CC"/>
            </a:solidFill>
          </c:spPr>
          <c:invertIfNegative val="0"/>
          <c:cat>
            <c:strRef>
              <c:f>'Chart Data'!$A$2:$A$3</c:f>
              <c:strCache>
                <c:ptCount val="2"/>
                <c:pt idx="0">
                  <c:v>Masa inicial</c:v>
                </c:pt>
                <c:pt idx="1">
                  <c:v>Mitad de masa</c:v>
                </c:pt>
              </c:strCache>
            </c:strRef>
          </c:cat>
          <c:val>
            <c:numRef>
              <c:f>'Chart Data'!$B$2:$B$3</c:f>
              <c:numCache>
                <c:formatCode>0.00</c:formatCode>
                <c:ptCount val="2"/>
                <c:pt idx="0">
                  <c:v>0.113554</c:v>
                </c:pt>
                <c:pt idx="1">
                  <c:v>0.057637</c:v>
                </c:pt>
              </c:numCache>
            </c:numRef>
          </c:val>
        </c:ser>
        <c:ser>
          <c:idx val="1"/>
          <c:order val="1"/>
          <c:tx>
            <c:v>Ganancias / ρ</c:v>
          </c:tx>
          <c:spPr>
            <a:solidFill xmlns:a="http://schemas.openxmlformats.org/drawingml/2006/main">
              <a:srgbClr val="087E8B"/>
            </a:solidFill>
          </c:spPr>
          <c:invertIfNegative val="0"/>
          <c:cat>
            <c:strRef>
              <c:f>'Chart Data'!$C$2:$C$3</c:f>
              <c:strCache>
                <c:ptCount val="2"/>
                <c:pt idx="0">
                  <c:v>Masa inicial</c:v>
                </c:pt>
                <c:pt idx="1">
                  <c:v>Mitad de masa</c:v>
                </c:pt>
              </c:strCache>
            </c:strRef>
          </c:cat>
          <c:val>
            <c:numRef>
              <c:f>'Chart Data'!$D$2:$D$3</c:f>
              <c:numCache>
                <c:formatCode>0.00</c:formatCode>
                <c:ptCount val="2"/>
                <c:pt idx="0">
                  <c:v>0.113554</c:v>
                </c:pt>
                <c:pt idx="1">
                  <c:v>0.122867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a:solidFill>
                    <a:srgbClr val="13283C"/>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16474"/>
                </a:solidFill>
                <a:latin typeface="Arial"/>
                <a:ea typeface="Arial"/>
                <a:cs typeface="Arial"/>
              </a:defRPr>
            </a:pPr>
          </a:p>
        </c:txPr>
        <c:crossAx val="48672768"/>
      </c:catAx>
      <c:valAx>
        <c:axId val="48672768"/>
        <c:scaling>
          <c:orientation val="minMax"/>
          <c:max val="0.15"/>
          <c:min val="0"/>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T máximo con retardo (s)</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3283C"/>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3283C"/>
                </a:solidFill>
                <a:latin typeface="Arial"/>
                <a:ea typeface="Arial"/>
                <a:cs typeface="Arial"/>
              </a:rPr>
              <a:t>Pulso de 5 s</a:t>
            </a:r>
          </a:p>
        </c:rich>
      </c:tx>
      <c:overlay val="0"/>
      <c:txPr>
        <a:bodyPr xmlns:a="http://schemas.openxmlformats.org/drawingml/2006/main" anchorCtr="1"/>
        <a:lstStyle xmlns:a="http://schemas.openxmlformats.org/drawingml/2006/main"/>
        <a:p xmlns:a="http://schemas.openxmlformats.org/drawingml/2006/main">
          <a:pPr>
            <a:defRPr sz="1875" b="1">
              <a:solidFill>
                <a:srgbClr val="13283C"/>
              </a:solidFill>
              <a:latin typeface="Arial"/>
              <a:ea typeface="Arial"/>
              <a:cs typeface="Arial"/>
            </a:defRPr>
          </a:pPr>
        </a:p>
      </c:txPr>
    </c:title>
    <c:plotArea>
      <c:scatterChart>
        <c:scatterStyle val="line"/>
        <c:varyColors val="0"/>
        <c:ser>
          <c:idx val="0"/>
          <c:order val="0"/>
          <c:tx>
            <c:v>θ</c:v>
          </c:tx>
          <c:spPr>
            <a:solidFill xmlns:a="http://schemas.openxmlformats.org/drawingml/2006/main">
              <a:srgbClr val="087E8B"/>
            </a:solidFill>
            <a:ln xmlns:a="http://schemas.openxmlformats.org/drawingml/2006/main" w="28575">
              <a:solidFill>
                <a:srgbClr val="087E8B"/>
              </a:solidFill>
              <a:prstDash val="solid"/>
            </a:ln>
          </c:spPr>
          <c:marker>
            <c:symbol val="none"/>
          </c:marker>
          <c:xVal>
            <c:numRef>
              <c:f>'Chart Data'!$A$2:$A$122</c:f>
              <c:numCache>
                <c:formatCode>General</c:formatCode>
                <c:ptCount val="12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pt idx="101">
                  <c:v>10.1</c:v>
                </c:pt>
                <c:pt idx="102">
                  <c:v>10.2</c:v>
                </c:pt>
                <c:pt idx="103">
                  <c:v>10.3</c:v>
                </c:pt>
                <c:pt idx="104">
                  <c:v>10.4</c:v>
                </c:pt>
                <c:pt idx="105">
                  <c:v>10.5</c:v>
                </c:pt>
                <c:pt idx="106">
                  <c:v>10.6</c:v>
                </c:pt>
                <c:pt idx="107">
                  <c:v>10.7</c:v>
                </c:pt>
                <c:pt idx="108">
                  <c:v>10.8</c:v>
                </c:pt>
                <c:pt idx="109">
                  <c:v>10.9</c:v>
                </c:pt>
                <c:pt idx="110">
                  <c:v>11</c:v>
                </c:pt>
                <c:pt idx="111">
                  <c:v>11.1</c:v>
                </c:pt>
                <c:pt idx="112">
                  <c:v>11.2</c:v>
                </c:pt>
                <c:pt idx="113">
                  <c:v>11.3</c:v>
                </c:pt>
                <c:pt idx="114">
                  <c:v>11.4</c:v>
                </c:pt>
                <c:pt idx="115">
                  <c:v>11.5</c:v>
                </c:pt>
                <c:pt idx="116">
                  <c:v>11.6</c:v>
                </c:pt>
                <c:pt idx="117">
                  <c:v>11.7</c:v>
                </c:pt>
                <c:pt idx="118">
                  <c:v>11.8</c:v>
                </c:pt>
                <c:pt idx="119">
                  <c:v>11.9</c:v>
                </c:pt>
                <c:pt idx="120">
                  <c:v>12</c:v>
                </c:pt>
              </c:numCache>
            </c:numRef>
          </c:xVal>
          <c:yVal>
            <c:numRef>
              <c:f>'Chart Data'!$B$2:$B$122</c:f>
              <c:numCache>
                <c:formatCode>0.0</c:formatCode>
                <c:ptCount val="121"/>
                <c:pt idx="0">
                  <c:v>0</c:v>
                </c:pt>
                <c:pt idx="1">
                  <c:v>0.008908493254</c:v>
                </c:pt>
                <c:pt idx="2">
                  <c:v>0.04823687919</c:v>
                </c:pt>
                <c:pt idx="3">
                  <c:v>0.1162326604</c:v>
                </c:pt>
                <c:pt idx="4">
                  <c:v>0.2044815538</c:v>
                </c:pt>
                <c:pt idx="5">
                  <c:v>0.305009563</c:v>
                </c:pt>
                <c:pt idx="6">
                  <c:v>0.4113049287</c:v>
                </c:pt>
                <c:pt idx="7">
                  <c:v>0.5182876557</c:v>
                </c:pt>
                <c:pt idx="8">
                  <c:v>0.6221176096</c:v>
                </c:pt>
                <c:pt idx="9">
                  <c:v>0.7199967755</c:v>
                </c:pt>
                <c:pt idx="10">
                  <c:v>0.809990888</c:v>
                </c:pt>
                <c:pt idx="11">
                  <c:v>0.8908728018</c:v>
                </c:pt>
                <c:pt idx="12">
                  <c:v>0.9619861741</c:v>
                </c:pt>
                <c:pt idx="13">
                  <c:v>1.023127562</c:v>
                </c:pt>
                <c:pt idx="14">
                  <c:v>1.074445115</c:v>
                </c:pt>
                <c:pt idx="15">
                  <c:v>1.116352186</c:v>
                </c:pt>
                <c:pt idx="16">
                  <c:v>1.14945431</c:v>
                </c:pt>
                <c:pt idx="17">
                  <c:v>1.174488135</c:v>
                </c:pt>
                <c:pt idx="18">
                  <c:v>1.192270958</c:v>
                </c:pt>
                <c:pt idx="19">
                  <c:v>1.203659645</c:v>
                </c:pt>
                <c:pt idx="20">
                  <c:v>1.20951779</c:v>
                </c:pt>
                <c:pt idx="21">
                  <c:v>1.210690043</c:v>
                </c:pt>
                <c:pt idx="22">
                  <c:v>1.207982644</c:v>
                </c:pt>
                <c:pt idx="23">
                  <c:v>1.202149249</c:v>
                </c:pt>
                <c:pt idx="24">
                  <c:v>1.193881244</c:v>
                </c:pt>
                <c:pt idx="25">
                  <c:v>1.183801805</c:v>
                </c:pt>
                <c:pt idx="26">
                  <c:v>1.172463032</c:v>
                </c:pt>
                <c:pt idx="27">
                  <c:v>1.16034557</c:v>
                </c:pt>
                <c:pt idx="28">
                  <c:v>1.147860191</c:v>
                </c:pt>
                <c:pt idx="29">
                  <c:v>1.135350885</c:v>
                </c:pt>
                <c:pt idx="30">
                  <c:v>1.123099051</c:v>
                </c:pt>
                <c:pt idx="31">
                  <c:v>1.111328463</c:v>
                </c:pt>
                <c:pt idx="32">
                  <c:v>1.100210715</c:v>
                </c:pt>
                <c:pt idx="33">
                  <c:v>1.08987091</c:v>
                </c:pt>
                <c:pt idx="34">
                  <c:v>1.080393404</c:v>
                </c:pt>
                <c:pt idx="35">
                  <c:v>1.071827437</c:v>
                </c:pt>
                <c:pt idx="36">
                  <c:v>1.064192547</c:v>
                </c:pt>
                <c:pt idx="37">
                  <c:v>1.057483663</c:v>
                </c:pt>
                <c:pt idx="38">
                  <c:v>1.051675818</c:v>
                </c:pt>
                <c:pt idx="39">
                  <c:v>1.046728449</c:v>
                </c:pt>
                <c:pt idx="40">
                  <c:v>1.042589237</c:v>
                </c:pt>
                <c:pt idx="41">
                  <c:v>1.039197513</c:v>
                </c:pt>
                <c:pt idx="42">
                  <c:v>1.036487207</c:v>
                </c:pt>
                <c:pt idx="43">
                  <c:v>1.034389364</c:v>
                </c:pt>
                <c:pt idx="44">
                  <c:v>1.032834263</c:v>
                </c:pt>
                <c:pt idx="45">
                  <c:v>1.03175314</c:v>
                </c:pt>
                <c:pt idx="46">
                  <c:v>1.031079575</c:v>
                </c:pt>
                <c:pt idx="47">
                  <c:v>1.030750557</c:v>
                </c:pt>
                <c:pt idx="48">
                  <c:v>1.030707271</c:v>
                </c:pt>
                <c:pt idx="49">
                  <c:v>1.030895638</c:v>
                </c:pt>
                <c:pt idx="50">
                  <c:v>1.031266651</c:v>
                </c:pt>
                <c:pt idx="51">
                  <c:v>1.022868026</c:v>
                </c:pt>
                <c:pt idx="52">
                  <c:v>0.9841497991</c:v>
                </c:pt>
                <c:pt idx="53">
                  <c:v>0.9168310097</c:v>
                </c:pt>
                <c:pt idx="54">
                  <c:v>0.8292973791</c:v>
                </c:pt>
                <c:pt idx="55">
                  <c:v>0.7294989549</c:v>
                </c:pt>
                <c:pt idx="56">
                  <c:v>0.6239278259</c:v>
                </c:pt>
                <c:pt idx="57">
                  <c:v>0.5176482265</c:v>
                </c:pt>
                <c:pt idx="58">
                  <c:v>0.4144880514</c:v>
                </c:pt>
                <c:pt idx="59">
                  <c:v>0.3172362034</c:v>
                </c:pt>
                <c:pt idx="60">
                  <c:v>0.2278205714</c:v>
                </c:pt>
                <c:pt idx="61">
                  <c:v>0.1474642821</c:v>
                </c:pt>
                <c:pt idx="62">
                  <c:v>0.07682165632</c:v>
                </c:pt>
                <c:pt idx="63">
                  <c:v>0.01609577481</c:v>
                </c:pt>
                <c:pt idx="64">
                  <c:v>-0.03486052514</c:v>
                </c:pt>
                <c:pt idx="65">
                  <c:v>-0.07645854182</c:v>
                </c:pt>
                <c:pt idx="66">
                  <c:v>-0.1093009444</c:v>
                </c:pt>
                <c:pt idx="67">
                  <c:v>-0.1341209205</c:v>
                </c:pt>
                <c:pt idx="68">
                  <c:v>-0.15173191</c:v>
                </c:pt>
                <c:pt idx="69">
                  <c:v>-0.1629866911</c:v>
                </c:pt>
                <c:pt idx="70">
                  <c:v>-0.1687446758</c:v>
                </c:pt>
                <c:pt idx="71">
                  <c:v>-0.1698463558</c:v>
                </c:pt>
                <c:pt idx="72">
                  <c:v>-0.1670939243</c:v>
                </c:pt>
                <c:pt idx="73">
                  <c:v>-0.1612371773</c:v>
                </c:pt>
                <c:pt idx="74">
                  <c:v>-0.1529638817</c:v>
                </c:pt>
                <c:pt idx="75">
                  <c:v>-0.1428938695</c:v>
                </c:pt>
                <c:pt idx="76">
                  <c:v>-0.1315761983</c:v>
                </c:pt>
                <c:pt idx="77">
                  <c:v>-0.1194887845</c:v>
                </c:pt>
                <c:pt idx="78">
                  <c:v>-0.1070399899</c:v>
                </c:pt>
                <c:pt idx="79">
                  <c:v>-0.0945717035</c:v>
                </c:pt>
                <c:pt idx="80">
                  <c:v>-0.08236352555</c:v>
                </c:pt>
                <c:pt idx="81">
                  <c:v>-0.0706377148</c:v>
                </c:pt>
                <c:pt idx="82">
                  <c:v>-0.05956461477</c:v>
                </c:pt>
                <c:pt idx="83">
                  <c:v>-0.04926832213</c:v>
                </c:pt>
                <c:pt idx="84">
                  <c:v>-0.03983240384</c:v>
                </c:pt>
                <c:pt idx="85">
                  <c:v>-0.03130550887</c:v>
                </c:pt>
                <c:pt idx="86">
                  <c:v>-0.02370675448</c:v>
                </c:pt>
                <c:pt idx="87">
                  <c:v>-0.01703079762</c:v>
                </c:pt>
                <c:pt idx="88">
                  <c:v>-0.01125252754</c:v>
                </c:pt>
                <c:pt idx="89">
                  <c:v>-0.006331338564</c:v>
                </c:pt>
                <c:pt idx="90">
                  <c:v>-0.002214960219</c:v>
                </c:pt>
                <c:pt idx="91">
                  <c:v>0.001157162547</c:v>
                </c:pt>
                <c:pt idx="92">
                  <c:v>0.003850933692</c:v>
                </c:pt>
                <c:pt idx="93">
                  <c:v>0.005935099971</c:v>
                </c:pt>
                <c:pt idx="94">
                  <c:v>0.00747915178</c:v>
                </c:pt>
                <c:pt idx="95">
                  <c:v>0.008551602965</c:v>
                </c:pt>
                <c:pt idx="96">
                  <c:v>0.009218617898</c:v>
                </c:pt>
                <c:pt idx="97">
                  <c:v>0.009542951939</c:v>
                </c:pt>
                <c:pt idx="98">
                  <c:v>0.009583170469</c:v>
                </c:pt>
                <c:pt idx="99">
                  <c:v>0.009393111767</c:v>
                </c:pt>
                <c:pt idx="100">
                  <c:v>0.009021559888</c:v>
                </c:pt>
                <c:pt idx="101">
                  <c:v>0.008512095256</c:v>
                </c:pt>
                <c:pt idx="102">
                  <c:v>0.007903092666</c:v>
                </c:pt>
                <c:pt idx="103">
                  <c:v>0.007227838756</c:v>
                </c:pt>
                <c:pt idx="104">
                  <c:v>0.006514743528</c:v>
                </c:pt>
                <c:pt idx="105">
                  <c:v>0.005787623182</c:v>
                </c:pt>
                <c:pt idx="106">
                  <c:v>0.005066034185</c:v>
                </c:pt>
                <c:pt idx="107">
                  <c:v>0.004365641145</c:v>
                </c:pt>
                <c:pt idx="108">
                  <c:v>0.003698603611</c:v>
                </c:pt>
                <c:pt idx="109">
                  <c:v>0.003073969294</c:v>
                </c:pt>
                <c:pt idx="110">
                  <c:v>0.00249806346</c:v>
                </c:pt>
                <c:pt idx="111">
                  <c:v>0.001974866285</c:v>
                </c:pt>
                <c:pt idx="112">
                  <c:v>0.001506371803</c:v>
                </c:pt>
                <c:pt idx="113">
                  <c:v>0.001092923711</c:v>
                </c:pt>
                <c:pt idx="114">
                  <c:v>0.000733524749</c:v>
                </c:pt>
                <c:pt idx="115">
                  <c:v>0.0004261175924</c:v>
                </c:pt>
                <c:pt idx="116">
                  <c:v>0.0001678362522</c:v>
                </c:pt>
                <c:pt idx="117">
                  <c:v>-4.477215235E-05</c:v>
                </c:pt>
                <c:pt idx="118">
                  <c:v>-0.0002155546763</c:v>
                </c:pt>
                <c:pt idx="119">
                  <c:v>-0.0003485877551</c:v>
                </c:pt>
                <c:pt idx="120">
                  <c:v>-0.0004480387752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5"/>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θ (rad)</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0"/>
        <c:majorTickMark val="none"/>
        <c:minorTickMark val="none"/>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50112"/>
        <c:crossesAt val="0"/>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Tiempo (s)</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
        <c:majorTickMark val="none"/>
        <c:minorTickMark val="none"/>
        <c:tickLblPos val="low"/>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72768"/>
        <c:crossesAt val="-0.5"/>
        <c:majorUnit val="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3283C"/>
                </a:solidFill>
                <a:latin typeface="Arial"/>
                <a:ea typeface="Arial"/>
                <a:cs typeface="Arial"/>
              </a:rPr>
              <a:t>Senoide sin(t)</a:t>
            </a:r>
          </a:p>
        </c:rich>
      </c:tx>
      <c:overlay val="0"/>
      <c:txPr>
        <a:bodyPr xmlns:a="http://schemas.openxmlformats.org/drawingml/2006/main" anchorCtr="1"/>
        <a:lstStyle xmlns:a="http://schemas.openxmlformats.org/drawingml/2006/main"/>
        <a:p xmlns:a="http://schemas.openxmlformats.org/drawingml/2006/main">
          <a:pPr>
            <a:defRPr sz="1875" b="1">
              <a:solidFill>
                <a:srgbClr val="13283C"/>
              </a:solidFill>
              <a:latin typeface="Arial"/>
              <a:ea typeface="Arial"/>
              <a:cs typeface="Arial"/>
            </a:defRPr>
          </a:pPr>
        </a:p>
      </c:txPr>
    </c:title>
    <c:plotArea>
      <c:scatterChart>
        <c:scatterStyle val="line"/>
        <c:varyColors val="0"/>
        <c:ser>
          <c:idx val="0"/>
          <c:order val="0"/>
          <c:tx>
            <c:v>θ</c:v>
          </c:tx>
          <c:spPr>
            <a:solidFill xmlns:a="http://schemas.openxmlformats.org/drawingml/2006/main">
              <a:srgbClr val="D66A2C"/>
            </a:solidFill>
            <a:ln xmlns:a="http://schemas.openxmlformats.org/drawingml/2006/main" w="28575">
              <a:solidFill>
                <a:srgbClr val="D66A2C"/>
              </a:solidFill>
              <a:prstDash val="solid"/>
            </a:ln>
          </c:spPr>
          <c:marker>
            <c:symbol val="none"/>
          </c:marker>
          <c:xVal>
            <c:numRef>
              <c:f>'Chart Data'!$A$2:$A$122</c:f>
              <c:numCache>
                <c:formatCode>General</c:formatCode>
                <c:ptCount val="12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pt idx="101">
                  <c:v>10.1</c:v>
                </c:pt>
                <c:pt idx="102">
                  <c:v>10.2</c:v>
                </c:pt>
                <c:pt idx="103">
                  <c:v>10.3</c:v>
                </c:pt>
                <c:pt idx="104">
                  <c:v>10.4</c:v>
                </c:pt>
                <c:pt idx="105">
                  <c:v>10.5</c:v>
                </c:pt>
                <c:pt idx="106">
                  <c:v>10.6</c:v>
                </c:pt>
                <c:pt idx="107">
                  <c:v>10.7</c:v>
                </c:pt>
                <c:pt idx="108">
                  <c:v>10.8</c:v>
                </c:pt>
                <c:pt idx="109">
                  <c:v>10.9</c:v>
                </c:pt>
                <c:pt idx="110">
                  <c:v>11</c:v>
                </c:pt>
                <c:pt idx="111">
                  <c:v>11.1</c:v>
                </c:pt>
                <c:pt idx="112">
                  <c:v>11.2</c:v>
                </c:pt>
                <c:pt idx="113">
                  <c:v>11.3</c:v>
                </c:pt>
                <c:pt idx="114">
                  <c:v>11.4</c:v>
                </c:pt>
                <c:pt idx="115">
                  <c:v>11.5</c:v>
                </c:pt>
                <c:pt idx="116">
                  <c:v>11.6</c:v>
                </c:pt>
                <c:pt idx="117">
                  <c:v>11.7</c:v>
                </c:pt>
                <c:pt idx="118">
                  <c:v>11.8</c:v>
                </c:pt>
                <c:pt idx="119">
                  <c:v>11.9</c:v>
                </c:pt>
                <c:pt idx="120">
                  <c:v>12</c:v>
                </c:pt>
              </c:numCache>
            </c:numRef>
          </c:xVal>
          <c:yVal>
            <c:numRef>
              <c:f>'Chart Data'!$B$2:$B$122</c:f>
              <c:numCache>
                <c:formatCode>0.0</c:formatCode>
                <c:ptCount val="121"/>
                <c:pt idx="0">
                  <c:v>0</c:v>
                </c:pt>
                <c:pt idx="1">
                  <c:v>0.0002432614777</c:v>
                </c:pt>
                <c:pt idx="2">
                  <c:v>0.002825547943</c:v>
                </c:pt>
                <c:pt idx="3">
                  <c:v>0.01079993036</c:v>
                </c:pt>
                <c:pt idx="4">
                  <c:v>0.0265370963</c:v>
                </c:pt>
                <c:pt idx="5">
                  <c:v>0.05149273327</c:v>
                </c:pt>
                <c:pt idx="6">
                  <c:v>0.08630577253</c:v>
                </c:pt>
                <c:pt idx="7">
                  <c:v>0.1309394063</c:v>
                </c:pt>
                <c:pt idx="8">
                  <c:v>0.1848151359</c:v>
                </c:pt>
                <c:pt idx="9">
                  <c:v>0.2469323389</c:v>
                </c:pt>
                <c:pt idx="10">
                  <c:v>0.315973219</c:v>
                </c:pt>
                <c:pt idx="11">
                  <c:v>0.3903942095</c:v>
                </c:pt>
                <c:pt idx="12">
                  <c:v>0.4685050242</c:v>
                </c:pt>
                <c:pt idx="13">
                  <c:v>0.5485365013</c:v>
                </c:pt>
                <c:pt idx="14">
                  <c:v>0.6286983063</c:v>
                </c:pt>
                <c:pt idx="15">
                  <c:v>0.707227492</c:v>
                </c:pt>
                <c:pt idx="16">
                  <c:v>0.7824288386</c:v>
                </c:pt>
                <c:pt idx="17">
                  <c:v>0.8527078367</c:v>
                </c:pt>
                <c:pt idx="18">
                  <c:v>0.9165971061</c:v>
                </c:pt>
                <c:pt idx="19">
                  <c:v>0.9727769849</c:v>
                </c:pt>
                <c:pt idx="20">
                  <c:v>1.020090963</c:v>
                </c:pt>
                <c:pt idx="21">
                  <c:v>1.057556571</c:v>
                </c:pt>
                <c:pt idx="22">
                  <c:v>1.084372287</c:v>
                </c:pt>
                <c:pt idx="23">
                  <c:v>1.099920962</c:v>
                </c:pt>
                <c:pt idx="24">
                  <c:v>1.103770221</c:v>
                </c:pt>
                <c:pt idx="25">
                  <c:v>1.095670238</c:v>
                </c:pt>
                <c:pt idx="26">
                  <c:v>1.075549258</c:v>
                </c:pt>
                <c:pt idx="27">
                  <c:v>1.043507183</c:v>
                </c:pt>
                <c:pt idx="28">
                  <c:v>0.9998075022</c:v>
                </c:pt>
                <c:pt idx="29">
                  <c:v>0.9448678288</c:v>
                </c:pt>
                <c:pt idx="30">
                  <c:v>0.8792492605</c:v>
                </c:pt>
                <c:pt idx="31">
                  <c:v>0.8036447678</c:v>
                </c:pt>
                <c:pt idx="32">
                  <c:v>0.7188667865</c:v>
                </c:pt>
                <c:pt idx="33">
                  <c:v>0.6258341729</c:v>
                </c:pt>
                <c:pt idx="34">
                  <c:v>0.5255586689</c:v>
                </c:pt>
                <c:pt idx="35">
                  <c:v>0.4191310076</c:v>
                </c:pt>
                <c:pt idx="36">
                  <c:v>0.3077067817</c:v>
                </c:pt>
                <c:pt idx="37">
                  <c:v>0.1924921891</c:v>
                </c:pt>
                <c:pt idx="38">
                  <c:v>0.07472976316</c:v>
                </c:pt>
                <c:pt idx="39">
                  <c:v>-0.04431581089</c:v>
                </c:pt>
                <c:pt idx="40">
                  <c:v>-0.1633716934</c:v>
                </c:pt>
                <c:pt idx="41">
                  <c:v>-0.2811706081</c:v>
                </c:pt>
                <c:pt idx="42">
                  <c:v>-0.396464187</c:v>
                </c:pt>
                <c:pt idx="43">
                  <c:v>-0.5080358541</c:v>
                </c:pt>
                <c:pt idx="44">
                  <c:v>-0.6147131593</c:v>
                </c:pt>
                <c:pt idx="45">
                  <c:v>-0.7153794814</c:v>
                </c:pt>
                <c:pt idx="46">
                  <c:v>-0.8089850165</c:v>
                </c:pt>
                <c:pt idx="47">
                  <c:v>-0.8945569787</c:v>
                </c:pt>
                <c:pt idx="48">
                  <c:v>-0.9712089372</c:v>
                </c:pt>
                <c:pt idx="49">
                  <c:v>-1.038149226</c:v>
                </c:pt>
                <c:pt idx="50">
                  <c:v>-1.094688362</c:v>
                </c:pt>
                <c:pt idx="51">
                  <c:v>-1.140245421</c:v>
                </c:pt>
                <c:pt idx="52">
                  <c:v>-1.174353317</c:v>
                </c:pt>
                <c:pt idx="53">
                  <c:v>-1.196662955</c:v>
                </c:pt>
                <c:pt idx="54">
                  <c:v>-1.206946218</c:v>
                </c:pt>
                <c:pt idx="55">
                  <c:v>-1.20509777</c:v>
                </c:pt>
                <c:pt idx="56">
                  <c:v>-1.191135666</c:v>
                </c:pt>
                <c:pt idx="57">
                  <c:v>-1.165200764</c:v>
                </c:pt>
                <c:pt idx="58">
                  <c:v>-1.127554941</c:v>
                </c:pt>
                <c:pt idx="59">
                  <c:v>-1.078578152</c:v>
                </c:pt>
                <c:pt idx="60">
                  <c:v>-1.018764334</c:v>
                </c:pt>
                <c:pt idx="61">
                  <c:v>-0.9487162219</c:v>
                </c:pt>
                <c:pt idx="62">
                  <c:v>-0.8691391058</c:v>
                </c:pt>
                <c:pt idx="63">
                  <c:v>-0.7808336033</c:v>
                </c:pt>
                <c:pt idx="64">
                  <c:v>-0.6846875093</c:v>
                </c:pt>
                <c:pt idx="65">
                  <c:v>-0.5816668053</c:v>
                </c:pt>
                <c:pt idx="66">
                  <c:v>-0.4728059142</c:v>
                </c:pt>
                <c:pt idx="67">
                  <c:v>-0.3591972942</c:v>
                </c:pt>
                <c:pt idx="68">
                  <c:v>-0.2419804749</c:v>
                </c:pt>
                <c:pt idx="69">
                  <c:v>-0.1223306397</c:v>
                </c:pt>
                <c:pt idx="70">
                  <c:v>-0.001446868344</c:v>
                </c:pt>
                <c:pt idx="71">
                  <c:v>0.1194598479</c:v>
                </c:pt>
                <c:pt idx="72">
                  <c:v>0.2391786985</c:v>
                </c:pt>
                <c:pt idx="73">
                  <c:v>0.3565111369</c:v>
                </c:pt>
                <c:pt idx="74">
                  <c:v>0.4702828346</c:v>
                </c:pt>
                <c:pt idx="75">
                  <c:v>0.5793553886</c:v>
                </c:pt>
                <c:pt idx="76">
                  <c:v>0.6826376672</c:v>
                </c:pt>
                <c:pt idx="77">
                  <c:v>0.7790966813</c:v>
                </c:pt>
                <c:pt idx="78">
                  <c:v>0.867767874</c:v>
                </c:pt>
                <c:pt idx="79">
                  <c:v>0.9477647271</c:v>
                </c:pt>
                <c:pt idx="80">
                  <c:v>1.018287588</c:v>
                </c:pt>
                <c:pt idx="81">
                  <c:v>1.07863163</c:v>
                </c:pt>
                <c:pt idx="82">
                  <c:v>1.128193868</c:v>
                </c:pt>
                <c:pt idx="83">
                  <c:v>1.166479158</c:v>
                </c:pt>
                <c:pt idx="84">
                  <c:v>1.19310512</c:v>
                </c:pt>
                <c:pt idx="85">
                  <c:v>1.207805939</c:v>
                </c:pt>
                <c:pt idx="86">
                  <c:v>1.210435004</c:v>
                </c:pt>
                <c:pt idx="87">
                  <c:v>1.200966353</c:v>
                </c:pt>
                <c:pt idx="88">
                  <c:v>1.179494923</c:v>
                </c:pt>
                <c:pt idx="89">
                  <c:v>1.146235587</c:v>
                </c:pt>
                <c:pt idx="90">
                  <c:v>1.101520997</c:v>
                </c:pt>
                <c:pt idx="91">
                  <c:v>1.045798257</c:v>
                </c:pt>
                <c:pt idx="92">
                  <c:v>0.9796244443</c:v>
                </c:pt>
                <c:pt idx="93">
                  <c:v>0.9036610416</c:v>
                </c:pt>
                <c:pt idx="94">
                  <c:v>0.8186673243</c:v>
                </c:pt>
                <c:pt idx="95">
                  <c:v>0.7254927713</c:v>
                </c:pt>
                <c:pt idx="96">
                  <c:v>0.6250685767</c:v>
                </c:pt>
                <c:pt idx="97">
                  <c:v>0.5183983448</c:v>
                </c:pt>
                <c:pt idx="98">
                  <c:v>0.4065480632</c:v>
                </c:pt>
                <c:pt idx="99">
                  <c:v>0.2906354521</c:v>
                </c:pt>
                <c:pt idx="100">
                  <c:v>0.171818798</c:v>
                </c:pt>
                <c:pt idx="101">
                  <c:v>0.05128538228</c:v>
                </c:pt>
                <c:pt idx="102">
                  <c:v>-0.06976038068</c:v>
                </c:pt>
                <c:pt idx="103">
                  <c:v>-0.1901089752</c:v>
                </c:pt>
                <c:pt idx="104">
                  <c:v>-0.3085578675</c:v>
                </c:pt>
                <c:pt idx="105">
                  <c:v>-0.4239235193</c:v>
                </c:pt>
                <c:pt idx="106">
                  <c:v>-0.5350532114</c:v>
                </c:pt>
                <c:pt idx="107">
                  <c:v>-0.6408365593</c:v>
                </c:pt>
                <c:pt idx="108">
                  <c:v>-0.7402166062</c:v>
                </c:pt>
                <c:pt idx="109">
                  <c:v>-0.8322003822</c:v>
                </c:pt>
                <c:pt idx="110">
                  <c:v>-0.9158688242</c:v>
                </c:pt>
                <c:pt idx="111">
                  <c:v>-0.9903859577</c:v>
                </c:pt>
                <c:pt idx="112">
                  <c:v>-1.055007248</c:v>
                </c:pt>
                <c:pt idx="113">
                  <c:v>-1.10908704</c:v>
                </c:pt>
                <c:pt idx="114">
                  <c:v>-1.152085005</c:v>
                </c:pt>
                <c:pt idx="115">
                  <c:v>-1.183571543</c:v>
                </c:pt>
                <c:pt idx="116">
                  <c:v>-1.203232071</c:v>
                </c:pt>
                <c:pt idx="117">
                  <c:v>-1.210870169</c:v>
                </c:pt>
                <c:pt idx="118">
                  <c:v>-1.206409537</c:v>
                </c:pt>
                <c:pt idx="119">
                  <c:v>-1.189894764</c:v>
                </c:pt>
                <c:pt idx="120">
                  <c:v>-1.161490878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1.5"/>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θ (rad)</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0"/>
        <c:majorTickMark val="none"/>
        <c:minorTickMark val="none"/>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50112"/>
        <c:crossesAt val="0"/>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Tiempo (s)</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
        <c:majorTickMark val="none"/>
        <c:minorTickMark val="none"/>
        <c:tickLblPos val="low"/>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72768"/>
        <c:crossesAt val="-1.5"/>
        <c:majorUnit val="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3283C"/>
                </a:solidFill>
                <a:latin typeface="Arial"/>
                <a:ea typeface="Arial"/>
                <a:cs typeface="Arial"/>
              </a:rPr>
              <a:t>Impulso unitario</a:t>
            </a:r>
          </a:p>
        </c:rich>
      </c:tx>
      <c:overlay val="0"/>
      <c:txPr>
        <a:bodyPr xmlns:a="http://schemas.openxmlformats.org/drawingml/2006/main" anchorCtr="1"/>
        <a:lstStyle xmlns:a="http://schemas.openxmlformats.org/drawingml/2006/main"/>
        <a:p xmlns:a="http://schemas.openxmlformats.org/drawingml/2006/main">
          <a:pPr>
            <a:defRPr sz="1875" b="1">
              <a:solidFill>
                <a:srgbClr val="13283C"/>
              </a:solidFill>
              <a:latin typeface="Arial"/>
              <a:ea typeface="Arial"/>
              <a:cs typeface="Arial"/>
            </a:defRPr>
          </a:pPr>
        </a:p>
      </c:txPr>
    </c:title>
    <c:plotArea>
      <c:scatterChart>
        <c:scatterStyle val="line"/>
        <c:varyColors val="0"/>
        <c:ser>
          <c:idx val="0"/>
          <c:order val="0"/>
          <c:tx>
            <c:v>θ</c:v>
          </c:tx>
          <c:spPr>
            <a:solidFill xmlns:a="http://schemas.openxmlformats.org/drawingml/2006/main">
              <a:srgbClr val="087E8B"/>
            </a:solidFill>
            <a:ln xmlns:a="http://schemas.openxmlformats.org/drawingml/2006/main" w="28575">
              <a:solidFill>
                <a:srgbClr val="087E8B"/>
              </a:solidFill>
              <a:prstDash val="solid"/>
            </a:ln>
          </c:spPr>
          <c:marker>
            <c:symbol val="none"/>
          </c:marker>
          <c:xVal>
            <c:numRef>
              <c:f>'Chart Data'!$A$2:$A$122</c:f>
              <c:numCache>
                <c:formatCode>General</c:formatCode>
                <c:ptCount val="12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pt idx="101">
                  <c:v>10.1</c:v>
                </c:pt>
                <c:pt idx="102">
                  <c:v>10.2</c:v>
                </c:pt>
                <c:pt idx="103">
                  <c:v>10.3</c:v>
                </c:pt>
                <c:pt idx="104">
                  <c:v>10.4</c:v>
                </c:pt>
                <c:pt idx="105">
                  <c:v>10.5</c:v>
                </c:pt>
                <c:pt idx="106">
                  <c:v>10.6</c:v>
                </c:pt>
                <c:pt idx="107">
                  <c:v>10.7</c:v>
                </c:pt>
                <c:pt idx="108">
                  <c:v>10.8</c:v>
                </c:pt>
                <c:pt idx="109">
                  <c:v>10.9</c:v>
                </c:pt>
                <c:pt idx="110">
                  <c:v>11</c:v>
                </c:pt>
                <c:pt idx="111">
                  <c:v>11.1</c:v>
                </c:pt>
                <c:pt idx="112">
                  <c:v>11.2</c:v>
                </c:pt>
                <c:pt idx="113">
                  <c:v>11.3</c:v>
                </c:pt>
                <c:pt idx="114">
                  <c:v>11.4</c:v>
                </c:pt>
                <c:pt idx="115">
                  <c:v>11.5</c:v>
                </c:pt>
                <c:pt idx="116">
                  <c:v>11.6</c:v>
                </c:pt>
                <c:pt idx="117">
                  <c:v>11.7</c:v>
                </c:pt>
                <c:pt idx="118">
                  <c:v>11.8</c:v>
                </c:pt>
                <c:pt idx="119">
                  <c:v>11.9</c:v>
                </c:pt>
                <c:pt idx="120">
                  <c:v>12</c:v>
                </c:pt>
              </c:numCache>
            </c:numRef>
          </c:xVal>
          <c:yVal>
            <c:numRef>
              <c:f>'Chart Data'!$B$2:$B$122</c:f>
              <c:numCache>
                <c:formatCode>0.0</c:formatCode>
                <c:ptCount val="121"/>
                <c:pt idx="0">
                  <c:v>-4.440892099E-16</c:v>
                </c:pt>
                <c:pt idx="1">
                  <c:v>0.229548149</c:v>
                </c:pt>
                <c:pt idx="2">
                  <c:v>0.5495408457</c:v>
                </c:pt>
                <c:pt idx="3">
                  <c:v>0.7955857869</c:v>
                </c:pt>
                <c:pt idx="4">
                  <c:v>0.9560061196</c:v>
                </c:pt>
                <c:pt idx="5">
                  <c:v>1.043719357</c:v>
                </c:pt>
                <c:pt idx="6">
                  <c:v>1.073755552</c:v>
                </c:pt>
                <c:pt idx="7">
                  <c:v>1.059532065</c:v>
                </c:pt>
                <c:pt idx="8">
                  <c:v>1.012433394</c:v>
                </c:pt>
                <c:pt idx="9">
                  <c:v>0.9419522113</c:v>
                </c:pt>
                <c:pt idx="10">
                  <c:v>0.85590747</c:v>
                </c:pt>
                <c:pt idx="11">
                  <c:v>0.7606565083</c:v>
                </c:pt>
                <c:pt idx="12">
                  <c:v>0.6612887111</c:v>
                </c:pt>
                <c:pt idx="13">
                  <c:v>0.5618003262</c:v>
                </c:pt>
                <c:pt idx="14">
                  <c:v>0.4652517933</c:v>
                </c:pt>
                <c:pt idx="15">
                  <c:v>0.3739089896</c:v>
                </c:pt>
                <c:pt idx="16">
                  <c:v>0.2893696244</c:v>
                </c:pt>
                <c:pt idx="17">
                  <c:v>0.2126758629</c:v>
                </c:pt>
                <c:pt idx="18">
                  <c:v>0.144414153</c:v>
                </c:pt>
                <c:pt idx="19">
                  <c:v>0.08480316434</c:v>
                </c:pt>
                <c:pt idx="20">
                  <c:v>0.03377070287</c:v>
                </c:pt>
                <c:pt idx="21">
                  <c:v>-0.008979560533</c:v>
                </c:pt>
                <c:pt idx="22">
                  <c:v>-0.04391073036</c:v>
                </c:pt>
                <c:pt idx="23">
                  <c:v>-0.07160389408</c:v>
                </c:pt>
                <c:pt idx="24">
                  <c:v>-0.09271711419</c:v>
                </c:pt>
                <c:pt idx="25">
                  <c:v>-0.107951442</c:v>
                </c:pt>
                <c:pt idx="26">
                  <c:v>-0.1180232157</c:v>
                </c:pt>
                <c:pt idx="27">
                  <c:v>-0.1236419343</c:v>
                </c:pt>
                <c:pt idx="28">
                  <c:v>-0.125493033</c:v>
                </c:pt>
                <c:pt idx="29">
                  <c:v>-0.1242249249</c:v>
                </c:pt>
                <c:pt idx="30">
                  <c:v>-0.1204397111</c:v>
                </c:pt>
                <c:pt idx="31">
                  <c:v>-0.1146870117</c:v>
                </c:pt>
                <c:pt idx="32">
                  <c:v>-0.1074604074</c:v>
                </c:pt>
                <c:pt idx="33">
                  <c:v>-0.09919603572</c:v>
                </c:pt>
                <c:pt idx="34">
                  <c:v>-0.0902729252</c:v>
                </c:pt>
                <c:pt idx="35">
                  <c:v>-0.08101470124</c:v>
                </c:pt>
                <c:pt idx="36">
                  <c:v>-0.07169233816</c:v>
                </c:pt>
                <c:pt idx="37">
                  <c:v>-0.06252767602</c:v>
                </c:pt>
                <c:pt idx="38">
                  <c:v>-0.05369745952</c:v>
                </c:pt>
                <c:pt idx="39">
                  <c:v>-0.04533769402</c:v>
                </c:pt>
                <c:pt idx="40">
                  <c:v>-0.03754814764</c:v>
                </c:pt>
                <c:pt idx="41">
                  <c:v>-0.03039685964</c:v>
                </c:pt>
                <c:pt idx="42">
                  <c:v>-0.02392454362</c:v>
                </c:pt>
                <c:pt idx="43">
                  <c:v>-0.01814879873</c:v>
                </c:pt>
                <c:pt idx="44">
                  <c:v>-0.01306806447</c:v>
                </c:pt>
                <c:pt idx="45">
                  <c:v>-0.008665273496</c:v>
                </c:pt>
                <c:pt idx="46">
                  <c:v>-0.004911173295</c:v>
                </c:pt>
                <c:pt idx="47">
                  <c:v>-0.00176730128</c:v>
                </c:pt>
                <c:pt idx="48">
                  <c:v>0.0008113906372</c:v>
                </c:pt>
                <c:pt idx="49">
                  <c:v>0.002874256884</c:v>
                </c:pt>
                <c:pt idx="50">
                  <c:v>0.004473012001</c:v>
                </c:pt>
                <c:pt idx="51">
                  <c:v>0.005660099378</c:v>
                </c:pt>
                <c:pt idx="52">
                  <c:v>0.006487352989</c:v>
                </c:pt>
                <c:pt idx="53">
                  <c:v>0.007004927423</c:v>
                </c:pt>
                <c:pt idx="54">
                  <c:v>0.007260469972</c:v>
                </c:pt>
                <c:pt idx="55">
                  <c:v>0.007298507841</c:v>
                </c:pt>
                <c:pt idx="56">
                  <c:v>0.007160023707</c:v>
                </c:pt>
                <c:pt idx="57">
                  <c:v>0.006882193536</c:v>
                </c:pt>
                <c:pt idx="58">
                  <c:v>0.006498261804</c:v>
                </c:pt>
                <c:pt idx="59">
                  <c:v>0.0060375308</c:v>
                </c:pt>
                <c:pt idx="60">
                  <c:v>0.005525442513</c:v>
                </c:pt>
                <c:pt idx="61">
                  <c:v>0.004983733548</c:v>
                </c:pt>
                <c:pt idx="62">
                  <c:v>0.004430645566</c:v>
                </c:pt>
                <c:pt idx="63">
                  <c:v>0.003881175807</c:v>
                </c:pt>
                <c:pt idx="64">
                  <c:v>0.003347354262</c:v>
                </c:pt>
                <c:pt idx="65">
                  <c:v>0.002838536036</c:v>
                </c:pt>
                <c:pt idx="66">
                  <c:v>0.002361699249</c:v>
                </c:pt>
                <c:pt idx="67">
                  <c:v>0.001921740579</c:v>
                </c:pt>
                <c:pt idx="68">
                  <c:v>0.001521762071</c:v>
                </c:pt>
                <c:pt idx="69">
                  <c:v>0.0011633443</c:v>
                </c:pt>
                <c:pt idx="70">
                  <c:v>0.0008468021985</c:v>
                </c:pt>
                <c:pt idx="71">
                  <c:v>0.0005714209722</c:v>
                </c:pt>
                <c:pt idx="72">
                  <c:v>0.0003356704969</c:v>
                </c:pt>
                <c:pt idx="73">
                  <c:v>0.0001373973674</c:v>
                </c:pt>
                <c:pt idx="74">
                  <c:v>-2.600553952E-05</c:v>
                </c:pt>
                <c:pt idx="75">
                  <c:v>-0.000157451585</c:v>
                </c:pt>
                <c:pt idx="76">
                  <c:v>-0.000260034139</c:v>
                </c:pt>
                <c:pt idx="77">
                  <c:v>-0.0003369204362</c:v>
                </c:pt>
                <c:pt idx="78">
                  <c:v>-0.0003912641122</c:v>
                </c:pt>
                <c:pt idx="79">
                  <c:v>-0.0004261348545</c:v>
                </c:pt>
                <c:pt idx="80">
                  <c:v>-0.0004444635064</c:v>
                </c:pt>
                <c:pt idx="81">
                  <c:v>-0.0004490009265</c:v>
                </c:pt>
                <c:pt idx="82">
                  <c:v>-0.0004422889114</c:v>
                </c:pt>
                <c:pt idx="83">
                  <c:v>-0.0004266415387</c:v>
                </c:pt>
                <c:pt idx="84">
                  <c:v>-0.0004041353595</c:v>
                </c:pt>
                <c:pt idx="85">
                  <c:v>-0.0003766069686</c:v>
                </c:pt>
                <c:pt idx="86">
                  <c:v>-0.000345656591</c:v>
                </c:pt>
                <c:pt idx="87">
                  <c:v>-0.0003126564468</c:v>
                </c:pt>
                <c:pt idx="88">
                  <c:v>-0.0002787627843</c:v>
                </c:pt>
                <c:pt idx="89">
                  <c:v>-0.0002449305968</c:v>
                </c:pt>
                <c:pt idx="90">
                  <c:v>-0.0002119301695</c:v>
                </c:pt>
                <c:pt idx="91">
                  <c:v>-0.0001803647212</c:v>
                </c:pt>
                <c:pt idx="92">
                  <c:v>-0.0001506885228</c:v>
                </c:pt>
                <c:pt idx="93">
                  <c:v>-0.0001232249825</c:v>
                </c:pt>
                <c:pt idx="94">
                  <c:v>-9.818428521E-05</c:v>
                </c:pt>
                <c:pt idx="95">
                  <c:v>-7.568026455E-05</c:v>
                </c:pt>
                <c:pt idx="96">
                  <c:v>-5.574626393E-05</c:v>
                </c:pt>
                <c:pt idx="97">
                  <c:v>-3.834981445E-05</c:v>
                </c:pt>
                <c:pt idx="98">
                  <c:v>-2.340601708E-05</c:v>
                </c:pt>
                <c:pt idx="99">
                  <c:v>-1.078956852E-05</c:v>
                </c:pt>
                <c:pt idx="100">
                  <c:v>-3.45413026E-07</c:v>
                </c:pt>
                <c:pt idx="101">
                  <c:v>8.101962416E-06</c:v>
                </c:pt>
                <c:pt idx="102">
                  <c:v>1.474054405E-05</c:v>
                </c:pt>
                <c:pt idx="103">
                  <c:v>1.976405134E-05</c:v>
                </c:pt>
                <c:pt idx="104">
                  <c:v>2.336635814E-05</c:v>
                </c:pt>
                <c:pt idx="105">
                  <c:v>2.573698099E-05</c:v>
                </c:pt>
                <c:pt idx="106">
                  <c:v>2.705753422E-05</c:v>
                </c:pt>
                <c:pt idx="107">
                  <c:v>2.749904807E-05</c:v>
                </c:pt>
                <c:pt idx="108">
                  <c:v>2.72200463E-05</c:v>
                </c:pt>
                <c:pt idx="109">
                  <c:v>2.636528192E-05</c:v>
                </c:pt>
                <c:pt idx="110">
                  <c:v>2.506503389E-05</c:v>
                </c:pt>
                <c:pt idx="111">
                  <c:v>2.343487354E-05</c:v>
                </c:pt>
                <c:pt idx="112">
                  <c:v>2.157581571E-05</c:v>
                </c:pt>
                <c:pt idx="113">
                  <c:v>1.957477752E-05</c:v>
                </c:pt>
                <c:pt idx="114">
                  <c:v>1.750527493E-05</c:v>
                </c:pt>
                <c:pt idx="115">
                  <c:v>1.542829548E-05</c:v>
                </c:pt>
                <c:pt idx="116">
                  <c:v>1.339329305E-05</c:v>
                </c:pt>
                <c:pt idx="117">
                  <c:v>1.143925847E-05</c:v>
                </c:pt>
                <c:pt idx="118">
                  <c:v>9.595826384E-06</c:v>
                </c:pt>
                <c:pt idx="119">
                  <c:v>7.884386056E-06</c:v>
                </c:pt>
                <c:pt idx="120">
                  <c:v>6.319169538E-06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5"/>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θ (rad)</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0"/>
        <c:majorTickMark val="none"/>
        <c:minorTickMark val="none"/>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50112"/>
        <c:crossesAt val="0"/>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sz="1575">
                    <a:solidFill>
                      <a:srgbClr val="516474"/>
                    </a:solidFill>
                    <a:latin typeface="Arial"/>
                    <a:ea typeface="Arial"/>
                    <a:cs typeface="Arial"/>
                  </a:rPr>
                  <a:t>Tiempo (s)</a:t>
                </a:r>
              </a:p>
            </c:rich>
          </c:tx>
          <c:overlay val="0"/>
          <c:txPr>
            <a:bodyPr xmlns:a="http://schemas.openxmlformats.org/drawingml/2006/main" anchorCtr="1"/>
            <a:lstStyle xmlns:a="http://schemas.openxmlformats.org/drawingml/2006/main"/>
            <a:p xmlns:a="http://schemas.openxmlformats.org/drawingml/2006/main">
              <a:pPr>
                <a:defRPr sz="1575">
                  <a:solidFill>
                    <a:srgbClr val="516474"/>
                  </a:solidFill>
                  <a:latin typeface="Arial"/>
                  <a:ea typeface="Arial"/>
                  <a:cs typeface="Arial"/>
                </a:defRPr>
              </a:pPr>
            </a:p>
          </c:txPr>
        </c:title>
        <c:numFmt formatCode="0"/>
        <c:majorTickMark val="none"/>
        <c:minorTickMark val="none"/>
        <c:tickLblPos val="low"/>
        <c:spPr>
          <a:ln xmlns:a="http://schemas.openxmlformats.org/drawingml/2006/main" w="9525">
            <a:solidFill>
              <a:srgbClr val="B6C3CC"/>
            </a:solidFill>
          </a:ln>
        </c:spPr>
        <c:txPr>
          <a:bodyPr xmlns:a="http://schemas.openxmlformats.org/drawingml/2006/main" anchorCtr="1"/>
          <a:lstStyle xmlns:a="http://schemas.openxmlformats.org/drawingml/2006/main"/>
          <a:p xmlns:a="http://schemas.openxmlformats.org/drawingml/2006/main">
            <a:pPr>
              <a:defRPr sz="1500">
                <a:solidFill>
                  <a:srgbClr val="516474"/>
                </a:solidFill>
                <a:latin typeface="Arial"/>
                <a:ea typeface="Arial"/>
                <a:cs typeface="Arial"/>
              </a:defRPr>
            </a:pPr>
          </a:p>
        </c:txPr>
        <c:crossAx val="48672768"/>
        <c:crossesAt val="-0.5"/>
        <c:majorUnit val="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83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E4DA608-9A36-4591-ACCB-5132B6FBE35C}"/>
              </a:ext>
            </a:extLst>
          </p:cNvPr>
          <p:cNvPicPr>
            <a:picLocks xmlns:a="http://schemas.openxmlformats.org/drawingml/2006/main" noChangeAspect="1"/>
          </p:cNvPicPr>
          <p:nvPr/>
        </p:nvPicPr>
        <p:blipFill>
          <a:blip xmlns:r="http://schemas.openxmlformats.org/officeDocument/2006/relationships" xmlns:a="http://schemas.openxmlformats.org/drawingml/2006/main" r:embed="Rf87b4d6dd2eb492c"/>
          <a:srcRect xmlns:a="http://schemas.openxmlformats.org/drawingml/2006/main" l="28936" t="0" r="28936"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3" name="Universidad Galileo">
            <a:extLst xmlns:a="http://schemas.openxmlformats.org/drawingml/2006/main">
              <a:ext uri="{FF2B5EF4-FFF2-40B4-BE49-F238E27FC236}">
                <a16:creationId xmlns:a16="http://schemas.microsoft.com/office/drawing/2014/main" id="{4F6E5D5B-0A08-42B1-B343-C06E3C981256}"/>
              </a:ext>
            </a:extLst>
          </p:cNvPr>
          <p:cNvSpPr>
            <a:spLocks xmlns:a="http://schemas.openxmlformats.org/drawingml/2006/main" noGrp="1"/>
          </p:cNvSpPr>
          <p:nvPr/>
        </p:nvSpPr>
        <p:spPr>
          <a:xfrm xmlns:a="http://schemas.openxmlformats.org/drawingml/2006/main">
            <a:off x="590550" y="457200"/>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FFFFFF"/>
                </a:solidFill>
                <a:latin typeface="Arial"/>
                <a:ea typeface="Arial"/>
                <a:cs typeface="Arial"/>
              </a:defRPr>
            </a:defPPr>
            <a:lvl1pPr algn="l">
              <a:defRPr sz="1725" b="0">
                <a:solidFill>
                  <a:srgbClr val="FFFFFF"/>
                </a:solidFill>
                <a:latin typeface="Arial"/>
                <a:ea typeface="Arial"/>
                <a:cs typeface="Arial"/>
              </a:defRPr>
            </a:lvl1pPr>
            <a:lvl2pPr algn="l">
              <a:defRPr sz="1725" b="0">
                <a:solidFill>
                  <a:srgbClr val="FFFFFF"/>
                </a:solidFill>
                <a:latin typeface="Arial"/>
                <a:ea typeface="Arial"/>
                <a:cs typeface="Arial"/>
              </a:defRPr>
            </a:lvl2pPr>
            <a:lvl3pPr algn="l">
              <a:defRPr sz="1725" b="0">
                <a:solidFill>
                  <a:srgbClr val="FFFFFF"/>
                </a:solidFill>
                <a:latin typeface="Arial"/>
                <a:ea typeface="Arial"/>
                <a:cs typeface="Arial"/>
              </a:defRPr>
            </a:lvl3pPr>
            <a:lvl4pPr algn="l">
              <a:defRPr sz="1725" b="0">
                <a:solidFill>
                  <a:srgbClr val="FFFFFF"/>
                </a:solidFill>
                <a:latin typeface="Arial"/>
                <a:ea typeface="Arial"/>
                <a:cs typeface="Arial"/>
              </a:defRPr>
            </a:lvl4pPr>
            <a:lvl5pPr algn="l">
              <a:defRPr sz="1725" b="0">
                <a:solidFill>
                  <a:srgbClr val="FFFFFF"/>
                </a:solidFill>
                <a:latin typeface="Arial"/>
                <a:ea typeface="Arial"/>
                <a:cs typeface="Arial"/>
              </a:defRPr>
            </a:lvl5pPr>
            <a:lvl6pPr algn="l">
              <a:defRPr sz="1725" b="0">
                <a:solidFill>
                  <a:srgbClr val="FFFFFF"/>
                </a:solidFill>
                <a:latin typeface="Arial"/>
                <a:ea typeface="Arial"/>
                <a:cs typeface="Arial"/>
              </a:defRPr>
            </a:lvl6pPr>
            <a:lvl7pPr algn="l">
              <a:defRPr sz="1725" b="0">
                <a:solidFill>
                  <a:srgbClr val="FFFFFF"/>
                </a:solidFill>
                <a:latin typeface="Arial"/>
                <a:ea typeface="Arial"/>
                <a:cs typeface="Arial"/>
              </a:defRPr>
            </a:lvl7pPr>
            <a:lvl8pPr algn="l">
              <a:defRPr sz="1725" b="0">
                <a:solidFill>
                  <a:srgbClr val="FFFFFF"/>
                </a:solidFill>
                <a:latin typeface="Arial"/>
                <a:ea typeface="Arial"/>
                <a:cs typeface="Arial"/>
              </a:defRPr>
            </a:lvl8pPr>
            <a:lvl9pPr algn="l">
              <a:defRPr sz="1725" b="0">
                <a:solidFill>
                  <a:srgbClr val="FFFFFF"/>
                </a:solidFill>
                <a:latin typeface="Arial"/>
                <a:ea typeface="Arial"/>
                <a:cs typeface="Arial"/>
              </a:defRPr>
            </a:lvl9pPr>
          </a:lstStyle>
          <a:p xmlns:a="http://schemas.openxmlformats.org/drawingml/2006/main">
            <a:pPr algn="l">
              <a:lnSpc>
                <a:spcPct val="110000"/>
              </a:lnSpc>
              <a:buNone/>
              <a:defRPr sz="1725" b="0">
                <a:solidFill>
                  <a:srgbClr val="FFFFFF"/>
                </a:solidFill>
                <a:latin typeface="Arial"/>
                <a:ea typeface="Arial"/>
                <a:cs typeface="Arial"/>
              </a:defRPr>
            </a:pPr>
            <a:r>
              <a:rPr sz="1725" b="0">
                <a:solidFill>
                  <a:srgbClr val="FFFFFF"/>
                </a:solidFill>
                <a:latin typeface="Arial"/>
                <a:ea typeface="Arial"/>
                <a:cs typeface="Arial"/>
              </a:rPr>
              <a:t>Universidad Galileo</a:t>
            </a:r>
          </a:p>
        </p:txBody>
      </p:sp>
      <p:sp>
        <p:nvSpPr>
          <p:cNvPr id="4" name="Modelado y&#10;simulación de&#10;un cohete">
            <a:extLst xmlns:a="http://schemas.openxmlformats.org/drawingml/2006/main">
              <a:ext uri="{FF2B5EF4-FFF2-40B4-BE49-F238E27FC236}">
                <a16:creationId xmlns:a16="http://schemas.microsoft.com/office/drawing/2014/main" id="{C333C372-4C3F-4E96-BFF1-F9871FA51330}"/>
              </a:ext>
            </a:extLst>
          </p:cNvPr>
          <p:cNvSpPr>
            <a:spLocks xmlns:a="http://schemas.openxmlformats.org/drawingml/2006/main" noGrp="1"/>
          </p:cNvSpPr>
          <p:nvPr/>
        </p:nvSpPr>
        <p:spPr>
          <a:xfrm xmlns:a="http://schemas.openxmlformats.org/drawingml/2006/main">
            <a:off x="590550" y="1238250"/>
            <a:ext cx="6143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500" b="1">
                <a:solidFill>
                  <a:srgbClr val="FFFFFF"/>
                </a:solidFill>
                <a:latin typeface="Arial"/>
                <a:ea typeface="Arial"/>
                <a:cs typeface="Arial"/>
              </a:defRPr>
            </a:defPPr>
            <a:lvl1pPr algn="l">
              <a:defRPr sz="4500" b="1">
                <a:solidFill>
                  <a:srgbClr val="FFFFFF"/>
                </a:solidFill>
                <a:latin typeface="Arial"/>
                <a:ea typeface="Arial"/>
                <a:cs typeface="Arial"/>
              </a:defRPr>
            </a:lvl1pPr>
            <a:lvl2pPr algn="l">
              <a:defRPr sz="4500" b="1">
                <a:solidFill>
                  <a:srgbClr val="FFFFFF"/>
                </a:solidFill>
                <a:latin typeface="Arial"/>
                <a:ea typeface="Arial"/>
                <a:cs typeface="Arial"/>
              </a:defRPr>
            </a:lvl2pPr>
            <a:lvl3pPr algn="l">
              <a:defRPr sz="4500" b="1">
                <a:solidFill>
                  <a:srgbClr val="FFFFFF"/>
                </a:solidFill>
                <a:latin typeface="Arial"/>
                <a:ea typeface="Arial"/>
                <a:cs typeface="Arial"/>
              </a:defRPr>
            </a:lvl3pPr>
            <a:lvl4pPr algn="l">
              <a:defRPr sz="4500" b="1">
                <a:solidFill>
                  <a:srgbClr val="FFFFFF"/>
                </a:solidFill>
                <a:latin typeface="Arial"/>
                <a:ea typeface="Arial"/>
                <a:cs typeface="Arial"/>
              </a:defRPr>
            </a:lvl4pPr>
            <a:lvl5pPr algn="l">
              <a:defRPr sz="4500" b="1">
                <a:solidFill>
                  <a:srgbClr val="FFFFFF"/>
                </a:solidFill>
                <a:latin typeface="Arial"/>
                <a:ea typeface="Arial"/>
                <a:cs typeface="Arial"/>
              </a:defRPr>
            </a:lvl5pPr>
            <a:lvl6pPr algn="l">
              <a:defRPr sz="4500" b="1">
                <a:solidFill>
                  <a:srgbClr val="FFFFFF"/>
                </a:solidFill>
                <a:latin typeface="Arial"/>
                <a:ea typeface="Arial"/>
                <a:cs typeface="Arial"/>
              </a:defRPr>
            </a:lvl6pPr>
            <a:lvl7pPr algn="l">
              <a:defRPr sz="4500" b="1">
                <a:solidFill>
                  <a:srgbClr val="FFFFFF"/>
                </a:solidFill>
                <a:latin typeface="Arial"/>
                <a:ea typeface="Arial"/>
                <a:cs typeface="Arial"/>
              </a:defRPr>
            </a:lvl7pPr>
            <a:lvl8pPr algn="l">
              <a:defRPr sz="4500" b="1">
                <a:solidFill>
                  <a:srgbClr val="FFFFFF"/>
                </a:solidFill>
                <a:latin typeface="Arial"/>
                <a:ea typeface="Arial"/>
                <a:cs typeface="Arial"/>
              </a:defRPr>
            </a:lvl8pPr>
            <a:lvl9pPr algn="l">
              <a:defRPr sz="4500" b="1">
                <a:solidFill>
                  <a:srgbClr val="FFFFFF"/>
                </a:solidFill>
                <a:latin typeface="Arial"/>
                <a:ea typeface="Arial"/>
                <a:cs typeface="Arial"/>
              </a:defRPr>
            </a:lvl9pPr>
          </a:lstStyle>
          <a:p xmlns:a="http://schemas.openxmlformats.org/drawingml/2006/main">
            <a:pPr algn="l">
              <a:lnSpc>
                <a:spcPct val="110000"/>
              </a:lnSpc>
              <a:buNone/>
              <a:defRPr sz="4500" b="1">
                <a:solidFill>
                  <a:srgbClr val="FFFFFF"/>
                </a:solidFill>
                <a:latin typeface="Arial"/>
                <a:ea typeface="Arial"/>
                <a:cs typeface="Arial"/>
              </a:defRPr>
            </a:pPr>
            <a:r>
              <a:rPr sz="4500" b="1">
                <a:solidFill>
                  <a:srgbClr val="FFFFFF"/>
                </a:solidFill>
                <a:latin typeface="Arial"/>
                <a:ea typeface="Arial"/>
                <a:cs typeface="Arial"/>
              </a:rPr>
              <a:t>Modelado y</a:t>
            </a:r>
          </a:p>
          <a:p xmlns:a="http://schemas.openxmlformats.org/drawingml/2006/main">
            <a:pPr algn="l">
              <a:lnSpc>
                <a:spcPct val="110000"/>
              </a:lnSpc>
              <a:buNone/>
              <a:defRPr sz="4500" b="1">
                <a:solidFill>
                  <a:srgbClr val="FFFFFF"/>
                </a:solidFill>
                <a:latin typeface="Arial"/>
                <a:ea typeface="Arial"/>
                <a:cs typeface="Arial"/>
              </a:defRPr>
            </a:pPr>
            <a:r>
              <a:rPr sz="4500" b="1">
                <a:solidFill>
                  <a:srgbClr val="FFFFFF"/>
                </a:solidFill>
                <a:latin typeface="Arial"/>
                <a:ea typeface="Arial"/>
                <a:cs typeface="Arial"/>
              </a:rPr>
              <a:t>simulación de</a:t>
            </a:r>
          </a:p>
          <a:p xmlns:a="http://schemas.openxmlformats.org/drawingml/2006/main">
            <a:pPr algn="l">
              <a:lnSpc>
                <a:spcPct val="110000"/>
              </a:lnSpc>
              <a:buNone/>
              <a:defRPr sz="4500" b="1">
                <a:solidFill>
                  <a:srgbClr val="FFFFFF"/>
                </a:solidFill>
                <a:latin typeface="Arial"/>
                <a:ea typeface="Arial"/>
                <a:cs typeface="Arial"/>
              </a:defRPr>
            </a:pPr>
            <a:r>
              <a:rPr sz="4500" b="1">
                <a:solidFill>
                  <a:srgbClr val="FFFFFF"/>
                </a:solidFill>
                <a:latin typeface="Arial"/>
                <a:ea typeface="Arial"/>
                <a:cs typeface="Arial"/>
              </a:rPr>
              <a:t>un cohete</a:t>
            </a:r>
          </a:p>
        </p:txBody>
      </p:sp>
      <p:sp>
        <p:nvSpPr>
          <p:cNvPr id="5" name="Estabilidad, acoplamiento&#10;y selección de gananci">
            <a:extLst xmlns:a="http://schemas.openxmlformats.org/drawingml/2006/main">
              <a:ext uri="{FF2B5EF4-FFF2-40B4-BE49-F238E27FC236}">
                <a16:creationId xmlns:a16="http://schemas.microsoft.com/office/drawing/2014/main" id="{FEABCDDF-18D1-4630-A22C-FC0F54ACA652}"/>
              </a:ext>
            </a:extLst>
          </p:cNvPr>
          <p:cNvSpPr>
            <a:spLocks xmlns:a="http://schemas.openxmlformats.org/drawingml/2006/main" noGrp="1"/>
          </p:cNvSpPr>
          <p:nvPr/>
        </p:nvSpPr>
        <p:spPr>
          <a:xfrm xmlns:a="http://schemas.openxmlformats.org/drawingml/2006/main">
            <a:off x="590550" y="404812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E7B590"/>
                </a:solidFill>
                <a:latin typeface="Arial"/>
                <a:ea typeface="Arial"/>
                <a:cs typeface="Arial"/>
              </a:defRPr>
            </a:defPPr>
            <a:lvl1pPr algn="l">
              <a:defRPr sz="2325" b="0">
                <a:solidFill>
                  <a:srgbClr val="E7B590"/>
                </a:solidFill>
                <a:latin typeface="Arial"/>
                <a:ea typeface="Arial"/>
                <a:cs typeface="Arial"/>
              </a:defRPr>
            </a:lvl1pPr>
            <a:lvl2pPr algn="l">
              <a:defRPr sz="2325" b="0">
                <a:solidFill>
                  <a:srgbClr val="E7B590"/>
                </a:solidFill>
                <a:latin typeface="Arial"/>
                <a:ea typeface="Arial"/>
                <a:cs typeface="Arial"/>
              </a:defRPr>
            </a:lvl2pPr>
            <a:lvl3pPr algn="l">
              <a:defRPr sz="2325" b="0">
                <a:solidFill>
                  <a:srgbClr val="E7B590"/>
                </a:solidFill>
                <a:latin typeface="Arial"/>
                <a:ea typeface="Arial"/>
                <a:cs typeface="Arial"/>
              </a:defRPr>
            </a:lvl3pPr>
            <a:lvl4pPr algn="l">
              <a:defRPr sz="2325" b="0">
                <a:solidFill>
                  <a:srgbClr val="E7B590"/>
                </a:solidFill>
                <a:latin typeface="Arial"/>
                <a:ea typeface="Arial"/>
                <a:cs typeface="Arial"/>
              </a:defRPr>
            </a:lvl4pPr>
            <a:lvl5pPr algn="l">
              <a:defRPr sz="2325" b="0">
                <a:solidFill>
                  <a:srgbClr val="E7B590"/>
                </a:solidFill>
                <a:latin typeface="Arial"/>
                <a:ea typeface="Arial"/>
                <a:cs typeface="Arial"/>
              </a:defRPr>
            </a:lvl5pPr>
            <a:lvl6pPr algn="l">
              <a:defRPr sz="2325" b="0">
                <a:solidFill>
                  <a:srgbClr val="E7B590"/>
                </a:solidFill>
                <a:latin typeface="Arial"/>
                <a:ea typeface="Arial"/>
                <a:cs typeface="Arial"/>
              </a:defRPr>
            </a:lvl6pPr>
            <a:lvl7pPr algn="l">
              <a:defRPr sz="2325" b="0">
                <a:solidFill>
                  <a:srgbClr val="E7B590"/>
                </a:solidFill>
                <a:latin typeface="Arial"/>
                <a:ea typeface="Arial"/>
                <a:cs typeface="Arial"/>
              </a:defRPr>
            </a:lvl7pPr>
            <a:lvl8pPr algn="l">
              <a:defRPr sz="2325" b="0">
                <a:solidFill>
                  <a:srgbClr val="E7B590"/>
                </a:solidFill>
                <a:latin typeface="Arial"/>
                <a:ea typeface="Arial"/>
                <a:cs typeface="Arial"/>
              </a:defRPr>
            </a:lvl8pPr>
            <a:lvl9pPr algn="l">
              <a:defRPr sz="2325" b="0">
                <a:solidFill>
                  <a:srgbClr val="E7B590"/>
                </a:solidFill>
                <a:latin typeface="Arial"/>
                <a:ea typeface="Arial"/>
                <a:cs typeface="Arial"/>
              </a:defRPr>
            </a:lvl9pPr>
          </a:lstStyle>
          <a:p xmlns:a="http://schemas.openxmlformats.org/drawingml/2006/main">
            <a:pPr algn="l">
              <a:lnSpc>
                <a:spcPct val="110000"/>
              </a:lnSpc>
              <a:buNone/>
              <a:defRPr sz="2325" b="0">
                <a:solidFill>
                  <a:srgbClr val="E7B590"/>
                </a:solidFill>
                <a:latin typeface="Arial"/>
                <a:ea typeface="Arial"/>
                <a:cs typeface="Arial"/>
              </a:defRPr>
            </a:pPr>
            <a:r>
              <a:rPr sz="2325" b="0">
                <a:solidFill>
                  <a:srgbClr val="E7B590"/>
                </a:solidFill>
                <a:latin typeface="Arial"/>
                <a:ea typeface="Arial"/>
                <a:cs typeface="Arial"/>
              </a:rPr>
              <a:t>Estabilidad, acoplamiento</a:t>
            </a:r>
          </a:p>
          <a:p xmlns:a="http://schemas.openxmlformats.org/drawingml/2006/main">
            <a:pPr algn="l">
              <a:lnSpc>
                <a:spcPct val="110000"/>
              </a:lnSpc>
              <a:buNone/>
              <a:defRPr sz="2325" b="0">
                <a:solidFill>
                  <a:srgbClr val="E7B590"/>
                </a:solidFill>
                <a:latin typeface="Arial"/>
                <a:ea typeface="Arial"/>
                <a:cs typeface="Arial"/>
              </a:defRPr>
            </a:pPr>
            <a:r>
              <a:rPr sz="2325" b="0">
                <a:solidFill>
                  <a:srgbClr val="E7B590"/>
                </a:solidFill>
                <a:latin typeface="Arial"/>
                <a:ea typeface="Arial"/>
                <a:cs typeface="Arial"/>
              </a:rPr>
              <a:t>y selección de ganancias</a:t>
            </a:r>
          </a:p>
        </p:txBody>
      </p:sp>
      <p:sp>
        <p:nvSpPr>
          <p:cNvPr id="6" name="José Barreno · Luis Guzmán&#10;Byron García · José R">
            <a:extLst xmlns:a="http://schemas.openxmlformats.org/drawingml/2006/main">
              <a:ext uri="{FF2B5EF4-FFF2-40B4-BE49-F238E27FC236}">
                <a16:creationId xmlns:a16="http://schemas.microsoft.com/office/drawing/2014/main" id="{B50C66BB-7DDC-4F98-8912-9255E3A089DE}"/>
              </a:ext>
            </a:extLst>
          </p:cNvPr>
          <p:cNvSpPr>
            <a:spLocks xmlns:a="http://schemas.openxmlformats.org/drawingml/2006/main" noGrp="1"/>
          </p:cNvSpPr>
          <p:nvPr/>
        </p:nvSpPr>
        <p:spPr>
          <a:xfrm xmlns:a="http://schemas.openxmlformats.org/drawingml/2006/main">
            <a:off x="590550" y="5219700"/>
            <a:ext cx="604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FFFFFF"/>
                </a:solidFill>
                <a:latin typeface="Arial"/>
                <a:ea typeface="Arial"/>
                <a:cs typeface="Arial"/>
              </a:defRPr>
            </a:defPPr>
            <a:lvl1pPr algn="l">
              <a:defRPr sz="1800" b="0">
                <a:solidFill>
                  <a:srgbClr val="FFFFFF"/>
                </a:solidFill>
                <a:latin typeface="Arial"/>
                <a:ea typeface="Arial"/>
                <a:cs typeface="Arial"/>
              </a:defRPr>
            </a:lvl1pPr>
            <a:lvl2pPr algn="l">
              <a:defRPr sz="1800" b="0">
                <a:solidFill>
                  <a:srgbClr val="FFFFFF"/>
                </a:solidFill>
                <a:latin typeface="Arial"/>
                <a:ea typeface="Arial"/>
                <a:cs typeface="Arial"/>
              </a:defRPr>
            </a:lvl2pPr>
            <a:lvl3pPr algn="l">
              <a:defRPr sz="1800" b="0">
                <a:solidFill>
                  <a:srgbClr val="FFFFFF"/>
                </a:solidFill>
                <a:latin typeface="Arial"/>
                <a:ea typeface="Arial"/>
                <a:cs typeface="Arial"/>
              </a:defRPr>
            </a:lvl3pPr>
            <a:lvl4pPr algn="l">
              <a:defRPr sz="1800" b="0">
                <a:solidFill>
                  <a:srgbClr val="FFFFFF"/>
                </a:solidFill>
                <a:latin typeface="Arial"/>
                <a:ea typeface="Arial"/>
                <a:cs typeface="Arial"/>
              </a:defRPr>
            </a:lvl4pPr>
            <a:lvl5pPr algn="l">
              <a:defRPr sz="1800" b="0">
                <a:solidFill>
                  <a:srgbClr val="FFFFFF"/>
                </a:solidFill>
                <a:latin typeface="Arial"/>
                <a:ea typeface="Arial"/>
                <a:cs typeface="Arial"/>
              </a:defRPr>
            </a:lvl5pPr>
            <a:lvl6pPr algn="l">
              <a:defRPr sz="1800" b="0">
                <a:solidFill>
                  <a:srgbClr val="FFFFFF"/>
                </a:solidFill>
                <a:latin typeface="Arial"/>
                <a:ea typeface="Arial"/>
                <a:cs typeface="Arial"/>
              </a:defRPr>
            </a:lvl6pPr>
            <a:lvl7pPr algn="l">
              <a:defRPr sz="1800" b="0">
                <a:solidFill>
                  <a:srgbClr val="FFFFFF"/>
                </a:solidFill>
                <a:latin typeface="Arial"/>
                <a:ea typeface="Arial"/>
                <a:cs typeface="Arial"/>
              </a:defRPr>
            </a:lvl7pPr>
            <a:lvl8pPr algn="l">
              <a:defRPr sz="1800" b="0">
                <a:solidFill>
                  <a:srgbClr val="FFFFFF"/>
                </a:solidFill>
                <a:latin typeface="Arial"/>
                <a:ea typeface="Arial"/>
                <a:cs typeface="Arial"/>
              </a:defRPr>
            </a:lvl8pPr>
            <a:lvl9pPr algn="l">
              <a:defRPr sz="1800" b="0">
                <a:solidFill>
                  <a:srgbClr val="FFFFFF"/>
                </a:solidFill>
                <a:latin typeface="Arial"/>
                <a:ea typeface="Arial"/>
                <a:cs typeface="Arial"/>
              </a:defRPr>
            </a:lvl9pPr>
          </a:lstStyle>
          <a:p xmlns:a="http://schemas.openxmlformats.org/drawingml/2006/main">
            <a:pPr algn="l">
              <a:lnSpc>
                <a:spcPct val="110000"/>
              </a:lnSpc>
              <a:buNone/>
              <a:defRPr sz="1800" b="0">
                <a:solidFill>
                  <a:srgbClr val="FFFFFF"/>
                </a:solidFill>
                <a:latin typeface="Arial"/>
                <a:ea typeface="Arial"/>
                <a:cs typeface="Arial"/>
              </a:defRPr>
            </a:pPr>
            <a:r>
              <a:rPr sz="1800" b="0">
                <a:solidFill>
                  <a:srgbClr val="FFFFFF"/>
                </a:solidFill>
                <a:latin typeface="Arial"/>
                <a:ea typeface="Arial"/>
                <a:cs typeface="Arial"/>
              </a:rPr>
              <a:t>José Barreno · Luis Guzmán</a:t>
            </a:r>
          </a:p>
          <a:p xmlns:a="http://schemas.openxmlformats.org/drawingml/2006/main">
            <a:pPr algn="l">
              <a:lnSpc>
                <a:spcPct val="110000"/>
              </a:lnSpc>
              <a:buNone/>
              <a:defRPr sz="1800" b="0">
                <a:solidFill>
                  <a:srgbClr val="FFFFFF"/>
                </a:solidFill>
                <a:latin typeface="Arial"/>
                <a:ea typeface="Arial"/>
                <a:cs typeface="Arial"/>
              </a:defRPr>
            </a:pPr>
            <a:r>
              <a:rPr sz="1800" b="0">
                <a:solidFill>
                  <a:srgbClr val="FFFFFF"/>
                </a:solidFill>
                <a:latin typeface="Arial"/>
                <a:ea typeface="Arial"/>
                <a:cs typeface="Arial"/>
              </a:rPr>
              <a:t>Byron García · José Rivera</a:t>
            </a:r>
          </a:p>
        </p:txBody>
      </p:sp>
      <p:sp>
        <p:nvSpPr>
          <p:cNvPr id="7" name="Teoría de Sistemas II">
            <a:extLst xmlns:a="http://schemas.openxmlformats.org/drawingml/2006/main">
              <a:ext uri="{FF2B5EF4-FFF2-40B4-BE49-F238E27FC236}">
                <a16:creationId xmlns:a16="http://schemas.microsoft.com/office/drawing/2014/main" id="{19E9F587-C6C5-4C4B-8225-1860582A47C8}"/>
              </a:ext>
            </a:extLst>
          </p:cNvPr>
          <p:cNvSpPr>
            <a:spLocks xmlns:a="http://schemas.openxmlformats.org/drawingml/2006/main" noGrp="1"/>
          </p:cNvSpPr>
          <p:nvPr/>
        </p:nvSpPr>
        <p:spPr>
          <a:xfrm xmlns:a="http://schemas.openxmlformats.org/drawingml/2006/main">
            <a:off x="590550" y="62579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C6D2DC"/>
                </a:solidFill>
                <a:latin typeface="Arial"/>
                <a:ea typeface="Arial"/>
                <a:cs typeface="Arial"/>
              </a:defRPr>
            </a:defPPr>
            <a:lvl1pPr algn="l">
              <a:defRPr sz="1575" b="0">
                <a:solidFill>
                  <a:srgbClr val="C6D2DC"/>
                </a:solidFill>
                <a:latin typeface="Arial"/>
                <a:ea typeface="Arial"/>
                <a:cs typeface="Arial"/>
              </a:defRPr>
            </a:lvl1pPr>
            <a:lvl2pPr algn="l">
              <a:defRPr sz="1575" b="0">
                <a:solidFill>
                  <a:srgbClr val="C6D2DC"/>
                </a:solidFill>
                <a:latin typeface="Arial"/>
                <a:ea typeface="Arial"/>
                <a:cs typeface="Arial"/>
              </a:defRPr>
            </a:lvl2pPr>
            <a:lvl3pPr algn="l">
              <a:defRPr sz="1575" b="0">
                <a:solidFill>
                  <a:srgbClr val="C6D2DC"/>
                </a:solidFill>
                <a:latin typeface="Arial"/>
                <a:ea typeface="Arial"/>
                <a:cs typeface="Arial"/>
              </a:defRPr>
            </a:lvl3pPr>
            <a:lvl4pPr algn="l">
              <a:defRPr sz="1575" b="0">
                <a:solidFill>
                  <a:srgbClr val="C6D2DC"/>
                </a:solidFill>
                <a:latin typeface="Arial"/>
                <a:ea typeface="Arial"/>
                <a:cs typeface="Arial"/>
              </a:defRPr>
            </a:lvl4pPr>
            <a:lvl5pPr algn="l">
              <a:defRPr sz="1575" b="0">
                <a:solidFill>
                  <a:srgbClr val="C6D2DC"/>
                </a:solidFill>
                <a:latin typeface="Arial"/>
                <a:ea typeface="Arial"/>
                <a:cs typeface="Arial"/>
              </a:defRPr>
            </a:lvl5pPr>
            <a:lvl6pPr algn="l">
              <a:defRPr sz="1575" b="0">
                <a:solidFill>
                  <a:srgbClr val="C6D2DC"/>
                </a:solidFill>
                <a:latin typeface="Arial"/>
                <a:ea typeface="Arial"/>
                <a:cs typeface="Arial"/>
              </a:defRPr>
            </a:lvl6pPr>
            <a:lvl7pPr algn="l">
              <a:defRPr sz="1575" b="0">
                <a:solidFill>
                  <a:srgbClr val="C6D2DC"/>
                </a:solidFill>
                <a:latin typeface="Arial"/>
                <a:ea typeface="Arial"/>
                <a:cs typeface="Arial"/>
              </a:defRPr>
            </a:lvl7pPr>
            <a:lvl8pPr algn="l">
              <a:defRPr sz="1575" b="0">
                <a:solidFill>
                  <a:srgbClr val="C6D2DC"/>
                </a:solidFill>
                <a:latin typeface="Arial"/>
                <a:ea typeface="Arial"/>
                <a:cs typeface="Arial"/>
              </a:defRPr>
            </a:lvl8pPr>
            <a:lvl9pPr algn="l">
              <a:defRPr sz="1575" b="0">
                <a:solidFill>
                  <a:srgbClr val="C6D2DC"/>
                </a:solidFill>
                <a:latin typeface="Arial"/>
                <a:ea typeface="Arial"/>
                <a:cs typeface="Arial"/>
              </a:defRPr>
            </a:lvl9pPr>
          </a:lstStyle>
          <a:p xmlns:a="http://schemas.openxmlformats.org/drawingml/2006/main">
            <a:pPr algn="l">
              <a:lnSpc>
                <a:spcPct val="110000"/>
              </a:lnSpc>
              <a:buNone/>
              <a:defRPr sz="1575" b="0">
                <a:solidFill>
                  <a:srgbClr val="C6D2DC"/>
                </a:solidFill>
                <a:latin typeface="Arial"/>
                <a:ea typeface="Arial"/>
                <a:cs typeface="Arial"/>
              </a:defRPr>
            </a:pPr>
            <a:r>
              <a:rPr sz="1575" b="0">
                <a:solidFill>
                  <a:srgbClr val="C6D2DC"/>
                </a:solidFill>
                <a:latin typeface="Arial"/>
                <a:ea typeface="Arial"/>
                <a:cs typeface="Arial"/>
              </a:rPr>
              <a:t>Teoría de Sistemas II</a:t>
            </a:r>
          </a:p>
        </p:txBody>
      </p:sp>
    </p:spTree>
    <p:extLst>
      <p:ext uri="{BB962C8B-B14F-4D97-AF65-F5344CB8AC3E}">
        <p14:creationId xmlns:p14="http://schemas.microsoft.com/office/powerpoint/2010/main" val="17431890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El problema físico">
            <a:extLst xmlns:a="http://schemas.openxmlformats.org/drawingml/2006/main">
              <a:ext uri="{FF2B5EF4-FFF2-40B4-BE49-F238E27FC236}">
                <a16:creationId xmlns:a16="http://schemas.microsoft.com/office/drawing/2014/main" id="{55EFC9AF-5C45-4477-898B-3DBFA2866DF1}"/>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El problema físico</a:t>
            </a:r>
          </a:p>
        </p:txBody>
      </p:sp>
      <p:sp>
        <p:nvSpPr>
          <p:cNvPr id="3" name="02 / 16">
            <a:extLst xmlns:a="http://schemas.openxmlformats.org/drawingml/2006/main">
              <a:ext uri="{FF2B5EF4-FFF2-40B4-BE49-F238E27FC236}">
                <a16:creationId xmlns:a16="http://schemas.microsoft.com/office/drawing/2014/main" id="{22E2585A-B250-4A16-984C-27A629E3BFC0}"/>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02 / 19</a:t>
            </a:r>
          </a:p>
        </p:txBody>
      </p:sp>
      <p:sp>
        <p:nvSpPr>
          <p:cNvPr id="4" name="Acelerar y apuntar al mismo tiempo">
            <a:extLst xmlns:a="http://schemas.openxmlformats.org/drawingml/2006/main">
              <a:ext uri="{FF2B5EF4-FFF2-40B4-BE49-F238E27FC236}">
                <a16:creationId xmlns:a16="http://schemas.microsoft.com/office/drawing/2014/main" id="{AE23E9EB-C95A-434B-BAFE-F530725420F3}"/>
              </a:ext>
            </a:extLst>
          </p:cNvPr>
          <p:cNvSpPr>
            <a:spLocks xmlns:a="http://schemas.openxmlformats.org/drawingml/2006/main" noGrp="1"/>
          </p:cNvSpPr>
          <p:nvPr/>
        </p:nvSpPr>
        <p:spPr>
          <a:xfrm xmlns:a="http://schemas.openxmlformats.org/drawingml/2006/main">
            <a:off x="590550" y="1409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087E8B"/>
                </a:solidFill>
                <a:latin typeface="Arial"/>
                <a:ea typeface="Arial"/>
                <a:cs typeface="Arial"/>
              </a:defRPr>
            </a:defPPr>
            <a:lvl1pPr algn="l">
              <a:defRPr sz="2625" b="1">
                <a:solidFill>
                  <a:srgbClr val="087E8B"/>
                </a:solidFill>
                <a:latin typeface="Arial"/>
                <a:ea typeface="Arial"/>
                <a:cs typeface="Arial"/>
              </a:defRPr>
            </a:lvl1pPr>
            <a:lvl2pPr algn="l">
              <a:defRPr sz="2625" b="1">
                <a:solidFill>
                  <a:srgbClr val="087E8B"/>
                </a:solidFill>
                <a:latin typeface="Arial"/>
                <a:ea typeface="Arial"/>
                <a:cs typeface="Arial"/>
              </a:defRPr>
            </a:lvl2pPr>
            <a:lvl3pPr algn="l">
              <a:defRPr sz="2625" b="1">
                <a:solidFill>
                  <a:srgbClr val="087E8B"/>
                </a:solidFill>
                <a:latin typeface="Arial"/>
                <a:ea typeface="Arial"/>
                <a:cs typeface="Arial"/>
              </a:defRPr>
            </a:lvl3pPr>
            <a:lvl4pPr algn="l">
              <a:defRPr sz="2625" b="1">
                <a:solidFill>
                  <a:srgbClr val="087E8B"/>
                </a:solidFill>
                <a:latin typeface="Arial"/>
                <a:ea typeface="Arial"/>
                <a:cs typeface="Arial"/>
              </a:defRPr>
            </a:lvl4pPr>
            <a:lvl5pPr algn="l">
              <a:defRPr sz="2625" b="1">
                <a:solidFill>
                  <a:srgbClr val="087E8B"/>
                </a:solidFill>
                <a:latin typeface="Arial"/>
                <a:ea typeface="Arial"/>
                <a:cs typeface="Arial"/>
              </a:defRPr>
            </a:lvl5pPr>
            <a:lvl6pPr algn="l">
              <a:defRPr sz="2625" b="1">
                <a:solidFill>
                  <a:srgbClr val="087E8B"/>
                </a:solidFill>
                <a:latin typeface="Arial"/>
                <a:ea typeface="Arial"/>
                <a:cs typeface="Arial"/>
              </a:defRPr>
            </a:lvl6pPr>
            <a:lvl7pPr algn="l">
              <a:defRPr sz="2625" b="1">
                <a:solidFill>
                  <a:srgbClr val="087E8B"/>
                </a:solidFill>
                <a:latin typeface="Arial"/>
                <a:ea typeface="Arial"/>
                <a:cs typeface="Arial"/>
              </a:defRPr>
            </a:lvl7pPr>
            <a:lvl8pPr algn="l">
              <a:defRPr sz="2625" b="1">
                <a:solidFill>
                  <a:srgbClr val="087E8B"/>
                </a:solidFill>
                <a:latin typeface="Arial"/>
                <a:ea typeface="Arial"/>
                <a:cs typeface="Arial"/>
              </a:defRPr>
            </a:lvl8pPr>
            <a:lvl9pPr algn="l">
              <a:defRPr sz="2625" b="1">
                <a:solidFill>
                  <a:srgbClr val="087E8B"/>
                </a:solidFill>
                <a:latin typeface="Arial"/>
                <a:ea typeface="Arial"/>
                <a:cs typeface="Arial"/>
              </a:defRPr>
            </a:lvl9pPr>
          </a:lstStyle>
          <a:p xmlns:a="http://schemas.openxmlformats.org/drawingml/2006/main">
            <a:pPr algn="l">
              <a:lnSpc>
                <a:spcPct val="110000"/>
              </a:lnSpc>
              <a:buNone/>
              <a:defRPr sz="2625" b="1">
                <a:solidFill>
                  <a:srgbClr val="087E8B"/>
                </a:solidFill>
                <a:latin typeface="Arial"/>
                <a:ea typeface="Arial"/>
                <a:cs typeface="Arial"/>
              </a:defRPr>
            </a:pPr>
            <a:r>
              <a:rPr sz="2625" b="1">
                <a:solidFill>
                  <a:srgbClr val="087E8B"/>
                </a:solidFill>
                <a:latin typeface="Arial"/>
                <a:ea typeface="Arial"/>
                <a:cs typeface="Arial"/>
              </a:rPr>
              <a:t>Acelerar y apuntar al mismo tiempo</a:t>
            </a:r>
          </a:p>
        </p:txBody>
      </p:sp>
      <p:sp>
        <p:nvSpPr>
          <p:cNvPr id="5" name="Dos comandos: aceleración axial y cabeceo">
            <a:extLst xmlns:a="http://schemas.openxmlformats.org/drawingml/2006/main">
              <a:ext uri="{FF2B5EF4-FFF2-40B4-BE49-F238E27FC236}">
                <a16:creationId xmlns:a16="http://schemas.microsoft.com/office/drawing/2014/main" id="{A558F1CB-93E5-44BD-BE89-036F1FA0EC50}"/>
              </a:ext>
            </a:extLst>
          </p:cNvPr>
          <p:cNvSpPr>
            <a:spLocks xmlns:a="http://schemas.openxmlformats.org/drawingml/2006/main" noGrp="1"/>
          </p:cNvSpPr>
          <p:nvPr/>
        </p:nvSpPr>
        <p:spPr>
          <a:xfrm xmlns:a="http://schemas.openxmlformats.org/drawingml/2006/main">
            <a:off x="590550" y="2381250"/>
            <a:ext cx="6905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3283C"/>
                </a:solidFill>
                <a:latin typeface="Arial"/>
                <a:ea typeface="Arial"/>
                <a:cs typeface="Arial"/>
              </a:defRPr>
            </a:defPPr>
            <a:lvl1pPr algn="l">
              <a:defRPr sz="2175" b="0">
                <a:solidFill>
                  <a:srgbClr val="13283C"/>
                </a:solidFill>
                <a:latin typeface="Arial"/>
                <a:ea typeface="Arial"/>
                <a:cs typeface="Arial"/>
              </a:defRPr>
            </a:lvl1pPr>
            <a:lvl2pPr algn="l">
              <a:defRPr sz="2175" b="0">
                <a:solidFill>
                  <a:srgbClr val="13283C"/>
                </a:solidFill>
                <a:latin typeface="Arial"/>
                <a:ea typeface="Arial"/>
                <a:cs typeface="Arial"/>
              </a:defRPr>
            </a:lvl2pPr>
            <a:lvl3pPr algn="l">
              <a:defRPr sz="2175" b="0">
                <a:solidFill>
                  <a:srgbClr val="13283C"/>
                </a:solidFill>
                <a:latin typeface="Arial"/>
                <a:ea typeface="Arial"/>
                <a:cs typeface="Arial"/>
              </a:defRPr>
            </a:lvl3pPr>
            <a:lvl4pPr algn="l">
              <a:defRPr sz="2175" b="0">
                <a:solidFill>
                  <a:srgbClr val="13283C"/>
                </a:solidFill>
                <a:latin typeface="Arial"/>
                <a:ea typeface="Arial"/>
                <a:cs typeface="Arial"/>
              </a:defRPr>
            </a:lvl4pPr>
            <a:lvl5pPr algn="l">
              <a:defRPr sz="2175" b="0">
                <a:solidFill>
                  <a:srgbClr val="13283C"/>
                </a:solidFill>
                <a:latin typeface="Arial"/>
                <a:ea typeface="Arial"/>
                <a:cs typeface="Arial"/>
              </a:defRPr>
            </a:lvl5pPr>
            <a:lvl6pPr algn="l">
              <a:defRPr sz="2175" b="0">
                <a:solidFill>
                  <a:srgbClr val="13283C"/>
                </a:solidFill>
                <a:latin typeface="Arial"/>
                <a:ea typeface="Arial"/>
                <a:cs typeface="Arial"/>
              </a:defRPr>
            </a:lvl6pPr>
            <a:lvl7pPr algn="l">
              <a:defRPr sz="2175" b="0">
                <a:solidFill>
                  <a:srgbClr val="13283C"/>
                </a:solidFill>
                <a:latin typeface="Arial"/>
                <a:ea typeface="Arial"/>
                <a:cs typeface="Arial"/>
              </a:defRPr>
            </a:lvl7pPr>
            <a:lvl8pPr algn="l">
              <a:defRPr sz="2175" b="0">
                <a:solidFill>
                  <a:srgbClr val="13283C"/>
                </a:solidFill>
                <a:latin typeface="Arial"/>
                <a:ea typeface="Arial"/>
                <a:cs typeface="Arial"/>
              </a:defRPr>
            </a:lvl8pPr>
            <a:lvl9pPr algn="l">
              <a:defRPr sz="2175" b="0">
                <a:solidFill>
                  <a:srgbClr val="13283C"/>
                </a:solidFill>
                <a:latin typeface="Arial"/>
                <a:ea typeface="Arial"/>
                <a:cs typeface="Arial"/>
              </a:defRPr>
            </a:lvl9pPr>
          </a:lstStyle>
          <a:p xmlns:a="http://schemas.openxmlformats.org/drawingml/2006/main">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Dos comandos: aceleración axial y cabeceo</a:t>
            </a:r>
          </a:p>
        </p:txBody>
      </p:sp>
      <p:sp>
        <p:nvSpPr>
          <p:cNvPr id="6" name="Dos salidas principales: a y θ">
            <a:extLst xmlns:a="http://schemas.openxmlformats.org/drawingml/2006/main">
              <a:ext uri="{FF2B5EF4-FFF2-40B4-BE49-F238E27FC236}">
                <a16:creationId xmlns:a16="http://schemas.microsoft.com/office/drawing/2014/main" id="{4E3A38D5-BBBA-4C56-82F5-8631B7B5EA0D}"/>
              </a:ext>
            </a:extLst>
          </p:cNvPr>
          <p:cNvSpPr>
            <a:spLocks xmlns:a="http://schemas.openxmlformats.org/drawingml/2006/main" noGrp="1"/>
          </p:cNvSpPr>
          <p:nvPr/>
        </p:nvSpPr>
        <p:spPr>
          <a:xfrm xmlns:a="http://schemas.openxmlformats.org/drawingml/2006/main">
            <a:off x="590550" y="3381375"/>
            <a:ext cx="6905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3283C"/>
                </a:solidFill>
                <a:latin typeface="Arial"/>
                <a:ea typeface="Arial"/>
                <a:cs typeface="Arial"/>
              </a:defRPr>
            </a:defPPr>
            <a:lvl1pPr algn="l">
              <a:defRPr sz="2175" b="0">
                <a:solidFill>
                  <a:srgbClr val="13283C"/>
                </a:solidFill>
                <a:latin typeface="Arial"/>
                <a:ea typeface="Arial"/>
                <a:cs typeface="Arial"/>
              </a:defRPr>
            </a:lvl1pPr>
            <a:lvl2pPr algn="l">
              <a:defRPr sz="2175" b="0">
                <a:solidFill>
                  <a:srgbClr val="13283C"/>
                </a:solidFill>
                <a:latin typeface="Arial"/>
                <a:ea typeface="Arial"/>
                <a:cs typeface="Arial"/>
              </a:defRPr>
            </a:lvl2pPr>
            <a:lvl3pPr algn="l">
              <a:defRPr sz="2175" b="0">
                <a:solidFill>
                  <a:srgbClr val="13283C"/>
                </a:solidFill>
                <a:latin typeface="Arial"/>
                <a:ea typeface="Arial"/>
                <a:cs typeface="Arial"/>
              </a:defRPr>
            </a:lvl3pPr>
            <a:lvl4pPr algn="l">
              <a:defRPr sz="2175" b="0">
                <a:solidFill>
                  <a:srgbClr val="13283C"/>
                </a:solidFill>
                <a:latin typeface="Arial"/>
                <a:ea typeface="Arial"/>
                <a:cs typeface="Arial"/>
              </a:defRPr>
            </a:lvl4pPr>
            <a:lvl5pPr algn="l">
              <a:defRPr sz="2175" b="0">
                <a:solidFill>
                  <a:srgbClr val="13283C"/>
                </a:solidFill>
                <a:latin typeface="Arial"/>
                <a:ea typeface="Arial"/>
                <a:cs typeface="Arial"/>
              </a:defRPr>
            </a:lvl5pPr>
            <a:lvl6pPr algn="l">
              <a:defRPr sz="2175" b="0">
                <a:solidFill>
                  <a:srgbClr val="13283C"/>
                </a:solidFill>
                <a:latin typeface="Arial"/>
                <a:ea typeface="Arial"/>
                <a:cs typeface="Arial"/>
              </a:defRPr>
            </a:lvl6pPr>
            <a:lvl7pPr algn="l">
              <a:defRPr sz="2175" b="0">
                <a:solidFill>
                  <a:srgbClr val="13283C"/>
                </a:solidFill>
                <a:latin typeface="Arial"/>
                <a:ea typeface="Arial"/>
                <a:cs typeface="Arial"/>
              </a:defRPr>
            </a:lvl7pPr>
            <a:lvl8pPr algn="l">
              <a:defRPr sz="2175" b="0">
                <a:solidFill>
                  <a:srgbClr val="13283C"/>
                </a:solidFill>
                <a:latin typeface="Arial"/>
                <a:ea typeface="Arial"/>
                <a:cs typeface="Arial"/>
              </a:defRPr>
            </a:lvl8pPr>
            <a:lvl9pPr algn="l">
              <a:defRPr sz="2175" b="0">
                <a:solidFill>
                  <a:srgbClr val="13283C"/>
                </a:solidFill>
                <a:latin typeface="Arial"/>
                <a:ea typeface="Arial"/>
                <a:cs typeface="Arial"/>
              </a:defRPr>
            </a:lvl9pPr>
          </a:lstStyle>
          <a:p xmlns:a="http://schemas.openxmlformats.org/drawingml/2006/main">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Dos salidas principales: a y θ</a:t>
            </a:r>
          </a:p>
        </p:txBody>
      </p:sp>
      <p:sp>
        <p:nvSpPr>
          <p:cNvPr id="7" name="Cada comando también afecta al otro canal">
            <a:extLst xmlns:a="http://schemas.openxmlformats.org/drawingml/2006/main">
              <a:ext uri="{FF2B5EF4-FFF2-40B4-BE49-F238E27FC236}">
                <a16:creationId xmlns:a16="http://schemas.microsoft.com/office/drawing/2014/main" id="{F9D0DB72-55BB-415C-B555-465C031C78EC}"/>
              </a:ext>
            </a:extLst>
          </p:cNvPr>
          <p:cNvSpPr>
            <a:spLocks xmlns:a="http://schemas.openxmlformats.org/drawingml/2006/main" noGrp="1"/>
          </p:cNvSpPr>
          <p:nvPr/>
        </p:nvSpPr>
        <p:spPr>
          <a:xfrm xmlns:a="http://schemas.openxmlformats.org/drawingml/2006/main">
            <a:off x="590550" y="4381500"/>
            <a:ext cx="6905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3283C"/>
                </a:solidFill>
                <a:latin typeface="Arial"/>
                <a:ea typeface="Arial"/>
                <a:cs typeface="Arial"/>
              </a:defRPr>
            </a:defPPr>
            <a:lvl1pPr algn="l">
              <a:defRPr sz="2175" b="0">
                <a:solidFill>
                  <a:srgbClr val="13283C"/>
                </a:solidFill>
                <a:latin typeface="Arial"/>
                <a:ea typeface="Arial"/>
                <a:cs typeface="Arial"/>
              </a:defRPr>
            </a:lvl1pPr>
            <a:lvl2pPr algn="l">
              <a:defRPr sz="2175" b="0">
                <a:solidFill>
                  <a:srgbClr val="13283C"/>
                </a:solidFill>
                <a:latin typeface="Arial"/>
                <a:ea typeface="Arial"/>
                <a:cs typeface="Arial"/>
              </a:defRPr>
            </a:lvl2pPr>
            <a:lvl3pPr algn="l">
              <a:defRPr sz="2175" b="0">
                <a:solidFill>
                  <a:srgbClr val="13283C"/>
                </a:solidFill>
                <a:latin typeface="Arial"/>
                <a:ea typeface="Arial"/>
                <a:cs typeface="Arial"/>
              </a:defRPr>
            </a:lvl3pPr>
            <a:lvl4pPr algn="l">
              <a:defRPr sz="2175" b="0">
                <a:solidFill>
                  <a:srgbClr val="13283C"/>
                </a:solidFill>
                <a:latin typeface="Arial"/>
                <a:ea typeface="Arial"/>
                <a:cs typeface="Arial"/>
              </a:defRPr>
            </a:lvl4pPr>
            <a:lvl5pPr algn="l">
              <a:defRPr sz="2175" b="0">
                <a:solidFill>
                  <a:srgbClr val="13283C"/>
                </a:solidFill>
                <a:latin typeface="Arial"/>
                <a:ea typeface="Arial"/>
                <a:cs typeface="Arial"/>
              </a:defRPr>
            </a:lvl5pPr>
            <a:lvl6pPr algn="l">
              <a:defRPr sz="2175" b="0">
                <a:solidFill>
                  <a:srgbClr val="13283C"/>
                </a:solidFill>
                <a:latin typeface="Arial"/>
                <a:ea typeface="Arial"/>
                <a:cs typeface="Arial"/>
              </a:defRPr>
            </a:lvl6pPr>
            <a:lvl7pPr algn="l">
              <a:defRPr sz="2175" b="0">
                <a:solidFill>
                  <a:srgbClr val="13283C"/>
                </a:solidFill>
                <a:latin typeface="Arial"/>
                <a:ea typeface="Arial"/>
                <a:cs typeface="Arial"/>
              </a:defRPr>
            </a:lvl7pPr>
            <a:lvl8pPr algn="l">
              <a:defRPr sz="2175" b="0">
                <a:solidFill>
                  <a:srgbClr val="13283C"/>
                </a:solidFill>
                <a:latin typeface="Arial"/>
                <a:ea typeface="Arial"/>
                <a:cs typeface="Arial"/>
              </a:defRPr>
            </a:lvl8pPr>
            <a:lvl9pPr algn="l">
              <a:defRPr sz="2175" b="0">
                <a:solidFill>
                  <a:srgbClr val="13283C"/>
                </a:solidFill>
                <a:latin typeface="Arial"/>
                <a:ea typeface="Arial"/>
                <a:cs typeface="Arial"/>
              </a:defRPr>
            </a:lvl9pPr>
          </a:lstStyle>
          <a:p xmlns:a="http://schemas.openxmlformats.org/drawingml/2006/main">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Cada comando también afecta al otro canal</a:t>
            </a:r>
          </a:p>
        </p:txBody>
      </p:sp>
      <p:sp>
        <p:nvSpPr>
          <p:cNvPr id="8" name="Alcance: plano de cabeceo durante una ventana de">
            <a:extLst xmlns:a="http://schemas.openxmlformats.org/drawingml/2006/main">
              <a:ext uri="{FF2B5EF4-FFF2-40B4-BE49-F238E27FC236}">
                <a16:creationId xmlns:a16="http://schemas.microsoft.com/office/drawing/2014/main" id="{F0A0DE00-13E7-4C54-8866-99BE26FE8813}"/>
              </a:ext>
            </a:extLst>
          </p:cNvPr>
          <p:cNvSpPr>
            <a:spLocks xmlns:a="http://schemas.openxmlformats.org/drawingml/2006/main" noGrp="1"/>
          </p:cNvSpPr>
          <p:nvPr/>
        </p:nvSpPr>
        <p:spPr>
          <a:xfrm xmlns:a="http://schemas.openxmlformats.org/drawingml/2006/main">
            <a:off x="590550" y="561975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16474"/>
                </a:solidFill>
                <a:latin typeface="Arial"/>
                <a:ea typeface="Arial"/>
                <a:cs typeface="Arial"/>
              </a:defRPr>
            </a:defPPr>
            <a:lvl1pPr algn="l">
              <a:defRPr sz="1800" b="0">
                <a:solidFill>
                  <a:srgbClr val="516474"/>
                </a:solidFill>
                <a:latin typeface="Arial"/>
                <a:ea typeface="Arial"/>
                <a:cs typeface="Arial"/>
              </a:defRPr>
            </a:lvl1pPr>
            <a:lvl2pPr algn="l">
              <a:defRPr sz="1800" b="0">
                <a:solidFill>
                  <a:srgbClr val="516474"/>
                </a:solidFill>
                <a:latin typeface="Arial"/>
                <a:ea typeface="Arial"/>
                <a:cs typeface="Arial"/>
              </a:defRPr>
            </a:lvl2pPr>
            <a:lvl3pPr algn="l">
              <a:defRPr sz="1800" b="0">
                <a:solidFill>
                  <a:srgbClr val="516474"/>
                </a:solidFill>
                <a:latin typeface="Arial"/>
                <a:ea typeface="Arial"/>
                <a:cs typeface="Arial"/>
              </a:defRPr>
            </a:lvl3pPr>
            <a:lvl4pPr algn="l">
              <a:defRPr sz="1800" b="0">
                <a:solidFill>
                  <a:srgbClr val="516474"/>
                </a:solidFill>
                <a:latin typeface="Arial"/>
                <a:ea typeface="Arial"/>
                <a:cs typeface="Arial"/>
              </a:defRPr>
            </a:lvl4pPr>
            <a:lvl5pPr algn="l">
              <a:defRPr sz="1800" b="0">
                <a:solidFill>
                  <a:srgbClr val="516474"/>
                </a:solidFill>
                <a:latin typeface="Arial"/>
                <a:ea typeface="Arial"/>
                <a:cs typeface="Arial"/>
              </a:defRPr>
            </a:lvl5pPr>
            <a:lvl6pPr algn="l">
              <a:defRPr sz="1800" b="0">
                <a:solidFill>
                  <a:srgbClr val="516474"/>
                </a:solidFill>
                <a:latin typeface="Arial"/>
                <a:ea typeface="Arial"/>
                <a:cs typeface="Arial"/>
              </a:defRPr>
            </a:lvl6pPr>
            <a:lvl7pPr algn="l">
              <a:defRPr sz="1800" b="0">
                <a:solidFill>
                  <a:srgbClr val="516474"/>
                </a:solidFill>
                <a:latin typeface="Arial"/>
                <a:ea typeface="Arial"/>
                <a:cs typeface="Arial"/>
              </a:defRPr>
            </a:lvl7pPr>
            <a:lvl8pPr algn="l">
              <a:defRPr sz="1800" b="0">
                <a:solidFill>
                  <a:srgbClr val="516474"/>
                </a:solidFill>
                <a:latin typeface="Arial"/>
                <a:ea typeface="Arial"/>
                <a:cs typeface="Arial"/>
              </a:defRPr>
            </a:lvl8pPr>
            <a:lvl9pPr algn="l">
              <a:defRPr sz="1800" b="0">
                <a:solidFill>
                  <a:srgbClr val="516474"/>
                </a:solidFill>
                <a:latin typeface="Arial"/>
                <a:ea typeface="Arial"/>
                <a:cs typeface="Arial"/>
              </a:defRPr>
            </a:lvl9pPr>
          </a:lstStyle>
          <a:p xmlns:a="http://schemas.openxmlformats.org/drawingml/2006/main">
            <a:pPr algn="l">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Alcance: plano de cabeceo durante una ventana del ascenso</a:t>
            </a:r>
          </a:p>
        </p:txBody>
      </p:sp>
      <p:pic>
        <p:nvPicPr>
          <p:cNvPr id="9" name="">
            <a:extLst xmlns:a="http://schemas.openxmlformats.org/drawingml/2006/main">
              <a:ext uri="{FF2B5EF4-FFF2-40B4-BE49-F238E27FC236}">
                <a16:creationId xmlns:a16="http://schemas.microsoft.com/office/drawing/2014/main" id="{0BC2EF5C-EBAB-463C-A79B-5E1B9232D507}"/>
              </a:ext>
            </a:extLst>
          </p:cNvPr>
          <p:cNvPicPr>
            <a:picLocks xmlns:a="http://schemas.openxmlformats.org/drawingml/2006/main" noChangeAspect="1"/>
          </p:cNvPicPr>
          <p:nvPr/>
        </p:nvPicPr>
        <p:blipFill>
          <a:blip xmlns:r="http://schemas.openxmlformats.org/officeDocument/2006/relationships" xmlns:a="http://schemas.openxmlformats.org/drawingml/2006/main" r:embed="R3766b25d0a7b4b0f"/>
          <a:srcRect xmlns:a="http://schemas.openxmlformats.org/drawingml/2006/main" l="0" t="6500" r="0" b="0"/>
          <a:stretch xmlns:a="http://schemas.openxmlformats.org/drawingml/2006/main"/>
        </p:blipFill>
        <p:spPr>
          <a:xfrm xmlns:a="http://schemas.openxmlformats.org/drawingml/2006/main">
            <a:off x="8143875" y="1612583"/>
            <a:ext cx="3048000" cy="4426268"/>
          </a:xfrm>
          <a:prstGeom xmlns:a="http://schemas.openxmlformats.org/drawingml/2006/main" prst="rect">
            <a:avLst/>
          </a:prstGeom>
        </p:spPr>
      </p:pic>
      <p:sp>
        <p:nvSpPr>
          <p:cNvPr id="10" name="Vertical reference">
            <a:extLst xmlns:a="http://schemas.openxmlformats.org/drawingml/2006/main">
              <a:ext uri="{FF2B5EF4-FFF2-40B4-BE49-F238E27FC236}">
                <a16:creationId xmlns:a16="http://schemas.microsoft.com/office/drawing/2014/main" id="{0CE1FCF8-68E9-42F7-B7D1-208F031E36AA}"/>
              </a:ext>
            </a:extLst>
          </p:cNvPr>
          <p:cNvSpPr>
            <a:spLocks xmlns:a="http://schemas.openxmlformats.org/drawingml/2006/main" noGrp="1"/>
          </p:cNvSpPr>
          <p:nvPr/>
        </p:nvSpPr>
        <p:spPr>
          <a:xfrm xmlns:a="http://schemas.openxmlformats.org/drawingml/2006/main">
            <a:off x="8143875" y="130492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350">
                <a:solidFill>
                  <a:srgbClr val="13283C"/>
                </a:solidFill>
                <a:latin typeface="Arial"/>
                <a:ea typeface="Arial"/>
                <a:cs typeface="Arial"/>
              </a:defRPr>
            </a:defPPr>
            <a:lvl1pPr algn="ctr">
              <a:defRPr sz="1350">
                <a:solidFill>
                  <a:srgbClr val="13283C"/>
                </a:solidFill>
                <a:latin typeface="Arial"/>
                <a:ea typeface="Arial"/>
                <a:cs typeface="Arial"/>
              </a:defRPr>
            </a:lvl1pPr>
            <a:lvl2pPr algn="ctr">
              <a:defRPr sz="1350">
                <a:solidFill>
                  <a:srgbClr val="13283C"/>
                </a:solidFill>
                <a:latin typeface="Arial"/>
                <a:ea typeface="Arial"/>
                <a:cs typeface="Arial"/>
              </a:defRPr>
            </a:lvl2pPr>
            <a:lvl3pPr algn="ctr">
              <a:defRPr sz="1350">
                <a:solidFill>
                  <a:srgbClr val="13283C"/>
                </a:solidFill>
                <a:latin typeface="Arial"/>
                <a:ea typeface="Arial"/>
                <a:cs typeface="Arial"/>
              </a:defRPr>
            </a:lvl3pPr>
            <a:lvl4pPr algn="ctr">
              <a:defRPr sz="1350">
                <a:solidFill>
                  <a:srgbClr val="13283C"/>
                </a:solidFill>
                <a:latin typeface="Arial"/>
                <a:ea typeface="Arial"/>
                <a:cs typeface="Arial"/>
              </a:defRPr>
            </a:lvl4pPr>
            <a:lvl5pPr algn="ctr">
              <a:defRPr sz="1350">
                <a:solidFill>
                  <a:srgbClr val="13283C"/>
                </a:solidFill>
                <a:latin typeface="Arial"/>
                <a:ea typeface="Arial"/>
                <a:cs typeface="Arial"/>
              </a:defRPr>
            </a:lvl5pPr>
            <a:lvl6pPr algn="ctr">
              <a:defRPr sz="1350">
                <a:solidFill>
                  <a:srgbClr val="13283C"/>
                </a:solidFill>
                <a:latin typeface="Arial"/>
                <a:ea typeface="Arial"/>
                <a:cs typeface="Arial"/>
              </a:defRPr>
            </a:lvl6pPr>
            <a:lvl7pPr algn="ctr">
              <a:defRPr sz="1350">
                <a:solidFill>
                  <a:srgbClr val="13283C"/>
                </a:solidFill>
                <a:latin typeface="Arial"/>
                <a:ea typeface="Arial"/>
                <a:cs typeface="Arial"/>
              </a:defRPr>
            </a:lvl7pPr>
            <a:lvl8pPr algn="ctr">
              <a:defRPr sz="1350">
                <a:solidFill>
                  <a:srgbClr val="13283C"/>
                </a:solidFill>
                <a:latin typeface="Arial"/>
                <a:ea typeface="Arial"/>
                <a:cs typeface="Arial"/>
              </a:defRPr>
            </a:lvl8pPr>
            <a:lvl9pPr algn="ctr">
              <a:defRPr sz="1350">
                <a:solidFill>
                  <a:srgbClr val="13283C"/>
                </a:solidFill>
                <a:latin typeface="Arial"/>
                <a:ea typeface="Arial"/>
                <a:cs typeface="Arial"/>
              </a:defRPr>
            </a:lvl9pPr>
          </a:lstStyle>
          <a:p xmlns:a="http://schemas.openxmlformats.org/drawingml/2006/main">
            <a:pPr algn="ctr">
              <a:defRPr sz="1350">
                <a:solidFill>
                  <a:srgbClr val="13283C"/>
                </a:solidFill>
                <a:latin typeface="Arial"/>
                <a:ea typeface="Arial"/>
                <a:cs typeface="Arial"/>
              </a:defRPr>
            </a:pPr>
            <a:r>
              <a:rPr sz="1350">
                <a:solidFill>
                  <a:srgbClr val="13283C"/>
                </a:solidFill>
                <a:latin typeface="Arial"/>
                <a:ea typeface="Arial"/>
                <a:cs typeface="Arial"/>
              </a:rPr>
              <a:t>Vertical de referencia</a:t>
            </a:r>
          </a:p>
        </p:txBody>
      </p:sp>
    </p:spTree>
    <p:extLst>
      <p:ext uri="{BB962C8B-B14F-4D97-AF65-F5344CB8AC3E}">
        <p14:creationId xmlns:p14="http://schemas.microsoft.com/office/powerpoint/2010/main" val="20452699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Modelo y variables">
            <a:extLst xmlns:a="http://schemas.openxmlformats.org/drawingml/2006/main">
              <a:ext uri="{FF2B5EF4-FFF2-40B4-BE49-F238E27FC236}">
                <a16:creationId xmlns:a16="http://schemas.microsoft.com/office/drawing/2014/main" id="{06D2AA2C-F8FC-4DF0-816B-A142345C0BD3}"/>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Modelo y variables</a:t>
            </a:r>
          </a:p>
        </p:txBody>
      </p:sp>
      <p:sp>
        <p:nvSpPr>
          <p:cNvPr id="3" name="03 / 16">
            <a:extLst xmlns:a="http://schemas.openxmlformats.org/drawingml/2006/main">
              <a:ext uri="{FF2B5EF4-FFF2-40B4-BE49-F238E27FC236}">
                <a16:creationId xmlns:a16="http://schemas.microsoft.com/office/drawing/2014/main" id="{E35D93D9-499F-4F0E-9C51-0B06F1A73718}"/>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03 / 19</a:t>
            </a:r>
          </a:p>
        </p:txBody>
      </p:sp>
      <p:sp>
        <p:nvSpPr>
          <p:cNvPr id="4" name="Cuatro estados para describir la dinámica">
            <a:extLst xmlns:a="http://schemas.openxmlformats.org/drawingml/2006/main">
              <a:ext uri="{FF2B5EF4-FFF2-40B4-BE49-F238E27FC236}">
                <a16:creationId xmlns:a16="http://schemas.microsoft.com/office/drawing/2014/main" id="{47AC3FE9-B6A5-47D1-BCC6-3B48F0BE2900}"/>
              </a:ext>
            </a:extLst>
          </p:cNvPr>
          <p:cNvSpPr>
            <a:spLocks xmlns:a="http://schemas.openxmlformats.org/drawingml/2006/main" noGrp="1"/>
          </p:cNvSpPr>
          <p:nvPr/>
        </p:nvSpPr>
        <p:spPr>
          <a:xfrm xmlns:a="http://schemas.openxmlformats.org/drawingml/2006/main">
            <a:off x="590550" y="12954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87E8B"/>
                </a:solidFill>
                <a:latin typeface="Arial"/>
                <a:ea typeface="Arial"/>
                <a:cs typeface="Arial"/>
              </a:defRPr>
            </a:defPPr>
            <a:lvl1pPr algn="l">
              <a:defRPr sz="2250" b="1">
                <a:solidFill>
                  <a:srgbClr val="087E8B"/>
                </a:solidFill>
                <a:latin typeface="Arial"/>
                <a:ea typeface="Arial"/>
                <a:cs typeface="Arial"/>
              </a:defRPr>
            </a:lvl1pPr>
            <a:lvl2pPr algn="l">
              <a:defRPr sz="2250" b="1">
                <a:solidFill>
                  <a:srgbClr val="087E8B"/>
                </a:solidFill>
                <a:latin typeface="Arial"/>
                <a:ea typeface="Arial"/>
                <a:cs typeface="Arial"/>
              </a:defRPr>
            </a:lvl2pPr>
            <a:lvl3pPr algn="l">
              <a:defRPr sz="2250" b="1">
                <a:solidFill>
                  <a:srgbClr val="087E8B"/>
                </a:solidFill>
                <a:latin typeface="Arial"/>
                <a:ea typeface="Arial"/>
                <a:cs typeface="Arial"/>
              </a:defRPr>
            </a:lvl3pPr>
            <a:lvl4pPr algn="l">
              <a:defRPr sz="2250" b="1">
                <a:solidFill>
                  <a:srgbClr val="087E8B"/>
                </a:solidFill>
                <a:latin typeface="Arial"/>
                <a:ea typeface="Arial"/>
                <a:cs typeface="Arial"/>
              </a:defRPr>
            </a:lvl4pPr>
            <a:lvl5pPr algn="l">
              <a:defRPr sz="2250" b="1">
                <a:solidFill>
                  <a:srgbClr val="087E8B"/>
                </a:solidFill>
                <a:latin typeface="Arial"/>
                <a:ea typeface="Arial"/>
                <a:cs typeface="Arial"/>
              </a:defRPr>
            </a:lvl5pPr>
            <a:lvl6pPr algn="l">
              <a:defRPr sz="2250" b="1">
                <a:solidFill>
                  <a:srgbClr val="087E8B"/>
                </a:solidFill>
                <a:latin typeface="Arial"/>
                <a:ea typeface="Arial"/>
                <a:cs typeface="Arial"/>
              </a:defRPr>
            </a:lvl6pPr>
            <a:lvl7pPr algn="l">
              <a:defRPr sz="2250" b="1">
                <a:solidFill>
                  <a:srgbClr val="087E8B"/>
                </a:solidFill>
                <a:latin typeface="Arial"/>
                <a:ea typeface="Arial"/>
                <a:cs typeface="Arial"/>
              </a:defRPr>
            </a:lvl7pPr>
            <a:lvl8pPr algn="l">
              <a:defRPr sz="2250" b="1">
                <a:solidFill>
                  <a:srgbClr val="087E8B"/>
                </a:solidFill>
                <a:latin typeface="Arial"/>
                <a:ea typeface="Arial"/>
                <a:cs typeface="Arial"/>
              </a:defRPr>
            </a:lvl8pPr>
            <a:lvl9pPr algn="l">
              <a:defRPr sz="2250" b="1">
                <a:solidFill>
                  <a:srgbClr val="087E8B"/>
                </a:solidFill>
                <a:latin typeface="Arial"/>
                <a:ea typeface="Arial"/>
                <a:cs typeface="Arial"/>
              </a:defRPr>
            </a:lvl9pPr>
          </a:lstStyle>
          <a:p xmlns:a="http://schemas.openxmlformats.org/drawingml/2006/main">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Cuatro estados para describir la dinámica</a:t>
            </a:r>
          </a:p>
        </p:txBody>
      </p:sp>
      <p:graphicFrame>
        <p:nvGraphicFramePr>
          <p:cNvPr id="5" name="">
            <a:extLst xmlns:a="http://schemas.openxmlformats.org/drawingml/2006/main">
              <a:ext uri="{FF2B5EF4-FFF2-40B4-BE49-F238E27FC236}">
                <a16:creationId xmlns:a16="http://schemas.microsoft.com/office/drawing/2014/main" id="{7D33B719-1395-4705-B022-6C8533743A4E}"/>
              </a:ext>
            </a:extLst>
          </p:cNvPr>
          <p:cNvGraphicFramePr/>
          <p:nvPr/>
        </p:nvGraphicFramePr>
        <p:xfrm>
          <a:off xmlns:a="http://schemas.openxmlformats.org/drawingml/2006/main" x="590550" y="2000250"/>
          <a:ext xmlns:a="http://schemas.openxmlformats.org/drawingml/2006/main" cx="5857875" cy="3333750"/>
        </p:xfrm>
        <a:graphic xmlns:a="http://schemas.openxmlformats.org/drawingml/2006/main">
          <a:graphicData uri="http://schemas.openxmlformats.org/drawingml/2006/table">
            <a:tbl>
              <a:tblPr/>
              <a:tblGrid>
                <a:gridCol w="1190625"/>
                <a:gridCol w="4667250"/>
              </a:tblGrid>
              <a:tr h="666750">
                <a:tc>
                  <a:txBody>
                    <a:bodyPr lIns="95250" tIns="95250" rIns="95250" bIns="95250"/>
                    <a:lstStyle/>
                    <a:p>
                      <a:r>
                        <a:rPr sz="2025" b="1">
                          <a:solidFill>
                            <a:srgbClr val="FFFFFF"/>
                          </a:solidFill>
                          <a:latin typeface="Arial"/>
                          <a:ea typeface="Arial"/>
                          <a:cs typeface="Arial"/>
                        </a:rPr>
                        <a:t>Estado</a:t>
                      </a:r>
                    </a:p>
                  </a:txBody>
                  <a:tcPr marL="91440" marR="91440" marT="45720" marB="45720"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lIns="95250" tIns="95250" rIns="95250" bIns="95250"/>
                    <a:lstStyle/>
                    <a:p>
                      <a:r>
                        <a:rPr sz="2025" b="1">
                          <a:solidFill>
                            <a:srgbClr val="FFFFFF"/>
                          </a:solidFill>
                          <a:latin typeface="Arial"/>
                          <a:ea typeface="Arial"/>
                          <a:cs typeface="Arial"/>
                        </a:rPr>
                        <a:t>Significado</a:t>
                      </a:r>
                    </a:p>
                  </a:txBody>
                  <a:tcPr marL="91440" marR="91440" marT="45720" marB="45720" anchor="ctr">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r>
              <a:tr h="666750">
                <a:tc>
                  <a:txBody>
                    <a:bodyPr lIns="95250" tIns="95250" rIns="95250" bIns="95250"/>
                    <a:lstStyle/>
                    <a:p>
                      <a:r>
                        <a:rPr sz="2025" b="0">
                          <a:solidFill>
                            <a:srgbClr val="13283C"/>
                          </a:solidFill>
                          <a:latin typeface="Arial"/>
                          <a:ea typeface="Arial"/>
                          <a:cs typeface="Arial"/>
                        </a:rPr>
                        <a:t>a</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2025" b="0">
                          <a:solidFill>
                            <a:srgbClr val="13283C"/>
                          </a:solidFill>
                          <a:latin typeface="Arial"/>
                          <a:ea typeface="Arial"/>
                          <a:cs typeface="Arial"/>
                        </a:rPr>
                        <a:t>Aceleración axial</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66750">
                <a:tc>
                  <a:txBody>
                    <a:bodyPr lIns="95250" tIns="95250" rIns="95250" bIns="95250"/>
                    <a:lstStyle/>
                    <a:p>
                      <a:r>
                        <a:rPr sz="2025" b="0">
                          <a:solidFill>
                            <a:srgbClr val="13283C"/>
                          </a:solidFill>
                          <a:latin typeface="Arial"/>
                          <a:ea typeface="Arial"/>
                          <a:cs typeface="Arial"/>
                        </a:rPr>
                        <a:t>θ</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2025" b="0">
                          <a:solidFill>
                            <a:srgbClr val="13283C"/>
                          </a:solidFill>
                          <a:latin typeface="Arial"/>
                          <a:ea typeface="Arial"/>
                          <a:cs typeface="Arial"/>
                        </a:rPr>
                        <a:t>Ángulo de cabeceo</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r h="666750">
                <a:tc>
                  <a:txBody>
                    <a:bodyPr lIns="95250" tIns="95250" rIns="95250" bIns="95250"/>
                    <a:lstStyle/>
                    <a:p>
                      <a:r>
                        <a:rPr sz="2025" b="0">
                          <a:solidFill>
                            <a:srgbClr val="13283C"/>
                          </a:solidFill>
                          <a:latin typeface="Arial"/>
                          <a:ea typeface="Arial"/>
                          <a:cs typeface="Arial"/>
                        </a:rPr>
                        <a:t>ω</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2025" b="0">
                          <a:solidFill>
                            <a:srgbClr val="13283C"/>
                          </a:solidFill>
                          <a:latin typeface="Arial"/>
                          <a:ea typeface="Arial"/>
                          <a:cs typeface="Arial"/>
                        </a:rPr>
                        <a:t>Velocidad angular</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66750">
                <a:tc>
                  <a:txBody>
                    <a:bodyPr lIns="95250" tIns="95250" rIns="95250" bIns="95250"/>
                    <a:lstStyle/>
                    <a:p>
                      <a:r>
                        <a:rPr sz="2025" b="0">
                          <a:solidFill>
                            <a:srgbClr val="13283C"/>
                          </a:solidFill>
                          <a:latin typeface="Arial"/>
                          <a:ea typeface="Arial"/>
                          <a:cs typeface="Arial"/>
                        </a:rPr>
                        <a:t>δ</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2025" b="0">
                          <a:solidFill>
                            <a:srgbClr val="13283C"/>
                          </a:solidFill>
                          <a:latin typeface="Arial"/>
                          <a:ea typeface="Arial"/>
                          <a:cs typeface="Arial"/>
                        </a:rPr>
                        <a:t>Deflexión real de la tobera</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bl>
          </a:graphicData>
        </a:graphic>
      </p:graphicFrame>
      <p:sp>
        <p:nvSpPr>
          <p:cNvPr id="6" name="dx/dt = Ax + Bu&#10;y = Cx">
            <a:extLst xmlns:a="http://schemas.openxmlformats.org/drawingml/2006/main">
              <a:ext uri="{FF2B5EF4-FFF2-40B4-BE49-F238E27FC236}">
                <a16:creationId xmlns:a16="http://schemas.microsoft.com/office/drawing/2014/main" id="{F68B3962-78EF-4A16-8894-8315F9B2FE53}"/>
              </a:ext>
            </a:extLst>
          </p:cNvPr>
          <p:cNvSpPr>
            <a:spLocks xmlns:a="http://schemas.openxmlformats.org/drawingml/2006/main" noGrp="1"/>
          </p:cNvSpPr>
          <p:nvPr/>
        </p:nvSpPr>
        <p:spPr>
          <a:xfrm xmlns:a="http://schemas.openxmlformats.org/drawingml/2006/main">
            <a:off x="7239000" y="2047875"/>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13283C"/>
                </a:solidFill>
                <a:latin typeface="Arial"/>
                <a:ea typeface="Arial"/>
                <a:cs typeface="Arial"/>
              </a:defRPr>
            </a:defPPr>
            <a:lvl1pPr algn="l">
              <a:defRPr sz="2775" b="1">
                <a:solidFill>
                  <a:srgbClr val="13283C"/>
                </a:solidFill>
                <a:latin typeface="Arial"/>
                <a:ea typeface="Arial"/>
                <a:cs typeface="Arial"/>
              </a:defRPr>
            </a:lvl1pPr>
            <a:lvl2pPr algn="l">
              <a:defRPr sz="2775" b="1">
                <a:solidFill>
                  <a:srgbClr val="13283C"/>
                </a:solidFill>
                <a:latin typeface="Arial"/>
                <a:ea typeface="Arial"/>
                <a:cs typeface="Arial"/>
              </a:defRPr>
            </a:lvl2pPr>
            <a:lvl3pPr algn="l">
              <a:defRPr sz="2775" b="1">
                <a:solidFill>
                  <a:srgbClr val="13283C"/>
                </a:solidFill>
                <a:latin typeface="Arial"/>
                <a:ea typeface="Arial"/>
                <a:cs typeface="Arial"/>
              </a:defRPr>
            </a:lvl3pPr>
            <a:lvl4pPr algn="l">
              <a:defRPr sz="2775" b="1">
                <a:solidFill>
                  <a:srgbClr val="13283C"/>
                </a:solidFill>
                <a:latin typeface="Arial"/>
                <a:ea typeface="Arial"/>
                <a:cs typeface="Arial"/>
              </a:defRPr>
            </a:lvl4pPr>
            <a:lvl5pPr algn="l">
              <a:defRPr sz="2775" b="1">
                <a:solidFill>
                  <a:srgbClr val="13283C"/>
                </a:solidFill>
                <a:latin typeface="Arial"/>
                <a:ea typeface="Arial"/>
                <a:cs typeface="Arial"/>
              </a:defRPr>
            </a:lvl5pPr>
            <a:lvl6pPr algn="l">
              <a:defRPr sz="2775" b="1">
                <a:solidFill>
                  <a:srgbClr val="13283C"/>
                </a:solidFill>
                <a:latin typeface="Arial"/>
                <a:ea typeface="Arial"/>
                <a:cs typeface="Arial"/>
              </a:defRPr>
            </a:lvl6pPr>
            <a:lvl7pPr algn="l">
              <a:defRPr sz="2775" b="1">
                <a:solidFill>
                  <a:srgbClr val="13283C"/>
                </a:solidFill>
                <a:latin typeface="Arial"/>
                <a:ea typeface="Arial"/>
                <a:cs typeface="Arial"/>
              </a:defRPr>
            </a:lvl7pPr>
            <a:lvl8pPr algn="l">
              <a:defRPr sz="2775" b="1">
                <a:solidFill>
                  <a:srgbClr val="13283C"/>
                </a:solidFill>
                <a:latin typeface="Arial"/>
                <a:ea typeface="Arial"/>
                <a:cs typeface="Arial"/>
              </a:defRPr>
            </a:lvl8pPr>
            <a:lvl9pPr algn="l">
              <a:defRPr sz="2775" b="1">
                <a:solidFill>
                  <a:srgbClr val="13283C"/>
                </a:solidFill>
                <a:latin typeface="Arial"/>
                <a:ea typeface="Arial"/>
                <a:cs typeface="Arial"/>
              </a:defRPr>
            </a:lvl9pPr>
          </a:lstStyle>
          <a:p xmlns:a="http://schemas.openxmlformats.org/drawingml/2006/main">
            <a:pPr algn="l">
              <a:lnSpc>
                <a:spcPct val="110000"/>
              </a:lnSpc>
              <a:buNone/>
              <a:defRPr sz="2775" b="1">
                <a:solidFill>
                  <a:srgbClr val="13283C"/>
                </a:solidFill>
                <a:latin typeface="Arial"/>
                <a:ea typeface="Arial"/>
                <a:cs typeface="Arial"/>
              </a:defRPr>
            </a:pPr>
            <a:r>
              <a:rPr sz="2775" b="1">
                <a:solidFill>
                  <a:srgbClr val="13283C"/>
                </a:solidFill>
                <a:latin typeface="Arial"/>
                <a:ea typeface="Arial"/>
                <a:cs typeface="Arial"/>
              </a:rPr>
              <a:t>dx/dt = Ax + Bu</a:t>
            </a:r>
          </a:p>
          <a:p xmlns:a="http://schemas.openxmlformats.org/drawingml/2006/main">
            <a:pPr algn="l">
              <a:lnSpc>
                <a:spcPct val="110000"/>
              </a:lnSpc>
              <a:buNone/>
              <a:defRPr sz="2775" b="1">
                <a:solidFill>
                  <a:srgbClr val="13283C"/>
                </a:solidFill>
                <a:latin typeface="Arial"/>
                <a:ea typeface="Arial"/>
                <a:cs typeface="Arial"/>
              </a:defRPr>
            </a:pPr>
            <a:r>
              <a:rPr sz="2775" b="1">
                <a:solidFill>
                  <a:srgbClr val="13283C"/>
                </a:solidFill>
                <a:latin typeface="Arial"/>
                <a:ea typeface="Arial"/>
                <a:cs typeface="Arial"/>
              </a:rPr>
              <a:t>y = Cx</a:t>
            </a:r>
          </a:p>
        </p:txBody>
      </p:sp>
      <p:sp>
        <p:nvSpPr>
          <p:cNvPr id="7" name="Ángulos pequeños&#10;Masa e inercia constantes&#10;Fusel">
            <a:extLst xmlns:a="http://schemas.openxmlformats.org/drawingml/2006/main">
              <a:ext uri="{FF2B5EF4-FFF2-40B4-BE49-F238E27FC236}">
                <a16:creationId xmlns:a16="http://schemas.microsoft.com/office/drawing/2014/main" id="{FC176C29-C3D2-42EA-87B1-ECF98C373A12}"/>
              </a:ext>
            </a:extLst>
          </p:cNvPr>
          <p:cNvSpPr>
            <a:spLocks xmlns:a="http://schemas.openxmlformats.org/drawingml/2006/main" noGrp="1"/>
          </p:cNvSpPr>
          <p:nvPr/>
        </p:nvSpPr>
        <p:spPr>
          <a:xfrm xmlns:a="http://schemas.openxmlformats.org/drawingml/2006/main">
            <a:off x="7239000" y="3667125"/>
            <a:ext cx="4286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3283C"/>
                </a:solidFill>
                <a:latin typeface="Arial"/>
                <a:ea typeface="Arial"/>
                <a:cs typeface="Arial"/>
              </a:defRPr>
            </a:defPPr>
            <a:lvl1pPr algn="l">
              <a:defRPr sz="2100" b="0">
                <a:solidFill>
                  <a:srgbClr val="13283C"/>
                </a:solidFill>
                <a:latin typeface="Arial"/>
                <a:ea typeface="Arial"/>
                <a:cs typeface="Arial"/>
              </a:defRPr>
            </a:lvl1pPr>
            <a:lvl2pPr algn="l">
              <a:defRPr sz="2100" b="0">
                <a:solidFill>
                  <a:srgbClr val="13283C"/>
                </a:solidFill>
                <a:latin typeface="Arial"/>
                <a:ea typeface="Arial"/>
                <a:cs typeface="Arial"/>
              </a:defRPr>
            </a:lvl2pPr>
            <a:lvl3pPr algn="l">
              <a:defRPr sz="2100" b="0">
                <a:solidFill>
                  <a:srgbClr val="13283C"/>
                </a:solidFill>
                <a:latin typeface="Arial"/>
                <a:ea typeface="Arial"/>
                <a:cs typeface="Arial"/>
              </a:defRPr>
            </a:lvl3pPr>
            <a:lvl4pPr algn="l">
              <a:defRPr sz="2100" b="0">
                <a:solidFill>
                  <a:srgbClr val="13283C"/>
                </a:solidFill>
                <a:latin typeface="Arial"/>
                <a:ea typeface="Arial"/>
                <a:cs typeface="Arial"/>
              </a:defRPr>
            </a:lvl4pPr>
            <a:lvl5pPr algn="l">
              <a:defRPr sz="2100" b="0">
                <a:solidFill>
                  <a:srgbClr val="13283C"/>
                </a:solidFill>
                <a:latin typeface="Arial"/>
                <a:ea typeface="Arial"/>
                <a:cs typeface="Arial"/>
              </a:defRPr>
            </a:lvl5pPr>
            <a:lvl6pPr algn="l">
              <a:defRPr sz="2100" b="0">
                <a:solidFill>
                  <a:srgbClr val="13283C"/>
                </a:solidFill>
                <a:latin typeface="Arial"/>
                <a:ea typeface="Arial"/>
                <a:cs typeface="Arial"/>
              </a:defRPr>
            </a:lvl6pPr>
            <a:lvl7pPr algn="l">
              <a:defRPr sz="2100" b="0">
                <a:solidFill>
                  <a:srgbClr val="13283C"/>
                </a:solidFill>
                <a:latin typeface="Arial"/>
                <a:ea typeface="Arial"/>
                <a:cs typeface="Arial"/>
              </a:defRPr>
            </a:lvl7pPr>
            <a:lvl8pPr algn="l">
              <a:defRPr sz="2100" b="0">
                <a:solidFill>
                  <a:srgbClr val="13283C"/>
                </a:solidFill>
                <a:latin typeface="Arial"/>
                <a:ea typeface="Arial"/>
                <a:cs typeface="Arial"/>
              </a:defRPr>
            </a:lvl8pPr>
            <a:lvl9pPr algn="l">
              <a:defRPr sz="2100" b="0">
                <a:solidFill>
                  <a:srgbClr val="13283C"/>
                </a:solidFill>
                <a:latin typeface="Arial"/>
                <a:ea typeface="Arial"/>
                <a:cs typeface="Arial"/>
              </a:defRPr>
            </a:lvl9pPr>
          </a:lstStyle>
          <a:p xmlns:a="http://schemas.openxmlformats.org/drawingml/2006/main">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Ángulos pequeños</a:t>
            </a:r>
          </a:p>
          <a:p xmlns:a="http://schemas.openxmlformats.org/drawingml/2006/main">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Masa e inercia constantes</a:t>
            </a:r>
          </a:p>
          <a:p xmlns:a="http://schemas.openxmlformats.org/drawingml/2006/main">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Fuselaje rígido</a:t>
            </a:r>
          </a:p>
        </p:txBody>
      </p:sp>
      <p:sp>
        <p:nvSpPr>
          <p:cNvPr id="8" name="Las constantes del motor y del servo representan">
            <a:extLst xmlns:a="http://schemas.openxmlformats.org/drawingml/2006/main">
              <a:ext uri="{FF2B5EF4-FFF2-40B4-BE49-F238E27FC236}">
                <a16:creationId xmlns:a16="http://schemas.microsoft.com/office/drawing/2014/main" id="{07939C3A-9219-48D3-BFB0-B9A57A463CA1}"/>
              </a:ext>
            </a:extLst>
          </p:cNvPr>
          <p:cNvSpPr>
            <a:spLocks xmlns:a="http://schemas.openxmlformats.org/drawingml/2006/main" noGrp="1"/>
          </p:cNvSpPr>
          <p:nvPr/>
        </p:nvSpPr>
        <p:spPr>
          <a:xfrm xmlns:a="http://schemas.openxmlformats.org/drawingml/2006/main">
            <a:off x="590550" y="565785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16474"/>
                </a:solidFill>
                <a:latin typeface="Arial"/>
                <a:ea typeface="Arial"/>
                <a:cs typeface="Arial"/>
              </a:defRPr>
            </a:defPPr>
            <a:lvl1pPr algn="l">
              <a:defRPr sz="1725" b="0">
                <a:solidFill>
                  <a:srgbClr val="516474"/>
                </a:solidFill>
                <a:latin typeface="Arial"/>
                <a:ea typeface="Arial"/>
                <a:cs typeface="Arial"/>
              </a:defRPr>
            </a:lvl1pPr>
            <a:lvl2pPr algn="l">
              <a:defRPr sz="1725" b="0">
                <a:solidFill>
                  <a:srgbClr val="516474"/>
                </a:solidFill>
                <a:latin typeface="Arial"/>
                <a:ea typeface="Arial"/>
                <a:cs typeface="Arial"/>
              </a:defRPr>
            </a:lvl2pPr>
            <a:lvl3pPr algn="l">
              <a:defRPr sz="1725" b="0">
                <a:solidFill>
                  <a:srgbClr val="516474"/>
                </a:solidFill>
                <a:latin typeface="Arial"/>
                <a:ea typeface="Arial"/>
                <a:cs typeface="Arial"/>
              </a:defRPr>
            </a:lvl3pPr>
            <a:lvl4pPr algn="l">
              <a:defRPr sz="1725" b="0">
                <a:solidFill>
                  <a:srgbClr val="516474"/>
                </a:solidFill>
                <a:latin typeface="Arial"/>
                <a:ea typeface="Arial"/>
                <a:cs typeface="Arial"/>
              </a:defRPr>
            </a:lvl4pPr>
            <a:lvl5pPr algn="l">
              <a:defRPr sz="1725" b="0">
                <a:solidFill>
                  <a:srgbClr val="516474"/>
                </a:solidFill>
                <a:latin typeface="Arial"/>
                <a:ea typeface="Arial"/>
                <a:cs typeface="Arial"/>
              </a:defRPr>
            </a:lvl5pPr>
            <a:lvl6pPr algn="l">
              <a:defRPr sz="1725" b="0">
                <a:solidFill>
                  <a:srgbClr val="516474"/>
                </a:solidFill>
                <a:latin typeface="Arial"/>
                <a:ea typeface="Arial"/>
                <a:cs typeface="Arial"/>
              </a:defRPr>
            </a:lvl6pPr>
            <a:lvl7pPr algn="l">
              <a:defRPr sz="1725" b="0">
                <a:solidFill>
                  <a:srgbClr val="516474"/>
                </a:solidFill>
                <a:latin typeface="Arial"/>
                <a:ea typeface="Arial"/>
                <a:cs typeface="Arial"/>
              </a:defRPr>
            </a:lvl7pPr>
            <a:lvl8pPr algn="l">
              <a:defRPr sz="1725" b="0">
                <a:solidFill>
                  <a:srgbClr val="516474"/>
                </a:solidFill>
                <a:latin typeface="Arial"/>
                <a:ea typeface="Arial"/>
                <a:cs typeface="Arial"/>
              </a:defRPr>
            </a:lvl8pPr>
            <a:lvl9pPr algn="l">
              <a:defRPr sz="1725" b="0">
                <a:solidFill>
                  <a:srgbClr val="516474"/>
                </a:solidFill>
                <a:latin typeface="Arial"/>
                <a:ea typeface="Arial"/>
                <a:cs typeface="Arial"/>
              </a:defRPr>
            </a:lvl9pPr>
          </a:lstStyle>
          <a:p xmlns:a="http://schemas.openxmlformats.org/drawingml/2006/main">
            <a:pPr algn="l">
              <a:lnSpc>
                <a:spcPct val="110000"/>
              </a:lnSpc>
              <a:buNone/>
              <a:defRPr sz="1725" b="0">
                <a:solidFill>
                  <a:srgbClr val="516474"/>
                </a:solidFill>
                <a:latin typeface="Arial"/>
                <a:ea typeface="Arial"/>
                <a:cs typeface="Arial"/>
              </a:defRPr>
            </a:pPr>
            <a:r>
              <a:rPr sz="1725" b="0">
                <a:solidFill>
                  <a:srgbClr val="516474"/>
                </a:solidFill>
                <a:latin typeface="Arial"/>
                <a:ea typeface="Arial"/>
                <a:cs typeface="Arial"/>
              </a:rPr>
              <a:t>Las constantes del motor y del servo describen respuestas progresivas.</a:t>
            </a:r>
          </a:p>
          <a:p xmlns:a="http://schemas.openxmlformats.org/drawingml/2006/main">
            <a:pPr algn="l">
              <a:lnSpc>
                <a:spcPct val="110000"/>
              </a:lnSpc>
              <a:buNone/>
              <a:defRPr sz="1725" b="0">
                <a:solidFill>
                  <a:srgbClr val="516474"/>
                </a:solidFill>
                <a:latin typeface="Arial"/>
                <a:ea typeface="Arial"/>
                <a:cs typeface="Arial"/>
              </a:defRPr>
            </a:pPr>
            <a:r>
              <a:rPr sz="1725" b="0">
                <a:solidFill>
                  <a:srgbClr val="516474"/>
                </a:solidFill>
                <a:latin typeface="Arial"/>
                <a:ea typeface="Arial"/>
                <a:cs typeface="Arial"/>
              </a:rPr>
              <a:t>A: 4 × 4     B: 4 × 2     C: 2 × 4     D = 0</a:t>
            </a:r>
          </a:p>
        </p:txBody>
      </p:sp>
    </p:spTree>
    <p:extLst>
      <p:ext uri="{BB962C8B-B14F-4D97-AF65-F5344CB8AC3E}">
        <p14:creationId xmlns:p14="http://schemas.microsoft.com/office/powerpoint/2010/main" val="1334129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hysical meaning of the equations">
            <a:extLst xmlns:a="http://schemas.openxmlformats.org/drawingml/2006/main">
              <a:ext uri="{FF2B5EF4-FFF2-40B4-BE49-F238E27FC236}">
                <a16:creationId xmlns:a16="http://schemas.microsoft.com/office/drawing/2014/main" id="{B7858611-EADA-453F-A77C-D34774545FCB}"/>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3283C"/>
                </a:solidFill>
                <a:latin typeface="Arial"/>
                <a:ea typeface="Arial"/>
                <a:cs typeface="Arial"/>
              </a:defRPr>
            </a:defPPr>
            <a:lvl1pPr>
              <a:defRPr sz="3300" b="1">
                <a:solidFill>
                  <a:srgbClr val="13283C"/>
                </a:solidFill>
                <a:latin typeface="Arial"/>
                <a:ea typeface="Arial"/>
                <a:cs typeface="Arial"/>
              </a:defRPr>
            </a:lvl1pPr>
            <a:lvl2pPr>
              <a:defRPr sz="3300" b="1">
                <a:solidFill>
                  <a:srgbClr val="13283C"/>
                </a:solidFill>
                <a:latin typeface="Arial"/>
                <a:ea typeface="Arial"/>
                <a:cs typeface="Arial"/>
              </a:defRPr>
            </a:lvl2pPr>
            <a:lvl3pPr>
              <a:defRPr sz="3300" b="1">
                <a:solidFill>
                  <a:srgbClr val="13283C"/>
                </a:solidFill>
                <a:latin typeface="Arial"/>
                <a:ea typeface="Arial"/>
                <a:cs typeface="Arial"/>
              </a:defRPr>
            </a:lvl3pPr>
            <a:lvl4pPr>
              <a:defRPr sz="3300" b="1">
                <a:solidFill>
                  <a:srgbClr val="13283C"/>
                </a:solidFill>
                <a:latin typeface="Arial"/>
                <a:ea typeface="Arial"/>
                <a:cs typeface="Arial"/>
              </a:defRPr>
            </a:lvl4pPr>
            <a:lvl5pPr>
              <a:defRPr sz="3300" b="1">
                <a:solidFill>
                  <a:srgbClr val="13283C"/>
                </a:solidFill>
                <a:latin typeface="Arial"/>
                <a:ea typeface="Arial"/>
                <a:cs typeface="Arial"/>
              </a:defRPr>
            </a:lvl5pPr>
            <a:lvl6pPr>
              <a:defRPr sz="3300" b="1">
                <a:solidFill>
                  <a:srgbClr val="13283C"/>
                </a:solidFill>
                <a:latin typeface="Arial"/>
                <a:ea typeface="Arial"/>
                <a:cs typeface="Arial"/>
              </a:defRPr>
            </a:lvl6pPr>
            <a:lvl7pPr>
              <a:defRPr sz="3300" b="1">
                <a:solidFill>
                  <a:srgbClr val="13283C"/>
                </a:solidFill>
                <a:latin typeface="Arial"/>
                <a:ea typeface="Arial"/>
                <a:cs typeface="Arial"/>
              </a:defRPr>
            </a:lvl7pPr>
            <a:lvl8pPr>
              <a:defRPr sz="3300" b="1">
                <a:solidFill>
                  <a:srgbClr val="13283C"/>
                </a:solidFill>
                <a:latin typeface="Arial"/>
                <a:ea typeface="Arial"/>
                <a:cs typeface="Arial"/>
              </a:defRPr>
            </a:lvl8pPr>
            <a:lvl9pPr>
              <a:defRPr sz="3300" b="1">
                <a:solidFill>
                  <a:srgbClr val="13283C"/>
                </a:solidFill>
                <a:latin typeface="Arial"/>
                <a:ea typeface="Arial"/>
                <a:cs typeface="Arial"/>
              </a:defRPr>
            </a:lvl9pPr>
          </a:lstStyle>
          <a:p xmlns:a="http://schemas.openxmlformats.org/drawingml/2006/main">
            <a:pPr>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Interpretación física de las ecuaciones</a:t>
            </a:r>
          </a:p>
        </p:txBody>
      </p:sp>
      <p:sp>
        <p:nvSpPr>
          <p:cNvPr id="3" name="Each state equation represents a physical balanc">
            <a:extLst xmlns:a="http://schemas.openxmlformats.org/drawingml/2006/main">
              <a:ext uri="{FF2B5EF4-FFF2-40B4-BE49-F238E27FC236}">
                <a16:creationId xmlns:a16="http://schemas.microsoft.com/office/drawing/2014/main" id="{B4660D18-5BF9-4626-83B5-496D1C9D11A9}"/>
              </a:ext>
            </a:extLst>
          </p:cNvPr>
          <p:cNvSpPr>
            <a:spLocks xmlns:a="http://schemas.openxmlformats.org/drawingml/2006/main" noGrp="1"/>
          </p:cNvSpPr>
          <p:nvPr/>
        </p:nvSpPr>
        <p:spPr>
          <a:xfrm xmlns:a="http://schemas.openxmlformats.org/drawingml/2006/main">
            <a:off x="590550" y="1304925"/>
            <a:ext cx="11010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Cada ecuación describe un efecto físico del cohete</a:t>
            </a:r>
          </a:p>
        </p:txBody>
      </p:sp>
      <p:sp>
        <p:nvSpPr>
          <p:cNvPr id="4" name="">
            <a:extLst xmlns:a="http://schemas.openxmlformats.org/drawingml/2006/main">
              <a:ext uri="{FF2B5EF4-FFF2-40B4-BE49-F238E27FC236}">
                <a16:creationId xmlns:a16="http://schemas.microsoft.com/office/drawing/2014/main" id="{E6A062AF-A05F-41D3-9103-0FBA4238F77C}"/>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defRPr sz="1275" b="0">
                <a:solidFill>
                  <a:srgbClr val="516474"/>
                </a:solidFill>
                <a:latin typeface="Arial"/>
                <a:ea typeface="Arial"/>
                <a:cs typeface="Arial"/>
              </a:defRPr>
            </a:pPr>
            <a:r>
              <a:t>04 / 19</a:t>
            </a:r>
          </a:p>
        </p:txBody>
      </p:sp>
      <p:graphicFrame>
        <p:nvGraphicFramePr>
          <p:cNvPr id="5" name="">
            <a:extLst xmlns:a="http://schemas.openxmlformats.org/drawingml/2006/main">
              <a:ext uri="{FF2B5EF4-FFF2-40B4-BE49-F238E27FC236}">
                <a16:creationId xmlns:a16="http://schemas.microsoft.com/office/drawing/2014/main" id="{CF481CBF-4D70-4D26-97CB-051AF8CB1B0E}"/>
              </a:ext>
            </a:extLst>
          </p:cNvPr>
          <p:cNvGraphicFramePr/>
          <p:nvPr/>
        </p:nvGraphicFramePr>
        <p:xfrm>
          <a:off xmlns:a="http://schemas.openxmlformats.org/drawingml/2006/main" x="590550" y="2114550"/>
          <a:ext xmlns:a="http://schemas.openxmlformats.org/drawingml/2006/main" cx="11010900" cy="3238500"/>
        </p:xfrm>
        <a:graphic xmlns:a="http://schemas.openxmlformats.org/drawingml/2006/main">
          <a:graphicData uri="http://schemas.openxmlformats.org/drawingml/2006/table">
            <a:tbl>
              <a:tblPr/>
              <a:tblGrid>
                <a:gridCol w="2190750"/>
                <a:gridCol w="8820150"/>
              </a:tblGrid>
              <a:tr h="647700">
                <a:tc>
                  <a:txBody>
                    <a:bodyPr lIns="95250" tIns="95250" rIns="95250" bIns="95250"/>
                    <a:lstStyle/>
                    <a:p>
                      <a:r>
                        <a:rPr sz="1950" b="1">
                          <a:solidFill>
                            <a:srgbClr val="FFFFFF"/>
                          </a:solidFill>
                          <a:latin typeface="Arial"/>
                          <a:ea typeface="Arial"/>
                          <a:cs typeface="Arial"/>
                        </a:rPr>
                        <a:t>Ecuación</a:t>
                      </a:r>
                    </a:p>
                  </a:txBody>
                  <a:tcPr marL="91440" marR="91440" marT="45720" marB="45720"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lIns="95250" tIns="95250" rIns="95250" bIns="95250"/>
                    <a:lstStyle/>
                    <a:p>
                      <a:r>
                        <a:rPr sz="1950" b="1">
                          <a:solidFill>
                            <a:srgbClr val="FFFFFF"/>
                          </a:solidFill>
                          <a:latin typeface="Arial"/>
                          <a:ea typeface="Arial"/>
                          <a:cs typeface="Arial"/>
                        </a:rPr>
                        <a:t>Interpretación física</a:t>
                      </a:r>
                    </a:p>
                  </a:txBody>
                  <a:tcPr marL="91440" marR="91440" marT="45720" marB="45720" anchor="ctr">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r>
              <a:tr h="647700">
                <a:tc>
                  <a:txBody>
                    <a:bodyPr lIns="95250" tIns="95250" rIns="95250" bIns="95250"/>
                    <a:lstStyle/>
                    <a:p>
                      <a:r>
                        <a:rPr sz="1950" b="0">
                          <a:solidFill>
                            <a:srgbClr val="13283C"/>
                          </a:solidFill>
                          <a:latin typeface="Arial"/>
                          <a:ea typeface="Arial"/>
                          <a:cs typeface="Arial"/>
                        </a:rPr>
                        <a:t>da/dt</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950" b="0">
                          <a:solidFill>
                            <a:srgbClr val="13283C"/>
                          </a:solidFill>
                          <a:latin typeface="Arial"/>
                          <a:ea typeface="Arial"/>
                          <a:cs typeface="Arial"/>
                        </a:rPr>
                        <a:t>Respuesta del motor, comando axial y acoplamiento gravitatorio</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47700">
                <a:tc>
                  <a:txBody>
                    <a:bodyPr lIns="95250" tIns="95250" rIns="95250" bIns="95250"/>
                    <a:lstStyle/>
                    <a:p>
                      <a:r>
                        <a:rPr sz="1950" b="0">
                          <a:solidFill>
                            <a:srgbClr val="13283C"/>
                          </a:solidFill>
                          <a:latin typeface="Arial"/>
                          <a:ea typeface="Arial"/>
                          <a:cs typeface="Arial"/>
                        </a:rPr>
                        <a:t>dθ/dt</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950" b="0">
                          <a:solidFill>
                            <a:srgbClr val="13283C"/>
                          </a:solidFill>
                          <a:latin typeface="Arial"/>
                          <a:ea typeface="Arial"/>
                          <a:cs typeface="Arial"/>
                        </a:rPr>
                        <a:t>La velocidad angular se acumula en el ángulo de cabeceo</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r h="647700">
                <a:tc>
                  <a:txBody>
                    <a:bodyPr lIns="95250" tIns="95250" rIns="95250" bIns="95250"/>
                    <a:lstStyle/>
                    <a:p>
                      <a:r>
                        <a:rPr sz="1950" b="0">
                          <a:solidFill>
                            <a:srgbClr val="13283C"/>
                          </a:solidFill>
                          <a:latin typeface="Arial"/>
                          <a:ea typeface="Arial"/>
                          <a:cs typeface="Arial"/>
                        </a:rPr>
                        <a:t>dω/dt</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950" b="0">
                          <a:solidFill>
                            <a:srgbClr val="13283C"/>
                          </a:solidFill>
                          <a:latin typeface="Arial"/>
                          <a:ea typeface="Arial"/>
                          <a:cs typeface="Arial"/>
                        </a:rPr>
                        <a:t>Aerodinámica desestabilizante, amortiguamiento y momentos de control</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47700">
                <a:tc>
                  <a:txBody>
                    <a:bodyPr lIns="95250" tIns="95250" rIns="95250" bIns="95250"/>
                    <a:lstStyle/>
                    <a:p>
                      <a:r>
                        <a:rPr sz="1950" b="0">
                          <a:solidFill>
                            <a:srgbClr val="13283C"/>
                          </a:solidFill>
                          <a:latin typeface="Arial"/>
                          <a:ea typeface="Arial"/>
                          <a:cs typeface="Arial"/>
                        </a:rPr>
                        <a:t>dδ/dt</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950" b="0">
                          <a:solidFill>
                            <a:srgbClr val="13283C"/>
                          </a:solidFill>
                          <a:latin typeface="Arial"/>
                          <a:ea typeface="Arial"/>
                          <a:cs typeface="Arial"/>
                        </a:rPr>
                        <a:t>Respuesta del servo con realimentación de ángulo y velocidad angular</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bl>
          </a:graphicData>
        </a:graphic>
      </p:graphicFrame>
      <p:sp>
        <p:nvSpPr>
          <p:cNvPr id="6" name="The term μθ promotes rotation. Nozzle feedback a">
            <a:extLst xmlns:a="http://schemas.openxmlformats.org/drawingml/2006/main">
              <a:ext uri="{FF2B5EF4-FFF2-40B4-BE49-F238E27FC236}">
                <a16:creationId xmlns:a16="http://schemas.microsoft.com/office/drawing/2014/main" id="{16427757-79C3-4648-AAE1-EAA5116BB82F}"/>
              </a:ext>
            </a:extLst>
          </p:cNvPr>
          <p:cNvSpPr>
            <a:spLocks xmlns:a="http://schemas.openxmlformats.org/drawingml/2006/main" noGrp="1"/>
          </p:cNvSpPr>
          <p:nvPr/>
        </p:nvSpPr>
        <p:spPr>
          <a:xfrm xmlns:a="http://schemas.openxmlformats.org/drawingml/2006/main">
            <a:off x="590550" y="5724525"/>
            <a:ext cx="11010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lnSpc>
                <a:spcPct val="110000"/>
              </a:lnSpc>
              <a:buNone/>
              <a:defRPr sz="2025" b="1">
                <a:solidFill>
                  <a:srgbClr val="087E8B"/>
                </a:solidFill>
                <a:latin typeface="Arial"/>
                <a:ea typeface="Arial"/>
                <a:cs typeface="Arial"/>
              </a:defRPr>
            </a:pPr>
            <a:r>
              <a:rPr sz="2025" b="1">
                <a:solidFill>
                  <a:srgbClr val="087E8B"/>
                </a:solidFill>
                <a:latin typeface="Arial"/>
                <a:ea typeface="Arial"/>
                <a:cs typeface="Arial"/>
              </a:rPr>
              <a:t>El término μθ favorece el giro. La tobera y el amortiguamiento lo contrarrestan.</a:t>
            </a:r>
          </a:p>
        </p:txBody>
      </p:sp>
    </p:spTree>
    <p:extLst>
      <p:ext uri="{BB962C8B-B14F-4D97-AF65-F5344CB8AC3E}">
        <p14:creationId xmlns:p14="http://schemas.microsoft.com/office/powerpoint/2010/main" val="2264722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rocedimiento">
            <a:extLst xmlns:a="http://schemas.openxmlformats.org/drawingml/2006/main">
              <a:ext uri="{FF2B5EF4-FFF2-40B4-BE49-F238E27FC236}">
                <a16:creationId xmlns:a16="http://schemas.microsoft.com/office/drawing/2014/main" id="{6542940C-1DAB-47C0-B41B-CE08D3804AA9}"/>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Procedimiento</a:t>
            </a:r>
          </a:p>
        </p:txBody>
      </p:sp>
      <p:sp>
        <p:nvSpPr>
          <p:cNvPr id="3" name="04 / 16">
            <a:extLst xmlns:a="http://schemas.openxmlformats.org/drawingml/2006/main">
              <a:ext uri="{FF2B5EF4-FFF2-40B4-BE49-F238E27FC236}">
                <a16:creationId xmlns:a16="http://schemas.microsoft.com/office/drawing/2014/main" id="{A7416159-94D9-40F1-873E-D573D8053981}"/>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05 / 19</a:t>
            </a:r>
          </a:p>
        </p:txBody>
      </p:sp>
      <p:sp>
        <p:nvSpPr>
          <p:cNvPr id="4" name="Construimos el modelo y comprobamos sus trayecto">
            <a:extLst xmlns:a="http://schemas.openxmlformats.org/drawingml/2006/main">
              <a:ext uri="{FF2B5EF4-FFF2-40B4-BE49-F238E27FC236}">
                <a16:creationId xmlns:a16="http://schemas.microsoft.com/office/drawing/2014/main" id="{4B5C68A6-B29C-4A5F-8E90-EBC01C6CA285}"/>
              </a:ext>
            </a:extLst>
          </p:cNvPr>
          <p:cNvSpPr>
            <a:spLocks xmlns:a="http://schemas.openxmlformats.org/drawingml/2006/main" noGrp="1"/>
          </p:cNvSpPr>
          <p:nvPr/>
        </p:nvSpPr>
        <p:spPr>
          <a:xfrm xmlns:a="http://schemas.openxmlformats.org/drawingml/2006/main">
            <a:off x="590550" y="13144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087E8B"/>
                </a:solidFill>
                <a:latin typeface="Arial"/>
                <a:ea typeface="Arial"/>
                <a:cs typeface="Arial"/>
              </a:defRPr>
            </a:defPPr>
            <a:lvl1pPr algn="l">
              <a:defRPr sz="2400" b="1">
                <a:solidFill>
                  <a:srgbClr val="087E8B"/>
                </a:solidFill>
                <a:latin typeface="Arial"/>
                <a:ea typeface="Arial"/>
                <a:cs typeface="Arial"/>
              </a:defRPr>
            </a:lvl1pPr>
            <a:lvl2pPr algn="l">
              <a:defRPr sz="2400" b="1">
                <a:solidFill>
                  <a:srgbClr val="087E8B"/>
                </a:solidFill>
                <a:latin typeface="Arial"/>
                <a:ea typeface="Arial"/>
                <a:cs typeface="Arial"/>
              </a:defRPr>
            </a:lvl2pPr>
            <a:lvl3pPr algn="l">
              <a:defRPr sz="2400" b="1">
                <a:solidFill>
                  <a:srgbClr val="087E8B"/>
                </a:solidFill>
                <a:latin typeface="Arial"/>
                <a:ea typeface="Arial"/>
                <a:cs typeface="Arial"/>
              </a:defRPr>
            </a:lvl3pPr>
            <a:lvl4pPr algn="l">
              <a:defRPr sz="2400" b="1">
                <a:solidFill>
                  <a:srgbClr val="087E8B"/>
                </a:solidFill>
                <a:latin typeface="Arial"/>
                <a:ea typeface="Arial"/>
                <a:cs typeface="Arial"/>
              </a:defRPr>
            </a:lvl4pPr>
            <a:lvl5pPr algn="l">
              <a:defRPr sz="2400" b="1">
                <a:solidFill>
                  <a:srgbClr val="087E8B"/>
                </a:solidFill>
                <a:latin typeface="Arial"/>
                <a:ea typeface="Arial"/>
                <a:cs typeface="Arial"/>
              </a:defRPr>
            </a:lvl5pPr>
            <a:lvl6pPr algn="l">
              <a:defRPr sz="2400" b="1">
                <a:solidFill>
                  <a:srgbClr val="087E8B"/>
                </a:solidFill>
                <a:latin typeface="Arial"/>
                <a:ea typeface="Arial"/>
                <a:cs typeface="Arial"/>
              </a:defRPr>
            </a:lvl6pPr>
            <a:lvl7pPr algn="l">
              <a:defRPr sz="2400" b="1">
                <a:solidFill>
                  <a:srgbClr val="087E8B"/>
                </a:solidFill>
                <a:latin typeface="Arial"/>
                <a:ea typeface="Arial"/>
                <a:cs typeface="Arial"/>
              </a:defRPr>
            </a:lvl7pPr>
            <a:lvl8pPr algn="l">
              <a:defRPr sz="2400" b="1">
                <a:solidFill>
                  <a:srgbClr val="087E8B"/>
                </a:solidFill>
                <a:latin typeface="Arial"/>
                <a:ea typeface="Arial"/>
                <a:cs typeface="Arial"/>
              </a:defRPr>
            </a:lvl8pPr>
            <a:lvl9pPr algn="l">
              <a:defRPr sz="2400" b="1">
                <a:solidFill>
                  <a:srgbClr val="087E8B"/>
                </a:solidFill>
                <a:latin typeface="Arial"/>
                <a:ea typeface="Arial"/>
                <a:cs typeface="Arial"/>
              </a:defRPr>
            </a:lvl9pPr>
          </a:lstStyle>
          <a:p xmlns:a="http://schemas.openxmlformats.org/drawingml/2006/main">
            <a:pPr algn="l">
              <a:lnSpc>
                <a:spcPct val="110000"/>
              </a:lnSpc>
              <a:buNone/>
              <a:defRPr sz="2400" b="1">
                <a:solidFill>
                  <a:srgbClr val="087E8B"/>
                </a:solidFill>
                <a:latin typeface="Arial"/>
                <a:ea typeface="Arial"/>
                <a:cs typeface="Arial"/>
              </a:defRPr>
            </a:pPr>
            <a:r>
              <a:rPr sz="2400" b="1">
                <a:solidFill>
                  <a:srgbClr val="087E8B"/>
                </a:solidFill>
                <a:latin typeface="Arial"/>
                <a:ea typeface="Arial"/>
                <a:cs typeface="Arial"/>
              </a:rPr>
              <a:t>Construimos el modelo y comprobamos sus trayectorias</a:t>
            </a:r>
          </a:p>
        </p:txBody>
      </p:sp>
      <p:sp>
        <p:nvSpPr>
          <p:cNvPr id="5" name="01  Estados y matriz de transferencia">
            <a:extLst xmlns:a="http://schemas.openxmlformats.org/drawingml/2006/main">
              <a:ext uri="{FF2B5EF4-FFF2-40B4-BE49-F238E27FC236}">
                <a16:creationId xmlns:a16="http://schemas.microsoft.com/office/drawing/2014/main" id="{6FD76CC2-3F89-466C-AB62-75762A03E15C}"/>
              </a:ext>
            </a:extLst>
          </p:cNvPr>
          <p:cNvSpPr>
            <a:spLocks xmlns:a="http://schemas.openxmlformats.org/drawingml/2006/main" noGrp="1"/>
          </p:cNvSpPr>
          <p:nvPr/>
        </p:nvSpPr>
        <p:spPr>
          <a:xfrm xmlns:a="http://schemas.openxmlformats.org/drawingml/2006/main">
            <a:off x="590550" y="2619375"/>
            <a:ext cx="666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01  Estados y matriz de transferencia</a:t>
            </a:r>
          </a:p>
        </p:txBody>
      </p:sp>
      <p:sp>
        <p:nvSpPr>
          <p:cNvPr id="6" name="02  Polos y pruebas temporales">
            <a:extLst xmlns:a="http://schemas.openxmlformats.org/drawingml/2006/main">
              <a:ext uri="{FF2B5EF4-FFF2-40B4-BE49-F238E27FC236}">
                <a16:creationId xmlns:a16="http://schemas.microsoft.com/office/drawing/2014/main" id="{D8E061AE-54F7-41A6-A4AA-3BF74F7C4C6A}"/>
              </a:ext>
            </a:extLst>
          </p:cNvPr>
          <p:cNvSpPr>
            <a:spLocks xmlns:a="http://schemas.openxmlformats.org/drawingml/2006/main" noGrp="1"/>
          </p:cNvSpPr>
          <p:nvPr/>
        </p:nvSpPr>
        <p:spPr>
          <a:xfrm xmlns:a="http://schemas.openxmlformats.org/drawingml/2006/main">
            <a:off x="590550" y="3352800"/>
            <a:ext cx="666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02  Polos y pruebas temporales</a:t>
            </a:r>
          </a:p>
        </p:txBody>
      </p:sp>
      <p:sp>
        <p:nvSpPr>
          <p:cNvPr id="7" name="03  Frecuencia, sensores y actuadores">
            <a:extLst xmlns:a="http://schemas.openxmlformats.org/drawingml/2006/main">
              <a:ext uri="{FF2B5EF4-FFF2-40B4-BE49-F238E27FC236}">
                <a16:creationId xmlns:a16="http://schemas.microsoft.com/office/drawing/2014/main" id="{B068E4AA-A5D6-4BC5-A78C-E727D69ABE32}"/>
              </a:ext>
            </a:extLst>
          </p:cNvPr>
          <p:cNvSpPr>
            <a:spLocks xmlns:a="http://schemas.openxmlformats.org/drawingml/2006/main" noGrp="1"/>
          </p:cNvSpPr>
          <p:nvPr/>
        </p:nvSpPr>
        <p:spPr>
          <a:xfrm xmlns:a="http://schemas.openxmlformats.org/drawingml/2006/main">
            <a:off x="590550" y="4086225"/>
            <a:ext cx="666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03  Frecuencia, sensores y actuadores</a:t>
            </a:r>
          </a:p>
        </p:txBody>
      </p:sp>
      <p:sp>
        <p:nvSpPr>
          <p:cNvPr id="8" name="04  Ganancias y controlador digital">
            <a:extLst xmlns:a="http://schemas.openxmlformats.org/drawingml/2006/main">
              <a:ext uri="{FF2B5EF4-FFF2-40B4-BE49-F238E27FC236}">
                <a16:creationId xmlns:a16="http://schemas.microsoft.com/office/drawing/2014/main" id="{2D78B3BA-E25A-4402-A3B6-15DE00EA220E}"/>
              </a:ext>
            </a:extLst>
          </p:cNvPr>
          <p:cNvSpPr>
            <a:spLocks xmlns:a="http://schemas.openxmlformats.org/drawingml/2006/main" noGrp="1"/>
          </p:cNvSpPr>
          <p:nvPr/>
        </p:nvSpPr>
        <p:spPr>
          <a:xfrm xmlns:a="http://schemas.openxmlformats.org/drawingml/2006/main">
            <a:off x="590550" y="4819650"/>
            <a:ext cx="666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04  Ganancias y controlador digital</a:t>
            </a:r>
          </a:p>
        </p:txBody>
      </p:sp>
      <p:sp>
        <p:nvSpPr>
          <p:cNvPr id="9" name="K₁: corrección axial&#10;K₂: corrección de actitud">
            <a:extLst xmlns:a="http://schemas.openxmlformats.org/drawingml/2006/main">
              <a:ext uri="{FF2B5EF4-FFF2-40B4-BE49-F238E27FC236}">
                <a16:creationId xmlns:a16="http://schemas.microsoft.com/office/drawing/2014/main" id="{B3FACF71-66B8-49D8-8758-F4FC5353545D}"/>
              </a:ext>
            </a:extLst>
          </p:cNvPr>
          <p:cNvSpPr>
            <a:spLocks xmlns:a="http://schemas.openxmlformats.org/drawingml/2006/main" noGrp="1"/>
          </p:cNvSpPr>
          <p:nvPr/>
        </p:nvSpPr>
        <p:spPr>
          <a:xfrm xmlns:a="http://schemas.openxmlformats.org/drawingml/2006/main">
            <a:off x="590550" y="5715000"/>
            <a:ext cx="666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16474"/>
                </a:solidFill>
                <a:latin typeface="Arial"/>
                <a:ea typeface="Arial"/>
                <a:cs typeface="Arial"/>
              </a:defRPr>
            </a:defPPr>
            <a:lvl1pPr algn="l">
              <a:defRPr sz="1875" b="0">
                <a:solidFill>
                  <a:srgbClr val="516474"/>
                </a:solidFill>
                <a:latin typeface="Arial"/>
                <a:ea typeface="Arial"/>
                <a:cs typeface="Arial"/>
              </a:defRPr>
            </a:lvl1pPr>
            <a:lvl2pPr algn="l">
              <a:defRPr sz="1875" b="0">
                <a:solidFill>
                  <a:srgbClr val="516474"/>
                </a:solidFill>
                <a:latin typeface="Arial"/>
                <a:ea typeface="Arial"/>
                <a:cs typeface="Arial"/>
              </a:defRPr>
            </a:lvl2pPr>
            <a:lvl3pPr algn="l">
              <a:defRPr sz="1875" b="0">
                <a:solidFill>
                  <a:srgbClr val="516474"/>
                </a:solidFill>
                <a:latin typeface="Arial"/>
                <a:ea typeface="Arial"/>
                <a:cs typeface="Arial"/>
              </a:defRPr>
            </a:lvl3pPr>
            <a:lvl4pPr algn="l">
              <a:defRPr sz="1875" b="0">
                <a:solidFill>
                  <a:srgbClr val="516474"/>
                </a:solidFill>
                <a:latin typeface="Arial"/>
                <a:ea typeface="Arial"/>
                <a:cs typeface="Arial"/>
              </a:defRPr>
            </a:lvl4pPr>
            <a:lvl5pPr algn="l">
              <a:defRPr sz="1875" b="0">
                <a:solidFill>
                  <a:srgbClr val="516474"/>
                </a:solidFill>
                <a:latin typeface="Arial"/>
                <a:ea typeface="Arial"/>
                <a:cs typeface="Arial"/>
              </a:defRPr>
            </a:lvl5pPr>
            <a:lvl6pPr algn="l">
              <a:defRPr sz="1875" b="0">
                <a:solidFill>
                  <a:srgbClr val="516474"/>
                </a:solidFill>
                <a:latin typeface="Arial"/>
                <a:ea typeface="Arial"/>
                <a:cs typeface="Arial"/>
              </a:defRPr>
            </a:lvl6pPr>
            <a:lvl7pPr algn="l">
              <a:defRPr sz="1875" b="0">
                <a:solidFill>
                  <a:srgbClr val="516474"/>
                </a:solidFill>
                <a:latin typeface="Arial"/>
                <a:ea typeface="Arial"/>
                <a:cs typeface="Arial"/>
              </a:defRPr>
            </a:lvl7pPr>
            <a:lvl8pPr algn="l">
              <a:defRPr sz="1875" b="0">
                <a:solidFill>
                  <a:srgbClr val="516474"/>
                </a:solidFill>
                <a:latin typeface="Arial"/>
                <a:ea typeface="Arial"/>
                <a:cs typeface="Arial"/>
              </a:defRPr>
            </a:lvl8pPr>
            <a:lvl9pPr algn="l">
              <a:defRPr sz="1875" b="0">
                <a:solidFill>
                  <a:srgbClr val="516474"/>
                </a:solidFill>
                <a:latin typeface="Arial"/>
                <a:ea typeface="Arial"/>
                <a:cs typeface="Arial"/>
              </a:defRPr>
            </a:lvl9pPr>
          </a:lstStyle>
          <a:p xmlns:a="http://schemas.openxmlformats.org/drawingml/2006/main">
            <a:pPr algn="l">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K₁: corrección axial</a:t>
            </a:r>
          </a:p>
          <a:p xmlns:a="http://schemas.openxmlformats.org/drawingml/2006/main">
            <a:pPr algn="l">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K₂: corrección de actitud</a:t>
            </a:r>
          </a:p>
        </p:txBody>
      </p:sp>
      <p:pic>
        <p:nvPicPr>
          <p:cNvPr id="10" name="">
            <a:extLst xmlns:a="http://schemas.openxmlformats.org/drawingml/2006/main">
              <a:ext uri="{FF2B5EF4-FFF2-40B4-BE49-F238E27FC236}">
                <a16:creationId xmlns:a16="http://schemas.microsoft.com/office/drawing/2014/main" id="{9971085D-94A2-483E-90E8-3DC0CC13776E}"/>
              </a:ext>
            </a:extLst>
          </p:cNvPr>
          <p:cNvPicPr>
            <a:picLocks xmlns:a="http://schemas.openxmlformats.org/drawingml/2006/main" noChangeAspect="1"/>
          </p:cNvPicPr>
          <p:nvPr/>
        </p:nvPicPr>
        <p:blipFill>
          <a:blip xmlns:r="http://schemas.openxmlformats.org/officeDocument/2006/relationships" xmlns:a="http://schemas.openxmlformats.org/drawingml/2006/main" r:embed="R440bd43da4f24fa3"/>
          <a:stretch xmlns:a="http://schemas.openxmlformats.org/drawingml/2006/main"/>
        </p:blipFill>
        <p:spPr>
          <a:xfrm xmlns:a="http://schemas.openxmlformats.org/drawingml/2006/main">
            <a:off x="8003619" y="1295400"/>
            <a:ext cx="3471388" cy="4695825"/>
          </a:xfrm>
          <a:prstGeom xmlns:a="http://schemas.openxmlformats.org/drawingml/2006/main" prst="rect">
            <a:avLst/>
          </a:prstGeom>
        </p:spPr>
      </p:pic>
    </p:spTree>
    <p:extLst>
      <p:ext uri="{BB962C8B-B14F-4D97-AF65-F5344CB8AC3E}">
        <p14:creationId xmlns:p14="http://schemas.microsoft.com/office/powerpoint/2010/main" val="1728911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Estabilidad">
            <a:extLst xmlns:a="http://schemas.openxmlformats.org/drawingml/2006/main">
              <a:ext uri="{FF2B5EF4-FFF2-40B4-BE49-F238E27FC236}">
                <a16:creationId xmlns:a16="http://schemas.microsoft.com/office/drawing/2014/main" id="{D6E5FFA5-C63B-44E9-8CF7-A44E7DC5760D}"/>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Estabilidad</a:t>
            </a:r>
          </a:p>
        </p:txBody>
      </p:sp>
      <p:sp>
        <p:nvSpPr>
          <p:cNvPr id="3" name="05 / 16">
            <a:extLst xmlns:a="http://schemas.openxmlformats.org/drawingml/2006/main">
              <a:ext uri="{FF2B5EF4-FFF2-40B4-BE49-F238E27FC236}">
                <a16:creationId xmlns:a16="http://schemas.microsoft.com/office/drawing/2014/main" id="{5E65FC0F-553E-468D-83A1-905140EF9DE0}"/>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06 / 19</a:t>
            </a:r>
          </a:p>
        </p:txBody>
      </p:sp>
      <p:graphicFrame>
        <p:nvGraphicFramePr>
          <p:cNvPr id="4" name="Chart">
            <a:extLst xmlns:a="http://schemas.openxmlformats.org/drawingml/2006/main">
              <a:ext uri="{FF2B5EF4-FFF2-40B4-BE49-F238E27FC236}">
                <a16:creationId xmlns:a16="http://schemas.microsoft.com/office/drawing/2014/main" id="{DD6D0B88-E032-4F99-A83D-5A94684E9D11}"/>
              </a:ext>
            </a:extLst>
          </p:cNvPr>
          <p:cNvGraphicFramePr/>
          <p:nvPr/>
        </p:nvGraphicFramePr>
        <p:xfrm>
          <a:off xmlns:a="http://schemas.openxmlformats.org/drawingml/2006/main" x="476250" y="1619250"/>
          <a:ext xmlns:a="http://schemas.openxmlformats.org/drawingml/2006/main" cx="7334250" cy="4000500"/>
        </p:xfrm>
        <a:graphic xmlns:a="http://schemas.openxmlformats.org/drawingml/2006/main">
          <a:graphicData uri="http://schemas.openxmlformats.org/drawingml/2006/chart">
            <c:chart xmlns:r="http://schemas.openxmlformats.org/officeDocument/2006/relationships" xmlns:c="http://schemas.openxmlformats.org/drawingml/2006/chart" r:id="R313bb93ab1574783"/>
          </a:graphicData>
        </a:graphic>
      </p:graphicFrame>
      <p:sp>
        <p:nvSpPr>
          <p:cNvPr id="5" name="Todos los polos nominales&#10;tienen parte real nega">
            <a:extLst xmlns:a="http://schemas.openxmlformats.org/drawingml/2006/main">
              <a:ext uri="{FF2B5EF4-FFF2-40B4-BE49-F238E27FC236}">
                <a16:creationId xmlns:a16="http://schemas.microsoft.com/office/drawing/2014/main" id="{59D111A0-2434-402F-9615-2AA294F851B5}"/>
              </a:ext>
            </a:extLst>
          </p:cNvPr>
          <p:cNvSpPr>
            <a:spLocks xmlns:a="http://schemas.openxmlformats.org/drawingml/2006/main" noGrp="1"/>
          </p:cNvSpPr>
          <p:nvPr/>
        </p:nvSpPr>
        <p:spPr>
          <a:xfrm xmlns:a="http://schemas.openxmlformats.org/drawingml/2006/main">
            <a:off x="8096250" y="1714500"/>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087E8B"/>
                </a:solidFill>
                <a:latin typeface="Arial"/>
                <a:ea typeface="Arial"/>
                <a:cs typeface="Arial"/>
              </a:defRPr>
            </a:defPPr>
            <a:lvl1pPr algn="l">
              <a:defRPr sz="2175" b="1">
                <a:solidFill>
                  <a:srgbClr val="087E8B"/>
                </a:solidFill>
                <a:latin typeface="Arial"/>
                <a:ea typeface="Arial"/>
                <a:cs typeface="Arial"/>
              </a:defRPr>
            </a:lvl1pPr>
            <a:lvl2pPr algn="l">
              <a:defRPr sz="2175" b="1">
                <a:solidFill>
                  <a:srgbClr val="087E8B"/>
                </a:solidFill>
                <a:latin typeface="Arial"/>
                <a:ea typeface="Arial"/>
                <a:cs typeface="Arial"/>
              </a:defRPr>
            </a:lvl2pPr>
            <a:lvl3pPr algn="l">
              <a:defRPr sz="2175" b="1">
                <a:solidFill>
                  <a:srgbClr val="087E8B"/>
                </a:solidFill>
                <a:latin typeface="Arial"/>
                <a:ea typeface="Arial"/>
                <a:cs typeface="Arial"/>
              </a:defRPr>
            </a:lvl3pPr>
            <a:lvl4pPr algn="l">
              <a:defRPr sz="2175" b="1">
                <a:solidFill>
                  <a:srgbClr val="087E8B"/>
                </a:solidFill>
                <a:latin typeface="Arial"/>
                <a:ea typeface="Arial"/>
                <a:cs typeface="Arial"/>
              </a:defRPr>
            </a:lvl4pPr>
            <a:lvl5pPr algn="l">
              <a:defRPr sz="2175" b="1">
                <a:solidFill>
                  <a:srgbClr val="087E8B"/>
                </a:solidFill>
                <a:latin typeface="Arial"/>
                <a:ea typeface="Arial"/>
                <a:cs typeface="Arial"/>
              </a:defRPr>
            </a:lvl5pPr>
            <a:lvl6pPr algn="l">
              <a:defRPr sz="2175" b="1">
                <a:solidFill>
                  <a:srgbClr val="087E8B"/>
                </a:solidFill>
                <a:latin typeface="Arial"/>
                <a:ea typeface="Arial"/>
                <a:cs typeface="Arial"/>
              </a:defRPr>
            </a:lvl6pPr>
            <a:lvl7pPr algn="l">
              <a:defRPr sz="2175" b="1">
                <a:solidFill>
                  <a:srgbClr val="087E8B"/>
                </a:solidFill>
                <a:latin typeface="Arial"/>
                <a:ea typeface="Arial"/>
                <a:cs typeface="Arial"/>
              </a:defRPr>
            </a:lvl7pPr>
            <a:lvl8pPr algn="l">
              <a:defRPr sz="2175" b="1">
                <a:solidFill>
                  <a:srgbClr val="087E8B"/>
                </a:solidFill>
                <a:latin typeface="Arial"/>
                <a:ea typeface="Arial"/>
                <a:cs typeface="Arial"/>
              </a:defRPr>
            </a:lvl8pPr>
            <a:lvl9pPr algn="l">
              <a:defRPr sz="2175" b="1">
                <a:solidFill>
                  <a:srgbClr val="087E8B"/>
                </a:solidFill>
                <a:latin typeface="Arial"/>
                <a:ea typeface="Arial"/>
                <a:cs typeface="Arial"/>
              </a:defRPr>
            </a:lvl9pPr>
          </a:lstStyle>
          <a:p xmlns:a="http://schemas.openxmlformats.org/drawingml/2006/main">
            <a:pPr algn="l">
              <a:lnSpc>
                <a:spcPct val="110000"/>
              </a:lnSpc>
              <a:buNone/>
              <a:defRPr sz="2175" b="1">
                <a:solidFill>
                  <a:srgbClr val="087E8B"/>
                </a:solidFill>
                <a:latin typeface="Arial"/>
                <a:ea typeface="Arial"/>
                <a:cs typeface="Arial"/>
              </a:defRPr>
            </a:pPr>
            <a:r>
              <a:rPr sz="2175" b="1">
                <a:solidFill>
                  <a:srgbClr val="087E8B"/>
                </a:solidFill>
                <a:latin typeface="Arial"/>
                <a:ea typeface="Arial"/>
                <a:cs typeface="Arial"/>
              </a:rPr>
              <a:t>Todos los polos nominales</a:t>
            </a:r>
          </a:p>
          <a:p xmlns:a="http://schemas.openxmlformats.org/drawingml/2006/main">
            <a:pPr algn="l">
              <a:lnSpc>
                <a:spcPct val="110000"/>
              </a:lnSpc>
              <a:buNone/>
              <a:defRPr sz="2175" b="1">
                <a:solidFill>
                  <a:srgbClr val="087E8B"/>
                </a:solidFill>
                <a:latin typeface="Arial"/>
                <a:ea typeface="Arial"/>
                <a:cs typeface="Arial"/>
              </a:defRPr>
            </a:pPr>
            <a:r>
              <a:rPr sz="2175" b="1">
                <a:solidFill>
                  <a:srgbClr val="087E8B"/>
                </a:solidFill>
                <a:latin typeface="Arial"/>
                <a:ea typeface="Arial"/>
                <a:cs typeface="Arial"/>
              </a:rPr>
              <a:t>tienen parte real negativa</a:t>
            </a:r>
          </a:p>
        </p:txBody>
      </p:sp>
      <p:sp>
        <p:nvSpPr>
          <p:cNvPr id="6" name="K₁ = 1&#10;Umbral: K₂ ≈ 0,081">
            <a:extLst xmlns:a="http://schemas.openxmlformats.org/drawingml/2006/main">
              <a:ext uri="{FF2B5EF4-FFF2-40B4-BE49-F238E27FC236}">
                <a16:creationId xmlns:a16="http://schemas.microsoft.com/office/drawing/2014/main" id="{D3F29772-F235-450D-8DFF-6C7241294703}"/>
              </a:ext>
            </a:extLst>
          </p:cNvPr>
          <p:cNvSpPr>
            <a:spLocks xmlns:a="http://schemas.openxmlformats.org/drawingml/2006/main" noGrp="1"/>
          </p:cNvSpPr>
          <p:nvPr/>
        </p:nvSpPr>
        <p:spPr>
          <a:xfrm xmlns:a="http://schemas.openxmlformats.org/drawingml/2006/main">
            <a:off x="8096250" y="3238500"/>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3283C"/>
                </a:solidFill>
                <a:latin typeface="Arial"/>
                <a:ea typeface="Arial"/>
                <a:cs typeface="Arial"/>
              </a:defRPr>
            </a:defPPr>
            <a:lvl1pPr algn="l">
              <a:defRPr sz="2100" b="0">
                <a:solidFill>
                  <a:srgbClr val="13283C"/>
                </a:solidFill>
                <a:latin typeface="Arial"/>
                <a:ea typeface="Arial"/>
                <a:cs typeface="Arial"/>
              </a:defRPr>
            </a:lvl1pPr>
            <a:lvl2pPr algn="l">
              <a:defRPr sz="2100" b="0">
                <a:solidFill>
                  <a:srgbClr val="13283C"/>
                </a:solidFill>
                <a:latin typeface="Arial"/>
                <a:ea typeface="Arial"/>
                <a:cs typeface="Arial"/>
              </a:defRPr>
            </a:lvl2pPr>
            <a:lvl3pPr algn="l">
              <a:defRPr sz="2100" b="0">
                <a:solidFill>
                  <a:srgbClr val="13283C"/>
                </a:solidFill>
                <a:latin typeface="Arial"/>
                <a:ea typeface="Arial"/>
                <a:cs typeface="Arial"/>
              </a:defRPr>
            </a:lvl3pPr>
            <a:lvl4pPr algn="l">
              <a:defRPr sz="2100" b="0">
                <a:solidFill>
                  <a:srgbClr val="13283C"/>
                </a:solidFill>
                <a:latin typeface="Arial"/>
                <a:ea typeface="Arial"/>
                <a:cs typeface="Arial"/>
              </a:defRPr>
            </a:lvl4pPr>
            <a:lvl5pPr algn="l">
              <a:defRPr sz="2100" b="0">
                <a:solidFill>
                  <a:srgbClr val="13283C"/>
                </a:solidFill>
                <a:latin typeface="Arial"/>
                <a:ea typeface="Arial"/>
                <a:cs typeface="Arial"/>
              </a:defRPr>
            </a:lvl5pPr>
            <a:lvl6pPr algn="l">
              <a:defRPr sz="2100" b="0">
                <a:solidFill>
                  <a:srgbClr val="13283C"/>
                </a:solidFill>
                <a:latin typeface="Arial"/>
                <a:ea typeface="Arial"/>
                <a:cs typeface="Arial"/>
              </a:defRPr>
            </a:lvl6pPr>
            <a:lvl7pPr algn="l">
              <a:defRPr sz="2100" b="0">
                <a:solidFill>
                  <a:srgbClr val="13283C"/>
                </a:solidFill>
                <a:latin typeface="Arial"/>
                <a:ea typeface="Arial"/>
                <a:cs typeface="Arial"/>
              </a:defRPr>
            </a:lvl7pPr>
            <a:lvl8pPr algn="l">
              <a:defRPr sz="2100" b="0">
                <a:solidFill>
                  <a:srgbClr val="13283C"/>
                </a:solidFill>
                <a:latin typeface="Arial"/>
                <a:ea typeface="Arial"/>
                <a:cs typeface="Arial"/>
              </a:defRPr>
            </a:lvl8pPr>
            <a:lvl9pPr algn="l">
              <a:defRPr sz="2100" b="0">
                <a:solidFill>
                  <a:srgbClr val="13283C"/>
                </a:solidFill>
                <a:latin typeface="Arial"/>
                <a:ea typeface="Arial"/>
                <a:cs typeface="Arial"/>
              </a:defRPr>
            </a:lvl9pPr>
          </a:lstStyle>
          <a:p xmlns:a="http://schemas.openxmlformats.org/drawingml/2006/main">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K₁ = 1</a:t>
            </a:r>
          </a:p>
          <a:p xmlns:a="http://schemas.openxmlformats.org/drawingml/2006/main">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Umbral: K₂ ≈ 0,081</a:t>
            </a:r>
          </a:p>
        </p:txBody>
      </p:sp>
      <p:sp>
        <p:nvSpPr>
          <p:cNvPr id="7" name="K₂ = 0&#10;Un polo positivo: +0,557">
            <a:extLst xmlns:a="http://schemas.openxmlformats.org/drawingml/2006/main">
              <a:ext uri="{FF2B5EF4-FFF2-40B4-BE49-F238E27FC236}">
                <a16:creationId xmlns:a16="http://schemas.microsoft.com/office/drawing/2014/main" id="{E2A89D3B-DB8F-4626-B9C7-323DA60E3C23}"/>
              </a:ext>
            </a:extLst>
          </p:cNvPr>
          <p:cNvSpPr>
            <a:spLocks xmlns:a="http://schemas.openxmlformats.org/drawingml/2006/main" noGrp="1"/>
          </p:cNvSpPr>
          <p:nvPr/>
        </p:nvSpPr>
        <p:spPr>
          <a:xfrm xmlns:a="http://schemas.openxmlformats.org/drawingml/2006/main">
            <a:off x="8096250" y="4543425"/>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53A35"/>
                </a:solidFill>
                <a:latin typeface="Arial"/>
                <a:ea typeface="Arial"/>
                <a:cs typeface="Arial"/>
              </a:defRPr>
            </a:defPPr>
            <a:lvl1pPr algn="l">
              <a:defRPr sz="2100" b="0">
                <a:solidFill>
                  <a:srgbClr val="B53A35"/>
                </a:solidFill>
                <a:latin typeface="Arial"/>
                <a:ea typeface="Arial"/>
                <a:cs typeface="Arial"/>
              </a:defRPr>
            </a:lvl1pPr>
            <a:lvl2pPr algn="l">
              <a:defRPr sz="2100" b="0">
                <a:solidFill>
                  <a:srgbClr val="B53A35"/>
                </a:solidFill>
                <a:latin typeface="Arial"/>
                <a:ea typeface="Arial"/>
                <a:cs typeface="Arial"/>
              </a:defRPr>
            </a:lvl2pPr>
            <a:lvl3pPr algn="l">
              <a:defRPr sz="2100" b="0">
                <a:solidFill>
                  <a:srgbClr val="B53A35"/>
                </a:solidFill>
                <a:latin typeface="Arial"/>
                <a:ea typeface="Arial"/>
                <a:cs typeface="Arial"/>
              </a:defRPr>
            </a:lvl3pPr>
            <a:lvl4pPr algn="l">
              <a:defRPr sz="2100" b="0">
                <a:solidFill>
                  <a:srgbClr val="B53A35"/>
                </a:solidFill>
                <a:latin typeface="Arial"/>
                <a:ea typeface="Arial"/>
                <a:cs typeface="Arial"/>
              </a:defRPr>
            </a:lvl4pPr>
            <a:lvl5pPr algn="l">
              <a:defRPr sz="2100" b="0">
                <a:solidFill>
                  <a:srgbClr val="B53A35"/>
                </a:solidFill>
                <a:latin typeface="Arial"/>
                <a:ea typeface="Arial"/>
                <a:cs typeface="Arial"/>
              </a:defRPr>
            </a:lvl5pPr>
            <a:lvl6pPr algn="l">
              <a:defRPr sz="2100" b="0">
                <a:solidFill>
                  <a:srgbClr val="B53A35"/>
                </a:solidFill>
                <a:latin typeface="Arial"/>
                <a:ea typeface="Arial"/>
                <a:cs typeface="Arial"/>
              </a:defRPr>
            </a:lvl6pPr>
            <a:lvl7pPr algn="l">
              <a:defRPr sz="2100" b="0">
                <a:solidFill>
                  <a:srgbClr val="B53A35"/>
                </a:solidFill>
                <a:latin typeface="Arial"/>
                <a:ea typeface="Arial"/>
                <a:cs typeface="Arial"/>
              </a:defRPr>
            </a:lvl7pPr>
            <a:lvl8pPr algn="l">
              <a:defRPr sz="2100" b="0">
                <a:solidFill>
                  <a:srgbClr val="B53A35"/>
                </a:solidFill>
                <a:latin typeface="Arial"/>
                <a:ea typeface="Arial"/>
                <a:cs typeface="Arial"/>
              </a:defRPr>
            </a:lvl8pPr>
            <a:lvl9pPr algn="l">
              <a:defRPr sz="2100" b="0">
                <a:solidFill>
                  <a:srgbClr val="B53A35"/>
                </a:solidFill>
                <a:latin typeface="Arial"/>
                <a:ea typeface="Arial"/>
                <a:cs typeface="Arial"/>
              </a:defRPr>
            </a:lvl9pPr>
          </a:lstStyle>
          <a:p xmlns:a="http://schemas.openxmlformats.org/drawingml/2006/main">
            <a:pPr algn="l">
              <a:lnSpc>
                <a:spcPct val="110000"/>
              </a:lnSpc>
              <a:buNone/>
              <a:defRPr sz="2100" b="0">
                <a:solidFill>
                  <a:srgbClr val="B53A35"/>
                </a:solidFill>
                <a:latin typeface="Arial"/>
                <a:ea typeface="Arial"/>
                <a:cs typeface="Arial"/>
              </a:defRPr>
            </a:pPr>
            <a:r>
              <a:rPr sz="2100" b="0">
                <a:solidFill>
                  <a:srgbClr val="B53A35"/>
                </a:solidFill>
                <a:latin typeface="Arial"/>
                <a:ea typeface="Arial"/>
                <a:cs typeface="Arial"/>
              </a:rPr>
              <a:t>K₂ = 0</a:t>
            </a:r>
          </a:p>
          <a:p xmlns:a="http://schemas.openxmlformats.org/drawingml/2006/main">
            <a:pPr algn="l">
              <a:lnSpc>
                <a:spcPct val="110000"/>
              </a:lnSpc>
              <a:buNone/>
              <a:defRPr sz="2100" b="0">
                <a:solidFill>
                  <a:srgbClr val="B53A35"/>
                </a:solidFill>
                <a:latin typeface="Arial"/>
                <a:ea typeface="Arial"/>
                <a:cs typeface="Arial"/>
              </a:defRPr>
            </a:pPr>
            <a:r>
              <a:rPr sz="2100" b="0">
                <a:solidFill>
                  <a:srgbClr val="B53A35"/>
                </a:solidFill>
                <a:latin typeface="Arial"/>
                <a:ea typeface="Arial"/>
                <a:cs typeface="Arial"/>
              </a:rPr>
              <a:t>Un polo positivo: +0,557</a:t>
            </a:r>
          </a:p>
        </p:txBody>
      </p:sp>
      <p:sp>
        <p:nvSpPr>
          <p:cNvPr id="8" name="La corrección de dirección estabiliza el modelo ">
            <a:extLst xmlns:a="http://schemas.openxmlformats.org/drawingml/2006/main">
              <a:ext uri="{FF2B5EF4-FFF2-40B4-BE49-F238E27FC236}">
                <a16:creationId xmlns:a16="http://schemas.microsoft.com/office/drawing/2014/main" id="{BDE9C4B0-4D3A-416C-9578-C6F74A5974D5}"/>
              </a:ext>
            </a:extLst>
          </p:cNvPr>
          <p:cNvSpPr>
            <a:spLocks xmlns:a="http://schemas.openxmlformats.org/drawingml/2006/main" noGrp="1"/>
          </p:cNvSpPr>
          <p:nvPr/>
        </p:nvSpPr>
        <p:spPr>
          <a:xfrm xmlns:a="http://schemas.openxmlformats.org/drawingml/2006/main">
            <a:off x="590550" y="5810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16474"/>
                </a:solidFill>
                <a:latin typeface="Arial"/>
                <a:ea typeface="Arial"/>
                <a:cs typeface="Arial"/>
              </a:defRPr>
            </a:defPPr>
            <a:lvl1pPr algn="l">
              <a:defRPr sz="1875" b="0">
                <a:solidFill>
                  <a:srgbClr val="516474"/>
                </a:solidFill>
                <a:latin typeface="Arial"/>
                <a:ea typeface="Arial"/>
                <a:cs typeface="Arial"/>
              </a:defRPr>
            </a:lvl1pPr>
            <a:lvl2pPr algn="l">
              <a:defRPr sz="1875" b="0">
                <a:solidFill>
                  <a:srgbClr val="516474"/>
                </a:solidFill>
                <a:latin typeface="Arial"/>
                <a:ea typeface="Arial"/>
                <a:cs typeface="Arial"/>
              </a:defRPr>
            </a:lvl2pPr>
            <a:lvl3pPr algn="l">
              <a:defRPr sz="1875" b="0">
                <a:solidFill>
                  <a:srgbClr val="516474"/>
                </a:solidFill>
                <a:latin typeface="Arial"/>
                <a:ea typeface="Arial"/>
                <a:cs typeface="Arial"/>
              </a:defRPr>
            </a:lvl3pPr>
            <a:lvl4pPr algn="l">
              <a:defRPr sz="1875" b="0">
                <a:solidFill>
                  <a:srgbClr val="516474"/>
                </a:solidFill>
                <a:latin typeface="Arial"/>
                <a:ea typeface="Arial"/>
                <a:cs typeface="Arial"/>
              </a:defRPr>
            </a:lvl4pPr>
            <a:lvl5pPr algn="l">
              <a:defRPr sz="1875" b="0">
                <a:solidFill>
                  <a:srgbClr val="516474"/>
                </a:solidFill>
                <a:latin typeface="Arial"/>
                <a:ea typeface="Arial"/>
                <a:cs typeface="Arial"/>
              </a:defRPr>
            </a:lvl5pPr>
            <a:lvl6pPr algn="l">
              <a:defRPr sz="1875" b="0">
                <a:solidFill>
                  <a:srgbClr val="516474"/>
                </a:solidFill>
                <a:latin typeface="Arial"/>
                <a:ea typeface="Arial"/>
                <a:cs typeface="Arial"/>
              </a:defRPr>
            </a:lvl6pPr>
            <a:lvl7pPr algn="l">
              <a:defRPr sz="1875" b="0">
                <a:solidFill>
                  <a:srgbClr val="516474"/>
                </a:solidFill>
                <a:latin typeface="Arial"/>
                <a:ea typeface="Arial"/>
                <a:cs typeface="Arial"/>
              </a:defRPr>
            </a:lvl7pPr>
            <a:lvl8pPr algn="l">
              <a:defRPr sz="1875" b="0">
                <a:solidFill>
                  <a:srgbClr val="516474"/>
                </a:solidFill>
                <a:latin typeface="Arial"/>
                <a:ea typeface="Arial"/>
                <a:cs typeface="Arial"/>
              </a:defRPr>
            </a:lvl8pPr>
            <a:lvl9pPr algn="l">
              <a:defRPr sz="1875" b="0">
                <a:solidFill>
                  <a:srgbClr val="516474"/>
                </a:solidFill>
                <a:latin typeface="Arial"/>
                <a:ea typeface="Arial"/>
                <a:cs typeface="Arial"/>
              </a:defRPr>
            </a:lvl9pPr>
          </a:lstStyle>
          <a:p xmlns:a="http://schemas.openxmlformats.org/drawingml/2006/main">
            <a:pPr algn="l">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La corrección de dirección estabiliza el modelo con el controlador estudiado</a:t>
            </a:r>
          </a:p>
        </p:txBody>
      </p:sp>
      <p:sp>
        <p:nvSpPr>
          <p:cNvPr id="9" name="Asymptotic stability: deviations from equilibriu">
            <a:extLst xmlns:a="http://schemas.openxmlformats.org/drawingml/2006/main">
              <a:ext uri="{FF2B5EF4-FFF2-40B4-BE49-F238E27FC236}">
                <a16:creationId xmlns:a16="http://schemas.microsoft.com/office/drawing/2014/main" id="{EF4F8ED4-E90E-4789-8695-F7462524236F}"/>
              </a:ext>
            </a:extLst>
          </p:cNvPr>
          <p:cNvSpPr>
            <a:spLocks xmlns:a="http://schemas.openxmlformats.org/drawingml/2006/main" noGrp="1"/>
          </p:cNvSpPr>
          <p:nvPr/>
        </p:nvSpPr>
        <p:spPr>
          <a:xfrm xmlns:a="http://schemas.openxmlformats.org/drawingml/2006/main">
            <a:off x="590550" y="1257300"/>
            <a:ext cx="11010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16474"/>
                </a:solidFill>
                <a:latin typeface="Arial"/>
                <a:ea typeface="Arial"/>
                <a:cs typeface="Arial"/>
              </a:defRPr>
            </a:defPPr>
            <a:lvl1pPr>
              <a:defRPr sz="1875" b="0">
                <a:solidFill>
                  <a:srgbClr val="516474"/>
                </a:solidFill>
                <a:latin typeface="Arial"/>
                <a:ea typeface="Arial"/>
                <a:cs typeface="Arial"/>
              </a:defRPr>
            </a:lvl1pPr>
            <a:lvl2pPr>
              <a:defRPr sz="1875" b="0">
                <a:solidFill>
                  <a:srgbClr val="516474"/>
                </a:solidFill>
                <a:latin typeface="Arial"/>
                <a:ea typeface="Arial"/>
                <a:cs typeface="Arial"/>
              </a:defRPr>
            </a:lvl2pPr>
            <a:lvl3pPr>
              <a:defRPr sz="1875" b="0">
                <a:solidFill>
                  <a:srgbClr val="516474"/>
                </a:solidFill>
                <a:latin typeface="Arial"/>
                <a:ea typeface="Arial"/>
                <a:cs typeface="Arial"/>
              </a:defRPr>
            </a:lvl3pPr>
            <a:lvl4pPr>
              <a:defRPr sz="1875" b="0">
                <a:solidFill>
                  <a:srgbClr val="516474"/>
                </a:solidFill>
                <a:latin typeface="Arial"/>
                <a:ea typeface="Arial"/>
                <a:cs typeface="Arial"/>
              </a:defRPr>
            </a:lvl4pPr>
            <a:lvl5pPr>
              <a:defRPr sz="1875" b="0">
                <a:solidFill>
                  <a:srgbClr val="516474"/>
                </a:solidFill>
                <a:latin typeface="Arial"/>
                <a:ea typeface="Arial"/>
                <a:cs typeface="Arial"/>
              </a:defRPr>
            </a:lvl5pPr>
            <a:lvl6pPr>
              <a:defRPr sz="1875" b="0">
                <a:solidFill>
                  <a:srgbClr val="516474"/>
                </a:solidFill>
                <a:latin typeface="Arial"/>
                <a:ea typeface="Arial"/>
                <a:cs typeface="Arial"/>
              </a:defRPr>
            </a:lvl6pPr>
            <a:lvl7pPr>
              <a:defRPr sz="1875" b="0">
                <a:solidFill>
                  <a:srgbClr val="516474"/>
                </a:solidFill>
                <a:latin typeface="Arial"/>
                <a:ea typeface="Arial"/>
                <a:cs typeface="Arial"/>
              </a:defRPr>
            </a:lvl7pPr>
            <a:lvl8pPr>
              <a:defRPr sz="1875" b="0">
                <a:solidFill>
                  <a:srgbClr val="516474"/>
                </a:solidFill>
                <a:latin typeface="Arial"/>
                <a:ea typeface="Arial"/>
                <a:cs typeface="Arial"/>
              </a:defRPr>
            </a:lvl8pPr>
            <a:lvl9pPr>
              <a:defRPr sz="1875" b="0">
                <a:solidFill>
                  <a:srgbClr val="516474"/>
                </a:solidFill>
                <a:latin typeface="Arial"/>
                <a:ea typeface="Arial"/>
                <a:cs typeface="Arial"/>
              </a:defRPr>
            </a:lvl9pPr>
          </a:lstStyle>
          <a:p xmlns:a="http://schemas.openxmlformats.org/drawingml/2006/main">
            <a:pPr>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Estabilidad asintótica: las desviaciones del equilibrio disminuyen con el tiempo</a:t>
            </a:r>
          </a:p>
        </p:txBody>
      </p:sp>
    </p:spTree>
    <p:extLst>
      <p:ext uri="{BB962C8B-B14F-4D97-AF65-F5344CB8AC3E}">
        <p14:creationId xmlns:p14="http://schemas.microsoft.com/office/powerpoint/2010/main" val="84685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ulse: the channels interact">
            <a:extLst xmlns:a="http://schemas.openxmlformats.org/drawingml/2006/main">
              <a:ext uri="{FF2B5EF4-FFF2-40B4-BE49-F238E27FC236}">
                <a16:creationId xmlns:a16="http://schemas.microsoft.com/office/drawing/2014/main" id="{BC396F97-A328-48A7-86D0-74BF8DC43426}"/>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3283C"/>
                </a:solidFill>
                <a:latin typeface="Arial"/>
                <a:ea typeface="Arial"/>
                <a:cs typeface="Arial"/>
              </a:defRPr>
            </a:defPPr>
            <a:lvl1pPr>
              <a:defRPr sz="3300" b="1">
                <a:solidFill>
                  <a:srgbClr val="13283C"/>
                </a:solidFill>
                <a:latin typeface="Arial"/>
                <a:ea typeface="Arial"/>
                <a:cs typeface="Arial"/>
              </a:defRPr>
            </a:lvl1pPr>
            <a:lvl2pPr>
              <a:defRPr sz="3300" b="1">
                <a:solidFill>
                  <a:srgbClr val="13283C"/>
                </a:solidFill>
                <a:latin typeface="Arial"/>
                <a:ea typeface="Arial"/>
                <a:cs typeface="Arial"/>
              </a:defRPr>
            </a:lvl2pPr>
            <a:lvl3pPr>
              <a:defRPr sz="3300" b="1">
                <a:solidFill>
                  <a:srgbClr val="13283C"/>
                </a:solidFill>
                <a:latin typeface="Arial"/>
                <a:ea typeface="Arial"/>
                <a:cs typeface="Arial"/>
              </a:defRPr>
            </a:lvl3pPr>
            <a:lvl4pPr>
              <a:defRPr sz="3300" b="1">
                <a:solidFill>
                  <a:srgbClr val="13283C"/>
                </a:solidFill>
                <a:latin typeface="Arial"/>
                <a:ea typeface="Arial"/>
                <a:cs typeface="Arial"/>
              </a:defRPr>
            </a:lvl4pPr>
            <a:lvl5pPr>
              <a:defRPr sz="3300" b="1">
                <a:solidFill>
                  <a:srgbClr val="13283C"/>
                </a:solidFill>
                <a:latin typeface="Arial"/>
                <a:ea typeface="Arial"/>
                <a:cs typeface="Arial"/>
              </a:defRPr>
            </a:lvl5pPr>
            <a:lvl6pPr>
              <a:defRPr sz="3300" b="1">
                <a:solidFill>
                  <a:srgbClr val="13283C"/>
                </a:solidFill>
                <a:latin typeface="Arial"/>
                <a:ea typeface="Arial"/>
                <a:cs typeface="Arial"/>
              </a:defRPr>
            </a:lvl6pPr>
            <a:lvl7pPr>
              <a:defRPr sz="3300" b="1">
                <a:solidFill>
                  <a:srgbClr val="13283C"/>
                </a:solidFill>
                <a:latin typeface="Arial"/>
                <a:ea typeface="Arial"/>
                <a:cs typeface="Arial"/>
              </a:defRPr>
            </a:lvl7pPr>
            <a:lvl8pPr>
              <a:defRPr sz="3300" b="1">
                <a:solidFill>
                  <a:srgbClr val="13283C"/>
                </a:solidFill>
                <a:latin typeface="Arial"/>
                <a:ea typeface="Arial"/>
                <a:cs typeface="Arial"/>
              </a:defRPr>
            </a:lvl8pPr>
            <a:lvl9pPr>
              <a:defRPr sz="3300" b="1">
                <a:solidFill>
                  <a:srgbClr val="13283C"/>
                </a:solidFill>
                <a:latin typeface="Arial"/>
                <a:ea typeface="Arial"/>
                <a:cs typeface="Arial"/>
              </a:defRPr>
            </a:lvl9pPr>
          </a:lstStyle>
          <a:p xmlns:a="http://schemas.openxmlformats.org/drawingml/2006/main">
            <a:pPr>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Pulso: los canales interactúan</a:t>
            </a:r>
          </a:p>
        </p:txBody>
      </p:sp>
      <p:sp>
        <p:nvSpPr>
          <p:cNvPr id="3" name="The same pulse applied to each input and to both">
            <a:extLst xmlns:a="http://schemas.openxmlformats.org/drawingml/2006/main">
              <a:ext uri="{FF2B5EF4-FFF2-40B4-BE49-F238E27FC236}">
                <a16:creationId xmlns:a16="http://schemas.microsoft.com/office/drawing/2014/main" id="{7CE3E2E4-9A1D-4C91-9CFD-3FCB4004F4FF}"/>
              </a:ext>
            </a:extLst>
          </p:cNvPr>
          <p:cNvSpPr>
            <a:spLocks xmlns:a="http://schemas.openxmlformats.org/drawingml/2006/main" noGrp="1"/>
          </p:cNvSpPr>
          <p:nvPr/>
        </p:nvSpPr>
        <p:spPr>
          <a:xfrm xmlns:a="http://schemas.openxmlformats.org/drawingml/2006/main">
            <a:off x="590550" y="1304925"/>
            <a:ext cx="11010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El mismo pulso aplicado a cada entrada y a ambas</a:t>
            </a:r>
          </a:p>
        </p:txBody>
      </p:sp>
      <p:sp>
        <p:nvSpPr>
          <p:cNvPr id="4" name="">
            <a:extLst xmlns:a="http://schemas.openxmlformats.org/drawingml/2006/main">
              <a:ext uri="{FF2B5EF4-FFF2-40B4-BE49-F238E27FC236}">
                <a16:creationId xmlns:a16="http://schemas.microsoft.com/office/drawing/2014/main" id="{B257540D-3F99-4500-9D85-E9033BB8A55B}"/>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defRPr sz="1275" b="0">
                <a:solidFill>
                  <a:srgbClr val="516474"/>
                </a:solidFill>
                <a:latin typeface="Arial"/>
                <a:ea typeface="Arial"/>
                <a:cs typeface="Arial"/>
              </a:defRPr>
            </a:pPr>
            <a:r>
              <a:t>07 / 19</a:t>
            </a:r>
          </a:p>
        </p:txBody>
      </p:sp>
      <p:pic>
        <p:nvPicPr>
          <p:cNvPr id="5" name="">
            <a:extLst xmlns:a="http://schemas.openxmlformats.org/drawingml/2006/main">
              <a:ext uri="{FF2B5EF4-FFF2-40B4-BE49-F238E27FC236}">
                <a16:creationId xmlns:a16="http://schemas.microsoft.com/office/drawing/2014/main" id="{47570C66-2EBD-408F-A909-C336C73654E1}"/>
              </a:ext>
            </a:extLst>
          </p:cNvPr>
          <p:cNvPicPr>
            <a:picLocks xmlns:a="http://schemas.openxmlformats.org/drawingml/2006/main" noChangeAspect="1"/>
          </p:cNvPicPr>
          <p:nvPr/>
        </p:nvPicPr>
        <p:blipFill>
          <a:blip xmlns:r="http://schemas.openxmlformats.org/officeDocument/2006/relationships" xmlns:a="http://schemas.openxmlformats.org/drawingml/2006/main" r:embed="R48dd615c29574d38"/>
          <a:stretch xmlns:a="http://schemas.openxmlformats.org/drawingml/2006/main"/>
        </p:blipFill>
        <p:spPr>
          <a:xfrm xmlns:a="http://schemas.openxmlformats.org/drawingml/2006/main">
            <a:off x="209550" y="1954045"/>
            <a:ext cx="11772900" cy="3302335"/>
          </a:xfrm>
          <a:prstGeom xmlns:a="http://schemas.openxmlformats.org/drawingml/2006/main" prst="rect">
            <a:avLst/>
          </a:prstGeom>
        </p:spPr>
      </p:pic>
      <p:sp>
        <p:nvSpPr>
          <p:cNvPr id="6" name="Tilting the rocket reduces a. Both commands comb">
            <a:extLst xmlns:a="http://schemas.openxmlformats.org/drawingml/2006/main">
              <a:ext uri="{FF2B5EF4-FFF2-40B4-BE49-F238E27FC236}">
                <a16:creationId xmlns:a16="http://schemas.microsoft.com/office/drawing/2014/main" id="{84C01E60-A24F-4504-8D86-90C2B4321669}"/>
              </a:ext>
            </a:extLst>
          </p:cNvPr>
          <p:cNvSpPr>
            <a:spLocks xmlns:a="http://schemas.openxmlformats.org/drawingml/2006/main" noGrp="1"/>
          </p:cNvSpPr>
          <p:nvPr/>
        </p:nvSpPr>
        <p:spPr>
          <a:xfrm xmlns:a="http://schemas.openxmlformats.org/drawingml/2006/main">
            <a:off x="590550" y="5429250"/>
            <a:ext cx="11010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xmlns:a="http://schemas.openxmlformats.org/drawingml/2006/main">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La inclinación reduce a. Las dos respuestas se suman por linealidad.</a:t>
            </a:r>
          </a:p>
        </p:txBody>
      </p:sp>
      <p:sp>
        <p:nvSpPr>
          <p:cNvPr id="7" name="After 5 s, the command turns off and the outputs">
            <a:extLst xmlns:a="http://schemas.openxmlformats.org/drawingml/2006/main">
              <a:ext uri="{FF2B5EF4-FFF2-40B4-BE49-F238E27FC236}">
                <a16:creationId xmlns:a16="http://schemas.microsoft.com/office/drawing/2014/main" id="{5F20D943-718D-41E2-B66C-4E480FBBDF6E}"/>
              </a:ext>
            </a:extLst>
          </p:cNvPr>
          <p:cNvSpPr>
            <a:spLocks xmlns:a="http://schemas.openxmlformats.org/drawingml/2006/main" noGrp="1"/>
          </p:cNvSpPr>
          <p:nvPr/>
        </p:nvSpPr>
        <p:spPr>
          <a:xfrm xmlns:a="http://schemas.openxmlformats.org/drawingml/2006/main">
            <a:off x="590550" y="5838825"/>
            <a:ext cx="11010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xmlns:a="http://schemas.openxmlformats.org/drawingml/2006/main">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A los 5 s se apaga la orden y las salidas tienden de nuevo a cero.</a:t>
            </a:r>
          </a:p>
        </p:txBody>
      </p:sp>
      <p:sp>
        <p:nvSpPr>
          <p:cNvPr id="8" name="Nominal gains (1, 0.5). Blue: a, left axis. Red:">
            <a:extLst xmlns:a="http://schemas.openxmlformats.org/drawingml/2006/main">
              <a:ext uri="{FF2B5EF4-FFF2-40B4-BE49-F238E27FC236}">
                <a16:creationId xmlns:a16="http://schemas.microsoft.com/office/drawing/2014/main" id="{619F13DA-7383-45BA-A042-1F56FBD809F5}"/>
              </a:ext>
            </a:extLst>
          </p:cNvPr>
          <p:cNvSpPr>
            <a:spLocks xmlns:a="http://schemas.openxmlformats.org/drawingml/2006/main" noGrp="1"/>
          </p:cNvSpPr>
          <p:nvPr/>
        </p:nvSpPr>
        <p:spPr>
          <a:xfrm xmlns:a="http://schemas.openxmlformats.org/drawingml/2006/main">
            <a:off x="590550" y="62198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474"/>
                </a:solidFill>
                <a:latin typeface="Arial"/>
                <a:ea typeface="Arial"/>
                <a:cs typeface="Arial"/>
              </a:defRPr>
            </a:defPPr>
            <a:lvl1pPr>
              <a:defRPr sz="1425" b="0">
                <a:solidFill>
                  <a:srgbClr val="516474"/>
                </a:solidFill>
                <a:latin typeface="Arial"/>
                <a:ea typeface="Arial"/>
                <a:cs typeface="Arial"/>
              </a:defRPr>
            </a:lvl1pPr>
            <a:lvl2pPr>
              <a:defRPr sz="1425" b="0">
                <a:solidFill>
                  <a:srgbClr val="516474"/>
                </a:solidFill>
                <a:latin typeface="Arial"/>
                <a:ea typeface="Arial"/>
                <a:cs typeface="Arial"/>
              </a:defRPr>
            </a:lvl2pPr>
            <a:lvl3pPr>
              <a:defRPr sz="1425" b="0">
                <a:solidFill>
                  <a:srgbClr val="516474"/>
                </a:solidFill>
                <a:latin typeface="Arial"/>
                <a:ea typeface="Arial"/>
                <a:cs typeface="Arial"/>
              </a:defRPr>
            </a:lvl3pPr>
            <a:lvl4pPr>
              <a:defRPr sz="1425" b="0">
                <a:solidFill>
                  <a:srgbClr val="516474"/>
                </a:solidFill>
                <a:latin typeface="Arial"/>
                <a:ea typeface="Arial"/>
                <a:cs typeface="Arial"/>
              </a:defRPr>
            </a:lvl4pPr>
            <a:lvl5pPr>
              <a:defRPr sz="1425" b="0">
                <a:solidFill>
                  <a:srgbClr val="516474"/>
                </a:solidFill>
                <a:latin typeface="Arial"/>
                <a:ea typeface="Arial"/>
                <a:cs typeface="Arial"/>
              </a:defRPr>
            </a:lvl5pPr>
            <a:lvl6pPr>
              <a:defRPr sz="1425" b="0">
                <a:solidFill>
                  <a:srgbClr val="516474"/>
                </a:solidFill>
                <a:latin typeface="Arial"/>
                <a:ea typeface="Arial"/>
                <a:cs typeface="Arial"/>
              </a:defRPr>
            </a:lvl6pPr>
            <a:lvl7pPr>
              <a:defRPr sz="1425" b="0">
                <a:solidFill>
                  <a:srgbClr val="516474"/>
                </a:solidFill>
                <a:latin typeface="Arial"/>
                <a:ea typeface="Arial"/>
                <a:cs typeface="Arial"/>
              </a:defRPr>
            </a:lvl7pPr>
            <a:lvl8pPr>
              <a:defRPr sz="1425" b="0">
                <a:solidFill>
                  <a:srgbClr val="516474"/>
                </a:solidFill>
                <a:latin typeface="Arial"/>
                <a:ea typeface="Arial"/>
                <a:cs typeface="Arial"/>
              </a:defRPr>
            </a:lvl8pPr>
            <a:lvl9pPr>
              <a:defRPr sz="1425" b="0">
                <a:solidFill>
                  <a:srgbClr val="516474"/>
                </a:solidFill>
                <a:latin typeface="Arial"/>
                <a:ea typeface="Arial"/>
                <a:cs typeface="Arial"/>
              </a:defRPr>
            </a:lvl9pPr>
          </a:lstStyle>
          <a:p xmlns:a="http://schemas.openxmlformats.org/drawingml/2006/main">
            <a:pPr>
              <a:lnSpc>
                <a:spcPct val="110000"/>
              </a:lnSpc>
              <a:buNone/>
              <a:defRPr sz="1425" b="0">
                <a:solidFill>
                  <a:srgbClr val="516474"/>
                </a:solidFill>
                <a:latin typeface="Arial"/>
                <a:ea typeface="Arial"/>
                <a:cs typeface="Arial"/>
              </a:defRPr>
            </a:pPr>
            <a:r>
              <a:rPr sz="1425" b="0">
                <a:solidFill>
                  <a:srgbClr val="516474"/>
                </a:solidFill>
                <a:latin typeface="Arial"/>
                <a:ea typeface="Arial"/>
                <a:cs typeface="Arial"/>
              </a:rPr>
              <a:t>Figura del notebook (imagen no editable / non-editable image). Azul: a (izq.). Rojo: θ (der.).</a:t>
            </a:r>
          </a:p>
        </p:txBody>
      </p:sp>
    </p:spTree>
    <p:extLst>
      <p:ext uri="{BB962C8B-B14F-4D97-AF65-F5344CB8AC3E}">
        <p14:creationId xmlns:p14="http://schemas.microsoft.com/office/powerpoint/2010/main" val="20038854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ine wave: amplitude and phase">
            <a:extLst xmlns:a="http://schemas.openxmlformats.org/drawingml/2006/main">
              <a:ext uri="{FF2B5EF4-FFF2-40B4-BE49-F238E27FC236}">
                <a16:creationId xmlns:a16="http://schemas.microsoft.com/office/drawing/2014/main" id="{DD0D3339-A2C1-46DC-BD72-8CA1FBAE9141}"/>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3283C"/>
                </a:solidFill>
                <a:latin typeface="Arial"/>
                <a:ea typeface="Arial"/>
                <a:cs typeface="Arial"/>
              </a:defRPr>
            </a:defPPr>
            <a:lvl1pPr>
              <a:defRPr sz="3300" b="1">
                <a:solidFill>
                  <a:srgbClr val="13283C"/>
                </a:solidFill>
                <a:latin typeface="Arial"/>
                <a:ea typeface="Arial"/>
                <a:cs typeface="Arial"/>
              </a:defRPr>
            </a:lvl1pPr>
            <a:lvl2pPr>
              <a:defRPr sz="3300" b="1">
                <a:solidFill>
                  <a:srgbClr val="13283C"/>
                </a:solidFill>
                <a:latin typeface="Arial"/>
                <a:ea typeface="Arial"/>
                <a:cs typeface="Arial"/>
              </a:defRPr>
            </a:lvl2pPr>
            <a:lvl3pPr>
              <a:defRPr sz="3300" b="1">
                <a:solidFill>
                  <a:srgbClr val="13283C"/>
                </a:solidFill>
                <a:latin typeface="Arial"/>
                <a:ea typeface="Arial"/>
                <a:cs typeface="Arial"/>
              </a:defRPr>
            </a:lvl3pPr>
            <a:lvl4pPr>
              <a:defRPr sz="3300" b="1">
                <a:solidFill>
                  <a:srgbClr val="13283C"/>
                </a:solidFill>
                <a:latin typeface="Arial"/>
                <a:ea typeface="Arial"/>
                <a:cs typeface="Arial"/>
              </a:defRPr>
            </a:lvl4pPr>
            <a:lvl5pPr>
              <a:defRPr sz="3300" b="1">
                <a:solidFill>
                  <a:srgbClr val="13283C"/>
                </a:solidFill>
                <a:latin typeface="Arial"/>
                <a:ea typeface="Arial"/>
                <a:cs typeface="Arial"/>
              </a:defRPr>
            </a:lvl5pPr>
            <a:lvl6pPr>
              <a:defRPr sz="3300" b="1">
                <a:solidFill>
                  <a:srgbClr val="13283C"/>
                </a:solidFill>
                <a:latin typeface="Arial"/>
                <a:ea typeface="Arial"/>
                <a:cs typeface="Arial"/>
              </a:defRPr>
            </a:lvl6pPr>
            <a:lvl7pPr>
              <a:defRPr sz="3300" b="1">
                <a:solidFill>
                  <a:srgbClr val="13283C"/>
                </a:solidFill>
                <a:latin typeface="Arial"/>
                <a:ea typeface="Arial"/>
                <a:cs typeface="Arial"/>
              </a:defRPr>
            </a:lvl7pPr>
            <a:lvl8pPr>
              <a:defRPr sz="3300" b="1">
                <a:solidFill>
                  <a:srgbClr val="13283C"/>
                </a:solidFill>
                <a:latin typeface="Arial"/>
                <a:ea typeface="Arial"/>
                <a:cs typeface="Arial"/>
              </a:defRPr>
            </a:lvl8pPr>
            <a:lvl9pPr>
              <a:defRPr sz="3300" b="1">
                <a:solidFill>
                  <a:srgbClr val="13283C"/>
                </a:solidFill>
                <a:latin typeface="Arial"/>
                <a:ea typeface="Arial"/>
                <a:cs typeface="Arial"/>
              </a:defRPr>
            </a:lvl9pPr>
          </a:lstStyle>
          <a:p xmlns:a="http://schemas.openxmlformats.org/drawingml/2006/main">
            <a:pPr>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Senoide: amplitud y fase</a:t>
            </a:r>
          </a:p>
        </p:txBody>
      </p:sp>
      <p:sp>
        <p:nvSpPr>
          <p:cNvPr id="3" name="At ω = 1 rad/s, the period is 2π seconds">
            <a:extLst xmlns:a="http://schemas.openxmlformats.org/drawingml/2006/main">
              <a:ext uri="{FF2B5EF4-FFF2-40B4-BE49-F238E27FC236}">
                <a16:creationId xmlns:a16="http://schemas.microsoft.com/office/drawing/2014/main" id="{8B6AC735-60A8-4380-8148-585B53636E27}"/>
              </a:ext>
            </a:extLst>
          </p:cNvPr>
          <p:cNvSpPr>
            <a:spLocks xmlns:a="http://schemas.openxmlformats.org/drawingml/2006/main" noGrp="1"/>
          </p:cNvSpPr>
          <p:nvPr/>
        </p:nvSpPr>
        <p:spPr>
          <a:xfrm xmlns:a="http://schemas.openxmlformats.org/drawingml/2006/main">
            <a:off x="590550" y="1304925"/>
            <a:ext cx="11010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Con ω = 1 rad/s, el período es de 2π segundos</a:t>
            </a:r>
          </a:p>
        </p:txBody>
      </p:sp>
      <p:sp>
        <p:nvSpPr>
          <p:cNvPr id="4" name="">
            <a:extLst xmlns:a="http://schemas.openxmlformats.org/drawingml/2006/main">
              <a:ext uri="{FF2B5EF4-FFF2-40B4-BE49-F238E27FC236}">
                <a16:creationId xmlns:a16="http://schemas.microsoft.com/office/drawing/2014/main" id="{E8AE09C9-9EE9-4253-BDD8-9CA956F25DC1}"/>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defRPr sz="1275" b="0">
                <a:solidFill>
                  <a:srgbClr val="516474"/>
                </a:solidFill>
                <a:latin typeface="Arial"/>
                <a:ea typeface="Arial"/>
                <a:cs typeface="Arial"/>
              </a:defRPr>
            </a:pPr>
            <a:r>
              <a:t>08 / 19</a:t>
            </a:r>
          </a:p>
        </p:txBody>
      </p:sp>
      <p:pic>
        <p:nvPicPr>
          <p:cNvPr id="5" name="">
            <a:extLst xmlns:a="http://schemas.openxmlformats.org/drawingml/2006/main">
              <a:ext uri="{FF2B5EF4-FFF2-40B4-BE49-F238E27FC236}">
                <a16:creationId xmlns:a16="http://schemas.microsoft.com/office/drawing/2014/main" id="{E79F9D61-E568-4DB7-97CD-2F188B6AD222}"/>
              </a:ext>
            </a:extLst>
          </p:cNvPr>
          <p:cNvPicPr>
            <a:picLocks xmlns:a="http://schemas.openxmlformats.org/drawingml/2006/main" noChangeAspect="1"/>
          </p:cNvPicPr>
          <p:nvPr/>
        </p:nvPicPr>
        <p:blipFill>
          <a:blip xmlns:r="http://schemas.openxmlformats.org/officeDocument/2006/relationships" xmlns:a="http://schemas.openxmlformats.org/drawingml/2006/main" r:embed="R2452d10657494f9d"/>
          <a:stretch xmlns:a="http://schemas.openxmlformats.org/drawingml/2006/main"/>
        </p:blipFill>
        <p:spPr>
          <a:xfrm xmlns:a="http://schemas.openxmlformats.org/drawingml/2006/main">
            <a:off x="209550" y="1954045"/>
            <a:ext cx="11772900" cy="3302335"/>
          </a:xfrm>
          <a:prstGeom xmlns:a="http://schemas.openxmlformats.org/drawingml/2006/main" prst="rect">
            <a:avLst/>
          </a:prstGeom>
        </p:spPr>
      </p:pic>
      <p:sp>
        <p:nvSpPr>
          <p:cNvPr id="6" name="After the transient, both outputs oscillate at t">
            <a:extLst xmlns:a="http://schemas.openxmlformats.org/drawingml/2006/main">
              <a:ext uri="{FF2B5EF4-FFF2-40B4-BE49-F238E27FC236}">
                <a16:creationId xmlns:a16="http://schemas.microsoft.com/office/drawing/2014/main" id="{B175FFC1-0586-48FE-A547-FA3CFEAF7AE0}"/>
              </a:ext>
            </a:extLst>
          </p:cNvPr>
          <p:cNvSpPr>
            <a:spLocks xmlns:a="http://schemas.openxmlformats.org/drawingml/2006/main" noGrp="1"/>
          </p:cNvSpPr>
          <p:nvPr/>
        </p:nvSpPr>
        <p:spPr>
          <a:xfrm xmlns:a="http://schemas.openxmlformats.org/drawingml/2006/main">
            <a:off x="590550" y="5429250"/>
            <a:ext cx="11010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xmlns:a="http://schemas.openxmlformats.org/drawingml/2006/main">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Después del transitorio, ambas salidas oscilan a la frecuencia de entrada.</a:t>
            </a:r>
          </a:p>
        </p:txBody>
      </p:sp>
      <p:sp>
        <p:nvSpPr>
          <p:cNvPr id="7" name="For u₂ only: |G₁₂(j1)| ≈ 7.85 and |G₂₂(j1)| ≈ 1.">
            <a:extLst xmlns:a="http://schemas.openxmlformats.org/drawingml/2006/main">
              <a:ext uri="{FF2B5EF4-FFF2-40B4-BE49-F238E27FC236}">
                <a16:creationId xmlns:a16="http://schemas.microsoft.com/office/drawing/2014/main" id="{3852315E-41CA-440A-A8BC-A318D5DD71BF}"/>
              </a:ext>
            </a:extLst>
          </p:cNvPr>
          <p:cNvSpPr>
            <a:spLocks xmlns:a="http://schemas.openxmlformats.org/drawingml/2006/main" noGrp="1"/>
          </p:cNvSpPr>
          <p:nvPr/>
        </p:nvSpPr>
        <p:spPr>
          <a:xfrm xmlns:a="http://schemas.openxmlformats.org/drawingml/2006/main">
            <a:off x="590550" y="5838825"/>
            <a:ext cx="11010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xmlns:a="http://schemas.openxmlformats.org/drawingml/2006/main">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Solo u₂: |G₁₂(j1)| ≈ 7,85 y |G₂₂(j1)| ≈ 1,21.</a:t>
            </a:r>
          </a:p>
        </p:txBody>
      </p:sp>
      <p:sp>
        <p:nvSpPr>
          <p:cNvPr id="8" name="Nominal gains (1, 0.5). Blue: a, left axis. Red:">
            <a:extLst xmlns:a="http://schemas.openxmlformats.org/drawingml/2006/main">
              <a:ext uri="{FF2B5EF4-FFF2-40B4-BE49-F238E27FC236}">
                <a16:creationId xmlns:a16="http://schemas.microsoft.com/office/drawing/2014/main" id="{8C6A35C1-9603-47DC-AAD2-AFE78FFB6246}"/>
              </a:ext>
            </a:extLst>
          </p:cNvPr>
          <p:cNvSpPr>
            <a:spLocks xmlns:a="http://schemas.openxmlformats.org/drawingml/2006/main" noGrp="1"/>
          </p:cNvSpPr>
          <p:nvPr/>
        </p:nvSpPr>
        <p:spPr>
          <a:xfrm xmlns:a="http://schemas.openxmlformats.org/drawingml/2006/main">
            <a:off x="590550" y="62198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474"/>
                </a:solidFill>
                <a:latin typeface="Arial"/>
                <a:ea typeface="Arial"/>
                <a:cs typeface="Arial"/>
              </a:defRPr>
            </a:defPPr>
            <a:lvl1pPr>
              <a:defRPr sz="1425" b="0">
                <a:solidFill>
                  <a:srgbClr val="516474"/>
                </a:solidFill>
                <a:latin typeface="Arial"/>
                <a:ea typeface="Arial"/>
                <a:cs typeface="Arial"/>
              </a:defRPr>
            </a:lvl1pPr>
            <a:lvl2pPr>
              <a:defRPr sz="1425" b="0">
                <a:solidFill>
                  <a:srgbClr val="516474"/>
                </a:solidFill>
                <a:latin typeface="Arial"/>
                <a:ea typeface="Arial"/>
                <a:cs typeface="Arial"/>
              </a:defRPr>
            </a:lvl2pPr>
            <a:lvl3pPr>
              <a:defRPr sz="1425" b="0">
                <a:solidFill>
                  <a:srgbClr val="516474"/>
                </a:solidFill>
                <a:latin typeface="Arial"/>
                <a:ea typeface="Arial"/>
                <a:cs typeface="Arial"/>
              </a:defRPr>
            </a:lvl3pPr>
            <a:lvl4pPr>
              <a:defRPr sz="1425" b="0">
                <a:solidFill>
                  <a:srgbClr val="516474"/>
                </a:solidFill>
                <a:latin typeface="Arial"/>
                <a:ea typeface="Arial"/>
                <a:cs typeface="Arial"/>
              </a:defRPr>
            </a:lvl4pPr>
            <a:lvl5pPr>
              <a:defRPr sz="1425" b="0">
                <a:solidFill>
                  <a:srgbClr val="516474"/>
                </a:solidFill>
                <a:latin typeface="Arial"/>
                <a:ea typeface="Arial"/>
                <a:cs typeface="Arial"/>
              </a:defRPr>
            </a:lvl5pPr>
            <a:lvl6pPr>
              <a:defRPr sz="1425" b="0">
                <a:solidFill>
                  <a:srgbClr val="516474"/>
                </a:solidFill>
                <a:latin typeface="Arial"/>
                <a:ea typeface="Arial"/>
                <a:cs typeface="Arial"/>
              </a:defRPr>
            </a:lvl6pPr>
            <a:lvl7pPr>
              <a:defRPr sz="1425" b="0">
                <a:solidFill>
                  <a:srgbClr val="516474"/>
                </a:solidFill>
                <a:latin typeface="Arial"/>
                <a:ea typeface="Arial"/>
                <a:cs typeface="Arial"/>
              </a:defRPr>
            </a:lvl7pPr>
            <a:lvl8pPr>
              <a:defRPr sz="1425" b="0">
                <a:solidFill>
                  <a:srgbClr val="516474"/>
                </a:solidFill>
                <a:latin typeface="Arial"/>
                <a:ea typeface="Arial"/>
                <a:cs typeface="Arial"/>
              </a:defRPr>
            </a:lvl8pPr>
            <a:lvl9pPr>
              <a:defRPr sz="1425" b="0">
                <a:solidFill>
                  <a:srgbClr val="516474"/>
                </a:solidFill>
                <a:latin typeface="Arial"/>
                <a:ea typeface="Arial"/>
                <a:cs typeface="Arial"/>
              </a:defRPr>
            </a:lvl9pPr>
          </a:lstStyle>
          <a:p xmlns:a="http://schemas.openxmlformats.org/drawingml/2006/main">
            <a:pPr>
              <a:lnSpc>
                <a:spcPct val="110000"/>
              </a:lnSpc>
              <a:buNone/>
              <a:defRPr sz="1425" b="0">
                <a:solidFill>
                  <a:srgbClr val="516474"/>
                </a:solidFill>
                <a:latin typeface="Arial"/>
                <a:ea typeface="Arial"/>
                <a:cs typeface="Arial"/>
              </a:defRPr>
            </a:pPr>
            <a:r>
              <a:rPr sz="1425" b="0">
                <a:solidFill>
                  <a:srgbClr val="516474"/>
                </a:solidFill>
                <a:latin typeface="Arial"/>
                <a:ea typeface="Arial"/>
                <a:cs typeface="Arial"/>
              </a:rPr>
              <a:t>Figura del notebook (imagen no editable / non-editable image). Azul: a (izq.). Rojo: θ (der.).</a:t>
            </a:r>
          </a:p>
        </p:txBody>
      </p:sp>
    </p:spTree>
    <p:extLst>
      <p:ext uri="{BB962C8B-B14F-4D97-AF65-F5344CB8AC3E}">
        <p14:creationId xmlns:p14="http://schemas.microsoft.com/office/powerpoint/2010/main" val="11977263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Impulse: natural modes decay">
            <a:extLst xmlns:a="http://schemas.openxmlformats.org/drawingml/2006/main">
              <a:ext uri="{FF2B5EF4-FFF2-40B4-BE49-F238E27FC236}">
                <a16:creationId xmlns:a16="http://schemas.microsoft.com/office/drawing/2014/main" id="{16410661-7110-4AAB-9BAB-A2B4CE31FFD2}"/>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3283C"/>
                </a:solidFill>
                <a:latin typeface="Arial"/>
                <a:ea typeface="Arial"/>
                <a:cs typeface="Arial"/>
              </a:defRPr>
            </a:defPPr>
            <a:lvl1pPr>
              <a:defRPr sz="3300" b="1">
                <a:solidFill>
                  <a:srgbClr val="13283C"/>
                </a:solidFill>
                <a:latin typeface="Arial"/>
                <a:ea typeface="Arial"/>
                <a:cs typeface="Arial"/>
              </a:defRPr>
            </a:lvl1pPr>
            <a:lvl2pPr>
              <a:defRPr sz="3300" b="1">
                <a:solidFill>
                  <a:srgbClr val="13283C"/>
                </a:solidFill>
                <a:latin typeface="Arial"/>
                <a:ea typeface="Arial"/>
                <a:cs typeface="Arial"/>
              </a:defRPr>
            </a:lvl2pPr>
            <a:lvl3pPr>
              <a:defRPr sz="3300" b="1">
                <a:solidFill>
                  <a:srgbClr val="13283C"/>
                </a:solidFill>
                <a:latin typeface="Arial"/>
                <a:ea typeface="Arial"/>
                <a:cs typeface="Arial"/>
              </a:defRPr>
            </a:lvl3pPr>
            <a:lvl4pPr>
              <a:defRPr sz="3300" b="1">
                <a:solidFill>
                  <a:srgbClr val="13283C"/>
                </a:solidFill>
                <a:latin typeface="Arial"/>
                <a:ea typeface="Arial"/>
                <a:cs typeface="Arial"/>
              </a:defRPr>
            </a:lvl4pPr>
            <a:lvl5pPr>
              <a:defRPr sz="3300" b="1">
                <a:solidFill>
                  <a:srgbClr val="13283C"/>
                </a:solidFill>
                <a:latin typeface="Arial"/>
                <a:ea typeface="Arial"/>
                <a:cs typeface="Arial"/>
              </a:defRPr>
            </a:lvl5pPr>
            <a:lvl6pPr>
              <a:defRPr sz="3300" b="1">
                <a:solidFill>
                  <a:srgbClr val="13283C"/>
                </a:solidFill>
                <a:latin typeface="Arial"/>
                <a:ea typeface="Arial"/>
                <a:cs typeface="Arial"/>
              </a:defRPr>
            </a:lvl6pPr>
            <a:lvl7pPr>
              <a:defRPr sz="3300" b="1">
                <a:solidFill>
                  <a:srgbClr val="13283C"/>
                </a:solidFill>
                <a:latin typeface="Arial"/>
                <a:ea typeface="Arial"/>
                <a:cs typeface="Arial"/>
              </a:defRPr>
            </a:lvl7pPr>
            <a:lvl8pPr>
              <a:defRPr sz="3300" b="1">
                <a:solidFill>
                  <a:srgbClr val="13283C"/>
                </a:solidFill>
                <a:latin typeface="Arial"/>
                <a:ea typeface="Arial"/>
                <a:cs typeface="Arial"/>
              </a:defRPr>
            </a:lvl8pPr>
            <a:lvl9pPr>
              <a:defRPr sz="3300" b="1">
                <a:solidFill>
                  <a:srgbClr val="13283C"/>
                </a:solidFill>
                <a:latin typeface="Arial"/>
                <a:ea typeface="Arial"/>
                <a:cs typeface="Arial"/>
              </a:defRPr>
            </a:lvl9pPr>
          </a:lstStyle>
          <a:p xmlns:a="http://schemas.openxmlformats.org/drawingml/2006/main">
            <a:pPr>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Impulso: los modos naturales decaen</a:t>
            </a:r>
          </a:p>
        </p:txBody>
      </p:sp>
      <p:sp>
        <p:nvSpPr>
          <p:cNvPr id="3" name="A brief ideal input reveals the transient dynami">
            <a:extLst xmlns:a="http://schemas.openxmlformats.org/drawingml/2006/main">
              <a:ext uri="{FF2B5EF4-FFF2-40B4-BE49-F238E27FC236}">
                <a16:creationId xmlns:a16="http://schemas.microsoft.com/office/drawing/2014/main" id="{E96D79BB-1AD9-4940-B33A-D6696D7966AD}"/>
              </a:ext>
            </a:extLst>
          </p:cNvPr>
          <p:cNvSpPr>
            <a:spLocks xmlns:a="http://schemas.openxmlformats.org/drawingml/2006/main" noGrp="1"/>
          </p:cNvSpPr>
          <p:nvPr/>
        </p:nvSpPr>
        <p:spPr>
          <a:xfrm xmlns:a="http://schemas.openxmlformats.org/drawingml/2006/main">
            <a:off x="590550" y="1304925"/>
            <a:ext cx="11010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Una entrada ideal breve revela la dinámica transitoria</a:t>
            </a:r>
          </a:p>
        </p:txBody>
      </p:sp>
      <p:sp>
        <p:nvSpPr>
          <p:cNvPr id="4" name="">
            <a:extLst xmlns:a="http://schemas.openxmlformats.org/drawingml/2006/main">
              <a:ext uri="{FF2B5EF4-FFF2-40B4-BE49-F238E27FC236}">
                <a16:creationId xmlns:a16="http://schemas.microsoft.com/office/drawing/2014/main" id="{B416E242-1D78-46AB-8CC3-F6788C3C88EF}"/>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defRPr sz="1275" b="0">
                <a:solidFill>
                  <a:srgbClr val="516474"/>
                </a:solidFill>
                <a:latin typeface="Arial"/>
                <a:ea typeface="Arial"/>
                <a:cs typeface="Arial"/>
              </a:defRPr>
            </a:pPr>
            <a:r>
              <a:t>09 / 19</a:t>
            </a:r>
          </a:p>
        </p:txBody>
      </p:sp>
      <p:pic>
        <p:nvPicPr>
          <p:cNvPr id="5" name="">
            <a:extLst xmlns:a="http://schemas.openxmlformats.org/drawingml/2006/main">
              <a:ext uri="{FF2B5EF4-FFF2-40B4-BE49-F238E27FC236}">
                <a16:creationId xmlns:a16="http://schemas.microsoft.com/office/drawing/2014/main" id="{BB51FB56-F930-4C74-9751-185EC74723CF}"/>
              </a:ext>
            </a:extLst>
          </p:cNvPr>
          <p:cNvPicPr>
            <a:picLocks xmlns:a="http://schemas.openxmlformats.org/drawingml/2006/main" noChangeAspect="1"/>
          </p:cNvPicPr>
          <p:nvPr/>
        </p:nvPicPr>
        <p:blipFill>
          <a:blip xmlns:r="http://schemas.openxmlformats.org/officeDocument/2006/relationships" xmlns:a="http://schemas.openxmlformats.org/drawingml/2006/main" r:embed="Rbf6f6709c40a44cc"/>
          <a:stretch xmlns:a="http://schemas.openxmlformats.org/drawingml/2006/main"/>
        </p:blipFill>
        <p:spPr>
          <a:xfrm xmlns:a="http://schemas.openxmlformats.org/drawingml/2006/main">
            <a:off x="209550" y="1954045"/>
            <a:ext cx="11772900" cy="3302335"/>
          </a:xfrm>
          <a:prstGeom xmlns:a="http://schemas.openxmlformats.org/drawingml/2006/main" prst="rect">
            <a:avLst/>
          </a:prstGeom>
        </p:spPr>
      </p:pic>
      <p:sp>
        <p:nvSpPr>
          <p:cNvPr id="6" name="An axial impulse gives a an immediate jump of ab">
            <a:extLst xmlns:a="http://schemas.openxmlformats.org/drawingml/2006/main">
              <a:ext uri="{FF2B5EF4-FFF2-40B4-BE49-F238E27FC236}">
                <a16:creationId xmlns:a16="http://schemas.microsoft.com/office/drawing/2014/main" id="{055E8AB0-E165-43C8-8F51-DD521F4564D2}"/>
              </a:ext>
            </a:extLst>
          </p:cNvPr>
          <p:cNvSpPr>
            <a:spLocks xmlns:a="http://schemas.openxmlformats.org/drawingml/2006/main" noGrp="1"/>
          </p:cNvSpPr>
          <p:nvPr/>
        </p:nvSpPr>
        <p:spPr>
          <a:xfrm xmlns:a="http://schemas.openxmlformats.org/drawingml/2006/main">
            <a:off x="590550" y="5429250"/>
            <a:ext cx="11010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xmlns:a="http://schemas.openxmlformats.org/drawingml/2006/main">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Un impulso axial produce en a un salto inmediato de aproximadamente 0,070.</a:t>
            </a:r>
          </a:p>
        </p:txBody>
      </p:sp>
      <p:sp>
        <p:nvSpPr>
          <p:cNvPr id="7" name="The remaining response decays with the stable no">
            <a:extLst xmlns:a="http://schemas.openxmlformats.org/drawingml/2006/main">
              <a:ext uri="{FF2B5EF4-FFF2-40B4-BE49-F238E27FC236}">
                <a16:creationId xmlns:a16="http://schemas.microsoft.com/office/drawing/2014/main" id="{885B2BC7-6DE8-43A9-AC38-788DB9D86E57}"/>
              </a:ext>
            </a:extLst>
          </p:cNvPr>
          <p:cNvSpPr>
            <a:spLocks xmlns:a="http://schemas.openxmlformats.org/drawingml/2006/main" noGrp="1"/>
          </p:cNvSpPr>
          <p:nvPr/>
        </p:nvSpPr>
        <p:spPr>
          <a:xfrm xmlns:a="http://schemas.openxmlformats.org/drawingml/2006/main">
            <a:off x="590550" y="5838825"/>
            <a:ext cx="11010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xmlns:a="http://schemas.openxmlformats.org/drawingml/2006/main">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La respuesta restante decae con los modos estables del caso nominal.</a:t>
            </a:r>
          </a:p>
        </p:txBody>
      </p:sp>
      <p:sp>
        <p:nvSpPr>
          <p:cNvPr id="8" name="Nominal gains (1, 0.5). Blue: a, left axis. Red:">
            <a:extLst xmlns:a="http://schemas.openxmlformats.org/drawingml/2006/main">
              <a:ext uri="{FF2B5EF4-FFF2-40B4-BE49-F238E27FC236}">
                <a16:creationId xmlns:a16="http://schemas.microsoft.com/office/drawing/2014/main" id="{6BF0252A-87D4-4ECA-AFC3-7DC7AC460CC4}"/>
              </a:ext>
            </a:extLst>
          </p:cNvPr>
          <p:cNvSpPr>
            <a:spLocks xmlns:a="http://schemas.openxmlformats.org/drawingml/2006/main" noGrp="1"/>
          </p:cNvSpPr>
          <p:nvPr/>
        </p:nvSpPr>
        <p:spPr>
          <a:xfrm xmlns:a="http://schemas.openxmlformats.org/drawingml/2006/main">
            <a:off x="590550" y="62198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474"/>
                </a:solidFill>
                <a:latin typeface="Arial"/>
                <a:ea typeface="Arial"/>
                <a:cs typeface="Arial"/>
              </a:defRPr>
            </a:defPPr>
            <a:lvl1pPr>
              <a:defRPr sz="1425" b="0">
                <a:solidFill>
                  <a:srgbClr val="516474"/>
                </a:solidFill>
                <a:latin typeface="Arial"/>
                <a:ea typeface="Arial"/>
                <a:cs typeface="Arial"/>
              </a:defRPr>
            </a:lvl1pPr>
            <a:lvl2pPr>
              <a:defRPr sz="1425" b="0">
                <a:solidFill>
                  <a:srgbClr val="516474"/>
                </a:solidFill>
                <a:latin typeface="Arial"/>
                <a:ea typeface="Arial"/>
                <a:cs typeface="Arial"/>
              </a:defRPr>
            </a:lvl2pPr>
            <a:lvl3pPr>
              <a:defRPr sz="1425" b="0">
                <a:solidFill>
                  <a:srgbClr val="516474"/>
                </a:solidFill>
                <a:latin typeface="Arial"/>
                <a:ea typeface="Arial"/>
                <a:cs typeface="Arial"/>
              </a:defRPr>
            </a:lvl3pPr>
            <a:lvl4pPr>
              <a:defRPr sz="1425" b="0">
                <a:solidFill>
                  <a:srgbClr val="516474"/>
                </a:solidFill>
                <a:latin typeface="Arial"/>
                <a:ea typeface="Arial"/>
                <a:cs typeface="Arial"/>
              </a:defRPr>
            </a:lvl4pPr>
            <a:lvl5pPr>
              <a:defRPr sz="1425" b="0">
                <a:solidFill>
                  <a:srgbClr val="516474"/>
                </a:solidFill>
                <a:latin typeface="Arial"/>
                <a:ea typeface="Arial"/>
                <a:cs typeface="Arial"/>
              </a:defRPr>
            </a:lvl5pPr>
            <a:lvl6pPr>
              <a:defRPr sz="1425" b="0">
                <a:solidFill>
                  <a:srgbClr val="516474"/>
                </a:solidFill>
                <a:latin typeface="Arial"/>
                <a:ea typeface="Arial"/>
                <a:cs typeface="Arial"/>
              </a:defRPr>
            </a:lvl6pPr>
            <a:lvl7pPr>
              <a:defRPr sz="1425" b="0">
                <a:solidFill>
                  <a:srgbClr val="516474"/>
                </a:solidFill>
                <a:latin typeface="Arial"/>
                <a:ea typeface="Arial"/>
                <a:cs typeface="Arial"/>
              </a:defRPr>
            </a:lvl7pPr>
            <a:lvl8pPr>
              <a:defRPr sz="1425" b="0">
                <a:solidFill>
                  <a:srgbClr val="516474"/>
                </a:solidFill>
                <a:latin typeface="Arial"/>
                <a:ea typeface="Arial"/>
                <a:cs typeface="Arial"/>
              </a:defRPr>
            </a:lvl8pPr>
            <a:lvl9pPr>
              <a:defRPr sz="1425" b="0">
                <a:solidFill>
                  <a:srgbClr val="516474"/>
                </a:solidFill>
                <a:latin typeface="Arial"/>
                <a:ea typeface="Arial"/>
                <a:cs typeface="Arial"/>
              </a:defRPr>
            </a:lvl9pPr>
          </a:lstStyle>
          <a:p xmlns:a="http://schemas.openxmlformats.org/drawingml/2006/main">
            <a:pPr>
              <a:lnSpc>
                <a:spcPct val="110000"/>
              </a:lnSpc>
              <a:buNone/>
              <a:defRPr sz="1425" b="0">
                <a:solidFill>
                  <a:srgbClr val="516474"/>
                </a:solidFill>
                <a:latin typeface="Arial"/>
                <a:ea typeface="Arial"/>
                <a:cs typeface="Arial"/>
              </a:defRPr>
            </a:pPr>
            <a:r>
              <a:rPr sz="1425" b="0">
                <a:solidFill>
                  <a:srgbClr val="516474"/>
                </a:solidFill>
                <a:latin typeface="Arial"/>
                <a:ea typeface="Arial"/>
                <a:cs typeface="Arial"/>
              </a:rPr>
              <a:t>Figura del notebook (imagen no editable / non-editable image). Azul: a (izq.). Rojo: θ (der.).</a:t>
            </a:r>
          </a:p>
        </p:txBody>
      </p:sp>
    </p:spTree>
    <p:extLst>
      <p:ext uri="{BB962C8B-B14F-4D97-AF65-F5344CB8AC3E}">
        <p14:creationId xmlns:p14="http://schemas.microsoft.com/office/powerpoint/2010/main" val="9405877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coplamiento temporal">
            <a:extLst xmlns:a="http://schemas.openxmlformats.org/drawingml/2006/main">
              <a:ext uri="{FF2B5EF4-FFF2-40B4-BE49-F238E27FC236}">
                <a16:creationId xmlns:a16="http://schemas.microsoft.com/office/drawing/2014/main" id="{7437EAFB-D09D-420F-987E-2341DDEDBF0D}"/>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Acoplamiento temporal</a:t>
            </a:r>
          </a:p>
        </p:txBody>
      </p:sp>
      <p:sp>
        <p:nvSpPr>
          <p:cNvPr id="3" name="07 / 16">
            <a:extLst xmlns:a="http://schemas.openxmlformats.org/drawingml/2006/main">
              <a:ext uri="{FF2B5EF4-FFF2-40B4-BE49-F238E27FC236}">
                <a16:creationId xmlns:a16="http://schemas.microsoft.com/office/drawing/2014/main" id="{450252F2-2BC9-4DB4-A893-9FC63730F47C}"/>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10 / 19</a:t>
            </a:r>
          </a:p>
        </p:txBody>
      </p:sp>
      <p:graphicFrame>
        <p:nvGraphicFramePr>
          <p:cNvPr id="4" name="Chart">
            <a:extLst xmlns:a="http://schemas.openxmlformats.org/drawingml/2006/main">
              <a:ext uri="{FF2B5EF4-FFF2-40B4-BE49-F238E27FC236}">
                <a16:creationId xmlns:a16="http://schemas.microsoft.com/office/drawing/2014/main" id="{6F703653-6CDB-4BF1-8E8D-1FD231C622D7}"/>
              </a:ext>
            </a:extLst>
          </p:cNvPr>
          <p:cNvGraphicFramePr/>
          <p:nvPr/>
        </p:nvGraphicFramePr>
        <p:xfrm>
          <a:off xmlns:a="http://schemas.openxmlformats.org/drawingml/2006/main" x="476250" y="1714500"/>
          <a:ext xmlns:a="http://schemas.openxmlformats.org/drawingml/2006/main" cx="7096125" cy="4048125"/>
        </p:xfrm>
        <a:graphic xmlns:a="http://schemas.openxmlformats.org/drawingml/2006/main">
          <a:graphicData uri="http://schemas.openxmlformats.org/drawingml/2006/chart">
            <c:chart xmlns:r="http://schemas.openxmlformats.org/officeDocument/2006/relationships" xmlns:c="http://schemas.openxmlformats.org/drawingml/2006/chart" r:id="R159efb7386bb4dd7"/>
          </a:graphicData>
        </a:graphic>
      </p:graphicFrame>
      <p:sp>
        <p:nvSpPr>
          <p:cNvPr id="5" name="La inclinación domina&#10;el efecto cruzado">
            <a:extLst xmlns:a="http://schemas.openxmlformats.org/drawingml/2006/main">
              <a:ext uri="{FF2B5EF4-FFF2-40B4-BE49-F238E27FC236}">
                <a16:creationId xmlns:a16="http://schemas.microsoft.com/office/drawing/2014/main" id="{96788302-BA94-4B5C-8218-0B3ED12A0ACA}"/>
              </a:ext>
            </a:extLst>
          </p:cNvPr>
          <p:cNvSpPr>
            <a:spLocks xmlns:a="http://schemas.openxmlformats.org/drawingml/2006/main" noGrp="1"/>
          </p:cNvSpPr>
          <p:nvPr/>
        </p:nvSpPr>
        <p:spPr>
          <a:xfrm xmlns:a="http://schemas.openxmlformats.org/drawingml/2006/main">
            <a:off x="8048625" y="1828800"/>
            <a:ext cx="3524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087E8B"/>
                </a:solidFill>
                <a:latin typeface="Arial"/>
                <a:ea typeface="Arial"/>
                <a:cs typeface="Arial"/>
              </a:defRPr>
            </a:defPPr>
            <a:lvl1pPr algn="l">
              <a:defRPr sz="2400" b="1">
                <a:solidFill>
                  <a:srgbClr val="087E8B"/>
                </a:solidFill>
                <a:latin typeface="Arial"/>
                <a:ea typeface="Arial"/>
                <a:cs typeface="Arial"/>
              </a:defRPr>
            </a:lvl1pPr>
            <a:lvl2pPr algn="l">
              <a:defRPr sz="2400" b="1">
                <a:solidFill>
                  <a:srgbClr val="087E8B"/>
                </a:solidFill>
                <a:latin typeface="Arial"/>
                <a:ea typeface="Arial"/>
                <a:cs typeface="Arial"/>
              </a:defRPr>
            </a:lvl2pPr>
            <a:lvl3pPr algn="l">
              <a:defRPr sz="2400" b="1">
                <a:solidFill>
                  <a:srgbClr val="087E8B"/>
                </a:solidFill>
                <a:latin typeface="Arial"/>
                <a:ea typeface="Arial"/>
                <a:cs typeface="Arial"/>
              </a:defRPr>
            </a:lvl3pPr>
            <a:lvl4pPr algn="l">
              <a:defRPr sz="2400" b="1">
                <a:solidFill>
                  <a:srgbClr val="087E8B"/>
                </a:solidFill>
                <a:latin typeface="Arial"/>
                <a:ea typeface="Arial"/>
                <a:cs typeface="Arial"/>
              </a:defRPr>
            </a:lvl4pPr>
            <a:lvl5pPr algn="l">
              <a:defRPr sz="2400" b="1">
                <a:solidFill>
                  <a:srgbClr val="087E8B"/>
                </a:solidFill>
                <a:latin typeface="Arial"/>
                <a:ea typeface="Arial"/>
                <a:cs typeface="Arial"/>
              </a:defRPr>
            </a:lvl5pPr>
            <a:lvl6pPr algn="l">
              <a:defRPr sz="2400" b="1">
                <a:solidFill>
                  <a:srgbClr val="087E8B"/>
                </a:solidFill>
                <a:latin typeface="Arial"/>
                <a:ea typeface="Arial"/>
                <a:cs typeface="Arial"/>
              </a:defRPr>
            </a:lvl6pPr>
            <a:lvl7pPr algn="l">
              <a:defRPr sz="2400" b="1">
                <a:solidFill>
                  <a:srgbClr val="087E8B"/>
                </a:solidFill>
                <a:latin typeface="Arial"/>
                <a:ea typeface="Arial"/>
                <a:cs typeface="Arial"/>
              </a:defRPr>
            </a:lvl7pPr>
            <a:lvl8pPr algn="l">
              <a:defRPr sz="2400" b="1">
                <a:solidFill>
                  <a:srgbClr val="087E8B"/>
                </a:solidFill>
                <a:latin typeface="Arial"/>
                <a:ea typeface="Arial"/>
                <a:cs typeface="Arial"/>
              </a:defRPr>
            </a:lvl8pPr>
            <a:lvl9pPr algn="l">
              <a:defRPr sz="2400" b="1">
                <a:solidFill>
                  <a:srgbClr val="087E8B"/>
                </a:solidFill>
                <a:latin typeface="Arial"/>
                <a:ea typeface="Arial"/>
                <a:cs typeface="Arial"/>
              </a:defRPr>
            </a:lvl9pPr>
          </a:lstStyle>
          <a:p xmlns:a="http://schemas.openxmlformats.org/drawingml/2006/main">
            <a:pPr algn="l">
              <a:lnSpc>
                <a:spcPct val="110000"/>
              </a:lnSpc>
              <a:buNone/>
              <a:defRPr sz="2400" b="1">
                <a:solidFill>
                  <a:srgbClr val="087E8B"/>
                </a:solidFill>
                <a:latin typeface="Arial"/>
                <a:ea typeface="Arial"/>
                <a:cs typeface="Arial"/>
              </a:defRPr>
            </a:pPr>
            <a:r>
              <a:rPr sz="2400" b="1">
                <a:solidFill>
                  <a:srgbClr val="087E8B"/>
                </a:solidFill>
                <a:latin typeface="Arial"/>
                <a:ea typeface="Arial"/>
                <a:cs typeface="Arial"/>
              </a:rPr>
              <a:t>La inclinación domina</a:t>
            </a:r>
          </a:p>
          <a:p xmlns:a="http://schemas.openxmlformats.org/drawingml/2006/main">
            <a:pPr algn="l">
              <a:lnSpc>
                <a:spcPct val="110000"/>
              </a:lnSpc>
              <a:buNone/>
              <a:defRPr sz="2400" b="1">
                <a:solidFill>
                  <a:srgbClr val="087E8B"/>
                </a:solidFill>
                <a:latin typeface="Arial"/>
                <a:ea typeface="Arial"/>
                <a:cs typeface="Arial"/>
              </a:defRPr>
            </a:pPr>
            <a:r>
              <a:rPr sz="2400" b="1">
                <a:solidFill>
                  <a:srgbClr val="087E8B"/>
                </a:solidFill>
                <a:latin typeface="Arial"/>
                <a:ea typeface="Arial"/>
                <a:cs typeface="Arial"/>
              </a:rPr>
              <a:t>el efecto cruzado</a:t>
            </a:r>
          </a:p>
        </p:txBody>
      </p:sp>
      <p:sp>
        <p:nvSpPr>
          <p:cNvPr id="6" name="Desviación axial máxima:&#10;≈ 0,812 m/s²">
            <a:extLst xmlns:a="http://schemas.openxmlformats.org/drawingml/2006/main">
              <a:ext uri="{FF2B5EF4-FFF2-40B4-BE49-F238E27FC236}">
                <a16:creationId xmlns:a16="http://schemas.microsoft.com/office/drawing/2014/main" id="{85136827-0A1C-41E9-AF1A-99A91F7371EE}"/>
              </a:ext>
            </a:extLst>
          </p:cNvPr>
          <p:cNvSpPr>
            <a:spLocks xmlns:a="http://schemas.openxmlformats.org/drawingml/2006/main" noGrp="1"/>
          </p:cNvSpPr>
          <p:nvPr/>
        </p:nvSpPr>
        <p:spPr>
          <a:xfrm xmlns:a="http://schemas.openxmlformats.org/drawingml/2006/main">
            <a:off x="8048625" y="3352800"/>
            <a:ext cx="352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Desviación axial máxima:</a:t>
            </a:r>
          </a:p>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 0,812 m/s²</a:t>
            </a:r>
          </a:p>
        </p:txBody>
      </p:sp>
      <p:sp>
        <p:nvSpPr>
          <p:cNvPr id="7" name="Respuesta axial principal:&#10;≈ 0,459 m/s²">
            <a:extLst xmlns:a="http://schemas.openxmlformats.org/drawingml/2006/main">
              <a:ext uri="{FF2B5EF4-FFF2-40B4-BE49-F238E27FC236}">
                <a16:creationId xmlns:a16="http://schemas.microsoft.com/office/drawing/2014/main" id="{654AA7DE-BDCE-4FCF-875A-5EC3CD0EF1EF}"/>
              </a:ext>
            </a:extLst>
          </p:cNvPr>
          <p:cNvSpPr>
            <a:spLocks xmlns:a="http://schemas.openxmlformats.org/drawingml/2006/main" noGrp="1"/>
          </p:cNvSpPr>
          <p:nvPr/>
        </p:nvSpPr>
        <p:spPr>
          <a:xfrm xmlns:a="http://schemas.openxmlformats.org/drawingml/2006/main">
            <a:off x="8048625" y="4552950"/>
            <a:ext cx="352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Respuesta axial principal:</a:t>
            </a:r>
          </a:p>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 0,459 m/s²</a:t>
            </a:r>
          </a:p>
        </p:txBody>
      </p:sp>
      <p:sp>
        <p:nvSpPr>
          <p:cNvPr id="8" name="Comparación para u₁ = 10 en la escala del modelo">
            <a:extLst xmlns:a="http://schemas.openxmlformats.org/drawingml/2006/main">
              <a:ext uri="{FF2B5EF4-FFF2-40B4-BE49-F238E27FC236}">
                <a16:creationId xmlns:a16="http://schemas.microsoft.com/office/drawing/2014/main" id="{031CD0D3-C2F4-460B-BE8D-61D9485A584A}"/>
              </a:ext>
            </a:extLst>
          </p:cNvPr>
          <p:cNvSpPr>
            <a:spLocks xmlns:a="http://schemas.openxmlformats.org/drawingml/2006/main" noGrp="1"/>
          </p:cNvSpPr>
          <p:nvPr/>
        </p:nvSpPr>
        <p:spPr>
          <a:xfrm xmlns:a="http://schemas.openxmlformats.org/drawingml/2006/main">
            <a:off x="590550" y="59531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16474"/>
                </a:solidFill>
                <a:latin typeface="Arial"/>
                <a:ea typeface="Arial"/>
                <a:cs typeface="Arial"/>
              </a:defRPr>
            </a:defPPr>
            <a:lvl1pPr algn="l">
              <a:defRPr sz="1875" b="0">
                <a:solidFill>
                  <a:srgbClr val="516474"/>
                </a:solidFill>
                <a:latin typeface="Arial"/>
                <a:ea typeface="Arial"/>
                <a:cs typeface="Arial"/>
              </a:defRPr>
            </a:lvl1pPr>
            <a:lvl2pPr algn="l">
              <a:defRPr sz="1875" b="0">
                <a:solidFill>
                  <a:srgbClr val="516474"/>
                </a:solidFill>
                <a:latin typeface="Arial"/>
                <a:ea typeface="Arial"/>
                <a:cs typeface="Arial"/>
              </a:defRPr>
            </a:lvl2pPr>
            <a:lvl3pPr algn="l">
              <a:defRPr sz="1875" b="0">
                <a:solidFill>
                  <a:srgbClr val="516474"/>
                </a:solidFill>
                <a:latin typeface="Arial"/>
                <a:ea typeface="Arial"/>
                <a:cs typeface="Arial"/>
              </a:defRPr>
            </a:lvl3pPr>
            <a:lvl4pPr algn="l">
              <a:defRPr sz="1875" b="0">
                <a:solidFill>
                  <a:srgbClr val="516474"/>
                </a:solidFill>
                <a:latin typeface="Arial"/>
                <a:ea typeface="Arial"/>
                <a:cs typeface="Arial"/>
              </a:defRPr>
            </a:lvl4pPr>
            <a:lvl5pPr algn="l">
              <a:defRPr sz="1875" b="0">
                <a:solidFill>
                  <a:srgbClr val="516474"/>
                </a:solidFill>
                <a:latin typeface="Arial"/>
                <a:ea typeface="Arial"/>
                <a:cs typeface="Arial"/>
              </a:defRPr>
            </a:lvl5pPr>
            <a:lvl6pPr algn="l">
              <a:defRPr sz="1875" b="0">
                <a:solidFill>
                  <a:srgbClr val="516474"/>
                </a:solidFill>
                <a:latin typeface="Arial"/>
                <a:ea typeface="Arial"/>
                <a:cs typeface="Arial"/>
              </a:defRPr>
            </a:lvl6pPr>
            <a:lvl7pPr algn="l">
              <a:defRPr sz="1875" b="0">
                <a:solidFill>
                  <a:srgbClr val="516474"/>
                </a:solidFill>
                <a:latin typeface="Arial"/>
                <a:ea typeface="Arial"/>
                <a:cs typeface="Arial"/>
              </a:defRPr>
            </a:lvl7pPr>
            <a:lvl8pPr algn="l">
              <a:defRPr sz="1875" b="0">
                <a:solidFill>
                  <a:srgbClr val="516474"/>
                </a:solidFill>
                <a:latin typeface="Arial"/>
                <a:ea typeface="Arial"/>
                <a:cs typeface="Arial"/>
              </a:defRPr>
            </a:lvl8pPr>
            <a:lvl9pPr algn="l">
              <a:defRPr sz="1875" b="0">
                <a:solidFill>
                  <a:srgbClr val="516474"/>
                </a:solidFill>
                <a:latin typeface="Arial"/>
                <a:ea typeface="Arial"/>
                <a:cs typeface="Arial"/>
              </a:defRPr>
            </a:lvl9pPr>
          </a:lstStyle>
          <a:p xmlns:a="http://schemas.openxmlformats.org/drawingml/2006/main">
            <a:pPr algn="l">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Comparación para u₁ = 10 en la escala del modelo y u₂ = 5°</a:t>
            </a:r>
          </a:p>
        </p:txBody>
      </p:sp>
    </p:spTree>
    <p:extLst>
      <p:ext uri="{BB962C8B-B14F-4D97-AF65-F5344CB8AC3E}">
        <p14:creationId xmlns:p14="http://schemas.microsoft.com/office/powerpoint/2010/main" val="13995755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spuesta en frecuencia">
            <a:extLst xmlns:a="http://schemas.openxmlformats.org/drawingml/2006/main">
              <a:ext uri="{FF2B5EF4-FFF2-40B4-BE49-F238E27FC236}">
                <a16:creationId xmlns:a16="http://schemas.microsoft.com/office/drawing/2014/main" id="{B05DF0B5-8351-400F-B0E8-04164A75AE3C}"/>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Respuesta en frecuencia</a:t>
            </a:r>
          </a:p>
        </p:txBody>
      </p:sp>
      <p:sp>
        <p:nvSpPr>
          <p:cNvPr id="3" name="08 / 16">
            <a:extLst xmlns:a="http://schemas.openxmlformats.org/drawingml/2006/main">
              <a:ext uri="{FF2B5EF4-FFF2-40B4-BE49-F238E27FC236}">
                <a16:creationId xmlns:a16="http://schemas.microsoft.com/office/drawing/2014/main" id="{F0B8B8D7-AED5-447A-A7C0-88F094AD92A2}"/>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11 / 19</a:t>
            </a:r>
          </a:p>
        </p:txBody>
      </p:sp>
      <p:graphicFrame>
        <p:nvGraphicFramePr>
          <p:cNvPr id="4" name="Chart">
            <a:extLst xmlns:a="http://schemas.openxmlformats.org/drawingml/2006/main">
              <a:ext uri="{FF2B5EF4-FFF2-40B4-BE49-F238E27FC236}">
                <a16:creationId xmlns:a16="http://schemas.microsoft.com/office/drawing/2014/main" id="{8447E917-3884-495D-9D8E-5D83E5D39C43}"/>
              </a:ext>
            </a:extLst>
          </p:cNvPr>
          <p:cNvGraphicFramePr/>
          <p:nvPr/>
        </p:nvGraphicFramePr>
        <p:xfrm>
          <a:off xmlns:a="http://schemas.openxmlformats.org/drawingml/2006/main" x="381000" y="1619250"/>
          <a:ext xmlns:a="http://schemas.openxmlformats.org/drawingml/2006/main" cx="7524750" cy="3667125"/>
        </p:xfrm>
        <a:graphic xmlns:a="http://schemas.openxmlformats.org/drawingml/2006/main">
          <a:graphicData uri="http://schemas.openxmlformats.org/drawingml/2006/chart">
            <c:chart xmlns:r="http://schemas.openxmlformats.org/officeDocument/2006/relationships" xmlns:c="http://schemas.openxmlformats.org/drawingml/2006/chart" r:id="R603ccb91d9f04c0d"/>
          </a:graphicData>
        </a:graphic>
      </p:graphicFrame>
      <p:graphicFrame>
        <p:nvGraphicFramePr>
          <p:cNvPr id="5" name="">
            <a:extLst xmlns:a="http://schemas.openxmlformats.org/drawingml/2006/main">
              <a:ext uri="{FF2B5EF4-FFF2-40B4-BE49-F238E27FC236}">
                <a16:creationId xmlns:a16="http://schemas.microsoft.com/office/drawing/2014/main" id="{9295C474-A2F3-4E5B-8B37-A07681B3663A}"/>
              </a:ext>
            </a:extLst>
          </p:cNvPr>
          <p:cNvGraphicFramePr/>
          <p:nvPr/>
        </p:nvGraphicFramePr>
        <p:xfrm>
          <a:off xmlns:a="http://schemas.openxmlformats.org/drawingml/2006/main" x="8239125" y="1695450"/>
          <a:ext xmlns:a="http://schemas.openxmlformats.org/drawingml/2006/main" cx="3333750" cy="3209925"/>
        </p:xfrm>
        <a:graphic xmlns:a="http://schemas.openxmlformats.org/drawingml/2006/main">
          <a:graphicData uri="http://schemas.openxmlformats.org/drawingml/2006/table">
            <a:tbl>
              <a:tblPr/>
              <a:tblGrid>
                <a:gridCol w="1381125"/>
                <a:gridCol w="1952625"/>
              </a:tblGrid>
              <a:tr h="641985">
                <a:tc>
                  <a:txBody>
                    <a:bodyPr lIns="95250" tIns="95250" rIns="95250" bIns="95250"/>
                    <a:lstStyle/>
                    <a:p>
                      <a:r>
                        <a:rPr sz="1875" b="1">
                          <a:solidFill>
                            <a:srgbClr val="FFFFFF"/>
                          </a:solidFill>
                          <a:latin typeface="Arial"/>
                          <a:ea typeface="Arial"/>
                          <a:cs typeface="Arial"/>
                        </a:rPr>
                        <a:t>Canal</a:t>
                      </a:r>
                    </a:p>
                  </a:txBody>
                  <a:tcPr marL="91440" marR="91440" marT="45720" marB="45720"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lIns="95250" tIns="95250" rIns="95250" bIns="95250"/>
                    <a:lstStyle/>
                    <a:p>
                      <a:r>
                        <a:rPr sz="1875" b="1">
                          <a:solidFill>
                            <a:srgbClr val="FFFFFF"/>
                          </a:solidFill>
                          <a:latin typeface="Arial"/>
                          <a:ea typeface="Arial"/>
                          <a:cs typeface="Arial"/>
                        </a:rPr>
                        <a:t>BW (rad/s)</a:t>
                      </a:r>
                    </a:p>
                  </a:txBody>
                  <a:tcPr marL="91440" marR="91440" marT="45720" marB="45720" anchor="ctr">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r>
              <a:tr h="641985">
                <a:tc>
                  <a:txBody>
                    <a:bodyPr lIns="95250" tIns="95250" rIns="95250" bIns="95250"/>
                    <a:lstStyle/>
                    <a:p>
                      <a:r>
                        <a:rPr sz="1875" b="0">
                          <a:solidFill>
                            <a:srgbClr val="13283C"/>
                          </a:solidFill>
                          <a:latin typeface="Arial"/>
                          <a:ea typeface="Arial"/>
                          <a:cs typeface="Arial"/>
                        </a:rPr>
                        <a:t>G₁₁</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875" b="0">
                          <a:solidFill>
                            <a:srgbClr val="13283C"/>
                          </a:solidFill>
                          <a:latin typeface="Arial"/>
                          <a:ea typeface="Arial"/>
                          <a:cs typeface="Arial"/>
                        </a:rPr>
                        <a:t>2,06</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41985">
                <a:tc>
                  <a:txBody>
                    <a:bodyPr lIns="95250" tIns="95250" rIns="95250" bIns="95250"/>
                    <a:lstStyle/>
                    <a:p>
                      <a:r>
                        <a:rPr sz="1875" b="0">
                          <a:solidFill>
                            <a:srgbClr val="13283C"/>
                          </a:solidFill>
                          <a:latin typeface="Arial"/>
                          <a:ea typeface="Arial"/>
                          <a:cs typeface="Arial"/>
                        </a:rPr>
                        <a:t>G₁₂</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875" b="0">
                          <a:solidFill>
                            <a:srgbClr val="13283C"/>
                          </a:solidFill>
                          <a:latin typeface="Arial"/>
                          <a:ea typeface="Arial"/>
                          <a:cs typeface="Arial"/>
                        </a:rPr>
                        <a:t>1,39</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r h="641985">
                <a:tc>
                  <a:txBody>
                    <a:bodyPr lIns="95250" tIns="95250" rIns="95250" bIns="95250"/>
                    <a:lstStyle/>
                    <a:p>
                      <a:r>
                        <a:rPr sz="1875" b="0">
                          <a:solidFill>
                            <a:srgbClr val="13283C"/>
                          </a:solidFill>
                          <a:latin typeface="Arial"/>
                          <a:ea typeface="Arial"/>
                          <a:cs typeface="Arial"/>
                        </a:rPr>
                        <a:t>G₂₁</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875" b="0">
                          <a:solidFill>
                            <a:srgbClr val="13283C"/>
                          </a:solidFill>
                          <a:latin typeface="Arial"/>
                          <a:ea typeface="Arial"/>
                          <a:cs typeface="Arial"/>
                        </a:rPr>
                        <a:t>1,39</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41985">
                <a:tc>
                  <a:txBody>
                    <a:bodyPr lIns="95250" tIns="95250" rIns="95250" bIns="95250"/>
                    <a:lstStyle/>
                    <a:p>
                      <a:r>
                        <a:rPr sz="1875" b="0">
                          <a:solidFill>
                            <a:srgbClr val="13283C"/>
                          </a:solidFill>
                          <a:latin typeface="Arial"/>
                          <a:ea typeface="Arial"/>
                          <a:cs typeface="Arial"/>
                        </a:rPr>
                        <a:t>G₂₂</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875" b="0">
                          <a:solidFill>
                            <a:srgbClr val="13283C"/>
                          </a:solidFill>
                          <a:latin typeface="Arial"/>
                          <a:ea typeface="Arial"/>
                          <a:cs typeface="Arial"/>
                        </a:rPr>
                        <a:t>2,26</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bl>
          </a:graphicData>
        </a:graphic>
      </p:graphicFrame>
      <p:sp>
        <p:nvSpPr>
          <p:cNvPr id="6" name="Las interacciones importan en la banda útil de s">
            <a:extLst xmlns:a="http://schemas.openxmlformats.org/drawingml/2006/main">
              <a:ext uri="{FF2B5EF4-FFF2-40B4-BE49-F238E27FC236}">
                <a16:creationId xmlns:a16="http://schemas.microsoft.com/office/drawing/2014/main" id="{5F63887E-E1EB-4971-B481-B06C6365088F}"/>
              </a:ext>
            </a:extLst>
          </p:cNvPr>
          <p:cNvSpPr>
            <a:spLocks xmlns:a="http://schemas.openxmlformats.org/drawingml/2006/main" noGrp="1"/>
          </p:cNvSpPr>
          <p:nvPr/>
        </p:nvSpPr>
        <p:spPr>
          <a:xfrm xmlns:a="http://schemas.openxmlformats.org/drawingml/2006/main">
            <a:off x="590550" y="55435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3283C"/>
                </a:solidFill>
                <a:latin typeface="Arial"/>
                <a:ea typeface="Arial"/>
                <a:cs typeface="Arial"/>
              </a:defRPr>
            </a:defPPr>
            <a:lvl1pPr algn="l">
              <a:defRPr sz="2175" b="1">
                <a:solidFill>
                  <a:srgbClr val="13283C"/>
                </a:solidFill>
                <a:latin typeface="Arial"/>
                <a:ea typeface="Arial"/>
                <a:cs typeface="Arial"/>
              </a:defRPr>
            </a:lvl1pPr>
            <a:lvl2pPr algn="l">
              <a:defRPr sz="2175" b="1">
                <a:solidFill>
                  <a:srgbClr val="13283C"/>
                </a:solidFill>
                <a:latin typeface="Arial"/>
                <a:ea typeface="Arial"/>
                <a:cs typeface="Arial"/>
              </a:defRPr>
            </a:lvl2pPr>
            <a:lvl3pPr algn="l">
              <a:defRPr sz="2175" b="1">
                <a:solidFill>
                  <a:srgbClr val="13283C"/>
                </a:solidFill>
                <a:latin typeface="Arial"/>
                <a:ea typeface="Arial"/>
                <a:cs typeface="Arial"/>
              </a:defRPr>
            </a:lvl3pPr>
            <a:lvl4pPr algn="l">
              <a:defRPr sz="2175" b="1">
                <a:solidFill>
                  <a:srgbClr val="13283C"/>
                </a:solidFill>
                <a:latin typeface="Arial"/>
                <a:ea typeface="Arial"/>
                <a:cs typeface="Arial"/>
              </a:defRPr>
            </a:lvl4pPr>
            <a:lvl5pPr algn="l">
              <a:defRPr sz="2175" b="1">
                <a:solidFill>
                  <a:srgbClr val="13283C"/>
                </a:solidFill>
                <a:latin typeface="Arial"/>
                <a:ea typeface="Arial"/>
                <a:cs typeface="Arial"/>
              </a:defRPr>
            </a:lvl5pPr>
            <a:lvl6pPr algn="l">
              <a:defRPr sz="2175" b="1">
                <a:solidFill>
                  <a:srgbClr val="13283C"/>
                </a:solidFill>
                <a:latin typeface="Arial"/>
                <a:ea typeface="Arial"/>
                <a:cs typeface="Arial"/>
              </a:defRPr>
            </a:lvl6pPr>
            <a:lvl7pPr algn="l">
              <a:defRPr sz="2175" b="1">
                <a:solidFill>
                  <a:srgbClr val="13283C"/>
                </a:solidFill>
                <a:latin typeface="Arial"/>
                <a:ea typeface="Arial"/>
                <a:cs typeface="Arial"/>
              </a:defRPr>
            </a:lvl7pPr>
            <a:lvl8pPr algn="l">
              <a:defRPr sz="2175" b="1">
                <a:solidFill>
                  <a:srgbClr val="13283C"/>
                </a:solidFill>
                <a:latin typeface="Arial"/>
                <a:ea typeface="Arial"/>
                <a:cs typeface="Arial"/>
              </a:defRPr>
            </a:lvl8pPr>
            <a:lvl9pPr algn="l">
              <a:defRPr sz="2175" b="1">
                <a:solidFill>
                  <a:srgbClr val="13283C"/>
                </a:solidFill>
                <a:latin typeface="Arial"/>
                <a:ea typeface="Arial"/>
                <a:cs typeface="Arial"/>
              </a:defRPr>
            </a:lvl9pPr>
          </a:lstStyle>
          <a:p xmlns:a="http://schemas.openxmlformats.org/drawingml/2006/main">
            <a:pPr algn="l">
              <a:lnSpc>
                <a:spcPct val="110000"/>
              </a:lnSpc>
              <a:buNone/>
              <a:defRPr sz="2175" b="1">
                <a:solidFill>
                  <a:srgbClr val="13283C"/>
                </a:solidFill>
                <a:latin typeface="Arial"/>
                <a:ea typeface="Arial"/>
                <a:cs typeface="Arial"/>
              </a:defRPr>
            </a:pPr>
            <a:r>
              <a:rPr sz="2175" b="1">
                <a:solidFill>
                  <a:srgbClr val="13283C"/>
                </a:solidFill>
                <a:latin typeface="Arial"/>
                <a:ea typeface="Arial"/>
                <a:cs typeface="Arial"/>
              </a:rPr>
              <a:t>Las interacciones importan en la banda útil de seguimiento</a:t>
            </a:r>
          </a:p>
        </p:txBody>
      </p:sp>
      <p:sp>
        <p:nvSpPr>
          <p:cNvPr id="7" name="Nominal: ambos cocientes cruzados quedan bajo 10">
            <a:extLst xmlns:a="http://schemas.openxmlformats.org/drawingml/2006/main">
              <a:ext uri="{FF2B5EF4-FFF2-40B4-BE49-F238E27FC236}">
                <a16:creationId xmlns:a16="http://schemas.microsoft.com/office/drawing/2014/main" id="{1D6CA7FD-3C35-4E50-9217-D2BB0703AFA3}"/>
              </a:ext>
            </a:extLst>
          </p:cNvPr>
          <p:cNvSpPr>
            <a:spLocks xmlns:a="http://schemas.openxmlformats.org/drawingml/2006/main" noGrp="1"/>
          </p:cNvSpPr>
          <p:nvPr/>
        </p:nvSpPr>
        <p:spPr>
          <a:xfrm xmlns:a="http://schemas.openxmlformats.org/drawingml/2006/main">
            <a:off x="590550" y="60293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16474"/>
                </a:solidFill>
                <a:latin typeface="Arial"/>
                <a:ea typeface="Arial"/>
                <a:cs typeface="Arial"/>
              </a:defRPr>
            </a:defPPr>
            <a:lvl1pPr algn="l">
              <a:defRPr sz="1725" b="0">
                <a:solidFill>
                  <a:srgbClr val="516474"/>
                </a:solidFill>
                <a:latin typeface="Arial"/>
                <a:ea typeface="Arial"/>
                <a:cs typeface="Arial"/>
              </a:defRPr>
            </a:lvl1pPr>
            <a:lvl2pPr algn="l">
              <a:defRPr sz="1725" b="0">
                <a:solidFill>
                  <a:srgbClr val="516474"/>
                </a:solidFill>
                <a:latin typeface="Arial"/>
                <a:ea typeface="Arial"/>
                <a:cs typeface="Arial"/>
              </a:defRPr>
            </a:lvl2pPr>
            <a:lvl3pPr algn="l">
              <a:defRPr sz="1725" b="0">
                <a:solidFill>
                  <a:srgbClr val="516474"/>
                </a:solidFill>
                <a:latin typeface="Arial"/>
                <a:ea typeface="Arial"/>
                <a:cs typeface="Arial"/>
              </a:defRPr>
            </a:lvl3pPr>
            <a:lvl4pPr algn="l">
              <a:defRPr sz="1725" b="0">
                <a:solidFill>
                  <a:srgbClr val="516474"/>
                </a:solidFill>
                <a:latin typeface="Arial"/>
                <a:ea typeface="Arial"/>
                <a:cs typeface="Arial"/>
              </a:defRPr>
            </a:lvl4pPr>
            <a:lvl5pPr algn="l">
              <a:defRPr sz="1725" b="0">
                <a:solidFill>
                  <a:srgbClr val="516474"/>
                </a:solidFill>
                <a:latin typeface="Arial"/>
                <a:ea typeface="Arial"/>
                <a:cs typeface="Arial"/>
              </a:defRPr>
            </a:lvl5pPr>
            <a:lvl6pPr algn="l">
              <a:defRPr sz="1725" b="0">
                <a:solidFill>
                  <a:srgbClr val="516474"/>
                </a:solidFill>
                <a:latin typeface="Arial"/>
                <a:ea typeface="Arial"/>
                <a:cs typeface="Arial"/>
              </a:defRPr>
            </a:lvl6pPr>
            <a:lvl7pPr algn="l">
              <a:defRPr sz="1725" b="0">
                <a:solidFill>
                  <a:srgbClr val="516474"/>
                </a:solidFill>
                <a:latin typeface="Arial"/>
                <a:ea typeface="Arial"/>
                <a:cs typeface="Arial"/>
              </a:defRPr>
            </a:lvl7pPr>
            <a:lvl8pPr algn="l">
              <a:defRPr sz="1725" b="0">
                <a:solidFill>
                  <a:srgbClr val="516474"/>
                </a:solidFill>
                <a:latin typeface="Arial"/>
                <a:ea typeface="Arial"/>
                <a:cs typeface="Arial"/>
              </a:defRPr>
            </a:lvl8pPr>
            <a:lvl9pPr algn="l">
              <a:defRPr sz="1725" b="0">
                <a:solidFill>
                  <a:srgbClr val="516474"/>
                </a:solidFill>
                <a:latin typeface="Arial"/>
                <a:ea typeface="Arial"/>
                <a:cs typeface="Arial"/>
              </a:defRPr>
            </a:lvl9pPr>
          </a:lstStyle>
          <a:p xmlns:a="http://schemas.openxmlformats.org/drawingml/2006/main">
            <a:pPr algn="l">
              <a:lnSpc>
                <a:spcPct val="110000"/>
              </a:lnSpc>
              <a:buNone/>
              <a:defRPr sz="1725" b="0">
                <a:solidFill>
                  <a:srgbClr val="516474"/>
                </a:solidFill>
                <a:latin typeface="Arial"/>
                <a:ea typeface="Arial"/>
                <a:cs typeface="Arial"/>
              </a:defRPr>
            </a:pPr>
            <a:r>
              <a:rPr sz="1725" b="0">
                <a:solidFill>
                  <a:srgbClr val="516474"/>
                </a:solidFill>
                <a:latin typeface="Arial"/>
                <a:ea typeface="Arial"/>
                <a:cs typeface="Arial"/>
              </a:rPr>
              <a:t>Nominal: ambos cocientes cruzados quedan bajo 10 % para ω &gt; 7,36 rad/s</a:t>
            </a:r>
          </a:p>
        </p:txBody>
      </p:sp>
    </p:spTree>
    <p:extLst>
      <p:ext uri="{BB962C8B-B14F-4D97-AF65-F5344CB8AC3E}">
        <p14:creationId xmlns:p14="http://schemas.microsoft.com/office/powerpoint/2010/main" val="11176117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Observabilidad">
            <a:extLst xmlns:a="http://schemas.openxmlformats.org/drawingml/2006/main">
              <a:ext uri="{FF2B5EF4-FFF2-40B4-BE49-F238E27FC236}">
                <a16:creationId xmlns:a16="http://schemas.microsoft.com/office/drawing/2014/main" id="{50744E92-14F1-4B8F-805F-C91B629BD16E}"/>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Observabilidad</a:t>
            </a:r>
          </a:p>
        </p:txBody>
      </p:sp>
      <p:sp>
        <p:nvSpPr>
          <p:cNvPr id="3" name="09 / 16">
            <a:extLst xmlns:a="http://schemas.openxmlformats.org/drawingml/2006/main">
              <a:ext uri="{FF2B5EF4-FFF2-40B4-BE49-F238E27FC236}">
                <a16:creationId xmlns:a16="http://schemas.microsoft.com/office/drawing/2014/main" id="{E2F419DF-333E-4296-A762-47D839075DA0}"/>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12 / 19</a:t>
            </a:r>
          </a:p>
        </p:txBody>
      </p:sp>
      <p:sp>
        <p:nvSpPr>
          <p:cNvPr id="4" name="¿Podemos reconstruir los estados con las medicio">
            <a:extLst xmlns:a="http://schemas.openxmlformats.org/drawingml/2006/main">
              <a:ext uri="{FF2B5EF4-FFF2-40B4-BE49-F238E27FC236}">
                <a16:creationId xmlns:a16="http://schemas.microsoft.com/office/drawing/2014/main" id="{46F0CA08-D08F-440E-B76C-507C73185FEB}"/>
              </a:ext>
            </a:extLst>
          </p:cNvPr>
          <p:cNvSpPr>
            <a:spLocks xmlns:a="http://schemas.openxmlformats.org/drawingml/2006/main" noGrp="1"/>
          </p:cNvSpPr>
          <p:nvPr/>
        </p:nvSpPr>
        <p:spPr>
          <a:xfrm xmlns:a="http://schemas.openxmlformats.org/drawingml/2006/main">
            <a:off x="590550" y="13049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xmlns:a="http://schemas.openxmlformats.org/drawingml/2006/main">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¿Podemos reconstruir los estados con las mediciones?</a:t>
            </a:r>
          </a:p>
        </p:txBody>
      </p:sp>
      <p:graphicFrame>
        <p:nvGraphicFramePr>
          <p:cNvPr id="5" name="">
            <a:extLst xmlns:a="http://schemas.openxmlformats.org/drawingml/2006/main">
              <a:ext uri="{FF2B5EF4-FFF2-40B4-BE49-F238E27FC236}">
                <a16:creationId xmlns:a16="http://schemas.microsoft.com/office/drawing/2014/main" id="{072A9338-4703-43DD-9D09-ABEA6BA23AFF}"/>
              </a:ext>
            </a:extLst>
          </p:cNvPr>
          <p:cNvGraphicFramePr/>
          <p:nvPr/>
        </p:nvGraphicFramePr>
        <p:xfrm>
          <a:off xmlns:a="http://schemas.openxmlformats.org/drawingml/2006/main" x="590550" y="2305050"/>
          <a:ext xmlns:a="http://schemas.openxmlformats.org/drawingml/2006/main" cx="6191250" cy="2857500"/>
        </p:xfrm>
        <a:graphic xmlns:a="http://schemas.openxmlformats.org/drawingml/2006/main">
          <a:graphicData uri="http://schemas.openxmlformats.org/drawingml/2006/table">
            <a:tbl>
              <a:tblPr/>
              <a:tblGrid>
                <a:gridCol w="4381500"/>
                <a:gridCol w="1809750"/>
              </a:tblGrid>
              <a:tr h="714375">
                <a:tc>
                  <a:txBody>
                    <a:bodyPr lIns="95250" tIns="95250" rIns="95250" bIns="95250"/>
                    <a:lstStyle/>
                    <a:p>
                      <a:r>
                        <a:rPr sz="2025" b="1">
                          <a:solidFill>
                            <a:srgbClr val="FFFFFF"/>
                          </a:solidFill>
                          <a:latin typeface="Arial"/>
                          <a:ea typeface="Arial"/>
                          <a:cs typeface="Arial"/>
                        </a:rPr>
                        <a:t>Mediciones utilizadas</a:t>
                      </a:r>
                    </a:p>
                  </a:txBody>
                  <a:tcPr marL="91440" marR="91440" marT="45720" marB="45720"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lIns="95250" tIns="95250" rIns="95250" bIns="95250"/>
                    <a:lstStyle/>
                    <a:p>
                      <a:r>
                        <a:rPr sz="2025" b="1">
                          <a:solidFill>
                            <a:srgbClr val="FFFFFF"/>
                          </a:solidFill>
                          <a:latin typeface="Arial"/>
                          <a:ea typeface="Arial"/>
                          <a:cs typeface="Arial"/>
                        </a:rPr>
                        <a:t>Rango de O</a:t>
                      </a:r>
                    </a:p>
                  </a:txBody>
                  <a:tcPr marL="91440" marR="91440" marT="45720" marB="45720" anchor="ctr">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r>
              <a:tr h="714375">
                <a:tc>
                  <a:txBody>
                    <a:bodyPr lIns="95250" tIns="95250" rIns="95250" bIns="95250"/>
                    <a:lstStyle/>
                    <a:p>
                      <a:r>
                        <a:rPr sz="2025" b="0">
                          <a:solidFill>
                            <a:srgbClr val="13283C"/>
                          </a:solidFill>
                          <a:latin typeface="Arial"/>
                          <a:ea typeface="Arial"/>
                          <a:cs typeface="Arial"/>
                        </a:rPr>
                        <a:t>Solo aceleración a</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2025" b="0">
                          <a:solidFill>
                            <a:srgbClr val="13283C"/>
                          </a:solidFill>
                          <a:latin typeface="Arial"/>
                          <a:ea typeface="Arial"/>
                          <a:cs typeface="Arial"/>
                        </a:rPr>
                        <a:t>4</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714375">
                <a:tc>
                  <a:txBody>
                    <a:bodyPr lIns="95250" tIns="95250" rIns="95250" bIns="95250"/>
                    <a:lstStyle/>
                    <a:p>
                      <a:r>
                        <a:rPr sz="2025" b="0">
                          <a:solidFill>
                            <a:srgbClr val="13283C"/>
                          </a:solidFill>
                          <a:latin typeface="Arial"/>
                          <a:ea typeface="Arial"/>
                          <a:cs typeface="Arial"/>
                        </a:rPr>
                        <a:t>Solo ángulo θ</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2025" b="0">
                          <a:solidFill>
                            <a:srgbClr val="13283C"/>
                          </a:solidFill>
                          <a:latin typeface="Arial"/>
                          <a:ea typeface="Arial"/>
                          <a:cs typeface="Arial"/>
                        </a:rPr>
                        <a:t>4</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r h="714375">
                <a:tc>
                  <a:txBody>
                    <a:bodyPr lIns="95250" tIns="95250" rIns="95250" bIns="95250"/>
                    <a:lstStyle/>
                    <a:p>
                      <a:r>
                        <a:rPr sz="2025" b="0">
                          <a:solidFill>
                            <a:srgbClr val="13283C"/>
                          </a:solidFill>
                          <a:latin typeface="Arial"/>
                          <a:ea typeface="Arial"/>
                          <a:cs typeface="Arial"/>
                        </a:rPr>
                        <a:t>Aceleración y ángulo</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2025" b="0">
                          <a:solidFill>
                            <a:srgbClr val="13283C"/>
                          </a:solidFill>
                          <a:latin typeface="Arial"/>
                          <a:ea typeface="Arial"/>
                          <a:cs typeface="Arial"/>
                        </a:rPr>
                        <a:t>4</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bl>
          </a:graphicData>
        </a:graphic>
      </p:graphicFrame>
      <p:sp>
        <p:nvSpPr>
          <p:cNvPr id="6" name="O = [C; CA; CA²; CA³]">
            <a:extLst xmlns:a="http://schemas.openxmlformats.org/drawingml/2006/main">
              <a:ext uri="{FF2B5EF4-FFF2-40B4-BE49-F238E27FC236}">
                <a16:creationId xmlns:a16="http://schemas.microsoft.com/office/drawing/2014/main" id="{D3382DE5-86D7-48D0-81E8-F8C1483666BC}"/>
              </a:ext>
            </a:extLst>
          </p:cNvPr>
          <p:cNvSpPr>
            <a:spLocks xmlns:a="http://schemas.openxmlformats.org/drawingml/2006/main" noGrp="1"/>
          </p:cNvSpPr>
          <p:nvPr/>
        </p:nvSpPr>
        <p:spPr>
          <a:xfrm xmlns:a="http://schemas.openxmlformats.org/drawingml/2006/main">
            <a:off x="7334250" y="236220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3283C"/>
                </a:solidFill>
                <a:latin typeface="Arial"/>
                <a:ea typeface="Arial"/>
                <a:cs typeface="Arial"/>
              </a:defRPr>
            </a:defPPr>
            <a:lvl1pPr algn="l">
              <a:defRPr sz="2250" b="1">
                <a:solidFill>
                  <a:srgbClr val="13283C"/>
                </a:solidFill>
                <a:latin typeface="Arial"/>
                <a:ea typeface="Arial"/>
                <a:cs typeface="Arial"/>
              </a:defRPr>
            </a:lvl1pPr>
            <a:lvl2pPr algn="l">
              <a:defRPr sz="2250" b="1">
                <a:solidFill>
                  <a:srgbClr val="13283C"/>
                </a:solidFill>
                <a:latin typeface="Arial"/>
                <a:ea typeface="Arial"/>
                <a:cs typeface="Arial"/>
              </a:defRPr>
            </a:lvl2pPr>
            <a:lvl3pPr algn="l">
              <a:defRPr sz="2250" b="1">
                <a:solidFill>
                  <a:srgbClr val="13283C"/>
                </a:solidFill>
                <a:latin typeface="Arial"/>
                <a:ea typeface="Arial"/>
                <a:cs typeface="Arial"/>
              </a:defRPr>
            </a:lvl3pPr>
            <a:lvl4pPr algn="l">
              <a:defRPr sz="2250" b="1">
                <a:solidFill>
                  <a:srgbClr val="13283C"/>
                </a:solidFill>
                <a:latin typeface="Arial"/>
                <a:ea typeface="Arial"/>
                <a:cs typeface="Arial"/>
              </a:defRPr>
            </a:lvl4pPr>
            <a:lvl5pPr algn="l">
              <a:defRPr sz="2250" b="1">
                <a:solidFill>
                  <a:srgbClr val="13283C"/>
                </a:solidFill>
                <a:latin typeface="Arial"/>
                <a:ea typeface="Arial"/>
                <a:cs typeface="Arial"/>
              </a:defRPr>
            </a:lvl5pPr>
            <a:lvl6pPr algn="l">
              <a:defRPr sz="2250" b="1">
                <a:solidFill>
                  <a:srgbClr val="13283C"/>
                </a:solidFill>
                <a:latin typeface="Arial"/>
                <a:ea typeface="Arial"/>
                <a:cs typeface="Arial"/>
              </a:defRPr>
            </a:lvl6pPr>
            <a:lvl7pPr algn="l">
              <a:defRPr sz="2250" b="1">
                <a:solidFill>
                  <a:srgbClr val="13283C"/>
                </a:solidFill>
                <a:latin typeface="Arial"/>
                <a:ea typeface="Arial"/>
                <a:cs typeface="Arial"/>
              </a:defRPr>
            </a:lvl7pPr>
            <a:lvl8pPr algn="l">
              <a:defRPr sz="2250" b="1">
                <a:solidFill>
                  <a:srgbClr val="13283C"/>
                </a:solidFill>
                <a:latin typeface="Arial"/>
                <a:ea typeface="Arial"/>
                <a:cs typeface="Arial"/>
              </a:defRPr>
            </a:lvl8pPr>
            <a:lvl9pPr algn="l">
              <a:defRPr sz="2250" b="1">
                <a:solidFill>
                  <a:srgbClr val="13283C"/>
                </a:solidFill>
                <a:latin typeface="Arial"/>
                <a:ea typeface="Arial"/>
                <a:cs typeface="Arial"/>
              </a:defRPr>
            </a:lvl9pPr>
          </a:lstStyle>
          <a:p xmlns:a="http://schemas.openxmlformats.org/drawingml/2006/main">
            <a:pPr algn="l">
              <a:lnSpc>
                <a:spcPct val="110000"/>
              </a:lnSpc>
              <a:buNone/>
              <a:defRPr sz="2250" b="1">
                <a:solidFill>
                  <a:srgbClr val="13283C"/>
                </a:solidFill>
                <a:latin typeface="Arial"/>
                <a:ea typeface="Arial"/>
                <a:cs typeface="Arial"/>
              </a:defRPr>
            </a:pPr>
            <a:r>
              <a:rPr sz="2250" b="1">
                <a:solidFill>
                  <a:srgbClr val="13283C"/>
                </a:solidFill>
                <a:latin typeface="Arial"/>
                <a:ea typeface="Arial"/>
                <a:cs typeface="Arial"/>
              </a:rPr>
              <a:t>O = [C; CA; CA²; CA³]</a:t>
            </a:r>
          </a:p>
        </p:txBody>
      </p:sp>
      <p:sp>
        <p:nvSpPr>
          <p:cNvPr id="7" name="Rango 4:&#10;los cuatro estados&#10;son observables">
            <a:extLst xmlns:a="http://schemas.openxmlformats.org/drawingml/2006/main">
              <a:ext uri="{FF2B5EF4-FFF2-40B4-BE49-F238E27FC236}">
                <a16:creationId xmlns:a16="http://schemas.microsoft.com/office/drawing/2014/main" id="{5757E779-5F7E-4C9C-8A24-988AA20BD90F}"/>
              </a:ext>
            </a:extLst>
          </p:cNvPr>
          <p:cNvSpPr>
            <a:spLocks xmlns:a="http://schemas.openxmlformats.org/drawingml/2006/main" noGrp="1"/>
          </p:cNvSpPr>
          <p:nvPr/>
        </p:nvSpPr>
        <p:spPr>
          <a:xfrm xmlns:a="http://schemas.openxmlformats.org/drawingml/2006/main">
            <a:off x="7334250" y="333375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87E8B"/>
                </a:solidFill>
                <a:latin typeface="Arial"/>
                <a:ea typeface="Arial"/>
                <a:cs typeface="Arial"/>
              </a:defRPr>
            </a:defPPr>
            <a:lvl1pPr algn="l">
              <a:defRPr sz="2250" b="1">
                <a:solidFill>
                  <a:srgbClr val="087E8B"/>
                </a:solidFill>
                <a:latin typeface="Arial"/>
                <a:ea typeface="Arial"/>
                <a:cs typeface="Arial"/>
              </a:defRPr>
            </a:lvl1pPr>
            <a:lvl2pPr algn="l">
              <a:defRPr sz="2250" b="1">
                <a:solidFill>
                  <a:srgbClr val="087E8B"/>
                </a:solidFill>
                <a:latin typeface="Arial"/>
                <a:ea typeface="Arial"/>
                <a:cs typeface="Arial"/>
              </a:defRPr>
            </a:lvl2pPr>
            <a:lvl3pPr algn="l">
              <a:defRPr sz="2250" b="1">
                <a:solidFill>
                  <a:srgbClr val="087E8B"/>
                </a:solidFill>
                <a:latin typeface="Arial"/>
                <a:ea typeface="Arial"/>
                <a:cs typeface="Arial"/>
              </a:defRPr>
            </a:lvl3pPr>
            <a:lvl4pPr algn="l">
              <a:defRPr sz="2250" b="1">
                <a:solidFill>
                  <a:srgbClr val="087E8B"/>
                </a:solidFill>
                <a:latin typeface="Arial"/>
                <a:ea typeface="Arial"/>
                <a:cs typeface="Arial"/>
              </a:defRPr>
            </a:lvl4pPr>
            <a:lvl5pPr algn="l">
              <a:defRPr sz="2250" b="1">
                <a:solidFill>
                  <a:srgbClr val="087E8B"/>
                </a:solidFill>
                <a:latin typeface="Arial"/>
                <a:ea typeface="Arial"/>
                <a:cs typeface="Arial"/>
              </a:defRPr>
            </a:lvl5pPr>
            <a:lvl6pPr algn="l">
              <a:defRPr sz="2250" b="1">
                <a:solidFill>
                  <a:srgbClr val="087E8B"/>
                </a:solidFill>
                <a:latin typeface="Arial"/>
                <a:ea typeface="Arial"/>
                <a:cs typeface="Arial"/>
              </a:defRPr>
            </a:lvl6pPr>
            <a:lvl7pPr algn="l">
              <a:defRPr sz="2250" b="1">
                <a:solidFill>
                  <a:srgbClr val="087E8B"/>
                </a:solidFill>
                <a:latin typeface="Arial"/>
                <a:ea typeface="Arial"/>
                <a:cs typeface="Arial"/>
              </a:defRPr>
            </a:lvl7pPr>
            <a:lvl8pPr algn="l">
              <a:defRPr sz="2250" b="1">
                <a:solidFill>
                  <a:srgbClr val="087E8B"/>
                </a:solidFill>
                <a:latin typeface="Arial"/>
                <a:ea typeface="Arial"/>
                <a:cs typeface="Arial"/>
              </a:defRPr>
            </a:lvl8pPr>
            <a:lvl9pPr algn="l">
              <a:defRPr sz="2250" b="1">
                <a:solidFill>
                  <a:srgbClr val="087E8B"/>
                </a:solidFill>
                <a:latin typeface="Arial"/>
                <a:ea typeface="Arial"/>
                <a:cs typeface="Arial"/>
              </a:defRPr>
            </a:lvl9pPr>
          </a:lstStyle>
          <a:p xmlns:a="http://schemas.openxmlformats.org/drawingml/2006/main">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Rango 4:</a:t>
            </a:r>
          </a:p>
          <a:p xmlns:a="http://schemas.openxmlformats.org/drawingml/2006/main">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los cuatro estados</a:t>
            </a:r>
          </a:p>
          <a:p xmlns:a="http://schemas.openxmlformats.org/drawingml/2006/main">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son observables</a:t>
            </a:r>
          </a:p>
        </p:txBody>
      </p:sp>
      <p:sp>
        <p:nvSpPr>
          <p:cNvPr id="8" name="La precisión con ruido requiere normalización y ">
            <a:extLst xmlns:a="http://schemas.openxmlformats.org/drawingml/2006/main">
              <a:ext uri="{FF2B5EF4-FFF2-40B4-BE49-F238E27FC236}">
                <a16:creationId xmlns:a16="http://schemas.microsoft.com/office/drawing/2014/main" id="{4BFC0DFF-21BF-48D9-BDDF-13A7A4782EEE}"/>
              </a:ext>
            </a:extLst>
          </p:cNvPr>
          <p:cNvSpPr>
            <a:spLocks xmlns:a="http://schemas.openxmlformats.org/drawingml/2006/main" noGrp="1"/>
          </p:cNvSpPr>
          <p:nvPr/>
        </p:nvSpPr>
        <p:spPr>
          <a:xfrm xmlns:a="http://schemas.openxmlformats.org/drawingml/2006/main">
            <a:off x="590550" y="5753100"/>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16474"/>
                </a:solidFill>
                <a:latin typeface="Arial"/>
                <a:ea typeface="Arial"/>
                <a:cs typeface="Arial"/>
              </a:defRPr>
            </a:defPPr>
            <a:lvl1pPr algn="l">
              <a:defRPr sz="1875" b="0">
                <a:solidFill>
                  <a:srgbClr val="516474"/>
                </a:solidFill>
                <a:latin typeface="Arial"/>
                <a:ea typeface="Arial"/>
                <a:cs typeface="Arial"/>
              </a:defRPr>
            </a:lvl1pPr>
            <a:lvl2pPr algn="l">
              <a:defRPr sz="1875" b="0">
                <a:solidFill>
                  <a:srgbClr val="516474"/>
                </a:solidFill>
                <a:latin typeface="Arial"/>
                <a:ea typeface="Arial"/>
                <a:cs typeface="Arial"/>
              </a:defRPr>
            </a:lvl2pPr>
            <a:lvl3pPr algn="l">
              <a:defRPr sz="1875" b="0">
                <a:solidFill>
                  <a:srgbClr val="516474"/>
                </a:solidFill>
                <a:latin typeface="Arial"/>
                <a:ea typeface="Arial"/>
                <a:cs typeface="Arial"/>
              </a:defRPr>
            </a:lvl3pPr>
            <a:lvl4pPr algn="l">
              <a:defRPr sz="1875" b="0">
                <a:solidFill>
                  <a:srgbClr val="516474"/>
                </a:solidFill>
                <a:latin typeface="Arial"/>
                <a:ea typeface="Arial"/>
                <a:cs typeface="Arial"/>
              </a:defRPr>
            </a:lvl4pPr>
            <a:lvl5pPr algn="l">
              <a:defRPr sz="1875" b="0">
                <a:solidFill>
                  <a:srgbClr val="516474"/>
                </a:solidFill>
                <a:latin typeface="Arial"/>
                <a:ea typeface="Arial"/>
                <a:cs typeface="Arial"/>
              </a:defRPr>
            </a:lvl5pPr>
            <a:lvl6pPr algn="l">
              <a:defRPr sz="1875" b="0">
                <a:solidFill>
                  <a:srgbClr val="516474"/>
                </a:solidFill>
                <a:latin typeface="Arial"/>
                <a:ea typeface="Arial"/>
                <a:cs typeface="Arial"/>
              </a:defRPr>
            </a:lvl6pPr>
            <a:lvl7pPr algn="l">
              <a:defRPr sz="1875" b="0">
                <a:solidFill>
                  <a:srgbClr val="516474"/>
                </a:solidFill>
                <a:latin typeface="Arial"/>
                <a:ea typeface="Arial"/>
                <a:cs typeface="Arial"/>
              </a:defRPr>
            </a:lvl7pPr>
            <a:lvl8pPr algn="l">
              <a:defRPr sz="1875" b="0">
                <a:solidFill>
                  <a:srgbClr val="516474"/>
                </a:solidFill>
                <a:latin typeface="Arial"/>
                <a:ea typeface="Arial"/>
                <a:cs typeface="Arial"/>
              </a:defRPr>
            </a:lvl8pPr>
            <a:lvl9pPr algn="l">
              <a:defRPr sz="1875" b="0">
                <a:solidFill>
                  <a:srgbClr val="516474"/>
                </a:solidFill>
                <a:latin typeface="Arial"/>
                <a:ea typeface="Arial"/>
                <a:cs typeface="Arial"/>
              </a:defRPr>
            </a:lvl9pPr>
          </a:lstStyle>
          <a:p xmlns:a="http://schemas.openxmlformats.org/drawingml/2006/main">
            <a:pPr algn="l">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La precisión con ruido requiere normalización y un modelo de sensores</a:t>
            </a:r>
          </a:p>
        </p:txBody>
      </p:sp>
      <p:sp>
        <p:nvSpPr>
          <p:cNvPr id="9" name="Observable: known inputs and measured outputs re">
            <a:extLst xmlns:a="http://schemas.openxmlformats.org/drawingml/2006/main">
              <a:ext uri="{FF2B5EF4-FFF2-40B4-BE49-F238E27FC236}">
                <a16:creationId xmlns:a16="http://schemas.microsoft.com/office/drawing/2014/main" id="{5AF0BA0F-3FC7-4040-8107-F4386C2A80C3}"/>
              </a:ext>
            </a:extLst>
          </p:cNvPr>
          <p:cNvSpPr>
            <a:spLocks xmlns:a="http://schemas.openxmlformats.org/drawingml/2006/main" noGrp="1"/>
          </p:cNvSpPr>
          <p:nvPr/>
        </p:nvSpPr>
        <p:spPr>
          <a:xfrm xmlns:a="http://schemas.openxmlformats.org/drawingml/2006/main">
            <a:off x="590550" y="1905000"/>
            <a:ext cx="11010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474"/>
                </a:solidFill>
                <a:latin typeface="Arial"/>
                <a:ea typeface="Arial"/>
                <a:cs typeface="Arial"/>
              </a:defRPr>
            </a:defPPr>
            <a:lvl1pPr>
              <a:defRPr sz="1800" b="0">
                <a:solidFill>
                  <a:srgbClr val="516474"/>
                </a:solidFill>
                <a:latin typeface="Arial"/>
                <a:ea typeface="Arial"/>
                <a:cs typeface="Arial"/>
              </a:defRPr>
            </a:lvl1pPr>
            <a:lvl2pPr>
              <a:defRPr sz="1800" b="0">
                <a:solidFill>
                  <a:srgbClr val="516474"/>
                </a:solidFill>
                <a:latin typeface="Arial"/>
                <a:ea typeface="Arial"/>
                <a:cs typeface="Arial"/>
              </a:defRPr>
            </a:lvl2pPr>
            <a:lvl3pPr>
              <a:defRPr sz="1800" b="0">
                <a:solidFill>
                  <a:srgbClr val="516474"/>
                </a:solidFill>
                <a:latin typeface="Arial"/>
                <a:ea typeface="Arial"/>
                <a:cs typeface="Arial"/>
              </a:defRPr>
            </a:lvl3pPr>
            <a:lvl4pPr>
              <a:defRPr sz="1800" b="0">
                <a:solidFill>
                  <a:srgbClr val="516474"/>
                </a:solidFill>
                <a:latin typeface="Arial"/>
                <a:ea typeface="Arial"/>
                <a:cs typeface="Arial"/>
              </a:defRPr>
            </a:lvl4pPr>
            <a:lvl5pPr>
              <a:defRPr sz="1800" b="0">
                <a:solidFill>
                  <a:srgbClr val="516474"/>
                </a:solidFill>
                <a:latin typeface="Arial"/>
                <a:ea typeface="Arial"/>
                <a:cs typeface="Arial"/>
              </a:defRPr>
            </a:lvl5pPr>
            <a:lvl6pPr>
              <a:defRPr sz="1800" b="0">
                <a:solidFill>
                  <a:srgbClr val="516474"/>
                </a:solidFill>
                <a:latin typeface="Arial"/>
                <a:ea typeface="Arial"/>
                <a:cs typeface="Arial"/>
              </a:defRPr>
            </a:lvl6pPr>
            <a:lvl7pPr>
              <a:defRPr sz="1800" b="0">
                <a:solidFill>
                  <a:srgbClr val="516474"/>
                </a:solidFill>
                <a:latin typeface="Arial"/>
                <a:ea typeface="Arial"/>
                <a:cs typeface="Arial"/>
              </a:defRPr>
            </a:lvl7pPr>
            <a:lvl8pPr>
              <a:defRPr sz="1800" b="0">
                <a:solidFill>
                  <a:srgbClr val="516474"/>
                </a:solidFill>
                <a:latin typeface="Arial"/>
                <a:ea typeface="Arial"/>
                <a:cs typeface="Arial"/>
              </a:defRPr>
            </a:lvl8pPr>
            <a:lvl9pPr>
              <a:defRPr sz="1800" b="0">
                <a:solidFill>
                  <a:srgbClr val="516474"/>
                </a:solidFill>
                <a:latin typeface="Arial"/>
                <a:ea typeface="Arial"/>
                <a:cs typeface="Arial"/>
              </a:defRPr>
            </a:lvl9pPr>
          </a:lstStyle>
          <a:p xmlns:a="http://schemas.openxmlformats.org/drawingml/2006/main">
            <a:pPr>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Observable: reconstruimos el estado con las entradas conocidas y las salidas medidas</a:t>
            </a:r>
          </a:p>
        </p:txBody>
      </p:sp>
    </p:spTree>
    <p:extLst>
      <p:ext uri="{BB962C8B-B14F-4D97-AF65-F5344CB8AC3E}">
        <p14:creationId xmlns:p14="http://schemas.microsoft.com/office/powerpoint/2010/main" val="2032100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ntrolabilidad">
            <a:extLst xmlns:a="http://schemas.openxmlformats.org/drawingml/2006/main">
              <a:ext uri="{FF2B5EF4-FFF2-40B4-BE49-F238E27FC236}">
                <a16:creationId xmlns:a16="http://schemas.microsoft.com/office/drawing/2014/main" id="{F2E58DB9-C2C2-411C-AB10-2FC4962F8807}"/>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Controlabilidad</a:t>
            </a:r>
          </a:p>
        </p:txBody>
      </p:sp>
      <p:sp>
        <p:nvSpPr>
          <p:cNvPr id="3" name="10 / 16">
            <a:extLst xmlns:a="http://schemas.openxmlformats.org/drawingml/2006/main">
              <a:ext uri="{FF2B5EF4-FFF2-40B4-BE49-F238E27FC236}">
                <a16:creationId xmlns:a16="http://schemas.microsoft.com/office/drawing/2014/main" id="{F424B7C3-63DD-466A-B0DC-480C204FEC28}"/>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13 / 19</a:t>
            </a:r>
          </a:p>
        </p:txBody>
      </p:sp>
      <p:sp>
        <p:nvSpPr>
          <p:cNvPr id="4" name="¿Qué estados pueden alcanzar las entradas?">
            <a:extLst xmlns:a="http://schemas.openxmlformats.org/drawingml/2006/main">
              <a:ext uri="{FF2B5EF4-FFF2-40B4-BE49-F238E27FC236}">
                <a16:creationId xmlns:a16="http://schemas.microsoft.com/office/drawing/2014/main" id="{8A55C27B-7479-4E37-B7CB-E9A8E2D3AD09}"/>
              </a:ext>
            </a:extLst>
          </p:cNvPr>
          <p:cNvSpPr>
            <a:spLocks xmlns:a="http://schemas.openxmlformats.org/drawingml/2006/main" noGrp="1"/>
          </p:cNvSpPr>
          <p:nvPr/>
        </p:nvSpPr>
        <p:spPr>
          <a:xfrm xmlns:a="http://schemas.openxmlformats.org/drawingml/2006/main">
            <a:off x="590550" y="13049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xmlns:a="http://schemas.openxmlformats.org/drawingml/2006/main">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¿Qué estados pueden alcanzar las entradas?</a:t>
            </a:r>
          </a:p>
        </p:txBody>
      </p:sp>
      <p:graphicFrame>
        <p:nvGraphicFramePr>
          <p:cNvPr id="5" name="">
            <a:extLst xmlns:a="http://schemas.openxmlformats.org/drawingml/2006/main">
              <a:ext uri="{FF2B5EF4-FFF2-40B4-BE49-F238E27FC236}">
                <a16:creationId xmlns:a16="http://schemas.microsoft.com/office/drawing/2014/main" id="{C281BBB1-DF84-4623-8DBC-002646029595}"/>
              </a:ext>
            </a:extLst>
          </p:cNvPr>
          <p:cNvGraphicFramePr/>
          <p:nvPr/>
        </p:nvGraphicFramePr>
        <p:xfrm>
          <a:off xmlns:a="http://schemas.openxmlformats.org/drawingml/2006/main" x="590550" y="2266950"/>
          <a:ext xmlns:a="http://schemas.openxmlformats.org/drawingml/2006/main" cx="7286625" cy="3381375"/>
        </p:xfrm>
        <a:graphic xmlns:a="http://schemas.openxmlformats.org/drawingml/2006/main">
          <a:graphicData uri="http://schemas.openxmlformats.org/drawingml/2006/table">
            <a:tbl>
              <a:tblPr/>
              <a:tblGrid>
                <a:gridCol w="5953125"/>
                <a:gridCol w="1333500"/>
              </a:tblGrid>
              <a:tr h="676275">
                <a:tc>
                  <a:txBody>
                    <a:bodyPr lIns="95250" tIns="95250" rIns="95250" bIns="95250"/>
                    <a:lstStyle/>
                    <a:p>
                      <a:r>
                        <a:rPr sz="1875" b="1">
                          <a:solidFill>
                            <a:srgbClr val="FFFFFF"/>
                          </a:solidFill>
                          <a:latin typeface="Arial"/>
                          <a:ea typeface="Arial"/>
                          <a:cs typeface="Arial"/>
                        </a:rPr>
                        <a:t>Escenario</a:t>
                      </a:r>
                    </a:p>
                  </a:txBody>
                  <a:tcPr marL="91440" marR="91440" marT="45720" marB="45720"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lIns="95250" tIns="95250" rIns="95250" bIns="95250"/>
                    <a:lstStyle/>
                    <a:p>
                      <a:r>
                        <a:rPr sz="1875" b="1">
                          <a:solidFill>
                            <a:srgbClr val="FFFFFF"/>
                          </a:solidFill>
                          <a:latin typeface="Arial"/>
                          <a:ea typeface="Arial"/>
                          <a:cs typeface="Arial"/>
                        </a:rPr>
                        <a:t>Rango</a:t>
                      </a:r>
                    </a:p>
                  </a:txBody>
                  <a:tcPr marL="91440" marR="91440" marT="45720" marB="45720" anchor="ctr">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r>
              <a:tr h="676275">
                <a:tc>
                  <a:txBody>
                    <a:bodyPr lIns="95250" tIns="95250" rIns="95250" bIns="95250"/>
                    <a:lstStyle/>
                    <a:p>
                      <a:r>
                        <a:rPr sz="1875" b="0">
                          <a:solidFill>
                            <a:srgbClr val="13283C"/>
                          </a:solidFill>
                          <a:latin typeface="Arial"/>
                          <a:ea typeface="Arial"/>
                          <a:cs typeface="Arial"/>
                        </a:rPr>
                        <a:t>Ambas entradas</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875" b="0">
                          <a:solidFill>
                            <a:srgbClr val="13283C"/>
                          </a:solidFill>
                          <a:latin typeface="Arial"/>
                          <a:ea typeface="Arial"/>
                          <a:cs typeface="Arial"/>
                        </a:rPr>
                        <a:t>4</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76275">
                <a:tc>
                  <a:txBody>
                    <a:bodyPr lIns="95250" tIns="95250" rIns="95250" bIns="95250"/>
                    <a:lstStyle/>
                    <a:p>
                      <a:r>
                        <a:rPr sz="1875" b="0">
                          <a:solidFill>
                            <a:srgbClr val="13283C"/>
                          </a:solidFill>
                          <a:latin typeface="Arial"/>
                          <a:ea typeface="Arial"/>
                          <a:cs typeface="Arial"/>
                        </a:rPr>
                        <a:t>Solo un comando externo, A nominal</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875" b="0">
                          <a:solidFill>
                            <a:srgbClr val="13283C"/>
                          </a:solidFill>
                          <a:latin typeface="Arial"/>
                          <a:ea typeface="Arial"/>
                          <a:cs typeface="Arial"/>
                        </a:rPr>
                        <a:t>4</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r h="676275">
                <a:tc>
                  <a:txBody>
                    <a:bodyPr lIns="95250" tIns="95250" rIns="95250" bIns="95250"/>
                    <a:lstStyle/>
                    <a:p>
                      <a:r>
                        <a:rPr sz="1875" b="0">
                          <a:solidFill>
                            <a:srgbClr val="13283C"/>
                          </a:solidFill>
                          <a:latin typeface="Arial"/>
                          <a:ea typeface="Arial"/>
                          <a:cs typeface="Arial"/>
                        </a:rPr>
                        <a:t>Servo trabado</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875" b="0">
                          <a:solidFill>
                            <a:srgbClr val="13283C"/>
                          </a:solidFill>
                          <a:latin typeface="Arial"/>
                          <a:ea typeface="Arial"/>
                          <a:cs typeface="Arial"/>
                        </a:rPr>
                        <a:t>3</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76275">
                <a:tc>
                  <a:txBody>
                    <a:bodyPr lIns="95250" tIns="95250" rIns="95250" bIns="95250"/>
                    <a:lstStyle/>
                    <a:p>
                      <a:r>
                        <a:rPr sz="1875" b="0">
                          <a:solidFill>
                            <a:srgbClr val="13283C"/>
                          </a:solidFill>
                          <a:latin typeface="Arial"/>
                          <a:ea typeface="Arial"/>
                          <a:cs typeface="Arial"/>
                        </a:rPr>
                        <a:t>K₂ = 0</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875" b="0">
                          <a:solidFill>
                            <a:srgbClr val="13283C"/>
                          </a:solidFill>
                          <a:latin typeface="Arial"/>
                          <a:ea typeface="Arial"/>
                          <a:cs typeface="Arial"/>
                        </a:rPr>
                        <a:t>3</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bl>
          </a:graphicData>
        </a:graphic>
      </p:graphicFrame>
      <p:sp>
        <p:nvSpPr>
          <p:cNvPr id="6" name="M = [B AB A²B A³B]">
            <a:extLst xmlns:a="http://schemas.openxmlformats.org/drawingml/2006/main">
              <a:ext uri="{FF2B5EF4-FFF2-40B4-BE49-F238E27FC236}">
                <a16:creationId xmlns:a16="http://schemas.microsoft.com/office/drawing/2014/main" id="{1A1E0396-8B7F-40CA-81FE-D97B89B31616}"/>
              </a:ext>
            </a:extLst>
          </p:cNvPr>
          <p:cNvSpPr>
            <a:spLocks xmlns:a="http://schemas.openxmlformats.org/drawingml/2006/main" noGrp="1"/>
          </p:cNvSpPr>
          <p:nvPr/>
        </p:nvSpPr>
        <p:spPr>
          <a:xfrm xmlns:a="http://schemas.openxmlformats.org/drawingml/2006/main">
            <a:off x="8334375" y="2333625"/>
            <a:ext cx="328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3283C"/>
                </a:solidFill>
                <a:latin typeface="Arial"/>
                <a:ea typeface="Arial"/>
                <a:cs typeface="Arial"/>
              </a:defRPr>
            </a:defPPr>
            <a:lvl1pPr algn="l">
              <a:defRPr sz="2175" b="1">
                <a:solidFill>
                  <a:srgbClr val="13283C"/>
                </a:solidFill>
                <a:latin typeface="Arial"/>
                <a:ea typeface="Arial"/>
                <a:cs typeface="Arial"/>
              </a:defRPr>
            </a:lvl1pPr>
            <a:lvl2pPr algn="l">
              <a:defRPr sz="2175" b="1">
                <a:solidFill>
                  <a:srgbClr val="13283C"/>
                </a:solidFill>
                <a:latin typeface="Arial"/>
                <a:ea typeface="Arial"/>
                <a:cs typeface="Arial"/>
              </a:defRPr>
            </a:lvl2pPr>
            <a:lvl3pPr algn="l">
              <a:defRPr sz="2175" b="1">
                <a:solidFill>
                  <a:srgbClr val="13283C"/>
                </a:solidFill>
                <a:latin typeface="Arial"/>
                <a:ea typeface="Arial"/>
                <a:cs typeface="Arial"/>
              </a:defRPr>
            </a:lvl3pPr>
            <a:lvl4pPr algn="l">
              <a:defRPr sz="2175" b="1">
                <a:solidFill>
                  <a:srgbClr val="13283C"/>
                </a:solidFill>
                <a:latin typeface="Arial"/>
                <a:ea typeface="Arial"/>
                <a:cs typeface="Arial"/>
              </a:defRPr>
            </a:lvl4pPr>
            <a:lvl5pPr algn="l">
              <a:defRPr sz="2175" b="1">
                <a:solidFill>
                  <a:srgbClr val="13283C"/>
                </a:solidFill>
                <a:latin typeface="Arial"/>
                <a:ea typeface="Arial"/>
                <a:cs typeface="Arial"/>
              </a:defRPr>
            </a:lvl5pPr>
            <a:lvl6pPr algn="l">
              <a:defRPr sz="2175" b="1">
                <a:solidFill>
                  <a:srgbClr val="13283C"/>
                </a:solidFill>
                <a:latin typeface="Arial"/>
                <a:ea typeface="Arial"/>
                <a:cs typeface="Arial"/>
              </a:defRPr>
            </a:lvl6pPr>
            <a:lvl7pPr algn="l">
              <a:defRPr sz="2175" b="1">
                <a:solidFill>
                  <a:srgbClr val="13283C"/>
                </a:solidFill>
                <a:latin typeface="Arial"/>
                <a:ea typeface="Arial"/>
                <a:cs typeface="Arial"/>
              </a:defRPr>
            </a:lvl7pPr>
            <a:lvl8pPr algn="l">
              <a:defRPr sz="2175" b="1">
                <a:solidFill>
                  <a:srgbClr val="13283C"/>
                </a:solidFill>
                <a:latin typeface="Arial"/>
                <a:ea typeface="Arial"/>
                <a:cs typeface="Arial"/>
              </a:defRPr>
            </a:lvl8pPr>
            <a:lvl9pPr algn="l">
              <a:defRPr sz="2175" b="1">
                <a:solidFill>
                  <a:srgbClr val="13283C"/>
                </a:solidFill>
                <a:latin typeface="Arial"/>
                <a:ea typeface="Arial"/>
                <a:cs typeface="Arial"/>
              </a:defRPr>
            </a:lvl9pPr>
          </a:lstStyle>
          <a:p xmlns:a="http://schemas.openxmlformats.org/drawingml/2006/main">
            <a:pPr algn="l">
              <a:lnSpc>
                <a:spcPct val="110000"/>
              </a:lnSpc>
              <a:buNone/>
              <a:defRPr sz="2175" b="1">
                <a:solidFill>
                  <a:srgbClr val="13283C"/>
                </a:solidFill>
                <a:latin typeface="Arial"/>
                <a:ea typeface="Arial"/>
                <a:cs typeface="Arial"/>
              </a:defRPr>
            </a:pPr>
            <a:r>
              <a:rPr sz="2175" b="1">
                <a:solidFill>
                  <a:srgbClr val="13283C"/>
                </a:solidFill>
                <a:latin typeface="Arial"/>
                <a:ea typeface="Arial"/>
                <a:cs typeface="Arial"/>
              </a:rPr>
              <a:t>M = [B AB A²B A³B]</a:t>
            </a:r>
          </a:p>
        </p:txBody>
      </p:sp>
      <p:sp>
        <p:nvSpPr>
          <p:cNvPr id="7" name="Servo trabado:&#10;δ queda fija">
            <a:extLst xmlns:a="http://schemas.openxmlformats.org/drawingml/2006/main">
              <a:ext uri="{FF2B5EF4-FFF2-40B4-BE49-F238E27FC236}">
                <a16:creationId xmlns:a16="http://schemas.microsoft.com/office/drawing/2014/main" id="{2A9FEC81-D0A1-4454-AC79-F3305AADECBE}"/>
              </a:ext>
            </a:extLst>
          </p:cNvPr>
          <p:cNvSpPr>
            <a:spLocks xmlns:a="http://schemas.openxmlformats.org/drawingml/2006/main" noGrp="1"/>
          </p:cNvSpPr>
          <p:nvPr/>
        </p:nvSpPr>
        <p:spPr>
          <a:xfrm xmlns:a="http://schemas.openxmlformats.org/drawingml/2006/main">
            <a:off x="8334375" y="3762375"/>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D66A2C"/>
                </a:solidFill>
                <a:latin typeface="Arial"/>
                <a:ea typeface="Arial"/>
                <a:cs typeface="Arial"/>
              </a:defRPr>
            </a:defPPr>
            <a:lvl1pPr algn="l">
              <a:defRPr sz="2325" b="1">
                <a:solidFill>
                  <a:srgbClr val="D66A2C"/>
                </a:solidFill>
                <a:latin typeface="Arial"/>
                <a:ea typeface="Arial"/>
                <a:cs typeface="Arial"/>
              </a:defRPr>
            </a:lvl1pPr>
            <a:lvl2pPr algn="l">
              <a:defRPr sz="2325" b="1">
                <a:solidFill>
                  <a:srgbClr val="D66A2C"/>
                </a:solidFill>
                <a:latin typeface="Arial"/>
                <a:ea typeface="Arial"/>
                <a:cs typeface="Arial"/>
              </a:defRPr>
            </a:lvl2pPr>
            <a:lvl3pPr algn="l">
              <a:defRPr sz="2325" b="1">
                <a:solidFill>
                  <a:srgbClr val="D66A2C"/>
                </a:solidFill>
                <a:latin typeface="Arial"/>
                <a:ea typeface="Arial"/>
                <a:cs typeface="Arial"/>
              </a:defRPr>
            </a:lvl3pPr>
            <a:lvl4pPr algn="l">
              <a:defRPr sz="2325" b="1">
                <a:solidFill>
                  <a:srgbClr val="D66A2C"/>
                </a:solidFill>
                <a:latin typeface="Arial"/>
                <a:ea typeface="Arial"/>
                <a:cs typeface="Arial"/>
              </a:defRPr>
            </a:lvl4pPr>
            <a:lvl5pPr algn="l">
              <a:defRPr sz="2325" b="1">
                <a:solidFill>
                  <a:srgbClr val="D66A2C"/>
                </a:solidFill>
                <a:latin typeface="Arial"/>
                <a:ea typeface="Arial"/>
                <a:cs typeface="Arial"/>
              </a:defRPr>
            </a:lvl5pPr>
            <a:lvl6pPr algn="l">
              <a:defRPr sz="2325" b="1">
                <a:solidFill>
                  <a:srgbClr val="D66A2C"/>
                </a:solidFill>
                <a:latin typeface="Arial"/>
                <a:ea typeface="Arial"/>
                <a:cs typeface="Arial"/>
              </a:defRPr>
            </a:lvl6pPr>
            <a:lvl7pPr algn="l">
              <a:defRPr sz="2325" b="1">
                <a:solidFill>
                  <a:srgbClr val="D66A2C"/>
                </a:solidFill>
                <a:latin typeface="Arial"/>
                <a:ea typeface="Arial"/>
                <a:cs typeface="Arial"/>
              </a:defRPr>
            </a:lvl7pPr>
            <a:lvl8pPr algn="l">
              <a:defRPr sz="2325" b="1">
                <a:solidFill>
                  <a:srgbClr val="D66A2C"/>
                </a:solidFill>
                <a:latin typeface="Arial"/>
                <a:ea typeface="Arial"/>
                <a:cs typeface="Arial"/>
              </a:defRPr>
            </a:lvl8pPr>
            <a:lvl9pPr algn="l">
              <a:defRPr sz="2325" b="1">
                <a:solidFill>
                  <a:srgbClr val="D66A2C"/>
                </a:solidFill>
                <a:latin typeface="Arial"/>
                <a:ea typeface="Arial"/>
                <a:cs typeface="Arial"/>
              </a:defRPr>
            </a:lvl9pPr>
          </a:lstStyle>
          <a:p xmlns:a="http://schemas.openxmlformats.org/drawingml/2006/main">
            <a:pPr algn="l">
              <a:lnSpc>
                <a:spcPct val="110000"/>
              </a:lnSpc>
              <a:buNone/>
              <a:defRPr sz="2325" b="1">
                <a:solidFill>
                  <a:srgbClr val="D66A2C"/>
                </a:solidFill>
                <a:latin typeface="Arial"/>
                <a:ea typeface="Arial"/>
                <a:cs typeface="Arial"/>
              </a:defRPr>
            </a:pPr>
            <a:r>
              <a:rPr sz="2325" b="1">
                <a:solidFill>
                  <a:srgbClr val="D66A2C"/>
                </a:solidFill>
                <a:latin typeface="Arial"/>
                <a:ea typeface="Arial"/>
                <a:cs typeface="Arial"/>
              </a:rPr>
              <a:t>Servo trabado:</a:t>
            </a:r>
          </a:p>
          <a:p xmlns:a="http://schemas.openxmlformats.org/drawingml/2006/main">
            <a:pPr algn="l">
              <a:lnSpc>
                <a:spcPct val="110000"/>
              </a:lnSpc>
              <a:buNone/>
              <a:defRPr sz="2325" b="1">
                <a:solidFill>
                  <a:srgbClr val="D66A2C"/>
                </a:solidFill>
                <a:latin typeface="Arial"/>
                <a:ea typeface="Arial"/>
                <a:cs typeface="Arial"/>
              </a:defRPr>
            </a:pPr>
            <a:r>
              <a:rPr sz="2325" b="1">
                <a:solidFill>
                  <a:srgbClr val="D66A2C"/>
                </a:solidFill>
                <a:latin typeface="Arial"/>
                <a:ea typeface="Arial"/>
                <a:cs typeface="Arial"/>
              </a:rPr>
              <a:t>δ queda fija</a:t>
            </a:r>
          </a:p>
        </p:txBody>
      </p:sp>
      <p:sp>
        <p:nvSpPr>
          <p:cNvPr id="8" name="El controlador original resulta inestable en las">
            <a:extLst xmlns:a="http://schemas.openxmlformats.org/drawingml/2006/main">
              <a:ext uri="{FF2B5EF4-FFF2-40B4-BE49-F238E27FC236}">
                <a16:creationId xmlns:a16="http://schemas.microsoft.com/office/drawing/2014/main" id="{BE21673E-8DEB-4FB4-A3A4-91992E8CCC8D}"/>
              </a:ext>
            </a:extLst>
          </p:cNvPr>
          <p:cNvSpPr>
            <a:spLocks xmlns:a="http://schemas.openxmlformats.org/drawingml/2006/main" noGrp="1"/>
          </p:cNvSpPr>
          <p:nvPr/>
        </p:nvSpPr>
        <p:spPr>
          <a:xfrm xmlns:a="http://schemas.openxmlformats.org/drawingml/2006/main">
            <a:off x="590550" y="59626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16474"/>
                </a:solidFill>
                <a:latin typeface="Arial"/>
                <a:ea typeface="Arial"/>
                <a:cs typeface="Arial"/>
              </a:defRPr>
            </a:defPPr>
            <a:lvl1pPr algn="l">
              <a:defRPr sz="1800" b="0">
                <a:solidFill>
                  <a:srgbClr val="516474"/>
                </a:solidFill>
                <a:latin typeface="Arial"/>
                <a:ea typeface="Arial"/>
                <a:cs typeface="Arial"/>
              </a:defRPr>
            </a:lvl1pPr>
            <a:lvl2pPr algn="l">
              <a:defRPr sz="1800" b="0">
                <a:solidFill>
                  <a:srgbClr val="516474"/>
                </a:solidFill>
                <a:latin typeface="Arial"/>
                <a:ea typeface="Arial"/>
                <a:cs typeface="Arial"/>
              </a:defRPr>
            </a:lvl2pPr>
            <a:lvl3pPr algn="l">
              <a:defRPr sz="1800" b="0">
                <a:solidFill>
                  <a:srgbClr val="516474"/>
                </a:solidFill>
                <a:latin typeface="Arial"/>
                <a:ea typeface="Arial"/>
                <a:cs typeface="Arial"/>
              </a:defRPr>
            </a:lvl3pPr>
            <a:lvl4pPr algn="l">
              <a:defRPr sz="1800" b="0">
                <a:solidFill>
                  <a:srgbClr val="516474"/>
                </a:solidFill>
                <a:latin typeface="Arial"/>
                <a:ea typeface="Arial"/>
                <a:cs typeface="Arial"/>
              </a:defRPr>
            </a:lvl4pPr>
            <a:lvl5pPr algn="l">
              <a:defRPr sz="1800" b="0">
                <a:solidFill>
                  <a:srgbClr val="516474"/>
                </a:solidFill>
                <a:latin typeface="Arial"/>
                <a:ea typeface="Arial"/>
                <a:cs typeface="Arial"/>
              </a:defRPr>
            </a:lvl5pPr>
            <a:lvl6pPr algn="l">
              <a:defRPr sz="1800" b="0">
                <a:solidFill>
                  <a:srgbClr val="516474"/>
                </a:solidFill>
                <a:latin typeface="Arial"/>
                <a:ea typeface="Arial"/>
                <a:cs typeface="Arial"/>
              </a:defRPr>
            </a:lvl6pPr>
            <a:lvl7pPr algn="l">
              <a:defRPr sz="1800" b="0">
                <a:solidFill>
                  <a:srgbClr val="516474"/>
                </a:solidFill>
                <a:latin typeface="Arial"/>
                <a:ea typeface="Arial"/>
                <a:cs typeface="Arial"/>
              </a:defRPr>
            </a:lvl7pPr>
            <a:lvl8pPr algn="l">
              <a:defRPr sz="1800" b="0">
                <a:solidFill>
                  <a:srgbClr val="516474"/>
                </a:solidFill>
                <a:latin typeface="Arial"/>
                <a:ea typeface="Arial"/>
                <a:cs typeface="Arial"/>
              </a:defRPr>
            </a:lvl8pPr>
            <a:lvl9pPr algn="l">
              <a:defRPr sz="1800" b="0">
                <a:solidFill>
                  <a:srgbClr val="516474"/>
                </a:solidFill>
                <a:latin typeface="Arial"/>
                <a:ea typeface="Arial"/>
                <a:cs typeface="Arial"/>
              </a:defRPr>
            </a:lvl9pPr>
          </a:lstStyle>
          <a:p xmlns:a="http://schemas.openxmlformats.org/drawingml/2006/main">
            <a:pPr algn="l">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El controlador original resulta inestable en las fallas de dirección estudiadas</a:t>
            </a:r>
          </a:p>
        </p:txBody>
      </p:sp>
      <p:sp>
        <p:nvSpPr>
          <p:cNvPr id="9" name="Controllable: inputs can move the state between ">
            <a:extLst xmlns:a="http://schemas.openxmlformats.org/drawingml/2006/main">
              <a:ext uri="{FF2B5EF4-FFF2-40B4-BE49-F238E27FC236}">
                <a16:creationId xmlns:a16="http://schemas.microsoft.com/office/drawing/2014/main" id="{6F3BC935-6E32-42C8-B52A-860E56CDA3E5}"/>
              </a:ext>
            </a:extLst>
          </p:cNvPr>
          <p:cNvSpPr>
            <a:spLocks xmlns:a="http://schemas.openxmlformats.org/drawingml/2006/main" noGrp="1"/>
          </p:cNvSpPr>
          <p:nvPr/>
        </p:nvSpPr>
        <p:spPr>
          <a:xfrm xmlns:a="http://schemas.openxmlformats.org/drawingml/2006/main">
            <a:off x="590550" y="1905000"/>
            <a:ext cx="110109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474"/>
                </a:solidFill>
                <a:latin typeface="Arial"/>
                <a:ea typeface="Arial"/>
                <a:cs typeface="Arial"/>
              </a:defRPr>
            </a:defPPr>
            <a:lvl1pPr>
              <a:defRPr sz="1800" b="0">
                <a:solidFill>
                  <a:srgbClr val="516474"/>
                </a:solidFill>
                <a:latin typeface="Arial"/>
                <a:ea typeface="Arial"/>
                <a:cs typeface="Arial"/>
              </a:defRPr>
            </a:lvl1pPr>
            <a:lvl2pPr>
              <a:defRPr sz="1800" b="0">
                <a:solidFill>
                  <a:srgbClr val="516474"/>
                </a:solidFill>
                <a:latin typeface="Arial"/>
                <a:ea typeface="Arial"/>
                <a:cs typeface="Arial"/>
              </a:defRPr>
            </a:lvl2pPr>
            <a:lvl3pPr>
              <a:defRPr sz="1800" b="0">
                <a:solidFill>
                  <a:srgbClr val="516474"/>
                </a:solidFill>
                <a:latin typeface="Arial"/>
                <a:ea typeface="Arial"/>
                <a:cs typeface="Arial"/>
              </a:defRPr>
            </a:lvl3pPr>
            <a:lvl4pPr>
              <a:defRPr sz="1800" b="0">
                <a:solidFill>
                  <a:srgbClr val="516474"/>
                </a:solidFill>
                <a:latin typeface="Arial"/>
                <a:ea typeface="Arial"/>
                <a:cs typeface="Arial"/>
              </a:defRPr>
            </a:lvl4pPr>
            <a:lvl5pPr>
              <a:defRPr sz="1800" b="0">
                <a:solidFill>
                  <a:srgbClr val="516474"/>
                </a:solidFill>
                <a:latin typeface="Arial"/>
                <a:ea typeface="Arial"/>
                <a:cs typeface="Arial"/>
              </a:defRPr>
            </a:lvl5pPr>
            <a:lvl6pPr>
              <a:defRPr sz="1800" b="0">
                <a:solidFill>
                  <a:srgbClr val="516474"/>
                </a:solidFill>
                <a:latin typeface="Arial"/>
                <a:ea typeface="Arial"/>
                <a:cs typeface="Arial"/>
              </a:defRPr>
            </a:lvl6pPr>
            <a:lvl7pPr>
              <a:defRPr sz="1800" b="0">
                <a:solidFill>
                  <a:srgbClr val="516474"/>
                </a:solidFill>
                <a:latin typeface="Arial"/>
                <a:ea typeface="Arial"/>
                <a:cs typeface="Arial"/>
              </a:defRPr>
            </a:lvl7pPr>
            <a:lvl8pPr>
              <a:defRPr sz="1800" b="0">
                <a:solidFill>
                  <a:srgbClr val="516474"/>
                </a:solidFill>
                <a:latin typeface="Arial"/>
                <a:ea typeface="Arial"/>
                <a:cs typeface="Arial"/>
              </a:defRPr>
            </a:lvl8pPr>
            <a:lvl9pPr>
              <a:defRPr sz="1800" b="0">
                <a:solidFill>
                  <a:srgbClr val="516474"/>
                </a:solidFill>
                <a:latin typeface="Arial"/>
                <a:ea typeface="Arial"/>
                <a:cs typeface="Arial"/>
              </a:defRPr>
            </a:lvl9pPr>
          </a:lstStyle>
          <a:p xmlns:a="http://schemas.openxmlformats.org/drawingml/2006/main">
            <a:pPr>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Controlable: las entradas permiten llevar el estado entre condiciones arbitrarias en tiempo finito</a:t>
            </a:r>
          </a:p>
        </p:txBody>
      </p:sp>
    </p:spTree>
    <p:extLst>
      <p:ext uri="{BB962C8B-B14F-4D97-AF65-F5344CB8AC3E}">
        <p14:creationId xmlns:p14="http://schemas.microsoft.com/office/powerpoint/2010/main" val="18964944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elección de ganancias">
            <a:extLst xmlns:a="http://schemas.openxmlformats.org/drawingml/2006/main">
              <a:ext uri="{FF2B5EF4-FFF2-40B4-BE49-F238E27FC236}">
                <a16:creationId xmlns:a16="http://schemas.microsoft.com/office/drawing/2014/main" id="{E99A892A-4564-44D8-BC7F-FA251ECD0F0E}"/>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Selección de ganancias</a:t>
            </a:r>
          </a:p>
        </p:txBody>
      </p:sp>
      <p:sp>
        <p:nvSpPr>
          <p:cNvPr id="3" name="11 / 16">
            <a:extLst xmlns:a="http://schemas.openxmlformats.org/drawingml/2006/main">
              <a:ext uri="{FF2B5EF4-FFF2-40B4-BE49-F238E27FC236}">
                <a16:creationId xmlns:a16="http://schemas.microsoft.com/office/drawing/2014/main" id="{3FC684A2-12F8-46CC-9977-5CBE566B9D57}"/>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14 / 19</a:t>
            </a:r>
          </a:p>
        </p:txBody>
      </p:sp>
      <p:graphicFrame>
        <p:nvGraphicFramePr>
          <p:cNvPr id="4" name="Chart">
            <a:extLst xmlns:a="http://schemas.openxmlformats.org/drawingml/2006/main">
              <a:ext uri="{FF2B5EF4-FFF2-40B4-BE49-F238E27FC236}">
                <a16:creationId xmlns:a16="http://schemas.microsoft.com/office/drawing/2014/main" id="{CDFD0969-2550-4F7A-8DD1-656A1D41A862}"/>
              </a:ext>
            </a:extLst>
          </p:cNvPr>
          <p:cNvGraphicFramePr/>
          <p:nvPr/>
        </p:nvGraphicFramePr>
        <p:xfrm>
          <a:off xmlns:a="http://schemas.openxmlformats.org/drawingml/2006/main" x="400050" y="161925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d1c6b57387d144f7"/>
          </a:graphicData>
        </a:graphic>
      </p:graphicFrame>
      <p:sp>
        <p:nvSpPr>
          <p:cNvPr id="5" name="Límites adoptados">
            <a:extLst xmlns:a="http://schemas.openxmlformats.org/drawingml/2006/main">
              <a:ext uri="{FF2B5EF4-FFF2-40B4-BE49-F238E27FC236}">
                <a16:creationId xmlns:a16="http://schemas.microsoft.com/office/drawing/2014/main" id="{6F372E1D-C444-4824-B8C5-9FE5A33FC0A4}"/>
              </a:ext>
            </a:extLst>
          </p:cNvPr>
          <p:cNvSpPr>
            <a:spLocks xmlns:a="http://schemas.openxmlformats.org/drawingml/2006/main" noGrp="1"/>
          </p:cNvSpPr>
          <p:nvPr/>
        </p:nvSpPr>
        <p:spPr>
          <a:xfrm xmlns:a="http://schemas.openxmlformats.org/drawingml/2006/main">
            <a:off x="8143875" y="174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87E8B"/>
                </a:solidFill>
                <a:latin typeface="Arial"/>
                <a:ea typeface="Arial"/>
                <a:cs typeface="Arial"/>
              </a:defRPr>
            </a:defPPr>
            <a:lvl1pPr algn="l">
              <a:defRPr sz="2250" b="1">
                <a:solidFill>
                  <a:srgbClr val="087E8B"/>
                </a:solidFill>
                <a:latin typeface="Arial"/>
                <a:ea typeface="Arial"/>
                <a:cs typeface="Arial"/>
              </a:defRPr>
            </a:lvl1pPr>
            <a:lvl2pPr algn="l">
              <a:defRPr sz="2250" b="1">
                <a:solidFill>
                  <a:srgbClr val="087E8B"/>
                </a:solidFill>
                <a:latin typeface="Arial"/>
                <a:ea typeface="Arial"/>
                <a:cs typeface="Arial"/>
              </a:defRPr>
            </a:lvl2pPr>
            <a:lvl3pPr algn="l">
              <a:defRPr sz="2250" b="1">
                <a:solidFill>
                  <a:srgbClr val="087E8B"/>
                </a:solidFill>
                <a:latin typeface="Arial"/>
                <a:ea typeface="Arial"/>
                <a:cs typeface="Arial"/>
              </a:defRPr>
            </a:lvl3pPr>
            <a:lvl4pPr algn="l">
              <a:defRPr sz="2250" b="1">
                <a:solidFill>
                  <a:srgbClr val="087E8B"/>
                </a:solidFill>
                <a:latin typeface="Arial"/>
                <a:ea typeface="Arial"/>
                <a:cs typeface="Arial"/>
              </a:defRPr>
            </a:lvl4pPr>
            <a:lvl5pPr algn="l">
              <a:defRPr sz="2250" b="1">
                <a:solidFill>
                  <a:srgbClr val="087E8B"/>
                </a:solidFill>
                <a:latin typeface="Arial"/>
                <a:ea typeface="Arial"/>
                <a:cs typeface="Arial"/>
              </a:defRPr>
            </a:lvl5pPr>
            <a:lvl6pPr algn="l">
              <a:defRPr sz="2250" b="1">
                <a:solidFill>
                  <a:srgbClr val="087E8B"/>
                </a:solidFill>
                <a:latin typeface="Arial"/>
                <a:ea typeface="Arial"/>
                <a:cs typeface="Arial"/>
              </a:defRPr>
            </a:lvl6pPr>
            <a:lvl7pPr algn="l">
              <a:defRPr sz="2250" b="1">
                <a:solidFill>
                  <a:srgbClr val="087E8B"/>
                </a:solidFill>
                <a:latin typeface="Arial"/>
                <a:ea typeface="Arial"/>
                <a:cs typeface="Arial"/>
              </a:defRPr>
            </a:lvl7pPr>
            <a:lvl8pPr algn="l">
              <a:defRPr sz="2250" b="1">
                <a:solidFill>
                  <a:srgbClr val="087E8B"/>
                </a:solidFill>
                <a:latin typeface="Arial"/>
                <a:ea typeface="Arial"/>
                <a:cs typeface="Arial"/>
              </a:defRPr>
            </a:lvl8pPr>
            <a:lvl9pPr algn="l">
              <a:defRPr sz="2250" b="1">
                <a:solidFill>
                  <a:srgbClr val="087E8B"/>
                </a:solidFill>
                <a:latin typeface="Arial"/>
                <a:ea typeface="Arial"/>
                <a:cs typeface="Arial"/>
              </a:defRPr>
            </a:lvl9pPr>
          </a:lstStyle>
          <a:p xmlns:a="http://schemas.openxmlformats.org/drawingml/2006/main">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Límites adoptados</a:t>
            </a:r>
          </a:p>
        </p:txBody>
      </p:sp>
      <p:sp>
        <p:nvSpPr>
          <p:cNvPr id="6" name="Sobrepaso ≤ 10 %">
            <a:extLst xmlns:a="http://schemas.openxmlformats.org/drawingml/2006/main">
              <a:ext uri="{FF2B5EF4-FFF2-40B4-BE49-F238E27FC236}">
                <a16:creationId xmlns:a16="http://schemas.microsoft.com/office/drawing/2014/main" id="{CB34D6E2-1B15-4B1C-BCFF-FB1D001C128C}"/>
              </a:ext>
            </a:extLst>
          </p:cNvPr>
          <p:cNvSpPr>
            <a:spLocks xmlns:a="http://schemas.openxmlformats.org/drawingml/2006/main" noGrp="1"/>
          </p:cNvSpPr>
          <p:nvPr/>
        </p:nvSpPr>
        <p:spPr>
          <a:xfrm xmlns:a="http://schemas.openxmlformats.org/drawingml/2006/main">
            <a:off x="8143875" y="25050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Sobrepaso ≤ 10 %</a:t>
            </a:r>
          </a:p>
        </p:txBody>
      </p:sp>
      <p:sp>
        <p:nvSpPr>
          <p:cNvPr id="7" name="Asentamiento ≤ 3 s">
            <a:extLst xmlns:a="http://schemas.openxmlformats.org/drawingml/2006/main">
              <a:ext uri="{FF2B5EF4-FFF2-40B4-BE49-F238E27FC236}">
                <a16:creationId xmlns:a16="http://schemas.microsoft.com/office/drawing/2014/main" id="{757BDC0F-AE11-4B32-884F-1567309D1C41}"/>
              </a:ext>
            </a:extLst>
          </p:cNvPr>
          <p:cNvSpPr>
            <a:spLocks xmlns:a="http://schemas.openxmlformats.org/drawingml/2006/main" noGrp="1"/>
          </p:cNvSpPr>
          <p:nvPr/>
        </p:nvSpPr>
        <p:spPr>
          <a:xfrm xmlns:a="http://schemas.openxmlformats.org/drawingml/2006/main">
            <a:off x="8143875" y="30575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Asentamiento ≤ 3 s</a:t>
            </a:r>
          </a:p>
        </p:txBody>
      </p:sp>
      <p:sp>
        <p:nvSpPr>
          <p:cNvPr id="8" name="Error final ≤ 5 %">
            <a:extLst xmlns:a="http://schemas.openxmlformats.org/drawingml/2006/main">
              <a:ext uri="{FF2B5EF4-FFF2-40B4-BE49-F238E27FC236}">
                <a16:creationId xmlns:a16="http://schemas.microsoft.com/office/drawing/2014/main" id="{6D1B2B23-C8EE-458D-A718-5BC584CB5A7E}"/>
              </a:ext>
            </a:extLst>
          </p:cNvPr>
          <p:cNvSpPr>
            <a:spLocks xmlns:a="http://schemas.openxmlformats.org/drawingml/2006/main" noGrp="1"/>
          </p:cNvSpPr>
          <p:nvPr/>
        </p:nvSpPr>
        <p:spPr>
          <a:xfrm xmlns:a="http://schemas.openxmlformats.org/drawingml/2006/main">
            <a:off x="8143875" y="36099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Error final ≤ 5 %</a:t>
            </a:r>
          </a:p>
        </p:txBody>
      </p:sp>
      <p:sp>
        <p:nvSpPr>
          <p:cNvPr id="9" name="Deflexión ≤ 5°">
            <a:extLst xmlns:a="http://schemas.openxmlformats.org/drawingml/2006/main">
              <a:ext uri="{FF2B5EF4-FFF2-40B4-BE49-F238E27FC236}">
                <a16:creationId xmlns:a16="http://schemas.microsoft.com/office/drawing/2014/main" id="{2C5094DE-5036-431F-B296-CBD508B6B33E}"/>
              </a:ext>
            </a:extLst>
          </p:cNvPr>
          <p:cNvSpPr>
            <a:spLocks xmlns:a="http://schemas.openxmlformats.org/drawingml/2006/main" noGrp="1"/>
          </p:cNvSpPr>
          <p:nvPr/>
        </p:nvSpPr>
        <p:spPr>
          <a:xfrm xmlns:a="http://schemas.openxmlformats.org/drawingml/2006/main">
            <a:off x="8143875" y="41624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Deflexión ≤ 5°</a:t>
            </a:r>
          </a:p>
        </p:txBody>
      </p:sp>
      <p:sp>
        <p:nvSpPr>
          <p:cNvPr id="10" name="G₁₁(0) &gt; 0">
            <a:extLst xmlns:a="http://schemas.openxmlformats.org/drawingml/2006/main">
              <a:ext uri="{FF2B5EF4-FFF2-40B4-BE49-F238E27FC236}">
                <a16:creationId xmlns:a16="http://schemas.microsoft.com/office/drawing/2014/main" id="{506C46C6-31A6-46BA-8684-6D6FA69F8F13}"/>
              </a:ext>
            </a:extLst>
          </p:cNvPr>
          <p:cNvSpPr>
            <a:spLocks xmlns:a="http://schemas.openxmlformats.org/drawingml/2006/main" noGrp="1"/>
          </p:cNvSpPr>
          <p:nvPr/>
        </p:nvSpPr>
        <p:spPr>
          <a:xfrm xmlns:a="http://schemas.openxmlformats.org/drawingml/2006/main">
            <a:off x="8143875" y="47148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xmlns:a="http://schemas.openxmlformats.org/drawingml/2006/main">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G₁₁(0) &gt; 0</a:t>
            </a:r>
          </a:p>
        </p:txBody>
      </p:sp>
      <p:sp>
        <p:nvSpPr>
          <p:cNvPr id="11" name="Barrido: 2400 pares. La región recomendada conti">
            <a:extLst xmlns:a="http://schemas.openxmlformats.org/drawingml/2006/main">
              <a:ext uri="{FF2B5EF4-FFF2-40B4-BE49-F238E27FC236}">
                <a16:creationId xmlns:a16="http://schemas.microsoft.com/office/drawing/2014/main" id="{890A2B8D-9448-4D14-9267-E8FD7DC91793}"/>
              </a:ext>
            </a:extLst>
          </p:cNvPr>
          <p:cNvSpPr>
            <a:spLocks xmlns:a="http://schemas.openxmlformats.org/drawingml/2006/main" noGrp="1"/>
          </p:cNvSpPr>
          <p:nvPr/>
        </p:nvSpPr>
        <p:spPr>
          <a:xfrm xmlns:a="http://schemas.openxmlformats.org/drawingml/2006/main">
            <a:off x="590550" y="59626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16474"/>
                </a:solidFill>
                <a:latin typeface="Arial"/>
                <a:ea typeface="Arial"/>
                <a:cs typeface="Arial"/>
              </a:defRPr>
            </a:defPPr>
            <a:lvl1pPr algn="l">
              <a:defRPr sz="1725" b="0">
                <a:solidFill>
                  <a:srgbClr val="516474"/>
                </a:solidFill>
                <a:latin typeface="Arial"/>
                <a:ea typeface="Arial"/>
                <a:cs typeface="Arial"/>
              </a:defRPr>
            </a:lvl1pPr>
            <a:lvl2pPr algn="l">
              <a:defRPr sz="1725" b="0">
                <a:solidFill>
                  <a:srgbClr val="516474"/>
                </a:solidFill>
                <a:latin typeface="Arial"/>
                <a:ea typeface="Arial"/>
                <a:cs typeface="Arial"/>
              </a:defRPr>
            </a:lvl2pPr>
            <a:lvl3pPr algn="l">
              <a:defRPr sz="1725" b="0">
                <a:solidFill>
                  <a:srgbClr val="516474"/>
                </a:solidFill>
                <a:latin typeface="Arial"/>
                <a:ea typeface="Arial"/>
                <a:cs typeface="Arial"/>
              </a:defRPr>
            </a:lvl3pPr>
            <a:lvl4pPr algn="l">
              <a:defRPr sz="1725" b="0">
                <a:solidFill>
                  <a:srgbClr val="516474"/>
                </a:solidFill>
                <a:latin typeface="Arial"/>
                <a:ea typeface="Arial"/>
                <a:cs typeface="Arial"/>
              </a:defRPr>
            </a:lvl4pPr>
            <a:lvl5pPr algn="l">
              <a:defRPr sz="1725" b="0">
                <a:solidFill>
                  <a:srgbClr val="516474"/>
                </a:solidFill>
                <a:latin typeface="Arial"/>
                <a:ea typeface="Arial"/>
                <a:cs typeface="Arial"/>
              </a:defRPr>
            </a:lvl5pPr>
            <a:lvl6pPr algn="l">
              <a:defRPr sz="1725" b="0">
                <a:solidFill>
                  <a:srgbClr val="516474"/>
                </a:solidFill>
                <a:latin typeface="Arial"/>
                <a:ea typeface="Arial"/>
                <a:cs typeface="Arial"/>
              </a:defRPr>
            </a:lvl6pPr>
            <a:lvl7pPr algn="l">
              <a:defRPr sz="1725" b="0">
                <a:solidFill>
                  <a:srgbClr val="516474"/>
                </a:solidFill>
                <a:latin typeface="Arial"/>
                <a:ea typeface="Arial"/>
                <a:cs typeface="Arial"/>
              </a:defRPr>
            </a:lvl7pPr>
            <a:lvl8pPr algn="l">
              <a:defRPr sz="1725" b="0">
                <a:solidFill>
                  <a:srgbClr val="516474"/>
                </a:solidFill>
                <a:latin typeface="Arial"/>
                <a:ea typeface="Arial"/>
                <a:cs typeface="Arial"/>
              </a:defRPr>
            </a:lvl8pPr>
            <a:lvl9pPr algn="l">
              <a:defRPr sz="1725" b="0">
                <a:solidFill>
                  <a:srgbClr val="516474"/>
                </a:solidFill>
                <a:latin typeface="Arial"/>
                <a:ea typeface="Arial"/>
                <a:cs typeface="Arial"/>
              </a:defRPr>
            </a:lvl9pPr>
          </a:lstStyle>
          <a:p xmlns:a="http://schemas.openxmlformats.org/drawingml/2006/main">
            <a:pPr algn="l">
              <a:lnSpc>
                <a:spcPct val="110000"/>
              </a:lnSpc>
              <a:buNone/>
              <a:defRPr sz="1725" b="0">
                <a:solidFill>
                  <a:srgbClr val="516474"/>
                </a:solidFill>
                <a:latin typeface="Arial"/>
                <a:ea typeface="Arial"/>
                <a:cs typeface="Arial"/>
              </a:defRPr>
            </a:pPr>
            <a:r>
              <a:rPr sz="1725" b="0">
                <a:solidFill>
                  <a:srgbClr val="516474"/>
                </a:solidFill>
                <a:latin typeface="Arial"/>
                <a:ea typeface="Arial"/>
                <a:cs typeface="Arial"/>
              </a:rPr>
              <a:t>Barrido: 2400 pares. La región recomendada contiene combinaciones específicas</a:t>
            </a:r>
          </a:p>
        </p:txBody>
      </p:sp>
    </p:spTree>
    <p:extLst>
      <p:ext uri="{BB962C8B-B14F-4D97-AF65-F5344CB8AC3E}">
        <p14:creationId xmlns:p14="http://schemas.microsoft.com/office/powerpoint/2010/main" val="775784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mparación de desempeño">
            <a:extLst xmlns:a="http://schemas.openxmlformats.org/drawingml/2006/main">
              <a:ext uri="{FF2B5EF4-FFF2-40B4-BE49-F238E27FC236}">
                <a16:creationId xmlns:a16="http://schemas.microsoft.com/office/drawing/2014/main" id="{1DEE57C1-EEEA-417E-AFF3-C4132DBDA6FD}"/>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Comparación de desempeño</a:t>
            </a:r>
          </a:p>
        </p:txBody>
      </p:sp>
      <p:sp>
        <p:nvSpPr>
          <p:cNvPr id="3" name="12 / 16">
            <a:extLst xmlns:a="http://schemas.openxmlformats.org/drawingml/2006/main">
              <a:ext uri="{FF2B5EF4-FFF2-40B4-BE49-F238E27FC236}">
                <a16:creationId xmlns:a16="http://schemas.microsoft.com/office/drawing/2014/main" id="{9F61E919-7808-4B4B-A8F5-F69149B9F5AC}"/>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15 / 19</a:t>
            </a:r>
          </a:p>
        </p:txBody>
      </p:sp>
      <p:sp>
        <p:nvSpPr>
          <p:cNvPr id="4" name="Punto elegido: K₁ = 4,5 y K₂ = 1,3">
            <a:extLst xmlns:a="http://schemas.openxmlformats.org/drawingml/2006/main">
              <a:ext uri="{FF2B5EF4-FFF2-40B4-BE49-F238E27FC236}">
                <a16:creationId xmlns:a16="http://schemas.microsoft.com/office/drawing/2014/main" id="{D109E369-2426-44E6-832D-411726F8E21C}"/>
              </a:ext>
            </a:extLst>
          </p:cNvPr>
          <p:cNvSpPr>
            <a:spLocks xmlns:a="http://schemas.openxmlformats.org/drawingml/2006/main" noGrp="1"/>
          </p:cNvSpPr>
          <p:nvPr/>
        </p:nvSpPr>
        <p:spPr>
          <a:xfrm xmlns:a="http://schemas.openxmlformats.org/drawingml/2006/main">
            <a:off x="590550" y="1276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xmlns:a="http://schemas.openxmlformats.org/drawingml/2006/main">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Punto elegido: K₁ = 4,5 y K₂ = 1,3</a:t>
            </a:r>
          </a:p>
        </p:txBody>
      </p:sp>
      <p:graphicFrame>
        <p:nvGraphicFramePr>
          <p:cNvPr id="5" name="Chart">
            <a:extLst xmlns:a="http://schemas.openxmlformats.org/drawingml/2006/main">
              <a:ext uri="{FF2B5EF4-FFF2-40B4-BE49-F238E27FC236}">
                <a16:creationId xmlns:a16="http://schemas.microsoft.com/office/drawing/2014/main" id="{58F4012C-C2E4-4970-BA46-A68CA41A17F0}"/>
              </a:ext>
            </a:extLst>
          </p:cNvPr>
          <p:cNvGraphicFramePr/>
          <p:nvPr/>
        </p:nvGraphicFramePr>
        <p:xfrm>
          <a:off xmlns:a="http://schemas.openxmlformats.org/drawingml/2006/main" x="333375" y="2000250"/>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a51d459b35004d83"/>
          </a:graphicData>
        </a:graphic>
      </p:graphicFrame>
      <p:graphicFrame>
        <p:nvGraphicFramePr>
          <p:cNvPr id="6" name="">
            <a:extLst xmlns:a="http://schemas.openxmlformats.org/drawingml/2006/main">
              <a:ext uri="{FF2B5EF4-FFF2-40B4-BE49-F238E27FC236}">
                <a16:creationId xmlns:a16="http://schemas.microsoft.com/office/drawing/2014/main" id="{595C3FDC-353E-4572-BDE3-053472F91C9B}"/>
              </a:ext>
            </a:extLst>
          </p:cNvPr>
          <p:cNvGraphicFramePr/>
          <p:nvPr/>
        </p:nvGraphicFramePr>
        <p:xfrm>
          <a:off xmlns:a="http://schemas.openxmlformats.org/drawingml/2006/main" x="7667625" y="2047875"/>
          <a:ext xmlns:a="http://schemas.openxmlformats.org/drawingml/2006/main" cx="3905250" cy="3095625"/>
        </p:xfrm>
        <a:graphic xmlns:a="http://schemas.openxmlformats.org/drawingml/2006/main">
          <a:graphicData uri="http://schemas.openxmlformats.org/drawingml/2006/table">
            <a:tbl>
              <a:tblPr/>
              <a:tblGrid>
                <a:gridCol w="1543050"/>
                <a:gridCol w="1181100"/>
                <a:gridCol w="1181100"/>
              </a:tblGrid>
              <a:tr h="619125">
                <a:tc>
                  <a:txBody>
                    <a:bodyPr lIns="95250" tIns="95250" rIns="95250" bIns="95250"/>
                    <a:lstStyle/>
                    <a:p>
                      <a:r>
                        <a:rPr sz="1650" b="1">
                          <a:solidFill>
                            <a:srgbClr val="FFFFFF"/>
                          </a:solidFill>
                          <a:latin typeface="Arial"/>
                          <a:ea typeface="Arial"/>
                          <a:cs typeface="Arial"/>
                        </a:rPr>
                        <a:t>Criterio</a:t>
                      </a:r>
                    </a:p>
                  </a:txBody>
                  <a:tcPr marL="91440" marR="91440" marT="45720" marB="45720"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lIns="95250" tIns="95250" rIns="95250" bIns="95250"/>
                    <a:lstStyle/>
                    <a:p>
                      <a:r>
                        <a:rPr sz="1650" b="1">
                          <a:solidFill>
                            <a:srgbClr val="FFFFFF"/>
                          </a:solidFill>
                          <a:latin typeface="Arial"/>
                          <a:ea typeface="Arial"/>
                          <a:cs typeface="Arial"/>
                        </a:rPr>
                        <a:t>Nominal</a:t>
                      </a:r>
                    </a:p>
                  </a:txBody>
                  <a:tcPr marL="91440" marR="91440" marT="45720" marB="45720" anchor="ctr">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lIns="95250" tIns="95250" rIns="95250" bIns="95250"/>
                    <a:lstStyle/>
                    <a:p>
                      <a:r>
                        <a:rPr sz="1650" b="1">
                          <a:solidFill>
                            <a:srgbClr val="FFFFFF"/>
                          </a:solidFill>
                          <a:latin typeface="Arial"/>
                          <a:ea typeface="Arial"/>
                          <a:cs typeface="Arial"/>
                        </a:rPr>
                        <a:t>Elegido</a:t>
                      </a:r>
                    </a:p>
                  </a:txBody>
                  <a:tcPr marL="91440" marR="91440" marT="45720" marB="45720" anchor="ctr">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r>
              <a:tr h="619125">
                <a:tc>
                  <a:txBody>
                    <a:bodyPr lIns="95250" tIns="95250" rIns="95250" bIns="95250"/>
                    <a:lstStyle/>
                    <a:p>
                      <a:r>
                        <a:rPr sz="1650" b="0">
                          <a:solidFill>
                            <a:srgbClr val="13283C"/>
                          </a:solidFill>
                          <a:latin typeface="Arial"/>
                          <a:ea typeface="Arial"/>
                          <a:cs typeface="Arial"/>
                        </a:rPr>
                        <a:t>Sobrepaso</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650" b="0">
                          <a:solidFill>
                            <a:srgbClr val="13283C"/>
                          </a:solidFill>
                          <a:latin typeface="Arial"/>
                          <a:ea typeface="Arial"/>
                          <a:cs typeface="Arial"/>
                        </a:rPr>
                        <a:t>16,39 %</a:t>
                      </a:r>
                    </a:p>
                  </a:txBody>
                  <a:tcPr marL="91440" marR="91440" marT="45720" marB="45720" anchor="ctr">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650" b="0">
                          <a:solidFill>
                            <a:srgbClr val="13283C"/>
                          </a:solidFill>
                          <a:latin typeface="Arial"/>
                          <a:ea typeface="Arial"/>
                          <a:cs typeface="Arial"/>
                        </a:rPr>
                        <a:t>0,82 %</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19125">
                <a:tc>
                  <a:txBody>
                    <a:bodyPr lIns="95250" tIns="95250" rIns="95250" bIns="95250"/>
                    <a:lstStyle/>
                    <a:p>
                      <a:r>
                        <a:rPr sz="1650" b="0">
                          <a:solidFill>
                            <a:srgbClr val="13283C"/>
                          </a:solidFill>
                          <a:latin typeface="Arial"/>
                          <a:ea typeface="Arial"/>
                          <a:cs typeface="Arial"/>
                        </a:rPr>
                        <a:t>Asentamiento</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650" b="0">
                          <a:solidFill>
                            <a:srgbClr val="13283C"/>
                          </a:solidFill>
                          <a:latin typeface="Arial"/>
                          <a:ea typeface="Arial"/>
                          <a:cs typeface="Arial"/>
                        </a:rPr>
                        <a:t>3,64 s</a:t>
                      </a:r>
                    </a:p>
                  </a:txBody>
                  <a:tcPr marL="91440" marR="91440" marT="45720" marB="45720" anchor="ctr">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650" b="0">
                          <a:solidFill>
                            <a:srgbClr val="13283C"/>
                          </a:solidFill>
                          <a:latin typeface="Arial"/>
                          <a:ea typeface="Arial"/>
                          <a:cs typeface="Arial"/>
                        </a:rPr>
                        <a:t>1,62 s</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r h="619125">
                <a:tc>
                  <a:txBody>
                    <a:bodyPr lIns="95250" tIns="95250" rIns="95250" bIns="95250"/>
                    <a:lstStyle/>
                    <a:p>
                      <a:r>
                        <a:rPr sz="1650" b="0">
                          <a:solidFill>
                            <a:srgbClr val="13283C"/>
                          </a:solidFill>
                          <a:latin typeface="Arial"/>
                          <a:ea typeface="Arial"/>
                          <a:cs typeface="Arial"/>
                        </a:rPr>
                        <a:t>Error final</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650" b="0">
                          <a:solidFill>
                            <a:srgbClr val="13283C"/>
                          </a:solidFill>
                          <a:latin typeface="Arial"/>
                          <a:ea typeface="Arial"/>
                          <a:cs typeface="Arial"/>
                        </a:rPr>
                        <a:t>4,03 %</a:t>
                      </a:r>
                    </a:p>
                  </a:txBody>
                  <a:tcPr marL="91440" marR="91440" marT="45720" marB="45720" anchor="ctr">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650" b="0">
                          <a:solidFill>
                            <a:srgbClr val="13283C"/>
                          </a:solidFill>
                          <a:latin typeface="Arial"/>
                          <a:ea typeface="Arial"/>
                          <a:cs typeface="Arial"/>
                        </a:rPr>
                        <a:t>3,25 %</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19125">
                <a:tc>
                  <a:txBody>
                    <a:bodyPr lIns="95250" tIns="95250" rIns="95250" bIns="95250"/>
                    <a:lstStyle/>
                    <a:p>
                      <a:r>
                        <a:rPr sz="1650" b="0">
                          <a:solidFill>
                            <a:srgbClr val="13283C"/>
                          </a:solidFill>
                          <a:latin typeface="Arial"/>
                          <a:ea typeface="Arial"/>
                          <a:cs typeface="Arial"/>
                        </a:rPr>
                        <a:t>Tobera máx.</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650" b="0">
                          <a:solidFill>
                            <a:srgbClr val="13283C"/>
                          </a:solidFill>
                          <a:latin typeface="Arial"/>
                          <a:ea typeface="Arial"/>
                          <a:cs typeface="Arial"/>
                        </a:rPr>
                        <a:t>2,01°</a:t>
                      </a:r>
                    </a:p>
                  </a:txBody>
                  <a:tcPr marL="91440" marR="91440" marT="45720" marB="45720" anchor="ctr">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650" b="0">
                          <a:solidFill>
                            <a:srgbClr val="13283C"/>
                          </a:solidFill>
                          <a:latin typeface="Arial"/>
                          <a:ea typeface="Arial"/>
                          <a:cs typeface="Arial"/>
                        </a:rPr>
                        <a:t>4,49°</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bl>
          </a:graphicData>
        </a:graphic>
      </p:graphicFrame>
      <p:sp>
        <p:nvSpPr>
          <p:cNvPr id="7" name="Acoplamientos: 177 % / 21 % en el nominal y 31 %">
            <a:extLst xmlns:a="http://schemas.openxmlformats.org/drawingml/2006/main">
              <a:ext uri="{FF2B5EF4-FFF2-40B4-BE49-F238E27FC236}">
                <a16:creationId xmlns:a16="http://schemas.microsoft.com/office/drawing/2014/main" id="{3C92FADC-494B-490E-B18B-4DDDC1EB2DDD}"/>
              </a:ext>
            </a:extLst>
          </p:cNvPr>
          <p:cNvSpPr>
            <a:spLocks xmlns:a="http://schemas.openxmlformats.org/drawingml/2006/main" noGrp="1"/>
          </p:cNvSpPr>
          <p:nvPr/>
        </p:nvSpPr>
        <p:spPr>
          <a:xfrm xmlns:a="http://schemas.openxmlformats.org/drawingml/2006/main">
            <a:off x="590550" y="57340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3283C"/>
                </a:solidFill>
                <a:latin typeface="Arial"/>
                <a:ea typeface="Arial"/>
                <a:cs typeface="Arial"/>
              </a:defRPr>
            </a:defPPr>
            <a:lvl1pPr algn="l">
              <a:defRPr sz="1875" b="1">
                <a:solidFill>
                  <a:srgbClr val="13283C"/>
                </a:solidFill>
                <a:latin typeface="Arial"/>
                <a:ea typeface="Arial"/>
                <a:cs typeface="Arial"/>
              </a:defRPr>
            </a:lvl1pPr>
            <a:lvl2pPr algn="l">
              <a:defRPr sz="1875" b="1">
                <a:solidFill>
                  <a:srgbClr val="13283C"/>
                </a:solidFill>
                <a:latin typeface="Arial"/>
                <a:ea typeface="Arial"/>
                <a:cs typeface="Arial"/>
              </a:defRPr>
            </a:lvl2pPr>
            <a:lvl3pPr algn="l">
              <a:defRPr sz="1875" b="1">
                <a:solidFill>
                  <a:srgbClr val="13283C"/>
                </a:solidFill>
                <a:latin typeface="Arial"/>
                <a:ea typeface="Arial"/>
                <a:cs typeface="Arial"/>
              </a:defRPr>
            </a:lvl3pPr>
            <a:lvl4pPr algn="l">
              <a:defRPr sz="1875" b="1">
                <a:solidFill>
                  <a:srgbClr val="13283C"/>
                </a:solidFill>
                <a:latin typeface="Arial"/>
                <a:ea typeface="Arial"/>
                <a:cs typeface="Arial"/>
              </a:defRPr>
            </a:lvl4pPr>
            <a:lvl5pPr algn="l">
              <a:defRPr sz="1875" b="1">
                <a:solidFill>
                  <a:srgbClr val="13283C"/>
                </a:solidFill>
                <a:latin typeface="Arial"/>
                <a:ea typeface="Arial"/>
                <a:cs typeface="Arial"/>
              </a:defRPr>
            </a:lvl5pPr>
            <a:lvl6pPr algn="l">
              <a:defRPr sz="1875" b="1">
                <a:solidFill>
                  <a:srgbClr val="13283C"/>
                </a:solidFill>
                <a:latin typeface="Arial"/>
                <a:ea typeface="Arial"/>
                <a:cs typeface="Arial"/>
              </a:defRPr>
            </a:lvl6pPr>
            <a:lvl7pPr algn="l">
              <a:defRPr sz="1875" b="1">
                <a:solidFill>
                  <a:srgbClr val="13283C"/>
                </a:solidFill>
                <a:latin typeface="Arial"/>
                <a:ea typeface="Arial"/>
                <a:cs typeface="Arial"/>
              </a:defRPr>
            </a:lvl7pPr>
            <a:lvl8pPr algn="l">
              <a:defRPr sz="1875" b="1">
                <a:solidFill>
                  <a:srgbClr val="13283C"/>
                </a:solidFill>
                <a:latin typeface="Arial"/>
                <a:ea typeface="Arial"/>
                <a:cs typeface="Arial"/>
              </a:defRPr>
            </a:lvl8pPr>
            <a:lvl9pPr algn="l">
              <a:defRPr sz="1875" b="1">
                <a:solidFill>
                  <a:srgbClr val="13283C"/>
                </a:solidFill>
                <a:latin typeface="Arial"/>
                <a:ea typeface="Arial"/>
                <a:cs typeface="Arial"/>
              </a:defRPr>
            </a:lvl9pPr>
          </a:lstStyle>
          <a:p xmlns:a="http://schemas.openxmlformats.org/drawingml/2006/main">
            <a:pPr algn="l">
              <a:lnSpc>
                <a:spcPct val="110000"/>
              </a:lnSpc>
              <a:buNone/>
              <a:defRPr sz="1875" b="1">
                <a:solidFill>
                  <a:srgbClr val="13283C"/>
                </a:solidFill>
                <a:latin typeface="Arial"/>
                <a:ea typeface="Arial"/>
                <a:cs typeface="Arial"/>
              </a:defRPr>
            </a:pPr>
            <a:r>
              <a:rPr sz="1875" b="1">
                <a:solidFill>
                  <a:srgbClr val="13283C"/>
                </a:solidFill>
                <a:latin typeface="Arial"/>
                <a:ea typeface="Arial"/>
                <a:cs typeface="Arial"/>
              </a:rPr>
              <a:t>Acoplamientos: 177 % / 21 % en el nominal y 31 % / 28 % en el elegido</a:t>
            </a:r>
          </a:p>
        </p:txBody>
      </p:sp>
      <p:sp>
        <p:nvSpPr>
          <p:cNvPr id="8" name="Sobrepaso y asentamiento respecto al valor final">
            <a:extLst xmlns:a="http://schemas.openxmlformats.org/drawingml/2006/main">
              <a:ext uri="{FF2B5EF4-FFF2-40B4-BE49-F238E27FC236}">
                <a16:creationId xmlns:a16="http://schemas.microsoft.com/office/drawing/2014/main" id="{D54877B5-B21F-4C5D-9D53-06FF3D4B4E9D}"/>
              </a:ext>
            </a:extLst>
          </p:cNvPr>
          <p:cNvSpPr>
            <a:spLocks xmlns:a="http://schemas.openxmlformats.org/drawingml/2006/main" noGrp="1"/>
          </p:cNvSpPr>
          <p:nvPr/>
        </p:nvSpPr>
        <p:spPr>
          <a:xfrm xmlns:a="http://schemas.openxmlformats.org/drawingml/2006/main">
            <a:off x="590550" y="61626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516474"/>
                </a:solidFill>
                <a:latin typeface="Arial"/>
                <a:ea typeface="Arial"/>
                <a:cs typeface="Arial"/>
              </a:defRPr>
            </a:defPPr>
            <a:lvl1pPr algn="l">
              <a:defRPr sz="1575" b="0">
                <a:solidFill>
                  <a:srgbClr val="516474"/>
                </a:solidFill>
                <a:latin typeface="Arial"/>
                <a:ea typeface="Arial"/>
                <a:cs typeface="Arial"/>
              </a:defRPr>
            </a:lvl1pPr>
            <a:lvl2pPr algn="l">
              <a:defRPr sz="1575" b="0">
                <a:solidFill>
                  <a:srgbClr val="516474"/>
                </a:solidFill>
                <a:latin typeface="Arial"/>
                <a:ea typeface="Arial"/>
                <a:cs typeface="Arial"/>
              </a:defRPr>
            </a:lvl2pPr>
            <a:lvl3pPr algn="l">
              <a:defRPr sz="1575" b="0">
                <a:solidFill>
                  <a:srgbClr val="516474"/>
                </a:solidFill>
                <a:latin typeface="Arial"/>
                <a:ea typeface="Arial"/>
                <a:cs typeface="Arial"/>
              </a:defRPr>
            </a:lvl3pPr>
            <a:lvl4pPr algn="l">
              <a:defRPr sz="1575" b="0">
                <a:solidFill>
                  <a:srgbClr val="516474"/>
                </a:solidFill>
                <a:latin typeface="Arial"/>
                <a:ea typeface="Arial"/>
                <a:cs typeface="Arial"/>
              </a:defRPr>
            </a:lvl4pPr>
            <a:lvl5pPr algn="l">
              <a:defRPr sz="1575" b="0">
                <a:solidFill>
                  <a:srgbClr val="516474"/>
                </a:solidFill>
                <a:latin typeface="Arial"/>
                <a:ea typeface="Arial"/>
                <a:cs typeface="Arial"/>
              </a:defRPr>
            </a:lvl5pPr>
            <a:lvl6pPr algn="l">
              <a:defRPr sz="1575" b="0">
                <a:solidFill>
                  <a:srgbClr val="516474"/>
                </a:solidFill>
                <a:latin typeface="Arial"/>
                <a:ea typeface="Arial"/>
                <a:cs typeface="Arial"/>
              </a:defRPr>
            </a:lvl6pPr>
            <a:lvl7pPr algn="l">
              <a:defRPr sz="1575" b="0">
                <a:solidFill>
                  <a:srgbClr val="516474"/>
                </a:solidFill>
                <a:latin typeface="Arial"/>
                <a:ea typeface="Arial"/>
                <a:cs typeface="Arial"/>
              </a:defRPr>
            </a:lvl7pPr>
            <a:lvl8pPr algn="l">
              <a:defRPr sz="1575" b="0">
                <a:solidFill>
                  <a:srgbClr val="516474"/>
                </a:solidFill>
                <a:latin typeface="Arial"/>
                <a:ea typeface="Arial"/>
                <a:cs typeface="Arial"/>
              </a:defRPr>
            </a:lvl8pPr>
            <a:lvl9pPr algn="l">
              <a:defRPr sz="1575" b="0">
                <a:solidFill>
                  <a:srgbClr val="516474"/>
                </a:solidFill>
                <a:latin typeface="Arial"/>
                <a:ea typeface="Arial"/>
                <a:cs typeface="Arial"/>
              </a:defRPr>
            </a:lvl9pPr>
          </a:lstStyle>
          <a:p xmlns:a="http://schemas.openxmlformats.org/drawingml/2006/main">
            <a:pPr algn="l">
              <a:lnSpc>
                <a:spcPct val="110000"/>
              </a:lnSpc>
              <a:buNone/>
              <a:defRPr sz="1575" b="0">
                <a:solidFill>
                  <a:srgbClr val="516474"/>
                </a:solidFill>
                <a:latin typeface="Arial"/>
                <a:ea typeface="Arial"/>
                <a:cs typeface="Arial"/>
              </a:defRPr>
            </a:pPr>
            <a:r>
              <a:rPr sz="1575" b="0">
                <a:solidFill>
                  <a:srgbClr val="516474"/>
                </a:solidFill>
                <a:latin typeface="Arial"/>
                <a:ea typeface="Arial"/>
                <a:cs typeface="Arial"/>
              </a:rPr>
              <a:t>Sobrepaso y asentamiento respecto al valor final. La tobera usa ambos escalones</a:t>
            </a:r>
          </a:p>
        </p:txBody>
      </p:sp>
    </p:spTree>
    <p:extLst>
      <p:ext uri="{BB962C8B-B14F-4D97-AF65-F5344CB8AC3E}">
        <p14:creationId xmlns:p14="http://schemas.microsoft.com/office/powerpoint/2010/main" val="12674727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Muestreo y retardo">
            <a:extLst xmlns:a="http://schemas.openxmlformats.org/drawingml/2006/main">
              <a:ext uri="{FF2B5EF4-FFF2-40B4-BE49-F238E27FC236}">
                <a16:creationId xmlns:a16="http://schemas.microsoft.com/office/drawing/2014/main" id="{F2988F02-034F-4735-84EF-EBF5EE988D5C}"/>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Muestreo y retardo</a:t>
            </a:r>
          </a:p>
        </p:txBody>
      </p:sp>
      <p:sp>
        <p:nvSpPr>
          <p:cNvPr id="3" name="13 / 16">
            <a:extLst xmlns:a="http://schemas.openxmlformats.org/drawingml/2006/main">
              <a:ext uri="{FF2B5EF4-FFF2-40B4-BE49-F238E27FC236}">
                <a16:creationId xmlns:a16="http://schemas.microsoft.com/office/drawing/2014/main" id="{D12871C0-E7C5-4D09-A596-333B0AD77F87}"/>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16 / 19</a:t>
            </a:r>
          </a:p>
        </p:txBody>
      </p:sp>
      <p:graphicFrame>
        <p:nvGraphicFramePr>
          <p:cNvPr id="4" name="Chart">
            <a:extLst xmlns:a="http://schemas.openxmlformats.org/drawingml/2006/main">
              <a:ext uri="{FF2B5EF4-FFF2-40B4-BE49-F238E27FC236}">
                <a16:creationId xmlns:a16="http://schemas.microsoft.com/office/drawing/2014/main" id="{A7D00157-202E-4E94-A4FB-A4327E8C4F86}"/>
              </a:ext>
            </a:extLst>
          </p:cNvPr>
          <p:cNvGraphicFramePr/>
          <p:nvPr/>
        </p:nvGraphicFramePr>
        <p:xfrm>
          <a:off xmlns:a="http://schemas.openxmlformats.org/drawingml/2006/main" x="361950" y="1809750"/>
          <a:ext xmlns:a="http://schemas.openxmlformats.org/drawingml/2006/main" cx="7620000" cy="3857625"/>
        </p:xfrm>
        <a:graphic xmlns:a="http://schemas.openxmlformats.org/drawingml/2006/main">
          <a:graphicData uri="http://schemas.openxmlformats.org/drawingml/2006/chart">
            <c:chart xmlns:r="http://schemas.openxmlformats.org/officeDocument/2006/relationships" xmlns:c="http://schemas.openxmlformats.org/drawingml/2006/chart" r:id="Rc08e0398d6e24438"/>
          </a:graphicData>
        </a:graphic>
      </p:graphicFrame>
      <p:sp>
        <p:nvSpPr>
          <p:cNvPr id="5" name="20 actualizaciones/s">
            <a:extLst xmlns:a="http://schemas.openxmlformats.org/drawingml/2006/main">
              <a:ext uri="{FF2B5EF4-FFF2-40B4-BE49-F238E27FC236}">
                <a16:creationId xmlns:a16="http://schemas.microsoft.com/office/drawing/2014/main" id="{7E98CE22-77C3-4B6D-9490-EBB38F1158B4}"/>
              </a:ext>
            </a:extLst>
          </p:cNvPr>
          <p:cNvSpPr>
            <a:spLocks xmlns:a="http://schemas.openxmlformats.org/drawingml/2006/main" noGrp="1"/>
          </p:cNvSpPr>
          <p:nvPr/>
        </p:nvSpPr>
        <p:spPr>
          <a:xfrm xmlns:a="http://schemas.openxmlformats.org/drawingml/2006/main">
            <a:off x="8334375" y="18573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xmlns:a="http://schemas.openxmlformats.org/drawingml/2006/main">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20 actualizaciones/s</a:t>
            </a:r>
          </a:p>
        </p:txBody>
      </p:sp>
      <p:sp>
        <p:nvSpPr>
          <p:cNvPr id="6" name="T elegido&#10;0,05 s">
            <a:extLst xmlns:a="http://schemas.openxmlformats.org/drawingml/2006/main">
              <a:ext uri="{FF2B5EF4-FFF2-40B4-BE49-F238E27FC236}">
                <a16:creationId xmlns:a16="http://schemas.microsoft.com/office/drawing/2014/main" id="{3D60CE01-EC8A-42D7-9DB4-F16C7DBCA546}"/>
              </a:ext>
            </a:extLst>
          </p:cNvPr>
          <p:cNvSpPr>
            <a:spLocks xmlns:a="http://schemas.openxmlformats.org/drawingml/2006/main" noGrp="1"/>
          </p:cNvSpPr>
          <p:nvPr/>
        </p:nvSpPr>
        <p:spPr>
          <a:xfrm xmlns:a="http://schemas.openxmlformats.org/drawingml/2006/main">
            <a:off x="8334375" y="28765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3283C"/>
                </a:solidFill>
                <a:latin typeface="Arial"/>
                <a:ea typeface="Arial"/>
                <a:cs typeface="Arial"/>
              </a:defRPr>
            </a:defPPr>
            <a:lvl1pPr algn="l">
              <a:defRPr sz="2325" b="0">
                <a:solidFill>
                  <a:srgbClr val="13283C"/>
                </a:solidFill>
                <a:latin typeface="Arial"/>
                <a:ea typeface="Arial"/>
                <a:cs typeface="Arial"/>
              </a:defRPr>
            </a:lvl1pPr>
            <a:lvl2pPr algn="l">
              <a:defRPr sz="2325" b="0">
                <a:solidFill>
                  <a:srgbClr val="13283C"/>
                </a:solidFill>
                <a:latin typeface="Arial"/>
                <a:ea typeface="Arial"/>
                <a:cs typeface="Arial"/>
              </a:defRPr>
            </a:lvl2pPr>
            <a:lvl3pPr algn="l">
              <a:defRPr sz="2325" b="0">
                <a:solidFill>
                  <a:srgbClr val="13283C"/>
                </a:solidFill>
                <a:latin typeface="Arial"/>
                <a:ea typeface="Arial"/>
                <a:cs typeface="Arial"/>
              </a:defRPr>
            </a:lvl3pPr>
            <a:lvl4pPr algn="l">
              <a:defRPr sz="2325" b="0">
                <a:solidFill>
                  <a:srgbClr val="13283C"/>
                </a:solidFill>
                <a:latin typeface="Arial"/>
                <a:ea typeface="Arial"/>
                <a:cs typeface="Arial"/>
              </a:defRPr>
            </a:lvl4pPr>
            <a:lvl5pPr algn="l">
              <a:defRPr sz="2325" b="0">
                <a:solidFill>
                  <a:srgbClr val="13283C"/>
                </a:solidFill>
                <a:latin typeface="Arial"/>
                <a:ea typeface="Arial"/>
                <a:cs typeface="Arial"/>
              </a:defRPr>
            </a:lvl5pPr>
            <a:lvl6pPr algn="l">
              <a:defRPr sz="2325" b="0">
                <a:solidFill>
                  <a:srgbClr val="13283C"/>
                </a:solidFill>
                <a:latin typeface="Arial"/>
                <a:ea typeface="Arial"/>
                <a:cs typeface="Arial"/>
              </a:defRPr>
            </a:lvl6pPr>
            <a:lvl7pPr algn="l">
              <a:defRPr sz="2325" b="0">
                <a:solidFill>
                  <a:srgbClr val="13283C"/>
                </a:solidFill>
                <a:latin typeface="Arial"/>
                <a:ea typeface="Arial"/>
                <a:cs typeface="Arial"/>
              </a:defRPr>
            </a:lvl7pPr>
            <a:lvl8pPr algn="l">
              <a:defRPr sz="2325" b="0">
                <a:solidFill>
                  <a:srgbClr val="13283C"/>
                </a:solidFill>
                <a:latin typeface="Arial"/>
                <a:ea typeface="Arial"/>
                <a:cs typeface="Arial"/>
              </a:defRPr>
            </a:lvl8pPr>
            <a:lvl9pPr algn="l">
              <a:defRPr sz="2325" b="0">
                <a:solidFill>
                  <a:srgbClr val="13283C"/>
                </a:solidFill>
                <a:latin typeface="Arial"/>
                <a:ea typeface="Arial"/>
                <a:cs typeface="Arial"/>
              </a:defRPr>
            </a:lvl9pPr>
          </a:lstStyle>
          <a:p xmlns:a="http://schemas.openxmlformats.org/drawingml/2006/main">
            <a:pPr algn="l">
              <a:lnSpc>
                <a:spcPct val="110000"/>
              </a:lnSpc>
              <a:buNone/>
              <a:defRPr sz="2325" b="0">
                <a:solidFill>
                  <a:srgbClr val="13283C"/>
                </a:solidFill>
                <a:latin typeface="Arial"/>
                <a:ea typeface="Arial"/>
                <a:cs typeface="Arial"/>
              </a:defRPr>
            </a:pPr>
            <a:r>
              <a:rPr sz="2325" b="0">
                <a:solidFill>
                  <a:srgbClr val="13283C"/>
                </a:solidFill>
                <a:latin typeface="Arial"/>
                <a:ea typeface="Arial"/>
                <a:cs typeface="Arial"/>
              </a:rPr>
              <a:t>T elegido</a:t>
            </a:r>
          </a:p>
          <a:p xmlns:a="http://schemas.openxmlformats.org/drawingml/2006/main">
            <a:pPr algn="l">
              <a:lnSpc>
                <a:spcPct val="110000"/>
              </a:lnSpc>
              <a:buNone/>
              <a:defRPr sz="2325" b="0">
                <a:solidFill>
                  <a:srgbClr val="13283C"/>
                </a:solidFill>
                <a:latin typeface="Arial"/>
                <a:ea typeface="Arial"/>
                <a:cs typeface="Arial"/>
              </a:defRPr>
            </a:pPr>
            <a:r>
              <a:rPr sz="2325" b="0">
                <a:solidFill>
                  <a:srgbClr val="13283C"/>
                </a:solidFill>
                <a:latin typeface="Arial"/>
                <a:ea typeface="Arial"/>
                <a:cs typeface="Arial"/>
              </a:rPr>
              <a:t>0,05 s</a:t>
            </a:r>
          </a:p>
        </p:txBody>
      </p:sp>
      <p:sp>
        <p:nvSpPr>
          <p:cNvPr id="7" name="T máximo con retardo&#10;≈ 0,114 s">
            <a:extLst xmlns:a="http://schemas.openxmlformats.org/drawingml/2006/main">
              <a:ext uri="{FF2B5EF4-FFF2-40B4-BE49-F238E27FC236}">
                <a16:creationId xmlns:a16="http://schemas.microsoft.com/office/drawing/2014/main" id="{EA7539BB-8C68-4B9E-9867-9C0C5C56DFE1}"/>
              </a:ext>
            </a:extLst>
          </p:cNvPr>
          <p:cNvSpPr>
            <a:spLocks xmlns:a="http://schemas.openxmlformats.org/drawingml/2006/main" noGrp="1"/>
          </p:cNvSpPr>
          <p:nvPr/>
        </p:nvSpPr>
        <p:spPr>
          <a:xfrm xmlns:a="http://schemas.openxmlformats.org/drawingml/2006/main">
            <a:off x="8334375" y="4238625"/>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3283C"/>
                </a:solidFill>
                <a:latin typeface="Arial"/>
                <a:ea typeface="Arial"/>
                <a:cs typeface="Arial"/>
              </a:defRPr>
            </a:defPPr>
            <a:lvl1pPr algn="l">
              <a:defRPr sz="2175" b="0">
                <a:solidFill>
                  <a:srgbClr val="13283C"/>
                </a:solidFill>
                <a:latin typeface="Arial"/>
                <a:ea typeface="Arial"/>
                <a:cs typeface="Arial"/>
              </a:defRPr>
            </a:lvl1pPr>
            <a:lvl2pPr algn="l">
              <a:defRPr sz="2175" b="0">
                <a:solidFill>
                  <a:srgbClr val="13283C"/>
                </a:solidFill>
                <a:latin typeface="Arial"/>
                <a:ea typeface="Arial"/>
                <a:cs typeface="Arial"/>
              </a:defRPr>
            </a:lvl2pPr>
            <a:lvl3pPr algn="l">
              <a:defRPr sz="2175" b="0">
                <a:solidFill>
                  <a:srgbClr val="13283C"/>
                </a:solidFill>
                <a:latin typeface="Arial"/>
                <a:ea typeface="Arial"/>
                <a:cs typeface="Arial"/>
              </a:defRPr>
            </a:lvl3pPr>
            <a:lvl4pPr algn="l">
              <a:defRPr sz="2175" b="0">
                <a:solidFill>
                  <a:srgbClr val="13283C"/>
                </a:solidFill>
                <a:latin typeface="Arial"/>
                <a:ea typeface="Arial"/>
                <a:cs typeface="Arial"/>
              </a:defRPr>
            </a:lvl4pPr>
            <a:lvl5pPr algn="l">
              <a:defRPr sz="2175" b="0">
                <a:solidFill>
                  <a:srgbClr val="13283C"/>
                </a:solidFill>
                <a:latin typeface="Arial"/>
                <a:ea typeface="Arial"/>
                <a:cs typeface="Arial"/>
              </a:defRPr>
            </a:lvl5pPr>
            <a:lvl6pPr algn="l">
              <a:defRPr sz="2175" b="0">
                <a:solidFill>
                  <a:srgbClr val="13283C"/>
                </a:solidFill>
                <a:latin typeface="Arial"/>
                <a:ea typeface="Arial"/>
                <a:cs typeface="Arial"/>
              </a:defRPr>
            </a:lvl6pPr>
            <a:lvl7pPr algn="l">
              <a:defRPr sz="2175" b="0">
                <a:solidFill>
                  <a:srgbClr val="13283C"/>
                </a:solidFill>
                <a:latin typeface="Arial"/>
                <a:ea typeface="Arial"/>
                <a:cs typeface="Arial"/>
              </a:defRPr>
            </a:lvl7pPr>
            <a:lvl8pPr algn="l">
              <a:defRPr sz="2175" b="0">
                <a:solidFill>
                  <a:srgbClr val="13283C"/>
                </a:solidFill>
                <a:latin typeface="Arial"/>
                <a:ea typeface="Arial"/>
                <a:cs typeface="Arial"/>
              </a:defRPr>
            </a:lvl8pPr>
            <a:lvl9pPr algn="l">
              <a:defRPr sz="2175" b="0">
                <a:solidFill>
                  <a:srgbClr val="13283C"/>
                </a:solidFill>
                <a:latin typeface="Arial"/>
                <a:ea typeface="Arial"/>
                <a:cs typeface="Arial"/>
              </a:defRPr>
            </a:lvl9pPr>
          </a:lstStyle>
          <a:p xmlns:a="http://schemas.openxmlformats.org/drawingml/2006/main">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T máximo con retardo</a:t>
            </a:r>
          </a:p>
          <a:p xmlns:a="http://schemas.openxmlformats.org/drawingml/2006/main">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 0,114 s</a:t>
            </a:r>
          </a:p>
        </p:txBody>
      </p:sp>
      <p:sp>
        <p:nvSpPr>
          <p:cNvPr id="8" name="El límite es ≈ 2,27 veces el periodo elegido, ba">
            <a:extLst xmlns:a="http://schemas.openxmlformats.org/drawingml/2006/main">
              <a:ext uri="{FF2B5EF4-FFF2-40B4-BE49-F238E27FC236}">
                <a16:creationId xmlns:a16="http://schemas.microsoft.com/office/drawing/2014/main" id="{1B03EBEF-62A0-4D97-B51B-EC269C9886E9}"/>
              </a:ext>
            </a:extLst>
          </p:cNvPr>
          <p:cNvSpPr>
            <a:spLocks xmlns:a="http://schemas.openxmlformats.org/drawingml/2006/main" noGrp="1"/>
          </p:cNvSpPr>
          <p:nvPr/>
        </p:nvSpPr>
        <p:spPr>
          <a:xfrm xmlns:a="http://schemas.openxmlformats.org/drawingml/2006/main">
            <a:off x="590550" y="59817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16474"/>
                </a:solidFill>
                <a:latin typeface="Arial"/>
                <a:ea typeface="Arial"/>
                <a:cs typeface="Arial"/>
              </a:defRPr>
            </a:defPPr>
            <a:lvl1pPr algn="l">
              <a:defRPr sz="1800" b="0">
                <a:solidFill>
                  <a:srgbClr val="516474"/>
                </a:solidFill>
                <a:latin typeface="Arial"/>
                <a:ea typeface="Arial"/>
                <a:cs typeface="Arial"/>
              </a:defRPr>
            </a:lvl1pPr>
            <a:lvl2pPr algn="l">
              <a:defRPr sz="1800" b="0">
                <a:solidFill>
                  <a:srgbClr val="516474"/>
                </a:solidFill>
                <a:latin typeface="Arial"/>
                <a:ea typeface="Arial"/>
                <a:cs typeface="Arial"/>
              </a:defRPr>
            </a:lvl2pPr>
            <a:lvl3pPr algn="l">
              <a:defRPr sz="1800" b="0">
                <a:solidFill>
                  <a:srgbClr val="516474"/>
                </a:solidFill>
                <a:latin typeface="Arial"/>
                <a:ea typeface="Arial"/>
                <a:cs typeface="Arial"/>
              </a:defRPr>
            </a:lvl3pPr>
            <a:lvl4pPr algn="l">
              <a:defRPr sz="1800" b="0">
                <a:solidFill>
                  <a:srgbClr val="516474"/>
                </a:solidFill>
                <a:latin typeface="Arial"/>
                <a:ea typeface="Arial"/>
                <a:cs typeface="Arial"/>
              </a:defRPr>
            </a:lvl4pPr>
            <a:lvl5pPr algn="l">
              <a:defRPr sz="1800" b="0">
                <a:solidFill>
                  <a:srgbClr val="516474"/>
                </a:solidFill>
                <a:latin typeface="Arial"/>
                <a:ea typeface="Arial"/>
                <a:cs typeface="Arial"/>
              </a:defRPr>
            </a:lvl5pPr>
            <a:lvl6pPr algn="l">
              <a:defRPr sz="1800" b="0">
                <a:solidFill>
                  <a:srgbClr val="516474"/>
                </a:solidFill>
                <a:latin typeface="Arial"/>
                <a:ea typeface="Arial"/>
                <a:cs typeface="Arial"/>
              </a:defRPr>
            </a:lvl6pPr>
            <a:lvl7pPr algn="l">
              <a:defRPr sz="1800" b="0">
                <a:solidFill>
                  <a:srgbClr val="516474"/>
                </a:solidFill>
                <a:latin typeface="Arial"/>
                <a:ea typeface="Arial"/>
                <a:cs typeface="Arial"/>
              </a:defRPr>
            </a:lvl7pPr>
            <a:lvl8pPr algn="l">
              <a:defRPr sz="1800" b="0">
                <a:solidFill>
                  <a:srgbClr val="516474"/>
                </a:solidFill>
                <a:latin typeface="Arial"/>
                <a:ea typeface="Arial"/>
                <a:cs typeface="Arial"/>
              </a:defRPr>
            </a:lvl8pPr>
            <a:lvl9pPr algn="l">
              <a:defRPr sz="1800" b="0">
                <a:solidFill>
                  <a:srgbClr val="516474"/>
                </a:solidFill>
                <a:latin typeface="Arial"/>
                <a:ea typeface="Arial"/>
                <a:cs typeface="Arial"/>
              </a:defRPr>
            </a:lvl9pPr>
          </a:lstStyle>
          <a:p xmlns:a="http://schemas.openxmlformats.org/drawingml/2006/main">
            <a:pPr algn="l">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El límite es ≈ 2,27 veces el periodo elegido, bajo el modelo de retardo adoptado</a:t>
            </a:r>
          </a:p>
        </p:txBody>
      </p:sp>
    </p:spTree>
    <p:extLst>
      <p:ext uri="{BB962C8B-B14F-4D97-AF65-F5344CB8AC3E}">
        <p14:creationId xmlns:p14="http://schemas.microsoft.com/office/powerpoint/2010/main" val="17529139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Masa variable">
            <a:extLst xmlns:a="http://schemas.openxmlformats.org/drawingml/2006/main">
              <a:ext uri="{FF2B5EF4-FFF2-40B4-BE49-F238E27FC236}">
                <a16:creationId xmlns:a16="http://schemas.microsoft.com/office/drawing/2014/main" id="{140D2A18-45B8-4DBB-A6BA-70FDD4CA61F5}"/>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Masa variable</a:t>
            </a:r>
          </a:p>
        </p:txBody>
      </p:sp>
      <p:sp>
        <p:nvSpPr>
          <p:cNvPr id="3" name="14 / 16">
            <a:extLst xmlns:a="http://schemas.openxmlformats.org/drawingml/2006/main">
              <a:ext uri="{FF2B5EF4-FFF2-40B4-BE49-F238E27FC236}">
                <a16:creationId xmlns:a16="http://schemas.microsoft.com/office/drawing/2014/main" id="{EBD08EC4-220E-4C4A-A849-A3ED3B01D56F}"/>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17 / 19</a:t>
            </a:r>
          </a:p>
        </p:txBody>
      </p:sp>
      <p:sp>
        <p:nvSpPr>
          <p:cNvPr id="4" name="El consumo de combustible cambia la dinámica">
            <a:extLst xmlns:a="http://schemas.openxmlformats.org/drawingml/2006/main">
              <a:ext uri="{FF2B5EF4-FFF2-40B4-BE49-F238E27FC236}">
                <a16:creationId xmlns:a16="http://schemas.microsoft.com/office/drawing/2014/main" id="{58989A3D-C3CB-4228-997B-FFAEBFE448CB}"/>
              </a:ext>
            </a:extLst>
          </p:cNvPr>
          <p:cNvSpPr>
            <a:spLocks xmlns:a="http://schemas.openxmlformats.org/drawingml/2006/main" noGrp="1"/>
          </p:cNvSpPr>
          <p:nvPr/>
        </p:nvSpPr>
        <p:spPr>
          <a:xfrm xmlns:a="http://schemas.openxmlformats.org/drawingml/2006/main">
            <a:off x="590550" y="1285875"/>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xmlns:a="http://schemas.openxmlformats.org/drawingml/2006/main">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El consumo de combustible cambia la dinámica</a:t>
            </a:r>
          </a:p>
        </p:txBody>
      </p:sp>
      <p:graphicFrame>
        <p:nvGraphicFramePr>
          <p:cNvPr id="5" name="Chart">
            <a:extLst xmlns:a="http://schemas.openxmlformats.org/drawingml/2006/main">
              <a:ext uri="{FF2B5EF4-FFF2-40B4-BE49-F238E27FC236}">
                <a16:creationId xmlns:a16="http://schemas.microsoft.com/office/drawing/2014/main" id="{1DE53E56-59FF-45E7-A6D5-BCAEF2DBC35C}"/>
              </a:ext>
            </a:extLst>
          </p:cNvPr>
          <p:cNvGraphicFramePr/>
          <p:nvPr/>
        </p:nvGraphicFramePr>
        <p:xfrm>
          <a:off xmlns:a="http://schemas.openxmlformats.org/drawingml/2006/main" x="381000" y="2095500"/>
          <a:ext xmlns:a="http://schemas.openxmlformats.org/drawingml/2006/main" cx="7143750" cy="3524250"/>
        </p:xfrm>
        <a:graphic xmlns:a="http://schemas.openxmlformats.org/drawingml/2006/main">
          <a:graphicData uri="http://schemas.openxmlformats.org/drawingml/2006/chart">
            <c:chart xmlns:r="http://schemas.openxmlformats.org/officeDocument/2006/relationships" xmlns:c="http://schemas.openxmlformats.org/drawingml/2006/chart" r:id="R29b59b332c7b4a6d"/>
          </a:graphicData>
        </a:graphic>
      </p:graphicFrame>
      <p:sp>
        <p:nvSpPr>
          <p:cNvPr id="6" name="ρ = m₀ / m(t)">
            <a:extLst xmlns:a="http://schemas.openxmlformats.org/drawingml/2006/main">
              <a:ext uri="{FF2B5EF4-FFF2-40B4-BE49-F238E27FC236}">
                <a16:creationId xmlns:a16="http://schemas.microsoft.com/office/drawing/2014/main" id="{2B54CA8F-E8EE-4D2C-AE44-B4380B7B3FE9}"/>
              </a:ext>
            </a:extLst>
          </p:cNvPr>
          <p:cNvSpPr>
            <a:spLocks xmlns:a="http://schemas.openxmlformats.org/drawingml/2006/main" noGrp="1"/>
          </p:cNvSpPr>
          <p:nvPr/>
        </p:nvSpPr>
        <p:spPr>
          <a:xfrm xmlns:a="http://schemas.openxmlformats.org/drawingml/2006/main">
            <a:off x="8096250" y="22574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13283C"/>
                </a:solidFill>
                <a:latin typeface="Arial"/>
                <a:ea typeface="Arial"/>
                <a:cs typeface="Arial"/>
              </a:defRPr>
            </a:defPPr>
            <a:lvl1pPr algn="l">
              <a:defRPr sz="2700" b="1">
                <a:solidFill>
                  <a:srgbClr val="13283C"/>
                </a:solidFill>
                <a:latin typeface="Arial"/>
                <a:ea typeface="Arial"/>
                <a:cs typeface="Arial"/>
              </a:defRPr>
            </a:lvl1pPr>
            <a:lvl2pPr algn="l">
              <a:defRPr sz="2700" b="1">
                <a:solidFill>
                  <a:srgbClr val="13283C"/>
                </a:solidFill>
                <a:latin typeface="Arial"/>
                <a:ea typeface="Arial"/>
                <a:cs typeface="Arial"/>
              </a:defRPr>
            </a:lvl2pPr>
            <a:lvl3pPr algn="l">
              <a:defRPr sz="2700" b="1">
                <a:solidFill>
                  <a:srgbClr val="13283C"/>
                </a:solidFill>
                <a:latin typeface="Arial"/>
                <a:ea typeface="Arial"/>
                <a:cs typeface="Arial"/>
              </a:defRPr>
            </a:lvl3pPr>
            <a:lvl4pPr algn="l">
              <a:defRPr sz="2700" b="1">
                <a:solidFill>
                  <a:srgbClr val="13283C"/>
                </a:solidFill>
                <a:latin typeface="Arial"/>
                <a:ea typeface="Arial"/>
                <a:cs typeface="Arial"/>
              </a:defRPr>
            </a:lvl4pPr>
            <a:lvl5pPr algn="l">
              <a:defRPr sz="2700" b="1">
                <a:solidFill>
                  <a:srgbClr val="13283C"/>
                </a:solidFill>
                <a:latin typeface="Arial"/>
                <a:ea typeface="Arial"/>
                <a:cs typeface="Arial"/>
              </a:defRPr>
            </a:lvl5pPr>
            <a:lvl6pPr algn="l">
              <a:defRPr sz="2700" b="1">
                <a:solidFill>
                  <a:srgbClr val="13283C"/>
                </a:solidFill>
                <a:latin typeface="Arial"/>
                <a:ea typeface="Arial"/>
                <a:cs typeface="Arial"/>
              </a:defRPr>
            </a:lvl6pPr>
            <a:lvl7pPr algn="l">
              <a:defRPr sz="2700" b="1">
                <a:solidFill>
                  <a:srgbClr val="13283C"/>
                </a:solidFill>
                <a:latin typeface="Arial"/>
                <a:ea typeface="Arial"/>
                <a:cs typeface="Arial"/>
              </a:defRPr>
            </a:lvl7pPr>
            <a:lvl8pPr algn="l">
              <a:defRPr sz="2700" b="1">
                <a:solidFill>
                  <a:srgbClr val="13283C"/>
                </a:solidFill>
                <a:latin typeface="Arial"/>
                <a:ea typeface="Arial"/>
                <a:cs typeface="Arial"/>
              </a:defRPr>
            </a:lvl8pPr>
            <a:lvl9pPr algn="l">
              <a:defRPr sz="2700" b="1">
                <a:solidFill>
                  <a:srgbClr val="13283C"/>
                </a:solidFill>
                <a:latin typeface="Arial"/>
                <a:ea typeface="Arial"/>
                <a:cs typeface="Arial"/>
              </a:defRPr>
            </a:lvl9pPr>
          </a:lstStyle>
          <a:p xmlns:a="http://schemas.openxmlformats.org/drawingml/2006/main">
            <a:pPr algn="l">
              <a:lnSpc>
                <a:spcPct val="110000"/>
              </a:lnSpc>
              <a:buNone/>
              <a:defRPr sz="2700" b="1">
                <a:solidFill>
                  <a:srgbClr val="13283C"/>
                </a:solidFill>
                <a:latin typeface="Arial"/>
                <a:ea typeface="Arial"/>
                <a:cs typeface="Arial"/>
              </a:defRPr>
            </a:pPr>
            <a:r>
              <a:rPr sz="2700" b="1">
                <a:solidFill>
                  <a:srgbClr val="13283C"/>
                </a:solidFill>
                <a:latin typeface="Arial"/>
                <a:ea typeface="Arial"/>
                <a:cs typeface="Arial"/>
              </a:rPr>
              <a:t>ρ = m₀ / m(t)</a:t>
            </a:r>
          </a:p>
        </p:txBody>
      </p:sp>
      <p:sp>
        <p:nvSpPr>
          <p:cNvPr id="7" name="dx/dt = A(t)x + B(t)u">
            <a:extLst xmlns:a="http://schemas.openxmlformats.org/drawingml/2006/main">
              <a:ext uri="{FF2B5EF4-FFF2-40B4-BE49-F238E27FC236}">
                <a16:creationId xmlns:a16="http://schemas.microsoft.com/office/drawing/2014/main" id="{12E374C9-3DB4-4118-80B2-E0E2F4C5B6E0}"/>
              </a:ext>
            </a:extLst>
          </p:cNvPr>
          <p:cNvSpPr>
            <a:spLocks xmlns:a="http://schemas.openxmlformats.org/drawingml/2006/main" noGrp="1"/>
          </p:cNvSpPr>
          <p:nvPr/>
        </p:nvSpPr>
        <p:spPr>
          <a:xfrm xmlns:a="http://schemas.openxmlformats.org/drawingml/2006/main">
            <a:off x="8096250" y="3333750"/>
            <a:ext cx="342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3283C"/>
                </a:solidFill>
                <a:latin typeface="Arial"/>
                <a:ea typeface="Arial"/>
                <a:cs typeface="Arial"/>
              </a:defRPr>
            </a:defPPr>
            <a:lvl1pPr algn="l">
              <a:defRPr sz="2100" b="0">
                <a:solidFill>
                  <a:srgbClr val="13283C"/>
                </a:solidFill>
                <a:latin typeface="Arial"/>
                <a:ea typeface="Arial"/>
                <a:cs typeface="Arial"/>
              </a:defRPr>
            </a:lvl1pPr>
            <a:lvl2pPr algn="l">
              <a:defRPr sz="2100" b="0">
                <a:solidFill>
                  <a:srgbClr val="13283C"/>
                </a:solidFill>
                <a:latin typeface="Arial"/>
                <a:ea typeface="Arial"/>
                <a:cs typeface="Arial"/>
              </a:defRPr>
            </a:lvl2pPr>
            <a:lvl3pPr algn="l">
              <a:defRPr sz="2100" b="0">
                <a:solidFill>
                  <a:srgbClr val="13283C"/>
                </a:solidFill>
                <a:latin typeface="Arial"/>
                <a:ea typeface="Arial"/>
                <a:cs typeface="Arial"/>
              </a:defRPr>
            </a:lvl3pPr>
            <a:lvl4pPr algn="l">
              <a:defRPr sz="2100" b="0">
                <a:solidFill>
                  <a:srgbClr val="13283C"/>
                </a:solidFill>
                <a:latin typeface="Arial"/>
                <a:ea typeface="Arial"/>
                <a:cs typeface="Arial"/>
              </a:defRPr>
            </a:lvl4pPr>
            <a:lvl5pPr algn="l">
              <a:defRPr sz="2100" b="0">
                <a:solidFill>
                  <a:srgbClr val="13283C"/>
                </a:solidFill>
                <a:latin typeface="Arial"/>
                <a:ea typeface="Arial"/>
                <a:cs typeface="Arial"/>
              </a:defRPr>
            </a:lvl5pPr>
            <a:lvl6pPr algn="l">
              <a:defRPr sz="2100" b="0">
                <a:solidFill>
                  <a:srgbClr val="13283C"/>
                </a:solidFill>
                <a:latin typeface="Arial"/>
                <a:ea typeface="Arial"/>
                <a:cs typeface="Arial"/>
              </a:defRPr>
            </a:lvl6pPr>
            <a:lvl7pPr algn="l">
              <a:defRPr sz="2100" b="0">
                <a:solidFill>
                  <a:srgbClr val="13283C"/>
                </a:solidFill>
                <a:latin typeface="Arial"/>
                <a:ea typeface="Arial"/>
                <a:cs typeface="Arial"/>
              </a:defRPr>
            </a:lvl7pPr>
            <a:lvl8pPr algn="l">
              <a:defRPr sz="2100" b="0">
                <a:solidFill>
                  <a:srgbClr val="13283C"/>
                </a:solidFill>
                <a:latin typeface="Arial"/>
                <a:ea typeface="Arial"/>
                <a:cs typeface="Arial"/>
              </a:defRPr>
            </a:lvl8pPr>
            <a:lvl9pPr algn="l">
              <a:defRPr sz="2100" b="0">
                <a:solidFill>
                  <a:srgbClr val="13283C"/>
                </a:solidFill>
                <a:latin typeface="Arial"/>
                <a:ea typeface="Arial"/>
                <a:cs typeface="Arial"/>
              </a:defRPr>
            </a:lvl9pPr>
          </a:lstStyle>
          <a:p xmlns:a="http://schemas.openxmlformats.org/drawingml/2006/main">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dx/dt = A(t)x + B(t)u</a:t>
            </a:r>
          </a:p>
        </p:txBody>
      </p:sp>
      <p:sp>
        <p:nvSpPr>
          <p:cNvPr id="8" name="Programación propuesta:&#10;Kᵢ(t) = Kᵢ₀ / ρ">
            <a:extLst xmlns:a="http://schemas.openxmlformats.org/drawingml/2006/main">
              <a:ext uri="{FF2B5EF4-FFF2-40B4-BE49-F238E27FC236}">
                <a16:creationId xmlns:a16="http://schemas.microsoft.com/office/drawing/2014/main" id="{0F07475B-D443-407D-B996-29AEEA56836E}"/>
              </a:ext>
            </a:extLst>
          </p:cNvPr>
          <p:cNvSpPr>
            <a:spLocks xmlns:a="http://schemas.openxmlformats.org/drawingml/2006/main" noGrp="1"/>
          </p:cNvSpPr>
          <p:nvPr/>
        </p:nvSpPr>
        <p:spPr>
          <a:xfrm xmlns:a="http://schemas.openxmlformats.org/drawingml/2006/main">
            <a:off x="8096250" y="460057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3283C"/>
                </a:solidFill>
                <a:latin typeface="Arial"/>
                <a:ea typeface="Arial"/>
                <a:cs typeface="Arial"/>
              </a:defRPr>
            </a:defPPr>
            <a:lvl1pPr algn="l">
              <a:defRPr sz="2100" b="0">
                <a:solidFill>
                  <a:srgbClr val="13283C"/>
                </a:solidFill>
                <a:latin typeface="Arial"/>
                <a:ea typeface="Arial"/>
                <a:cs typeface="Arial"/>
              </a:defRPr>
            </a:lvl1pPr>
            <a:lvl2pPr algn="l">
              <a:defRPr sz="2100" b="0">
                <a:solidFill>
                  <a:srgbClr val="13283C"/>
                </a:solidFill>
                <a:latin typeface="Arial"/>
                <a:ea typeface="Arial"/>
                <a:cs typeface="Arial"/>
              </a:defRPr>
            </a:lvl2pPr>
            <a:lvl3pPr algn="l">
              <a:defRPr sz="2100" b="0">
                <a:solidFill>
                  <a:srgbClr val="13283C"/>
                </a:solidFill>
                <a:latin typeface="Arial"/>
                <a:ea typeface="Arial"/>
                <a:cs typeface="Arial"/>
              </a:defRPr>
            </a:lvl3pPr>
            <a:lvl4pPr algn="l">
              <a:defRPr sz="2100" b="0">
                <a:solidFill>
                  <a:srgbClr val="13283C"/>
                </a:solidFill>
                <a:latin typeface="Arial"/>
                <a:ea typeface="Arial"/>
                <a:cs typeface="Arial"/>
              </a:defRPr>
            </a:lvl4pPr>
            <a:lvl5pPr algn="l">
              <a:defRPr sz="2100" b="0">
                <a:solidFill>
                  <a:srgbClr val="13283C"/>
                </a:solidFill>
                <a:latin typeface="Arial"/>
                <a:ea typeface="Arial"/>
                <a:cs typeface="Arial"/>
              </a:defRPr>
            </a:lvl5pPr>
            <a:lvl6pPr algn="l">
              <a:defRPr sz="2100" b="0">
                <a:solidFill>
                  <a:srgbClr val="13283C"/>
                </a:solidFill>
                <a:latin typeface="Arial"/>
                <a:ea typeface="Arial"/>
                <a:cs typeface="Arial"/>
              </a:defRPr>
            </a:lvl6pPr>
            <a:lvl7pPr algn="l">
              <a:defRPr sz="2100" b="0">
                <a:solidFill>
                  <a:srgbClr val="13283C"/>
                </a:solidFill>
                <a:latin typeface="Arial"/>
                <a:ea typeface="Arial"/>
                <a:cs typeface="Arial"/>
              </a:defRPr>
            </a:lvl7pPr>
            <a:lvl8pPr algn="l">
              <a:defRPr sz="2100" b="0">
                <a:solidFill>
                  <a:srgbClr val="13283C"/>
                </a:solidFill>
                <a:latin typeface="Arial"/>
                <a:ea typeface="Arial"/>
                <a:cs typeface="Arial"/>
              </a:defRPr>
            </a:lvl8pPr>
            <a:lvl9pPr algn="l">
              <a:defRPr sz="2100" b="0">
                <a:solidFill>
                  <a:srgbClr val="13283C"/>
                </a:solidFill>
                <a:latin typeface="Arial"/>
                <a:ea typeface="Arial"/>
                <a:cs typeface="Arial"/>
              </a:defRPr>
            </a:lvl9pPr>
          </a:lstStyle>
          <a:p xmlns:a="http://schemas.openxmlformats.org/drawingml/2006/main">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Programación propuesta:</a:t>
            </a:r>
          </a:p>
          <a:p xmlns:a="http://schemas.openxmlformats.org/drawingml/2006/main">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Kᵢ(t) = Kᵢ₀ / ρ</a:t>
            </a:r>
          </a:p>
        </p:txBody>
      </p:sp>
      <p:sp>
        <p:nvSpPr>
          <p:cNvPr id="9" name="Resultados con coeficientes congelados y el esca">
            <a:extLst xmlns:a="http://schemas.openxmlformats.org/drawingml/2006/main">
              <a:ext uri="{FF2B5EF4-FFF2-40B4-BE49-F238E27FC236}">
                <a16:creationId xmlns:a16="http://schemas.microsoft.com/office/drawing/2014/main" id="{6BEB0602-12B0-4F25-9093-AE6532CC5CD4}"/>
              </a:ext>
            </a:extLst>
          </p:cNvPr>
          <p:cNvSpPr>
            <a:spLocks xmlns:a="http://schemas.openxmlformats.org/drawingml/2006/main" noGrp="1"/>
          </p:cNvSpPr>
          <p:nvPr/>
        </p:nvSpPr>
        <p:spPr>
          <a:xfrm xmlns:a="http://schemas.openxmlformats.org/drawingml/2006/main">
            <a:off x="590550" y="596265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16474"/>
                </a:solidFill>
                <a:latin typeface="Arial"/>
                <a:ea typeface="Arial"/>
                <a:cs typeface="Arial"/>
              </a:defRPr>
            </a:defPPr>
            <a:lvl1pPr algn="l">
              <a:defRPr sz="1800" b="0">
                <a:solidFill>
                  <a:srgbClr val="516474"/>
                </a:solidFill>
                <a:latin typeface="Arial"/>
                <a:ea typeface="Arial"/>
                <a:cs typeface="Arial"/>
              </a:defRPr>
            </a:lvl1pPr>
            <a:lvl2pPr algn="l">
              <a:defRPr sz="1800" b="0">
                <a:solidFill>
                  <a:srgbClr val="516474"/>
                </a:solidFill>
                <a:latin typeface="Arial"/>
                <a:ea typeface="Arial"/>
                <a:cs typeface="Arial"/>
              </a:defRPr>
            </a:lvl2pPr>
            <a:lvl3pPr algn="l">
              <a:defRPr sz="1800" b="0">
                <a:solidFill>
                  <a:srgbClr val="516474"/>
                </a:solidFill>
                <a:latin typeface="Arial"/>
                <a:ea typeface="Arial"/>
                <a:cs typeface="Arial"/>
              </a:defRPr>
            </a:lvl3pPr>
            <a:lvl4pPr algn="l">
              <a:defRPr sz="1800" b="0">
                <a:solidFill>
                  <a:srgbClr val="516474"/>
                </a:solidFill>
                <a:latin typeface="Arial"/>
                <a:ea typeface="Arial"/>
                <a:cs typeface="Arial"/>
              </a:defRPr>
            </a:lvl4pPr>
            <a:lvl5pPr algn="l">
              <a:defRPr sz="1800" b="0">
                <a:solidFill>
                  <a:srgbClr val="516474"/>
                </a:solidFill>
                <a:latin typeface="Arial"/>
                <a:ea typeface="Arial"/>
                <a:cs typeface="Arial"/>
              </a:defRPr>
            </a:lvl5pPr>
            <a:lvl6pPr algn="l">
              <a:defRPr sz="1800" b="0">
                <a:solidFill>
                  <a:srgbClr val="516474"/>
                </a:solidFill>
                <a:latin typeface="Arial"/>
                <a:ea typeface="Arial"/>
                <a:cs typeface="Arial"/>
              </a:defRPr>
            </a:lvl6pPr>
            <a:lvl7pPr algn="l">
              <a:defRPr sz="1800" b="0">
                <a:solidFill>
                  <a:srgbClr val="516474"/>
                </a:solidFill>
                <a:latin typeface="Arial"/>
                <a:ea typeface="Arial"/>
                <a:cs typeface="Arial"/>
              </a:defRPr>
            </a:lvl7pPr>
            <a:lvl8pPr algn="l">
              <a:defRPr sz="1800" b="0">
                <a:solidFill>
                  <a:srgbClr val="516474"/>
                </a:solidFill>
                <a:latin typeface="Arial"/>
                <a:ea typeface="Arial"/>
                <a:cs typeface="Arial"/>
              </a:defRPr>
            </a:lvl8pPr>
            <a:lvl9pPr algn="l">
              <a:defRPr sz="1800" b="0">
                <a:solidFill>
                  <a:srgbClr val="516474"/>
                </a:solidFill>
                <a:latin typeface="Arial"/>
                <a:ea typeface="Arial"/>
                <a:cs typeface="Arial"/>
              </a:defRPr>
            </a:lvl9pPr>
          </a:lstStyle>
          <a:p xmlns:a="http://schemas.openxmlformats.org/drawingml/2006/main">
            <a:pPr algn="l">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Resultados con coeficientes congelados y el escalado supuesto en el reporte</a:t>
            </a:r>
          </a:p>
        </p:txBody>
      </p:sp>
    </p:spTree>
    <p:extLst>
      <p:ext uri="{BB962C8B-B14F-4D97-AF65-F5344CB8AC3E}">
        <p14:creationId xmlns:p14="http://schemas.microsoft.com/office/powerpoint/2010/main" val="3475290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Guiñada">
            <a:extLst xmlns:a="http://schemas.openxmlformats.org/drawingml/2006/main">
              <a:ext uri="{FF2B5EF4-FFF2-40B4-BE49-F238E27FC236}">
                <a16:creationId xmlns:a16="http://schemas.microsoft.com/office/drawing/2014/main" id="{0572202F-DCF8-4ADA-B921-C0A0465CA7E0}"/>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Guiñada</a:t>
            </a:r>
          </a:p>
        </p:txBody>
      </p:sp>
      <p:sp>
        <p:nvSpPr>
          <p:cNvPr id="3" name="15 / 16">
            <a:extLst xmlns:a="http://schemas.openxmlformats.org/drawingml/2006/main">
              <a:ext uri="{FF2B5EF4-FFF2-40B4-BE49-F238E27FC236}">
                <a16:creationId xmlns:a16="http://schemas.microsoft.com/office/drawing/2014/main" id="{CE57202B-E3C7-4120-8492-7CDF0F332330}"/>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18 / 19</a:t>
            </a:r>
          </a:p>
        </p:txBody>
      </p:sp>
      <p:sp>
        <p:nvSpPr>
          <p:cNvPr id="4" name="Un tercer canal para la orientación lateral">
            <a:extLst xmlns:a="http://schemas.openxmlformats.org/drawingml/2006/main">
              <a:ext uri="{FF2B5EF4-FFF2-40B4-BE49-F238E27FC236}">
                <a16:creationId xmlns:a16="http://schemas.microsoft.com/office/drawing/2014/main" id="{43A09112-68C3-4552-9AE8-3C346443DFDF}"/>
              </a:ext>
            </a:extLst>
          </p:cNvPr>
          <p:cNvSpPr>
            <a:spLocks xmlns:a="http://schemas.openxmlformats.org/drawingml/2006/main" noGrp="1"/>
          </p:cNvSpPr>
          <p:nvPr/>
        </p:nvSpPr>
        <p:spPr>
          <a:xfrm xmlns:a="http://schemas.openxmlformats.org/drawingml/2006/main">
            <a:off x="590550" y="12954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xmlns:a="http://schemas.openxmlformats.org/drawingml/2006/main">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Un tercer canal para la orientación lateral</a:t>
            </a:r>
          </a:p>
        </p:txBody>
      </p:sp>
      <p:sp>
        <p:nvSpPr>
          <p:cNvPr id="5" name="Nuevos estados&#10;ψ, r y ζ">
            <a:extLst xmlns:a="http://schemas.openxmlformats.org/drawingml/2006/main">
              <a:ext uri="{FF2B5EF4-FFF2-40B4-BE49-F238E27FC236}">
                <a16:creationId xmlns:a16="http://schemas.microsoft.com/office/drawing/2014/main" id="{6EBC8522-1CC2-484B-AC7F-1092C44455AD}"/>
              </a:ext>
            </a:extLst>
          </p:cNvPr>
          <p:cNvSpPr>
            <a:spLocks xmlns:a="http://schemas.openxmlformats.org/drawingml/2006/main" noGrp="1"/>
          </p:cNvSpPr>
          <p:nvPr/>
        </p:nvSpPr>
        <p:spPr>
          <a:xfrm xmlns:a="http://schemas.openxmlformats.org/drawingml/2006/main">
            <a:off x="590550" y="230505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13283C"/>
                </a:solidFill>
                <a:latin typeface="Arial"/>
                <a:ea typeface="Arial"/>
                <a:cs typeface="Arial"/>
              </a:defRPr>
            </a:defPPr>
            <a:lvl1pPr algn="l">
              <a:defRPr sz="2775" b="1">
                <a:solidFill>
                  <a:srgbClr val="13283C"/>
                </a:solidFill>
                <a:latin typeface="Arial"/>
                <a:ea typeface="Arial"/>
                <a:cs typeface="Arial"/>
              </a:defRPr>
            </a:lvl1pPr>
            <a:lvl2pPr algn="l">
              <a:defRPr sz="2775" b="1">
                <a:solidFill>
                  <a:srgbClr val="13283C"/>
                </a:solidFill>
                <a:latin typeface="Arial"/>
                <a:ea typeface="Arial"/>
                <a:cs typeface="Arial"/>
              </a:defRPr>
            </a:lvl2pPr>
            <a:lvl3pPr algn="l">
              <a:defRPr sz="2775" b="1">
                <a:solidFill>
                  <a:srgbClr val="13283C"/>
                </a:solidFill>
                <a:latin typeface="Arial"/>
                <a:ea typeface="Arial"/>
                <a:cs typeface="Arial"/>
              </a:defRPr>
            </a:lvl3pPr>
            <a:lvl4pPr algn="l">
              <a:defRPr sz="2775" b="1">
                <a:solidFill>
                  <a:srgbClr val="13283C"/>
                </a:solidFill>
                <a:latin typeface="Arial"/>
                <a:ea typeface="Arial"/>
                <a:cs typeface="Arial"/>
              </a:defRPr>
            </a:lvl4pPr>
            <a:lvl5pPr algn="l">
              <a:defRPr sz="2775" b="1">
                <a:solidFill>
                  <a:srgbClr val="13283C"/>
                </a:solidFill>
                <a:latin typeface="Arial"/>
                <a:ea typeface="Arial"/>
                <a:cs typeface="Arial"/>
              </a:defRPr>
            </a:lvl5pPr>
            <a:lvl6pPr algn="l">
              <a:defRPr sz="2775" b="1">
                <a:solidFill>
                  <a:srgbClr val="13283C"/>
                </a:solidFill>
                <a:latin typeface="Arial"/>
                <a:ea typeface="Arial"/>
                <a:cs typeface="Arial"/>
              </a:defRPr>
            </a:lvl6pPr>
            <a:lvl7pPr algn="l">
              <a:defRPr sz="2775" b="1">
                <a:solidFill>
                  <a:srgbClr val="13283C"/>
                </a:solidFill>
                <a:latin typeface="Arial"/>
                <a:ea typeface="Arial"/>
                <a:cs typeface="Arial"/>
              </a:defRPr>
            </a:lvl7pPr>
            <a:lvl8pPr algn="l">
              <a:defRPr sz="2775" b="1">
                <a:solidFill>
                  <a:srgbClr val="13283C"/>
                </a:solidFill>
                <a:latin typeface="Arial"/>
                <a:ea typeface="Arial"/>
                <a:cs typeface="Arial"/>
              </a:defRPr>
            </a:lvl8pPr>
            <a:lvl9pPr algn="l">
              <a:defRPr sz="2775" b="1">
                <a:solidFill>
                  <a:srgbClr val="13283C"/>
                </a:solidFill>
                <a:latin typeface="Arial"/>
                <a:ea typeface="Arial"/>
                <a:cs typeface="Arial"/>
              </a:defRPr>
            </a:lvl9pPr>
          </a:lstStyle>
          <a:p xmlns:a="http://schemas.openxmlformats.org/drawingml/2006/main">
            <a:pPr algn="l">
              <a:lnSpc>
                <a:spcPct val="110000"/>
              </a:lnSpc>
              <a:buNone/>
              <a:defRPr sz="2775" b="1">
                <a:solidFill>
                  <a:srgbClr val="13283C"/>
                </a:solidFill>
                <a:latin typeface="Arial"/>
                <a:ea typeface="Arial"/>
                <a:cs typeface="Arial"/>
              </a:defRPr>
            </a:pPr>
            <a:r>
              <a:rPr sz="2775" b="1">
                <a:solidFill>
                  <a:srgbClr val="13283C"/>
                </a:solidFill>
                <a:latin typeface="Arial"/>
                <a:ea typeface="Arial"/>
                <a:cs typeface="Arial"/>
              </a:rPr>
              <a:t>Nuevos estados</a:t>
            </a:r>
          </a:p>
          <a:p xmlns:a="http://schemas.openxmlformats.org/drawingml/2006/main">
            <a:pPr algn="l">
              <a:lnSpc>
                <a:spcPct val="110000"/>
              </a:lnSpc>
              <a:buNone/>
              <a:defRPr sz="2775" b="1">
                <a:solidFill>
                  <a:srgbClr val="13283C"/>
                </a:solidFill>
                <a:latin typeface="Arial"/>
                <a:ea typeface="Arial"/>
                <a:cs typeface="Arial"/>
              </a:defRPr>
            </a:pPr>
            <a:r>
              <a:rPr sz="2775" b="1">
                <a:solidFill>
                  <a:srgbClr val="13283C"/>
                </a:solidFill>
                <a:latin typeface="Arial"/>
                <a:ea typeface="Arial"/>
                <a:cs typeface="Arial"/>
              </a:rPr>
              <a:t>ψ, r y ζ</a:t>
            </a:r>
          </a:p>
        </p:txBody>
      </p:sp>
      <p:sp>
        <p:nvSpPr>
          <p:cNvPr id="6" name="7 estados&#10;3 entradas y 3 salidas">
            <a:extLst xmlns:a="http://schemas.openxmlformats.org/drawingml/2006/main">
              <a:ext uri="{FF2B5EF4-FFF2-40B4-BE49-F238E27FC236}">
                <a16:creationId xmlns:a16="http://schemas.microsoft.com/office/drawing/2014/main" id="{4742E91D-5028-4204-AD07-D440C1181BC6}"/>
              </a:ext>
            </a:extLst>
          </p:cNvPr>
          <p:cNvSpPr>
            <a:spLocks xmlns:a="http://schemas.openxmlformats.org/drawingml/2006/main" noGrp="1"/>
          </p:cNvSpPr>
          <p:nvPr/>
        </p:nvSpPr>
        <p:spPr>
          <a:xfrm xmlns:a="http://schemas.openxmlformats.org/drawingml/2006/main">
            <a:off x="590550" y="3743325"/>
            <a:ext cx="6191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13283C"/>
                </a:solidFill>
                <a:latin typeface="Arial"/>
                <a:ea typeface="Arial"/>
                <a:cs typeface="Arial"/>
              </a:defRPr>
            </a:defPPr>
            <a:lvl1pPr algn="l">
              <a:defRPr sz="2400" b="0">
                <a:solidFill>
                  <a:srgbClr val="13283C"/>
                </a:solidFill>
                <a:latin typeface="Arial"/>
                <a:ea typeface="Arial"/>
                <a:cs typeface="Arial"/>
              </a:defRPr>
            </a:lvl1pPr>
            <a:lvl2pPr algn="l">
              <a:defRPr sz="2400" b="0">
                <a:solidFill>
                  <a:srgbClr val="13283C"/>
                </a:solidFill>
                <a:latin typeface="Arial"/>
                <a:ea typeface="Arial"/>
                <a:cs typeface="Arial"/>
              </a:defRPr>
            </a:lvl2pPr>
            <a:lvl3pPr algn="l">
              <a:defRPr sz="2400" b="0">
                <a:solidFill>
                  <a:srgbClr val="13283C"/>
                </a:solidFill>
                <a:latin typeface="Arial"/>
                <a:ea typeface="Arial"/>
                <a:cs typeface="Arial"/>
              </a:defRPr>
            </a:lvl3pPr>
            <a:lvl4pPr algn="l">
              <a:defRPr sz="2400" b="0">
                <a:solidFill>
                  <a:srgbClr val="13283C"/>
                </a:solidFill>
                <a:latin typeface="Arial"/>
                <a:ea typeface="Arial"/>
                <a:cs typeface="Arial"/>
              </a:defRPr>
            </a:lvl4pPr>
            <a:lvl5pPr algn="l">
              <a:defRPr sz="2400" b="0">
                <a:solidFill>
                  <a:srgbClr val="13283C"/>
                </a:solidFill>
                <a:latin typeface="Arial"/>
                <a:ea typeface="Arial"/>
                <a:cs typeface="Arial"/>
              </a:defRPr>
            </a:lvl5pPr>
            <a:lvl6pPr algn="l">
              <a:defRPr sz="2400" b="0">
                <a:solidFill>
                  <a:srgbClr val="13283C"/>
                </a:solidFill>
                <a:latin typeface="Arial"/>
                <a:ea typeface="Arial"/>
                <a:cs typeface="Arial"/>
              </a:defRPr>
            </a:lvl6pPr>
            <a:lvl7pPr algn="l">
              <a:defRPr sz="2400" b="0">
                <a:solidFill>
                  <a:srgbClr val="13283C"/>
                </a:solidFill>
                <a:latin typeface="Arial"/>
                <a:ea typeface="Arial"/>
                <a:cs typeface="Arial"/>
              </a:defRPr>
            </a:lvl7pPr>
            <a:lvl8pPr algn="l">
              <a:defRPr sz="2400" b="0">
                <a:solidFill>
                  <a:srgbClr val="13283C"/>
                </a:solidFill>
                <a:latin typeface="Arial"/>
                <a:ea typeface="Arial"/>
                <a:cs typeface="Arial"/>
              </a:defRPr>
            </a:lvl8pPr>
            <a:lvl9pPr algn="l">
              <a:defRPr sz="2400" b="0">
                <a:solidFill>
                  <a:srgbClr val="13283C"/>
                </a:solidFill>
                <a:latin typeface="Arial"/>
                <a:ea typeface="Arial"/>
                <a:cs typeface="Arial"/>
              </a:defRPr>
            </a:lvl9pPr>
          </a:lstStyle>
          <a:p xmlns:a="http://schemas.openxmlformats.org/drawingml/2006/main">
            <a:pPr algn="l">
              <a:lnSpc>
                <a:spcPct val="110000"/>
              </a:lnSpc>
              <a:buNone/>
              <a:defRPr sz="2400" b="0">
                <a:solidFill>
                  <a:srgbClr val="13283C"/>
                </a:solidFill>
                <a:latin typeface="Arial"/>
                <a:ea typeface="Arial"/>
                <a:cs typeface="Arial"/>
              </a:defRPr>
            </a:pPr>
            <a:r>
              <a:rPr sz="2400" b="0">
                <a:solidFill>
                  <a:srgbClr val="13283C"/>
                </a:solidFill>
                <a:latin typeface="Arial"/>
                <a:ea typeface="Arial"/>
                <a:cs typeface="Arial"/>
              </a:rPr>
              <a:t>7 estados</a:t>
            </a:r>
          </a:p>
          <a:p xmlns:a="http://schemas.openxmlformats.org/drawingml/2006/main">
            <a:pPr algn="l">
              <a:lnSpc>
                <a:spcPct val="110000"/>
              </a:lnSpc>
              <a:buNone/>
              <a:defRPr sz="2400" b="0">
                <a:solidFill>
                  <a:srgbClr val="13283C"/>
                </a:solidFill>
                <a:latin typeface="Arial"/>
                <a:ea typeface="Arial"/>
                <a:cs typeface="Arial"/>
              </a:defRPr>
            </a:pPr>
            <a:r>
              <a:rPr sz="2400" b="0">
                <a:solidFill>
                  <a:srgbClr val="13283C"/>
                </a:solidFill>
                <a:latin typeface="Arial"/>
                <a:ea typeface="Arial"/>
                <a:cs typeface="Arial"/>
              </a:rPr>
              <a:t>3 entradas y 3 salidas</a:t>
            </a:r>
          </a:p>
        </p:txBody>
      </p:sp>
      <p:sp>
        <p:nvSpPr>
          <p:cNvPr id="7" name="La aceleración perturba la guiñada&#10;en la extensi">
            <a:extLst xmlns:a="http://schemas.openxmlformats.org/drawingml/2006/main">
              <a:ext uri="{FF2B5EF4-FFF2-40B4-BE49-F238E27FC236}">
                <a16:creationId xmlns:a16="http://schemas.microsoft.com/office/drawing/2014/main" id="{D60C881C-F588-4790-9B76-34E37E82E44F}"/>
              </a:ext>
            </a:extLst>
          </p:cNvPr>
          <p:cNvSpPr>
            <a:spLocks xmlns:a="http://schemas.openxmlformats.org/drawingml/2006/main" noGrp="1"/>
          </p:cNvSpPr>
          <p:nvPr/>
        </p:nvSpPr>
        <p:spPr>
          <a:xfrm xmlns:a="http://schemas.openxmlformats.org/drawingml/2006/main">
            <a:off x="590550" y="5276850"/>
            <a:ext cx="619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087E8B"/>
                </a:solidFill>
                <a:latin typeface="Arial"/>
                <a:ea typeface="Arial"/>
                <a:cs typeface="Arial"/>
              </a:defRPr>
            </a:defPPr>
            <a:lvl1pPr algn="l">
              <a:defRPr sz="2100" b="1">
                <a:solidFill>
                  <a:srgbClr val="087E8B"/>
                </a:solidFill>
                <a:latin typeface="Arial"/>
                <a:ea typeface="Arial"/>
                <a:cs typeface="Arial"/>
              </a:defRPr>
            </a:lvl1pPr>
            <a:lvl2pPr algn="l">
              <a:defRPr sz="2100" b="1">
                <a:solidFill>
                  <a:srgbClr val="087E8B"/>
                </a:solidFill>
                <a:latin typeface="Arial"/>
                <a:ea typeface="Arial"/>
                <a:cs typeface="Arial"/>
              </a:defRPr>
            </a:lvl2pPr>
            <a:lvl3pPr algn="l">
              <a:defRPr sz="2100" b="1">
                <a:solidFill>
                  <a:srgbClr val="087E8B"/>
                </a:solidFill>
                <a:latin typeface="Arial"/>
                <a:ea typeface="Arial"/>
                <a:cs typeface="Arial"/>
              </a:defRPr>
            </a:lvl3pPr>
            <a:lvl4pPr algn="l">
              <a:defRPr sz="2100" b="1">
                <a:solidFill>
                  <a:srgbClr val="087E8B"/>
                </a:solidFill>
                <a:latin typeface="Arial"/>
                <a:ea typeface="Arial"/>
                <a:cs typeface="Arial"/>
              </a:defRPr>
            </a:lvl4pPr>
            <a:lvl5pPr algn="l">
              <a:defRPr sz="2100" b="1">
                <a:solidFill>
                  <a:srgbClr val="087E8B"/>
                </a:solidFill>
                <a:latin typeface="Arial"/>
                <a:ea typeface="Arial"/>
                <a:cs typeface="Arial"/>
              </a:defRPr>
            </a:lvl5pPr>
            <a:lvl6pPr algn="l">
              <a:defRPr sz="2100" b="1">
                <a:solidFill>
                  <a:srgbClr val="087E8B"/>
                </a:solidFill>
                <a:latin typeface="Arial"/>
                <a:ea typeface="Arial"/>
                <a:cs typeface="Arial"/>
              </a:defRPr>
            </a:lvl6pPr>
            <a:lvl7pPr algn="l">
              <a:defRPr sz="2100" b="1">
                <a:solidFill>
                  <a:srgbClr val="087E8B"/>
                </a:solidFill>
                <a:latin typeface="Arial"/>
                <a:ea typeface="Arial"/>
                <a:cs typeface="Arial"/>
              </a:defRPr>
            </a:lvl7pPr>
            <a:lvl8pPr algn="l">
              <a:defRPr sz="2100" b="1">
                <a:solidFill>
                  <a:srgbClr val="087E8B"/>
                </a:solidFill>
                <a:latin typeface="Arial"/>
                <a:ea typeface="Arial"/>
                <a:cs typeface="Arial"/>
              </a:defRPr>
            </a:lvl8pPr>
            <a:lvl9pPr algn="l">
              <a:defRPr sz="2100" b="1">
                <a:solidFill>
                  <a:srgbClr val="087E8B"/>
                </a:solidFill>
                <a:latin typeface="Arial"/>
                <a:ea typeface="Arial"/>
                <a:cs typeface="Arial"/>
              </a:defRPr>
            </a:lvl9pPr>
          </a:lstStyle>
          <a:p xmlns:a="http://schemas.openxmlformats.org/drawingml/2006/main">
            <a:pPr algn="l">
              <a:lnSpc>
                <a:spcPct val="110000"/>
              </a:lnSpc>
              <a:buNone/>
              <a:defRPr sz="2100" b="1">
                <a:solidFill>
                  <a:srgbClr val="087E8B"/>
                </a:solidFill>
                <a:latin typeface="Arial"/>
                <a:ea typeface="Arial"/>
                <a:cs typeface="Arial"/>
              </a:defRPr>
            </a:pPr>
            <a:r>
              <a:rPr sz="2100" b="1">
                <a:solidFill>
                  <a:srgbClr val="087E8B"/>
                </a:solidFill>
                <a:latin typeface="Arial"/>
                <a:ea typeface="Arial"/>
                <a:cs typeface="Arial"/>
              </a:rPr>
              <a:t>La aceleración perturba la guiñada</a:t>
            </a:r>
          </a:p>
          <a:p xmlns:a="http://schemas.openxmlformats.org/drawingml/2006/main">
            <a:pPr algn="l">
              <a:lnSpc>
                <a:spcPct val="110000"/>
              </a:lnSpc>
              <a:buNone/>
              <a:defRPr sz="2100" b="1">
                <a:solidFill>
                  <a:srgbClr val="087E8B"/>
                </a:solidFill>
                <a:latin typeface="Arial"/>
                <a:ea typeface="Arial"/>
                <a:cs typeface="Arial"/>
              </a:defRPr>
            </a:pPr>
            <a:r>
              <a:rPr sz="2100" b="1">
                <a:solidFill>
                  <a:srgbClr val="087E8B"/>
                </a:solidFill>
                <a:latin typeface="Arial"/>
                <a:ea typeface="Arial"/>
                <a:cs typeface="Arial"/>
              </a:rPr>
              <a:t>en la extensión propuesta</a:t>
            </a:r>
          </a:p>
        </p:txBody>
      </p:sp>
      <p:pic>
        <p:nvPicPr>
          <p:cNvPr id="8" name="">
            <a:extLst xmlns:a="http://schemas.openxmlformats.org/drawingml/2006/main">
              <a:ext uri="{FF2B5EF4-FFF2-40B4-BE49-F238E27FC236}">
                <a16:creationId xmlns:a16="http://schemas.microsoft.com/office/drawing/2014/main" id="{E0A75A0E-BCB9-418E-9C1F-62CEC6D432A8}"/>
              </a:ext>
            </a:extLst>
          </p:cNvPr>
          <p:cNvPicPr>
            <a:picLocks xmlns:a="http://schemas.openxmlformats.org/drawingml/2006/main" noChangeAspect="1"/>
          </p:cNvPicPr>
          <p:nvPr/>
        </p:nvPicPr>
        <p:blipFill>
          <a:blip xmlns:r="http://schemas.openxmlformats.org/officeDocument/2006/relationships" xmlns:a="http://schemas.openxmlformats.org/drawingml/2006/main" r:embed="R2e7395fc7e4a4236"/>
          <a:stretch xmlns:a="http://schemas.openxmlformats.org/drawingml/2006/main"/>
        </p:blipFill>
        <p:spPr>
          <a:xfrm xmlns:a="http://schemas.openxmlformats.org/drawingml/2006/main">
            <a:off x="7654470" y="1685925"/>
            <a:ext cx="3836309" cy="4429125"/>
          </a:xfrm>
          <a:prstGeom xmlns:a="http://schemas.openxmlformats.org/drawingml/2006/main" prst="rect">
            <a:avLst/>
          </a:prstGeom>
        </p:spPr>
      </p:pic>
    </p:spTree>
    <p:extLst>
      <p:ext uri="{BB962C8B-B14F-4D97-AF65-F5344CB8AC3E}">
        <p14:creationId xmlns:p14="http://schemas.microsoft.com/office/powerpoint/2010/main" val="73827830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nclusiones">
            <a:extLst xmlns:a="http://schemas.openxmlformats.org/drawingml/2006/main">
              <a:ext uri="{FF2B5EF4-FFF2-40B4-BE49-F238E27FC236}">
                <a16:creationId xmlns:a16="http://schemas.microsoft.com/office/drawing/2014/main" id="{0C7CDC7D-22CC-492B-9E08-8954D27A4706}"/>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Conclusiones</a:t>
            </a:r>
          </a:p>
        </p:txBody>
      </p:sp>
      <p:sp>
        <p:nvSpPr>
          <p:cNvPr id="3" name="16 / 16">
            <a:extLst xmlns:a="http://schemas.openxmlformats.org/drawingml/2006/main">
              <a:ext uri="{FF2B5EF4-FFF2-40B4-BE49-F238E27FC236}">
                <a16:creationId xmlns:a16="http://schemas.microsoft.com/office/drawing/2014/main" id="{B46A2570-AB49-4149-BD08-8B06B9E7A1BE}"/>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19 / 19</a:t>
            </a:r>
          </a:p>
        </p:txBody>
      </p:sp>
      <p:sp>
        <p:nvSpPr>
          <p:cNvPr id="4" name="El punto elegido mejora la respuesta angular">
            <a:extLst xmlns:a="http://schemas.openxmlformats.org/drawingml/2006/main">
              <a:ext uri="{FF2B5EF4-FFF2-40B4-BE49-F238E27FC236}">
                <a16:creationId xmlns:a16="http://schemas.microsoft.com/office/drawing/2014/main" id="{00328AB0-A7EA-450F-83DA-0315BEEBEBB9}"/>
              </a:ext>
            </a:extLst>
          </p:cNvPr>
          <p:cNvSpPr>
            <a:spLocks xmlns:a="http://schemas.openxmlformats.org/drawingml/2006/main" noGrp="1"/>
          </p:cNvSpPr>
          <p:nvPr/>
        </p:nvSpPr>
        <p:spPr>
          <a:xfrm xmlns:a="http://schemas.openxmlformats.org/drawingml/2006/main">
            <a:off x="590550" y="1428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087E8B"/>
                </a:solidFill>
                <a:latin typeface="Arial"/>
                <a:ea typeface="Arial"/>
                <a:cs typeface="Arial"/>
              </a:defRPr>
            </a:defPPr>
            <a:lvl1pPr algn="l">
              <a:defRPr sz="2700" b="1">
                <a:solidFill>
                  <a:srgbClr val="087E8B"/>
                </a:solidFill>
                <a:latin typeface="Arial"/>
                <a:ea typeface="Arial"/>
                <a:cs typeface="Arial"/>
              </a:defRPr>
            </a:lvl1pPr>
            <a:lvl2pPr algn="l">
              <a:defRPr sz="2700" b="1">
                <a:solidFill>
                  <a:srgbClr val="087E8B"/>
                </a:solidFill>
                <a:latin typeface="Arial"/>
                <a:ea typeface="Arial"/>
                <a:cs typeface="Arial"/>
              </a:defRPr>
            </a:lvl2pPr>
            <a:lvl3pPr algn="l">
              <a:defRPr sz="2700" b="1">
                <a:solidFill>
                  <a:srgbClr val="087E8B"/>
                </a:solidFill>
                <a:latin typeface="Arial"/>
                <a:ea typeface="Arial"/>
                <a:cs typeface="Arial"/>
              </a:defRPr>
            </a:lvl3pPr>
            <a:lvl4pPr algn="l">
              <a:defRPr sz="2700" b="1">
                <a:solidFill>
                  <a:srgbClr val="087E8B"/>
                </a:solidFill>
                <a:latin typeface="Arial"/>
                <a:ea typeface="Arial"/>
                <a:cs typeface="Arial"/>
              </a:defRPr>
            </a:lvl4pPr>
            <a:lvl5pPr algn="l">
              <a:defRPr sz="2700" b="1">
                <a:solidFill>
                  <a:srgbClr val="087E8B"/>
                </a:solidFill>
                <a:latin typeface="Arial"/>
                <a:ea typeface="Arial"/>
                <a:cs typeface="Arial"/>
              </a:defRPr>
            </a:lvl5pPr>
            <a:lvl6pPr algn="l">
              <a:defRPr sz="2700" b="1">
                <a:solidFill>
                  <a:srgbClr val="087E8B"/>
                </a:solidFill>
                <a:latin typeface="Arial"/>
                <a:ea typeface="Arial"/>
                <a:cs typeface="Arial"/>
              </a:defRPr>
            </a:lvl6pPr>
            <a:lvl7pPr algn="l">
              <a:defRPr sz="2700" b="1">
                <a:solidFill>
                  <a:srgbClr val="087E8B"/>
                </a:solidFill>
                <a:latin typeface="Arial"/>
                <a:ea typeface="Arial"/>
                <a:cs typeface="Arial"/>
              </a:defRPr>
            </a:lvl7pPr>
            <a:lvl8pPr algn="l">
              <a:defRPr sz="2700" b="1">
                <a:solidFill>
                  <a:srgbClr val="087E8B"/>
                </a:solidFill>
                <a:latin typeface="Arial"/>
                <a:ea typeface="Arial"/>
                <a:cs typeface="Arial"/>
              </a:defRPr>
            </a:lvl8pPr>
            <a:lvl9pPr algn="l">
              <a:defRPr sz="2700" b="1">
                <a:solidFill>
                  <a:srgbClr val="087E8B"/>
                </a:solidFill>
                <a:latin typeface="Arial"/>
                <a:ea typeface="Arial"/>
                <a:cs typeface="Arial"/>
              </a:defRPr>
            </a:lvl9pPr>
          </a:lstStyle>
          <a:p xmlns:a="http://schemas.openxmlformats.org/drawingml/2006/main">
            <a:pPr algn="l">
              <a:lnSpc>
                <a:spcPct val="110000"/>
              </a:lnSpc>
              <a:buNone/>
              <a:defRPr sz="2700" b="1">
                <a:solidFill>
                  <a:srgbClr val="087E8B"/>
                </a:solidFill>
                <a:latin typeface="Arial"/>
                <a:ea typeface="Arial"/>
                <a:cs typeface="Arial"/>
              </a:defRPr>
            </a:pPr>
            <a:r>
              <a:rPr sz="2700" b="1">
                <a:solidFill>
                  <a:srgbClr val="087E8B"/>
                </a:solidFill>
                <a:latin typeface="Arial"/>
                <a:ea typeface="Arial"/>
                <a:cs typeface="Arial"/>
              </a:rPr>
              <a:t>El punto elegido mejora la respuesta angular</a:t>
            </a:r>
          </a:p>
        </p:txBody>
      </p:sp>
      <p:graphicFrame>
        <p:nvGraphicFramePr>
          <p:cNvPr id="5" name="">
            <a:extLst xmlns:a="http://schemas.openxmlformats.org/drawingml/2006/main">
              <a:ext uri="{FF2B5EF4-FFF2-40B4-BE49-F238E27FC236}">
                <a16:creationId xmlns:a16="http://schemas.microsoft.com/office/drawing/2014/main" id="{FEDB8FAE-2FEF-4EBA-8D67-D0281D34D751}"/>
              </a:ext>
            </a:extLst>
          </p:cNvPr>
          <p:cNvGraphicFramePr/>
          <p:nvPr/>
        </p:nvGraphicFramePr>
        <p:xfrm>
          <a:off xmlns:a="http://schemas.openxmlformats.org/drawingml/2006/main" x="590550" y="2390775"/>
          <a:ext xmlns:a="http://schemas.openxmlformats.org/drawingml/2006/main" cx="10858500" cy="3048000"/>
        </p:xfrm>
        <a:graphic xmlns:a="http://schemas.openxmlformats.org/drawingml/2006/main">
          <a:graphicData uri="http://schemas.openxmlformats.org/drawingml/2006/table">
            <a:tbl>
              <a:tblPr/>
              <a:tblGrid>
                <a:gridCol w="5095875"/>
                <a:gridCol w="5762625"/>
              </a:tblGrid>
              <a:tr h="609600">
                <a:tc>
                  <a:txBody>
                    <a:bodyPr lIns="95250" tIns="95250" rIns="95250" bIns="95250"/>
                    <a:lstStyle/>
                    <a:p>
                      <a:r>
                        <a:rPr sz="2100" b="1">
                          <a:solidFill>
                            <a:srgbClr val="FFFFFF"/>
                          </a:solidFill>
                          <a:latin typeface="Arial"/>
                          <a:ea typeface="Arial"/>
                          <a:cs typeface="Arial"/>
                        </a:rPr>
                        <a:t>Resultado</a:t>
                      </a:r>
                    </a:p>
                  </a:txBody>
                  <a:tcPr marL="91440" marR="91440" marT="45720" marB="45720"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lIns="95250" tIns="95250" rIns="95250" bIns="95250"/>
                    <a:lstStyle/>
                    <a:p>
                      <a:r>
                        <a:rPr sz="2100" b="1">
                          <a:solidFill>
                            <a:srgbClr val="FFFFFF"/>
                          </a:solidFill>
                          <a:latin typeface="Arial"/>
                          <a:ea typeface="Arial"/>
                          <a:cs typeface="Arial"/>
                        </a:rPr>
                        <a:t>Punto recomendado</a:t>
                      </a:r>
                    </a:p>
                  </a:txBody>
                  <a:tcPr marL="91440" marR="91440" marT="45720" marB="45720" anchor="ctr">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r>
              <a:tr h="609600">
                <a:tc>
                  <a:txBody>
                    <a:bodyPr lIns="95250" tIns="95250" rIns="95250" bIns="95250"/>
                    <a:lstStyle/>
                    <a:p>
                      <a:r>
                        <a:rPr sz="2100" b="0">
                          <a:solidFill>
                            <a:srgbClr val="13283C"/>
                          </a:solidFill>
                          <a:latin typeface="Arial"/>
                          <a:ea typeface="Arial"/>
                          <a:cs typeface="Arial"/>
                        </a:rPr>
                        <a:t>Ganancias</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2100" b="0">
                          <a:solidFill>
                            <a:srgbClr val="13283C"/>
                          </a:solidFill>
                          <a:latin typeface="Arial"/>
                          <a:ea typeface="Arial"/>
                          <a:cs typeface="Arial"/>
                        </a:rPr>
                        <a:t>K₁ = 4,5   K₂ = 1,3</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09600">
                <a:tc>
                  <a:txBody>
                    <a:bodyPr lIns="95250" tIns="95250" rIns="95250" bIns="95250"/>
                    <a:lstStyle/>
                    <a:p>
                      <a:r>
                        <a:rPr sz="2100" b="0">
                          <a:solidFill>
                            <a:srgbClr val="13283C"/>
                          </a:solidFill>
                          <a:latin typeface="Arial"/>
                          <a:ea typeface="Arial"/>
                          <a:cs typeface="Arial"/>
                        </a:rPr>
                        <a:t>Sobrepaso / asentamiento</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2100" b="0">
                          <a:solidFill>
                            <a:srgbClr val="13283C"/>
                          </a:solidFill>
                          <a:latin typeface="Arial"/>
                          <a:ea typeface="Arial"/>
                          <a:cs typeface="Arial"/>
                        </a:rPr>
                        <a:t>0,82 % / 1,62 s</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r h="609600">
                <a:tc>
                  <a:txBody>
                    <a:bodyPr lIns="95250" tIns="95250" rIns="95250" bIns="95250"/>
                    <a:lstStyle/>
                    <a:p>
                      <a:r>
                        <a:rPr sz="2100" b="0">
                          <a:solidFill>
                            <a:srgbClr val="13283C"/>
                          </a:solidFill>
                          <a:latin typeface="Arial"/>
                          <a:ea typeface="Arial"/>
                          <a:cs typeface="Arial"/>
                        </a:rPr>
                        <a:t>Acoplamientos</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2100" b="0">
                          <a:solidFill>
                            <a:srgbClr val="13283C"/>
                          </a:solidFill>
                          <a:latin typeface="Arial"/>
                          <a:ea typeface="Arial"/>
                          <a:cs typeface="Arial"/>
                        </a:rPr>
                        <a:t>31 % / 28 %</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609600">
                <a:tc>
                  <a:txBody>
                    <a:bodyPr lIns="95250" tIns="95250" rIns="95250" bIns="95250"/>
                    <a:lstStyle/>
                    <a:p>
                      <a:r>
                        <a:rPr sz="2100" b="0">
                          <a:solidFill>
                            <a:srgbClr val="13283C"/>
                          </a:solidFill>
                          <a:latin typeface="Arial"/>
                          <a:ea typeface="Arial"/>
                          <a:cs typeface="Arial"/>
                        </a:rPr>
                        <a:t>Periodo de muestreo</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2100" b="0">
                          <a:solidFill>
                            <a:srgbClr val="13283C"/>
                          </a:solidFill>
                          <a:latin typeface="Arial"/>
                          <a:ea typeface="Arial"/>
                          <a:cs typeface="Arial"/>
                        </a:rPr>
                        <a:t>0,05 s</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bl>
          </a:graphicData>
        </a:graphic>
      </p:graphicFrame>
      <p:sp>
        <p:nvSpPr>
          <p:cNvPr id="6" name="La aceleración y la orientación deben analizarse">
            <a:extLst xmlns:a="http://schemas.openxmlformats.org/drawingml/2006/main">
              <a:ext uri="{FF2B5EF4-FFF2-40B4-BE49-F238E27FC236}">
                <a16:creationId xmlns:a16="http://schemas.microsoft.com/office/drawing/2014/main" id="{22FECD54-E01D-4B4A-B9C0-A6E272711B8B}"/>
              </a:ext>
            </a:extLst>
          </p:cNvPr>
          <p:cNvSpPr>
            <a:spLocks xmlns:a="http://schemas.openxmlformats.org/drawingml/2006/main" noGrp="1"/>
          </p:cNvSpPr>
          <p:nvPr/>
        </p:nvSpPr>
        <p:spPr>
          <a:xfrm xmlns:a="http://schemas.openxmlformats.org/drawingml/2006/main">
            <a:off x="590550" y="5838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3283C"/>
                </a:solidFill>
                <a:latin typeface="Arial"/>
                <a:ea typeface="Arial"/>
                <a:cs typeface="Arial"/>
              </a:defRPr>
            </a:defPPr>
            <a:lvl1pPr algn="l">
              <a:defRPr sz="2175" b="1">
                <a:solidFill>
                  <a:srgbClr val="13283C"/>
                </a:solidFill>
                <a:latin typeface="Arial"/>
                <a:ea typeface="Arial"/>
                <a:cs typeface="Arial"/>
              </a:defRPr>
            </a:lvl1pPr>
            <a:lvl2pPr algn="l">
              <a:defRPr sz="2175" b="1">
                <a:solidFill>
                  <a:srgbClr val="13283C"/>
                </a:solidFill>
                <a:latin typeface="Arial"/>
                <a:ea typeface="Arial"/>
                <a:cs typeface="Arial"/>
              </a:defRPr>
            </a:lvl2pPr>
            <a:lvl3pPr algn="l">
              <a:defRPr sz="2175" b="1">
                <a:solidFill>
                  <a:srgbClr val="13283C"/>
                </a:solidFill>
                <a:latin typeface="Arial"/>
                <a:ea typeface="Arial"/>
                <a:cs typeface="Arial"/>
              </a:defRPr>
            </a:lvl3pPr>
            <a:lvl4pPr algn="l">
              <a:defRPr sz="2175" b="1">
                <a:solidFill>
                  <a:srgbClr val="13283C"/>
                </a:solidFill>
                <a:latin typeface="Arial"/>
                <a:ea typeface="Arial"/>
                <a:cs typeface="Arial"/>
              </a:defRPr>
            </a:lvl4pPr>
            <a:lvl5pPr algn="l">
              <a:defRPr sz="2175" b="1">
                <a:solidFill>
                  <a:srgbClr val="13283C"/>
                </a:solidFill>
                <a:latin typeface="Arial"/>
                <a:ea typeface="Arial"/>
                <a:cs typeface="Arial"/>
              </a:defRPr>
            </a:lvl5pPr>
            <a:lvl6pPr algn="l">
              <a:defRPr sz="2175" b="1">
                <a:solidFill>
                  <a:srgbClr val="13283C"/>
                </a:solidFill>
                <a:latin typeface="Arial"/>
                <a:ea typeface="Arial"/>
                <a:cs typeface="Arial"/>
              </a:defRPr>
            </a:lvl6pPr>
            <a:lvl7pPr algn="l">
              <a:defRPr sz="2175" b="1">
                <a:solidFill>
                  <a:srgbClr val="13283C"/>
                </a:solidFill>
                <a:latin typeface="Arial"/>
                <a:ea typeface="Arial"/>
                <a:cs typeface="Arial"/>
              </a:defRPr>
            </a:lvl7pPr>
            <a:lvl8pPr algn="l">
              <a:defRPr sz="2175" b="1">
                <a:solidFill>
                  <a:srgbClr val="13283C"/>
                </a:solidFill>
                <a:latin typeface="Arial"/>
                <a:ea typeface="Arial"/>
                <a:cs typeface="Arial"/>
              </a:defRPr>
            </a:lvl8pPr>
            <a:lvl9pPr algn="l">
              <a:defRPr sz="2175" b="1">
                <a:solidFill>
                  <a:srgbClr val="13283C"/>
                </a:solidFill>
                <a:latin typeface="Arial"/>
                <a:ea typeface="Arial"/>
                <a:cs typeface="Arial"/>
              </a:defRPr>
            </a:lvl9pPr>
          </a:lstStyle>
          <a:p xmlns:a="http://schemas.openxmlformats.org/drawingml/2006/main">
            <a:pPr algn="l">
              <a:lnSpc>
                <a:spcPct val="110000"/>
              </a:lnSpc>
              <a:buNone/>
              <a:defRPr sz="2175" b="1">
                <a:solidFill>
                  <a:srgbClr val="13283C"/>
                </a:solidFill>
                <a:latin typeface="Arial"/>
                <a:ea typeface="Arial"/>
                <a:cs typeface="Arial"/>
              </a:defRPr>
            </a:pPr>
            <a:r>
              <a:rPr sz="2175" b="1">
                <a:solidFill>
                  <a:srgbClr val="13283C"/>
                </a:solidFill>
                <a:latin typeface="Arial"/>
                <a:ea typeface="Arial"/>
                <a:cs typeface="Arial"/>
              </a:rPr>
              <a:t>La aceleración y la orientación deben analizarse juntas</a:t>
            </a:r>
          </a:p>
        </p:txBody>
      </p:sp>
    </p:spTree>
    <p:extLst>
      <p:ext uri="{BB962C8B-B14F-4D97-AF65-F5344CB8AC3E}">
        <p14:creationId xmlns:p14="http://schemas.microsoft.com/office/powerpoint/2010/main" val="51017044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ferencias">
            <a:extLst xmlns:a="http://schemas.openxmlformats.org/drawingml/2006/main">
              <a:ext uri="{FF2B5EF4-FFF2-40B4-BE49-F238E27FC236}">
                <a16:creationId xmlns:a16="http://schemas.microsoft.com/office/drawing/2014/main" id="{CDF0F84A-3D3B-4D0E-8FFB-AD0FC5BD4808}"/>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Referencias</a:t>
            </a:r>
          </a:p>
        </p:txBody>
      </p:sp>
      <p:sp>
        <p:nvSpPr>
          <p:cNvPr id="3" name="Referencias">
            <a:extLst xmlns:a="http://schemas.openxmlformats.org/drawingml/2006/main">
              <a:ext uri="{FF2B5EF4-FFF2-40B4-BE49-F238E27FC236}">
                <a16:creationId xmlns:a16="http://schemas.microsoft.com/office/drawing/2014/main" id="{D70775BC-C700-4C10-BC5F-10BBAA340AD7}"/>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Referencias</a:t>
            </a:r>
          </a:p>
        </p:txBody>
      </p:sp>
      <p:sp>
        <p:nvSpPr>
          <p:cNvPr id="4" name="Fuentes del proyecto">
            <a:extLst xmlns:a="http://schemas.openxmlformats.org/drawingml/2006/main">
              <a:ext uri="{FF2B5EF4-FFF2-40B4-BE49-F238E27FC236}">
                <a16:creationId xmlns:a16="http://schemas.microsoft.com/office/drawing/2014/main" id="{C9239DB6-2728-4B98-94B4-28E887359EE0}"/>
              </a:ext>
            </a:extLst>
          </p:cNvPr>
          <p:cNvSpPr>
            <a:spLocks xmlns:a="http://schemas.openxmlformats.org/drawingml/2006/main" noGrp="1"/>
          </p:cNvSpPr>
          <p:nvPr/>
        </p:nvSpPr>
        <p:spPr>
          <a:xfrm xmlns:a="http://schemas.openxmlformats.org/drawingml/2006/main">
            <a:off x="590550" y="13620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xmlns:a="http://schemas.openxmlformats.org/drawingml/2006/main">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Fuentes del proyecto</a:t>
            </a:r>
          </a:p>
        </p:txBody>
      </p:sp>
      <p:sp>
        <p:nvSpPr>
          <p:cNvPr id="5" name="Reporte del grupo: Reporte_ES.pdf, 14 páginas">
            <a:extLst xmlns:a="http://schemas.openxmlformats.org/drawingml/2006/main">
              <a:ext uri="{FF2B5EF4-FFF2-40B4-BE49-F238E27FC236}">
                <a16:creationId xmlns:a16="http://schemas.microsoft.com/office/drawing/2014/main" id="{4CC6C6A9-FA3E-40E5-BF1A-BE1E36CBF61F}"/>
              </a:ext>
            </a:extLst>
          </p:cNvPr>
          <p:cNvSpPr>
            <a:spLocks xmlns:a="http://schemas.openxmlformats.org/drawingml/2006/main" noGrp="1"/>
          </p:cNvSpPr>
          <p:nvPr/>
        </p:nvSpPr>
        <p:spPr>
          <a:xfrm xmlns:a="http://schemas.openxmlformats.org/drawingml/2006/main">
            <a:off x="590550" y="21526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3283C"/>
                </a:solidFill>
                <a:latin typeface="Arial"/>
                <a:ea typeface="Arial"/>
                <a:cs typeface="Arial"/>
              </a:defRPr>
            </a:defPPr>
            <a:lvl1pPr algn="l">
              <a:defRPr sz="1950" b="0">
                <a:solidFill>
                  <a:srgbClr val="13283C"/>
                </a:solidFill>
                <a:latin typeface="Arial"/>
                <a:ea typeface="Arial"/>
                <a:cs typeface="Arial"/>
              </a:defRPr>
            </a:lvl1pPr>
            <a:lvl2pPr algn="l">
              <a:defRPr sz="1950" b="0">
                <a:solidFill>
                  <a:srgbClr val="13283C"/>
                </a:solidFill>
                <a:latin typeface="Arial"/>
                <a:ea typeface="Arial"/>
                <a:cs typeface="Arial"/>
              </a:defRPr>
            </a:lvl2pPr>
            <a:lvl3pPr algn="l">
              <a:defRPr sz="1950" b="0">
                <a:solidFill>
                  <a:srgbClr val="13283C"/>
                </a:solidFill>
                <a:latin typeface="Arial"/>
                <a:ea typeface="Arial"/>
                <a:cs typeface="Arial"/>
              </a:defRPr>
            </a:lvl3pPr>
            <a:lvl4pPr algn="l">
              <a:defRPr sz="1950" b="0">
                <a:solidFill>
                  <a:srgbClr val="13283C"/>
                </a:solidFill>
                <a:latin typeface="Arial"/>
                <a:ea typeface="Arial"/>
                <a:cs typeface="Arial"/>
              </a:defRPr>
            </a:lvl4pPr>
            <a:lvl5pPr algn="l">
              <a:defRPr sz="1950" b="0">
                <a:solidFill>
                  <a:srgbClr val="13283C"/>
                </a:solidFill>
                <a:latin typeface="Arial"/>
                <a:ea typeface="Arial"/>
                <a:cs typeface="Arial"/>
              </a:defRPr>
            </a:lvl5pPr>
            <a:lvl6pPr algn="l">
              <a:defRPr sz="1950" b="0">
                <a:solidFill>
                  <a:srgbClr val="13283C"/>
                </a:solidFill>
                <a:latin typeface="Arial"/>
                <a:ea typeface="Arial"/>
                <a:cs typeface="Arial"/>
              </a:defRPr>
            </a:lvl6pPr>
            <a:lvl7pPr algn="l">
              <a:defRPr sz="1950" b="0">
                <a:solidFill>
                  <a:srgbClr val="13283C"/>
                </a:solidFill>
                <a:latin typeface="Arial"/>
                <a:ea typeface="Arial"/>
                <a:cs typeface="Arial"/>
              </a:defRPr>
            </a:lvl7pPr>
            <a:lvl8pPr algn="l">
              <a:defRPr sz="1950" b="0">
                <a:solidFill>
                  <a:srgbClr val="13283C"/>
                </a:solidFill>
                <a:latin typeface="Arial"/>
                <a:ea typeface="Arial"/>
                <a:cs typeface="Arial"/>
              </a:defRPr>
            </a:lvl8pPr>
            <a:lvl9pPr algn="l">
              <a:defRPr sz="1950" b="0">
                <a:solidFill>
                  <a:srgbClr val="13283C"/>
                </a:solidFill>
                <a:latin typeface="Arial"/>
                <a:ea typeface="Arial"/>
                <a:cs typeface="Arial"/>
              </a:defRPr>
            </a:lvl9pPr>
          </a:lstStyle>
          <a:p xmlns:a="http://schemas.openxmlformats.org/drawingml/2006/main">
            <a:pPr algn="l">
              <a:lnSpc>
                <a:spcPct val="110000"/>
              </a:lnSpc>
              <a:buNone/>
              <a:defRPr sz="1950" b="0">
                <a:solidFill>
                  <a:srgbClr val="13283C"/>
                </a:solidFill>
                <a:latin typeface="Arial"/>
                <a:ea typeface="Arial"/>
                <a:cs typeface="Arial"/>
              </a:defRPr>
            </a:pPr>
            <a:r>
              <a:rPr sz="1950" b="0">
                <a:solidFill>
                  <a:srgbClr val="13283C"/>
                </a:solidFill>
                <a:latin typeface="Arial"/>
                <a:ea typeface="Arial"/>
                <a:cs typeface="Arial"/>
              </a:rPr>
              <a:t>Reporte del grupo: Reporte_ES.pdf, 14 páginas</a:t>
            </a:r>
          </a:p>
        </p:txBody>
      </p:sp>
      <p:sp>
        <p:nvSpPr>
          <p:cNvPr id="6" name="Enunciado: proyectoCohete.pdf">
            <a:extLst xmlns:a="http://schemas.openxmlformats.org/drawingml/2006/main">
              <a:ext uri="{FF2B5EF4-FFF2-40B4-BE49-F238E27FC236}">
                <a16:creationId xmlns:a16="http://schemas.microsoft.com/office/drawing/2014/main" id="{0EB67C18-6D52-4CE8-BBF1-9E7C3065C0B8}"/>
              </a:ext>
            </a:extLst>
          </p:cNvPr>
          <p:cNvSpPr>
            <a:spLocks xmlns:a="http://schemas.openxmlformats.org/drawingml/2006/main" noGrp="1"/>
          </p:cNvSpPr>
          <p:nvPr/>
        </p:nvSpPr>
        <p:spPr>
          <a:xfrm xmlns:a="http://schemas.openxmlformats.org/drawingml/2006/main">
            <a:off x="590550" y="27146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3283C"/>
                </a:solidFill>
                <a:latin typeface="Arial"/>
                <a:ea typeface="Arial"/>
                <a:cs typeface="Arial"/>
              </a:defRPr>
            </a:defPPr>
            <a:lvl1pPr algn="l">
              <a:defRPr sz="1950" b="0">
                <a:solidFill>
                  <a:srgbClr val="13283C"/>
                </a:solidFill>
                <a:latin typeface="Arial"/>
                <a:ea typeface="Arial"/>
                <a:cs typeface="Arial"/>
              </a:defRPr>
            </a:lvl1pPr>
            <a:lvl2pPr algn="l">
              <a:defRPr sz="1950" b="0">
                <a:solidFill>
                  <a:srgbClr val="13283C"/>
                </a:solidFill>
                <a:latin typeface="Arial"/>
                <a:ea typeface="Arial"/>
                <a:cs typeface="Arial"/>
              </a:defRPr>
            </a:lvl2pPr>
            <a:lvl3pPr algn="l">
              <a:defRPr sz="1950" b="0">
                <a:solidFill>
                  <a:srgbClr val="13283C"/>
                </a:solidFill>
                <a:latin typeface="Arial"/>
                <a:ea typeface="Arial"/>
                <a:cs typeface="Arial"/>
              </a:defRPr>
            </a:lvl3pPr>
            <a:lvl4pPr algn="l">
              <a:defRPr sz="1950" b="0">
                <a:solidFill>
                  <a:srgbClr val="13283C"/>
                </a:solidFill>
                <a:latin typeface="Arial"/>
                <a:ea typeface="Arial"/>
                <a:cs typeface="Arial"/>
              </a:defRPr>
            </a:lvl4pPr>
            <a:lvl5pPr algn="l">
              <a:defRPr sz="1950" b="0">
                <a:solidFill>
                  <a:srgbClr val="13283C"/>
                </a:solidFill>
                <a:latin typeface="Arial"/>
                <a:ea typeface="Arial"/>
                <a:cs typeface="Arial"/>
              </a:defRPr>
            </a:lvl5pPr>
            <a:lvl6pPr algn="l">
              <a:defRPr sz="1950" b="0">
                <a:solidFill>
                  <a:srgbClr val="13283C"/>
                </a:solidFill>
                <a:latin typeface="Arial"/>
                <a:ea typeface="Arial"/>
                <a:cs typeface="Arial"/>
              </a:defRPr>
            </a:lvl6pPr>
            <a:lvl7pPr algn="l">
              <a:defRPr sz="1950" b="0">
                <a:solidFill>
                  <a:srgbClr val="13283C"/>
                </a:solidFill>
                <a:latin typeface="Arial"/>
                <a:ea typeface="Arial"/>
                <a:cs typeface="Arial"/>
              </a:defRPr>
            </a:lvl7pPr>
            <a:lvl8pPr algn="l">
              <a:defRPr sz="1950" b="0">
                <a:solidFill>
                  <a:srgbClr val="13283C"/>
                </a:solidFill>
                <a:latin typeface="Arial"/>
                <a:ea typeface="Arial"/>
                <a:cs typeface="Arial"/>
              </a:defRPr>
            </a:lvl8pPr>
            <a:lvl9pPr algn="l">
              <a:defRPr sz="1950" b="0">
                <a:solidFill>
                  <a:srgbClr val="13283C"/>
                </a:solidFill>
                <a:latin typeface="Arial"/>
                <a:ea typeface="Arial"/>
                <a:cs typeface="Arial"/>
              </a:defRPr>
            </a:lvl9pPr>
          </a:lstStyle>
          <a:p xmlns:a="http://schemas.openxmlformats.org/drawingml/2006/main">
            <a:pPr algn="l">
              <a:lnSpc>
                <a:spcPct val="110000"/>
              </a:lnSpc>
              <a:buNone/>
              <a:defRPr sz="1950" b="0">
                <a:solidFill>
                  <a:srgbClr val="13283C"/>
                </a:solidFill>
                <a:latin typeface="Arial"/>
                <a:ea typeface="Arial"/>
                <a:cs typeface="Arial"/>
              </a:defRPr>
            </a:pPr>
            <a:r>
              <a:rPr sz="1950" b="0">
                <a:solidFill>
                  <a:srgbClr val="13283C"/>
                </a:solidFill>
                <a:latin typeface="Arial"/>
                <a:ea typeface="Arial"/>
                <a:cs typeface="Arial"/>
              </a:rPr>
              <a:t>Enunciado: proyectoCohete.pdf</a:t>
            </a:r>
          </a:p>
        </p:txBody>
      </p:sp>
      <p:sp>
        <p:nvSpPr>
          <p:cNvPr id="7" name="Nise, Control Systems Engineering, 7.ª ed.">
            <a:extLst xmlns:a="http://schemas.openxmlformats.org/drawingml/2006/main">
              <a:ext uri="{FF2B5EF4-FFF2-40B4-BE49-F238E27FC236}">
                <a16:creationId xmlns:a16="http://schemas.microsoft.com/office/drawing/2014/main" id="{384C18B8-6BBE-4C56-9932-4ABA4F6B6E75}"/>
              </a:ext>
            </a:extLst>
          </p:cNvPr>
          <p:cNvSpPr>
            <a:spLocks xmlns:a="http://schemas.openxmlformats.org/drawingml/2006/main" noGrp="1"/>
          </p:cNvSpPr>
          <p:nvPr/>
        </p:nvSpPr>
        <p:spPr>
          <a:xfrm xmlns:a="http://schemas.openxmlformats.org/drawingml/2006/main">
            <a:off x="590550" y="32766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3283C"/>
                </a:solidFill>
                <a:latin typeface="Arial"/>
                <a:ea typeface="Arial"/>
                <a:cs typeface="Arial"/>
              </a:defRPr>
            </a:defPPr>
            <a:lvl1pPr algn="l">
              <a:defRPr sz="1950" b="0">
                <a:solidFill>
                  <a:srgbClr val="13283C"/>
                </a:solidFill>
                <a:latin typeface="Arial"/>
                <a:ea typeface="Arial"/>
                <a:cs typeface="Arial"/>
              </a:defRPr>
            </a:lvl1pPr>
            <a:lvl2pPr algn="l">
              <a:defRPr sz="1950" b="0">
                <a:solidFill>
                  <a:srgbClr val="13283C"/>
                </a:solidFill>
                <a:latin typeface="Arial"/>
                <a:ea typeface="Arial"/>
                <a:cs typeface="Arial"/>
              </a:defRPr>
            </a:lvl2pPr>
            <a:lvl3pPr algn="l">
              <a:defRPr sz="1950" b="0">
                <a:solidFill>
                  <a:srgbClr val="13283C"/>
                </a:solidFill>
                <a:latin typeface="Arial"/>
                <a:ea typeface="Arial"/>
                <a:cs typeface="Arial"/>
              </a:defRPr>
            </a:lvl3pPr>
            <a:lvl4pPr algn="l">
              <a:defRPr sz="1950" b="0">
                <a:solidFill>
                  <a:srgbClr val="13283C"/>
                </a:solidFill>
                <a:latin typeface="Arial"/>
                <a:ea typeface="Arial"/>
                <a:cs typeface="Arial"/>
              </a:defRPr>
            </a:lvl4pPr>
            <a:lvl5pPr algn="l">
              <a:defRPr sz="1950" b="0">
                <a:solidFill>
                  <a:srgbClr val="13283C"/>
                </a:solidFill>
                <a:latin typeface="Arial"/>
                <a:ea typeface="Arial"/>
                <a:cs typeface="Arial"/>
              </a:defRPr>
            </a:lvl5pPr>
            <a:lvl6pPr algn="l">
              <a:defRPr sz="1950" b="0">
                <a:solidFill>
                  <a:srgbClr val="13283C"/>
                </a:solidFill>
                <a:latin typeface="Arial"/>
                <a:ea typeface="Arial"/>
                <a:cs typeface="Arial"/>
              </a:defRPr>
            </a:lvl6pPr>
            <a:lvl7pPr algn="l">
              <a:defRPr sz="1950" b="0">
                <a:solidFill>
                  <a:srgbClr val="13283C"/>
                </a:solidFill>
                <a:latin typeface="Arial"/>
                <a:ea typeface="Arial"/>
                <a:cs typeface="Arial"/>
              </a:defRPr>
            </a:lvl7pPr>
            <a:lvl8pPr algn="l">
              <a:defRPr sz="1950" b="0">
                <a:solidFill>
                  <a:srgbClr val="13283C"/>
                </a:solidFill>
                <a:latin typeface="Arial"/>
                <a:ea typeface="Arial"/>
                <a:cs typeface="Arial"/>
              </a:defRPr>
            </a:lvl8pPr>
            <a:lvl9pPr algn="l">
              <a:defRPr sz="1950" b="0">
                <a:solidFill>
                  <a:srgbClr val="13283C"/>
                </a:solidFill>
                <a:latin typeface="Arial"/>
                <a:ea typeface="Arial"/>
                <a:cs typeface="Arial"/>
              </a:defRPr>
            </a:lvl9pPr>
          </a:lstStyle>
          <a:p xmlns:a="http://schemas.openxmlformats.org/drawingml/2006/main">
            <a:pPr algn="l">
              <a:lnSpc>
                <a:spcPct val="110000"/>
              </a:lnSpc>
              <a:buNone/>
              <a:defRPr sz="1950" b="0">
                <a:solidFill>
                  <a:srgbClr val="13283C"/>
                </a:solidFill>
                <a:latin typeface="Arial"/>
                <a:ea typeface="Arial"/>
                <a:cs typeface="Arial"/>
              </a:defRPr>
            </a:pPr>
            <a:r>
              <a:rPr sz="1950" b="0">
                <a:solidFill>
                  <a:srgbClr val="13283C"/>
                </a:solidFill>
                <a:latin typeface="Arial"/>
                <a:ea typeface="Arial"/>
                <a:cs typeface="Arial"/>
              </a:rPr>
              <a:t>Nise, Control Systems Engineering, 7.ª ed.</a:t>
            </a:r>
          </a:p>
        </p:txBody>
      </p:sp>
      <p:sp>
        <p:nvSpPr>
          <p:cNvPr id="8" name="Ogata, Modern Control Engineering, 5.ª ed.">
            <a:extLst xmlns:a="http://schemas.openxmlformats.org/drawingml/2006/main">
              <a:ext uri="{FF2B5EF4-FFF2-40B4-BE49-F238E27FC236}">
                <a16:creationId xmlns:a16="http://schemas.microsoft.com/office/drawing/2014/main" id="{AC24FF34-E036-471B-8606-4E9E081AA10C}"/>
              </a:ext>
            </a:extLst>
          </p:cNvPr>
          <p:cNvSpPr>
            <a:spLocks xmlns:a="http://schemas.openxmlformats.org/drawingml/2006/main" noGrp="1"/>
          </p:cNvSpPr>
          <p:nvPr/>
        </p:nvSpPr>
        <p:spPr>
          <a:xfrm xmlns:a="http://schemas.openxmlformats.org/drawingml/2006/main">
            <a:off x="590550" y="38385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3283C"/>
                </a:solidFill>
                <a:latin typeface="Arial"/>
                <a:ea typeface="Arial"/>
                <a:cs typeface="Arial"/>
              </a:defRPr>
            </a:defPPr>
            <a:lvl1pPr algn="l">
              <a:defRPr sz="1950" b="0">
                <a:solidFill>
                  <a:srgbClr val="13283C"/>
                </a:solidFill>
                <a:latin typeface="Arial"/>
                <a:ea typeface="Arial"/>
                <a:cs typeface="Arial"/>
              </a:defRPr>
            </a:lvl1pPr>
            <a:lvl2pPr algn="l">
              <a:defRPr sz="1950" b="0">
                <a:solidFill>
                  <a:srgbClr val="13283C"/>
                </a:solidFill>
                <a:latin typeface="Arial"/>
                <a:ea typeface="Arial"/>
                <a:cs typeface="Arial"/>
              </a:defRPr>
            </a:lvl2pPr>
            <a:lvl3pPr algn="l">
              <a:defRPr sz="1950" b="0">
                <a:solidFill>
                  <a:srgbClr val="13283C"/>
                </a:solidFill>
                <a:latin typeface="Arial"/>
                <a:ea typeface="Arial"/>
                <a:cs typeface="Arial"/>
              </a:defRPr>
            </a:lvl3pPr>
            <a:lvl4pPr algn="l">
              <a:defRPr sz="1950" b="0">
                <a:solidFill>
                  <a:srgbClr val="13283C"/>
                </a:solidFill>
                <a:latin typeface="Arial"/>
                <a:ea typeface="Arial"/>
                <a:cs typeface="Arial"/>
              </a:defRPr>
            </a:lvl4pPr>
            <a:lvl5pPr algn="l">
              <a:defRPr sz="1950" b="0">
                <a:solidFill>
                  <a:srgbClr val="13283C"/>
                </a:solidFill>
                <a:latin typeface="Arial"/>
                <a:ea typeface="Arial"/>
                <a:cs typeface="Arial"/>
              </a:defRPr>
            </a:lvl5pPr>
            <a:lvl6pPr algn="l">
              <a:defRPr sz="1950" b="0">
                <a:solidFill>
                  <a:srgbClr val="13283C"/>
                </a:solidFill>
                <a:latin typeface="Arial"/>
                <a:ea typeface="Arial"/>
                <a:cs typeface="Arial"/>
              </a:defRPr>
            </a:lvl6pPr>
            <a:lvl7pPr algn="l">
              <a:defRPr sz="1950" b="0">
                <a:solidFill>
                  <a:srgbClr val="13283C"/>
                </a:solidFill>
                <a:latin typeface="Arial"/>
                <a:ea typeface="Arial"/>
                <a:cs typeface="Arial"/>
              </a:defRPr>
            </a:lvl7pPr>
            <a:lvl8pPr algn="l">
              <a:defRPr sz="1950" b="0">
                <a:solidFill>
                  <a:srgbClr val="13283C"/>
                </a:solidFill>
                <a:latin typeface="Arial"/>
                <a:ea typeface="Arial"/>
                <a:cs typeface="Arial"/>
              </a:defRPr>
            </a:lvl8pPr>
            <a:lvl9pPr algn="l">
              <a:defRPr sz="1950" b="0">
                <a:solidFill>
                  <a:srgbClr val="13283C"/>
                </a:solidFill>
                <a:latin typeface="Arial"/>
                <a:ea typeface="Arial"/>
                <a:cs typeface="Arial"/>
              </a:defRPr>
            </a:lvl9pPr>
          </a:lstStyle>
          <a:p xmlns:a="http://schemas.openxmlformats.org/drawingml/2006/main">
            <a:pPr algn="l">
              <a:lnSpc>
                <a:spcPct val="110000"/>
              </a:lnSpc>
              <a:buNone/>
              <a:defRPr sz="1950" b="0">
                <a:solidFill>
                  <a:srgbClr val="13283C"/>
                </a:solidFill>
                <a:latin typeface="Arial"/>
                <a:ea typeface="Arial"/>
                <a:cs typeface="Arial"/>
              </a:defRPr>
            </a:pPr>
            <a:r>
              <a:rPr sz="1950" b="0">
                <a:solidFill>
                  <a:srgbClr val="13283C"/>
                </a:solidFill>
                <a:latin typeface="Arial"/>
                <a:ea typeface="Arial"/>
                <a:cs typeface="Arial"/>
              </a:rPr>
              <a:t>Ogata, Modern Control Engineering, 5.ª ed.</a:t>
            </a:r>
          </a:p>
        </p:txBody>
      </p:sp>
      <p:sp>
        <p:nvSpPr>
          <p:cNvPr id="9" name="Franklin, Powell y Workman, Digital Control of D">
            <a:extLst xmlns:a="http://schemas.openxmlformats.org/drawingml/2006/main">
              <a:ext uri="{FF2B5EF4-FFF2-40B4-BE49-F238E27FC236}">
                <a16:creationId xmlns:a16="http://schemas.microsoft.com/office/drawing/2014/main" id="{EB431EFC-8910-4492-BB13-E7C0AA9DBF13}"/>
              </a:ext>
            </a:extLst>
          </p:cNvPr>
          <p:cNvSpPr>
            <a:spLocks xmlns:a="http://schemas.openxmlformats.org/drawingml/2006/main" noGrp="1"/>
          </p:cNvSpPr>
          <p:nvPr/>
        </p:nvSpPr>
        <p:spPr>
          <a:xfrm xmlns:a="http://schemas.openxmlformats.org/drawingml/2006/main">
            <a:off x="590550" y="44005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3283C"/>
                </a:solidFill>
                <a:latin typeface="Arial"/>
                <a:ea typeface="Arial"/>
                <a:cs typeface="Arial"/>
              </a:defRPr>
            </a:defPPr>
            <a:lvl1pPr algn="l">
              <a:defRPr sz="1950" b="0">
                <a:solidFill>
                  <a:srgbClr val="13283C"/>
                </a:solidFill>
                <a:latin typeface="Arial"/>
                <a:ea typeface="Arial"/>
                <a:cs typeface="Arial"/>
              </a:defRPr>
            </a:lvl1pPr>
            <a:lvl2pPr algn="l">
              <a:defRPr sz="1950" b="0">
                <a:solidFill>
                  <a:srgbClr val="13283C"/>
                </a:solidFill>
                <a:latin typeface="Arial"/>
                <a:ea typeface="Arial"/>
                <a:cs typeface="Arial"/>
              </a:defRPr>
            </a:lvl2pPr>
            <a:lvl3pPr algn="l">
              <a:defRPr sz="1950" b="0">
                <a:solidFill>
                  <a:srgbClr val="13283C"/>
                </a:solidFill>
                <a:latin typeface="Arial"/>
                <a:ea typeface="Arial"/>
                <a:cs typeface="Arial"/>
              </a:defRPr>
            </a:lvl3pPr>
            <a:lvl4pPr algn="l">
              <a:defRPr sz="1950" b="0">
                <a:solidFill>
                  <a:srgbClr val="13283C"/>
                </a:solidFill>
                <a:latin typeface="Arial"/>
                <a:ea typeface="Arial"/>
                <a:cs typeface="Arial"/>
              </a:defRPr>
            </a:lvl4pPr>
            <a:lvl5pPr algn="l">
              <a:defRPr sz="1950" b="0">
                <a:solidFill>
                  <a:srgbClr val="13283C"/>
                </a:solidFill>
                <a:latin typeface="Arial"/>
                <a:ea typeface="Arial"/>
                <a:cs typeface="Arial"/>
              </a:defRPr>
            </a:lvl5pPr>
            <a:lvl6pPr algn="l">
              <a:defRPr sz="1950" b="0">
                <a:solidFill>
                  <a:srgbClr val="13283C"/>
                </a:solidFill>
                <a:latin typeface="Arial"/>
                <a:ea typeface="Arial"/>
                <a:cs typeface="Arial"/>
              </a:defRPr>
            </a:lvl6pPr>
            <a:lvl7pPr algn="l">
              <a:defRPr sz="1950" b="0">
                <a:solidFill>
                  <a:srgbClr val="13283C"/>
                </a:solidFill>
                <a:latin typeface="Arial"/>
                <a:ea typeface="Arial"/>
                <a:cs typeface="Arial"/>
              </a:defRPr>
            </a:lvl7pPr>
            <a:lvl8pPr algn="l">
              <a:defRPr sz="1950" b="0">
                <a:solidFill>
                  <a:srgbClr val="13283C"/>
                </a:solidFill>
                <a:latin typeface="Arial"/>
                <a:ea typeface="Arial"/>
                <a:cs typeface="Arial"/>
              </a:defRPr>
            </a:lvl8pPr>
            <a:lvl9pPr algn="l">
              <a:defRPr sz="1950" b="0">
                <a:solidFill>
                  <a:srgbClr val="13283C"/>
                </a:solidFill>
                <a:latin typeface="Arial"/>
                <a:ea typeface="Arial"/>
                <a:cs typeface="Arial"/>
              </a:defRPr>
            </a:lvl9pPr>
          </a:lstStyle>
          <a:p xmlns:a="http://schemas.openxmlformats.org/drawingml/2006/main">
            <a:pPr algn="l">
              <a:lnSpc>
                <a:spcPct val="110000"/>
              </a:lnSpc>
              <a:buNone/>
              <a:defRPr sz="1950" b="0">
                <a:solidFill>
                  <a:srgbClr val="13283C"/>
                </a:solidFill>
                <a:latin typeface="Arial"/>
                <a:ea typeface="Arial"/>
                <a:cs typeface="Arial"/>
              </a:defRPr>
            </a:pPr>
            <a:r>
              <a:rPr sz="1950" b="0">
                <a:solidFill>
                  <a:srgbClr val="13283C"/>
                </a:solidFill>
                <a:latin typeface="Arial"/>
                <a:ea typeface="Arial"/>
                <a:cs typeface="Arial"/>
              </a:rPr>
              <a:t>Franklin, Powell y Workman, Digital Control of Dynamic Systems</a:t>
            </a:r>
          </a:p>
        </p:txBody>
      </p:sp>
      <p:sp>
        <p:nvSpPr>
          <p:cNvPr id="10" name="Skogestad y Postlethwaite, Multivariable Feedbac">
            <a:extLst xmlns:a="http://schemas.openxmlformats.org/drawingml/2006/main">
              <a:ext uri="{FF2B5EF4-FFF2-40B4-BE49-F238E27FC236}">
                <a16:creationId xmlns:a16="http://schemas.microsoft.com/office/drawing/2014/main" id="{E2D71BE4-9E14-48EC-8994-5275C01B27CA}"/>
              </a:ext>
            </a:extLst>
          </p:cNvPr>
          <p:cNvSpPr>
            <a:spLocks xmlns:a="http://schemas.openxmlformats.org/drawingml/2006/main" noGrp="1"/>
          </p:cNvSpPr>
          <p:nvPr/>
        </p:nvSpPr>
        <p:spPr>
          <a:xfrm xmlns:a="http://schemas.openxmlformats.org/drawingml/2006/main">
            <a:off x="590550" y="49625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3283C"/>
                </a:solidFill>
                <a:latin typeface="Arial"/>
                <a:ea typeface="Arial"/>
                <a:cs typeface="Arial"/>
              </a:defRPr>
            </a:defPPr>
            <a:lvl1pPr algn="l">
              <a:defRPr sz="1950" b="0">
                <a:solidFill>
                  <a:srgbClr val="13283C"/>
                </a:solidFill>
                <a:latin typeface="Arial"/>
                <a:ea typeface="Arial"/>
                <a:cs typeface="Arial"/>
              </a:defRPr>
            </a:lvl1pPr>
            <a:lvl2pPr algn="l">
              <a:defRPr sz="1950" b="0">
                <a:solidFill>
                  <a:srgbClr val="13283C"/>
                </a:solidFill>
                <a:latin typeface="Arial"/>
                <a:ea typeface="Arial"/>
                <a:cs typeface="Arial"/>
              </a:defRPr>
            </a:lvl2pPr>
            <a:lvl3pPr algn="l">
              <a:defRPr sz="1950" b="0">
                <a:solidFill>
                  <a:srgbClr val="13283C"/>
                </a:solidFill>
                <a:latin typeface="Arial"/>
                <a:ea typeface="Arial"/>
                <a:cs typeface="Arial"/>
              </a:defRPr>
            </a:lvl3pPr>
            <a:lvl4pPr algn="l">
              <a:defRPr sz="1950" b="0">
                <a:solidFill>
                  <a:srgbClr val="13283C"/>
                </a:solidFill>
                <a:latin typeface="Arial"/>
                <a:ea typeface="Arial"/>
                <a:cs typeface="Arial"/>
              </a:defRPr>
            </a:lvl4pPr>
            <a:lvl5pPr algn="l">
              <a:defRPr sz="1950" b="0">
                <a:solidFill>
                  <a:srgbClr val="13283C"/>
                </a:solidFill>
                <a:latin typeface="Arial"/>
                <a:ea typeface="Arial"/>
                <a:cs typeface="Arial"/>
              </a:defRPr>
            </a:lvl5pPr>
            <a:lvl6pPr algn="l">
              <a:defRPr sz="1950" b="0">
                <a:solidFill>
                  <a:srgbClr val="13283C"/>
                </a:solidFill>
                <a:latin typeface="Arial"/>
                <a:ea typeface="Arial"/>
                <a:cs typeface="Arial"/>
              </a:defRPr>
            </a:lvl6pPr>
            <a:lvl7pPr algn="l">
              <a:defRPr sz="1950" b="0">
                <a:solidFill>
                  <a:srgbClr val="13283C"/>
                </a:solidFill>
                <a:latin typeface="Arial"/>
                <a:ea typeface="Arial"/>
                <a:cs typeface="Arial"/>
              </a:defRPr>
            </a:lvl7pPr>
            <a:lvl8pPr algn="l">
              <a:defRPr sz="1950" b="0">
                <a:solidFill>
                  <a:srgbClr val="13283C"/>
                </a:solidFill>
                <a:latin typeface="Arial"/>
                <a:ea typeface="Arial"/>
                <a:cs typeface="Arial"/>
              </a:defRPr>
            </a:lvl8pPr>
            <a:lvl9pPr algn="l">
              <a:defRPr sz="1950" b="0">
                <a:solidFill>
                  <a:srgbClr val="13283C"/>
                </a:solidFill>
                <a:latin typeface="Arial"/>
                <a:ea typeface="Arial"/>
                <a:cs typeface="Arial"/>
              </a:defRPr>
            </a:lvl9pPr>
          </a:lstStyle>
          <a:p xmlns:a="http://schemas.openxmlformats.org/drawingml/2006/main">
            <a:pPr algn="l">
              <a:lnSpc>
                <a:spcPct val="110000"/>
              </a:lnSpc>
              <a:buNone/>
              <a:defRPr sz="1950" b="0">
                <a:solidFill>
                  <a:srgbClr val="13283C"/>
                </a:solidFill>
                <a:latin typeface="Arial"/>
                <a:ea typeface="Arial"/>
                <a:cs typeface="Arial"/>
              </a:defRPr>
            </a:pPr>
            <a:r>
              <a:rPr sz="1950" b="0">
                <a:solidFill>
                  <a:srgbClr val="13283C"/>
                </a:solidFill>
                <a:latin typeface="Arial"/>
                <a:ea typeface="Arial"/>
                <a:cs typeface="Arial"/>
              </a:rPr>
              <a:t>Skogestad y Postlethwaite, Multivariable Feedback Control</a:t>
            </a:r>
          </a:p>
        </p:txBody>
      </p:sp>
      <p:sp>
        <p:nvSpPr>
          <p:cNvPr id="11" name="Bibliografía teórica citada en el reporte. Crédi">
            <a:extLst xmlns:a="http://schemas.openxmlformats.org/drawingml/2006/main">
              <a:ext uri="{FF2B5EF4-FFF2-40B4-BE49-F238E27FC236}">
                <a16:creationId xmlns:a16="http://schemas.microsoft.com/office/drawing/2014/main" id="{FB216D9A-E480-48E9-A970-CDF8A62D004B}"/>
              </a:ext>
            </a:extLst>
          </p:cNvPr>
          <p:cNvSpPr>
            <a:spLocks xmlns:a="http://schemas.openxmlformats.org/drawingml/2006/main" noGrp="1"/>
          </p:cNvSpPr>
          <p:nvPr/>
        </p:nvSpPr>
        <p:spPr>
          <a:xfrm xmlns:a="http://schemas.openxmlformats.org/drawingml/2006/main">
            <a:off x="590550" y="60102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16474"/>
                </a:solidFill>
                <a:latin typeface="Arial"/>
                <a:ea typeface="Arial"/>
                <a:cs typeface="Arial"/>
              </a:defRPr>
            </a:defPPr>
            <a:lvl1pPr algn="l">
              <a:defRPr sz="1725" b="0">
                <a:solidFill>
                  <a:srgbClr val="516474"/>
                </a:solidFill>
                <a:latin typeface="Arial"/>
                <a:ea typeface="Arial"/>
                <a:cs typeface="Arial"/>
              </a:defRPr>
            </a:lvl1pPr>
            <a:lvl2pPr algn="l">
              <a:defRPr sz="1725" b="0">
                <a:solidFill>
                  <a:srgbClr val="516474"/>
                </a:solidFill>
                <a:latin typeface="Arial"/>
                <a:ea typeface="Arial"/>
                <a:cs typeface="Arial"/>
              </a:defRPr>
            </a:lvl2pPr>
            <a:lvl3pPr algn="l">
              <a:defRPr sz="1725" b="0">
                <a:solidFill>
                  <a:srgbClr val="516474"/>
                </a:solidFill>
                <a:latin typeface="Arial"/>
                <a:ea typeface="Arial"/>
                <a:cs typeface="Arial"/>
              </a:defRPr>
            </a:lvl3pPr>
            <a:lvl4pPr algn="l">
              <a:defRPr sz="1725" b="0">
                <a:solidFill>
                  <a:srgbClr val="516474"/>
                </a:solidFill>
                <a:latin typeface="Arial"/>
                <a:ea typeface="Arial"/>
                <a:cs typeface="Arial"/>
              </a:defRPr>
            </a:lvl4pPr>
            <a:lvl5pPr algn="l">
              <a:defRPr sz="1725" b="0">
                <a:solidFill>
                  <a:srgbClr val="516474"/>
                </a:solidFill>
                <a:latin typeface="Arial"/>
                <a:ea typeface="Arial"/>
                <a:cs typeface="Arial"/>
              </a:defRPr>
            </a:lvl5pPr>
            <a:lvl6pPr algn="l">
              <a:defRPr sz="1725" b="0">
                <a:solidFill>
                  <a:srgbClr val="516474"/>
                </a:solidFill>
                <a:latin typeface="Arial"/>
                <a:ea typeface="Arial"/>
                <a:cs typeface="Arial"/>
              </a:defRPr>
            </a:lvl6pPr>
            <a:lvl7pPr algn="l">
              <a:defRPr sz="1725" b="0">
                <a:solidFill>
                  <a:srgbClr val="516474"/>
                </a:solidFill>
                <a:latin typeface="Arial"/>
                <a:ea typeface="Arial"/>
                <a:cs typeface="Arial"/>
              </a:defRPr>
            </a:lvl7pPr>
            <a:lvl8pPr algn="l">
              <a:defRPr sz="1725" b="0">
                <a:solidFill>
                  <a:srgbClr val="516474"/>
                </a:solidFill>
                <a:latin typeface="Arial"/>
                <a:ea typeface="Arial"/>
                <a:cs typeface="Arial"/>
              </a:defRPr>
            </a:lvl8pPr>
            <a:lvl9pPr algn="l">
              <a:defRPr sz="1725" b="0">
                <a:solidFill>
                  <a:srgbClr val="516474"/>
                </a:solidFill>
                <a:latin typeface="Arial"/>
                <a:ea typeface="Arial"/>
                <a:cs typeface="Arial"/>
              </a:defRPr>
            </a:lvl9pPr>
          </a:lstStyle>
          <a:p xmlns:a="http://schemas.openxmlformats.org/drawingml/2006/main">
            <a:pPr algn="l">
              <a:lnSpc>
                <a:spcPct val="110000"/>
              </a:lnSpc>
              <a:buNone/>
              <a:defRPr sz="1725" b="0">
                <a:solidFill>
                  <a:srgbClr val="516474"/>
                </a:solidFill>
                <a:latin typeface="Arial"/>
                <a:ea typeface="Arial"/>
                <a:cs typeface="Arial"/>
              </a:defRPr>
            </a:pPr>
            <a:r>
              <a:rPr sz="1725" b="0">
                <a:solidFill>
                  <a:srgbClr val="516474"/>
                </a:solidFill>
                <a:latin typeface="Arial"/>
                <a:ea typeface="Arial"/>
                <a:cs typeface="Arial"/>
              </a:rPr>
              <a:t>Bibliografía teórica citada en el reporte. Créditos gráficos en las notas</a:t>
            </a:r>
          </a:p>
        </p:txBody>
      </p:sp>
      <p:sp>
        <p:nvSpPr>
          <p:cNvPr id="12" name="Notebook: TSII-PROJECT-NB.ipynb">
            <a:extLst xmlns:a="http://schemas.openxmlformats.org/drawingml/2006/main">
              <a:ext uri="{FF2B5EF4-FFF2-40B4-BE49-F238E27FC236}">
                <a16:creationId xmlns:a16="http://schemas.microsoft.com/office/drawing/2014/main" id="{37997909-E007-4F6D-B749-0FF141181FE8}"/>
              </a:ext>
            </a:extLst>
          </p:cNvPr>
          <p:cNvSpPr>
            <a:spLocks xmlns:a="http://schemas.openxmlformats.org/drawingml/2006/main" noGrp="1"/>
          </p:cNvSpPr>
          <p:nvPr/>
        </p:nvSpPr>
        <p:spPr>
          <a:xfrm xmlns:a="http://schemas.openxmlformats.org/drawingml/2006/main">
            <a:off x="590550" y="5524500"/>
            <a:ext cx="11010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3283C"/>
                </a:solidFill>
                <a:latin typeface="Arial"/>
                <a:ea typeface="Arial"/>
                <a:cs typeface="Arial"/>
              </a:defRPr>
            </a:defPPr>
            <a:lvl1pPr>
              <a:defRPr sz="1950" b="0">
                <a:solidFill>
                  <a:srgbClr val="13283C"/>
                </a:solidFill>
                <a:latin typeface="Arial"/>
                <a:ea typeface="Arial"/>
                <a:cs typeface="Arial"/>
              </a:defRPr>
            </a:lvl1pPr>
            <a:lvl2pPr>
              <a:defRPr sz="1950" b="0">
                <a:solidFill>
                  <a:srgbClr val="13283C"/>
                </a:solidFill>
                <a:latin typeface="Arial"/>
                <a:ea typeface="Arial"/>
                <a:cs typeface="Arial"/>
              </a:defRPr>
            </a:lvl2pPr>
            <a:lvl3pPr>
              <a:defRPr sz="1950" b="0">
                <a:solidFill>
                  <a:srgbClr val="13283C"/>
                </a:solidFill>
                <a:latin typeface="Arial"/>
                <a:ea typeface="Arial"/>
                <a:cs typeface="Arial"/>
              </a:defRPr>
            </a:lvl3pPr>
            <a:lvl4pPr>
              <a:defRPr sz="1950" b="0">
                <a:solidFill>
                  <a:srgbClr val="13283C"/>
                </a:solidFill>
                <a:latin typeface="Arial"/>
                <a:ea typeface="Arial"/>
                <a:cs typeface="Arial"/>
              </a:defRPr>
            </a:lvl4pPr>
            <a:lvl5pPr>
              <a:defRPr sz="1950" b="0">
                <a:solidFill>
                  <a:srgbClr val="13283C"/>
                </a:solidFill>
                <a:latin typeface="Arial"/>
                <a:ea typeface="Arial"/>
                <a:cs typeface="Arial"/>
              </a:defRPr>
            </a:lvl5pPr>
            <a:lvl6pPr>
              <a:defRPr sz="1950" b="0">
                <a:solidFill>
                  <a:srgbClr val="13283C"/>
                </a:solidFill>
                <a:latin typeface="Arial"/>
                <a:ea typeface="Arial"/>
                <a:cs typeface="Arial"/>
              </a:defRPr>
            </a:lvl6pPr>
            <a:lvl7pPr>
              <a:defRPr sz="1950" b="0">
                <a:solidFill>
                  <a:srgbClr val="13283C"/>
                </a:solidFill>
                <a:latin typeface="Arial"/>
                <a:ea typeface="Arial"/>
                <a:cs typeface="Arial"/>
              </a:defRPr>
            </a:lvl7pPr>
            <a:lvl8pPr>
              <a:defRPr sz="1950" b="0">
                <a:solidFill>
                  <a:srgbClr val="13283C"/>
                </a:solidFill>
                <a:latin typeface="Arial"/>
                <a:ea typeface="Arial"/>
                <a:cs typeface="Arial"/>
              </a:defRPr>
            </a:lvl8pPr>
            <a:lvl9pPr>
              <a:defRPr sz="1950" b="0">
                <a:solidFill>
                  <a:srgbClr val="13283C"/>
                </a:solidFill>
                <a:latin typeface="Arial"/>
                <a:ea typeface="Arial"/>
                <a:cs typeface="Arial"/>
              </a:defRPr>
            </a:lvl9pPr>
          </a:lstStyle>
          <a:p xmlns:a="http://schemas.openxmlformats.org/drawingml/2006/main">
            <a:pPr>
              <a:lnSpc>
                <a:spcPct val="110000"/>
              </a:lnSpc>
              <a:buNone/>
              <a:defRPr sz="1950" b="0">
                <a:solidFill>
                  <a:srgbClr val="13283C"/>
                </a:solidFill>
                <a:latin typeface="Arial"/>
                <a:ea typeface="Arial"/>
                <a:cs typeface="Arial"/>
              </a:defRPr>
            </a:pPr>
            <a:r>
              <a:rPr sz="1950" b="0">
                <a:solidFill>
                  <a:srgbClr val="13283C"/>
                </a:solidFill>
                <a:latin typeface="Arial"/>
                <a:ea typeface="Arial"/>
                <a:cs typeface="Arial"/>
              </a:rPr>
              <a:t>Notebook: TSII-PROJECT-NB.ipynb</a:t>
            </a:r>
          </a:p>
        </p:txBody>
      </p:sp>
    </p:spTree>
    <p:extLst>
      <p:ext uri="{BB962C8B-B14F-4D97-AF65-F5344CB8AC3E}">
        <p14:creationId xmlns:p14="http://schemas.microsoft.com/office/powerpoint/2010/main" val="211305206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poyo: ecuaciones">
            <a:extLst xmlns:a="http://schemas.openxmlformats.org/drawingml/2006/main">
              <a:ext uri="{FF2B5EF4-FFF2-40B4-BE49-F238E27FC236}">
                <a16:creationId xmlns:a16="http://schemas.microsoft.com/office/drawing/2014/main" id="{20BD5DC1-5859-4801-A29D-FE1D5DB849BF}"/>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Apoyo: ecuaciones</a:t>
            </a:r>
          </a:p>
        </p:txBody>
      </p:sp>
      <p:sp>
        <p:nvSpPr>
          <p:cNvPr id="3" name="Apoyo A">
            <a:extLst xmlns:a="http://schemas.openxmlformats.org/drawingml/2006/main">
              <a:ext uri="{FF2B5EF4-FFF2-40B4-BE49-F238E27FC236}">
                <a16:creationId xmlns:a16="http://schemas.microsoft.com/office/drawing/2014/main" id="{650E6D82-8F47-4B50-8ACB-EE08CE251DF4}"/>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Apoyo A</a:t>
            </a:r>
          </a:p>
        </p:txBody>
      </p:sp>
      <p:sp>
        <p:nvSpPr>
          <p:cNvPr id="4" name="Modelo lineal del plano de cabeceo">
            <a:extLst xmlns:a="http://schemas.openxmlformats.org/drawingml/2006/main">
              <a:ext uri="{FF2B5EF4-FFF2-40B4-BE49-F238E27FC236}">
                <a16:creationId xmlns:a16="http://schemas.microsoft.com/office/drawing/2014/main" id="{B5C04105-F24F-48CE-83BF-1AB7E2FE8FCD}"/>
              </a:ext>
            </a:extLst>
          </p:cNvPr>
          <p:cNvSpPr>
            <a:spLocks xmlns:a="http://schemas.openxmlformats.org/drawingml/2006/main" noGrp="1"/>
          </p:cNvSpPr>
          <p:nvPr/>
        </p:nvSpPr>
        <p:spPr>
          <a:xfrm xmlns:a="http://schemas.openxmlformats.org/drawingml/2006/main">
            <a:off x="590550" y="1285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87E8B"/>
                </a:solidFill>
                <a:latin typeface="Arial"/>
                <a:ea typeface="Arial"/>
                <a:cs typeface="Arial"/>
              </a:defRPr>
            </a:defPPr>
            <a:lvl1pPr algn="l">
              <a:defRPr sz="2250" b="1">
                <a:solidFill>
                  <a:srgbClr val="087E8B"/>
                </a:solidFill>
                <a:latin typeface="Arial"/>
                <a:ea typeface="Arial"/>
                <a:cs typeface="Arial"/>
              </a:defRPr>
            </a:lvl1pPr>
            <a:lvl2pPr algn="l">
              <a:defRPr sz="2250" b="1">
                <a:solidFill>
                  <a:srgbClr val="087E8B"/>
                </a:solidFill>
                <a:latin typeface="Arial"/>
                <a:ea typeface="Arial"/>
                <a:cs typeface="Arial"/>
              </a:defRPr>
            </a:lvl2pPr>
            <a:lvl3pPr algn="l">
              <a:defRPr sz="2250" b="1">
                <a:solidFill>
                  <a:srgbClr val="087E8B"/>
                </a:solidFill>
                <a:latin typeface="Arial"/>
                <a:ea typeface="Arial"/>
                <a:cs typeface="Arial"/>
              </a:defRPr>
            </a:lvl3pPr>
            <a:lvl4pPr algn="l">
              <a:defRPr sz="2250" b="1">
                <a:solidFill>
                  <a:srgbClr val="087E8B"/>
                </a:solidFill>
                <a:latin typeface="Arial"/>
                <a:ea typeface="Arial"/>
                <a:cs typeface="Arial"/>
              </a:defRPr>
            </a:lvl4pPr>
            <a:lvl5pPr algn="l">
              <a:defRPr sz="2250" b="1">
                <a:solidFill>
                  <a:srgbClr val="087E8B"/>
                </a:solidFill>
                <a:latin typeface="Arial"/>
                <a:ea typeface="Arial"/>
                <a:cs typeface="Arial"/>
              </a:defRPr>
            </a:lvl5pPr>
            <a:lvl6pPr algn="l">
              <a:defRPr sz="2250" b="1">
                <a:solidFill>
                  <a:srgbClr val="087E8B"/>
                </a:solidFill>
                <a:latin typeface="Arial"/>
                <a:ea typeface="Arial"/>
                <a:cs typeface="Arial"/>
              </a:defRPr>
            </a:lvl6pPr>
            <a:lvl7pPr algn="l">
              <a:defRPr sz="2250" b="1">
                <a:solidFill>
                  <a:srgbClr val="087E8B"/>
                </a:solidFill>
                <a:latin typeface="Arial"/>
                <a:ea typeface="Arial"/>
                <a:cs typeface="Arial"/>
              </a:defRPr>
            </a:lvl7pPr>
            <a:lvl8pPr algn="l">
              <a:defRPr sz="2250" b="1">
                <a:solidFill>
                  <a:srgbClr val="087E8B"/>
                </a:solidFill>
                <a:latin typeface="Arial"/>
                <a:ea typeface="Arial"/>
                <a:cs typeface="Arial"/>
              </a:defRPr>
            </a:lvl8pPr>
            <a:lvl9pPr algn="l">
              <a:defRPr sz="2250" b="1">
                <a:solidFill>
                  <a:srgbClr val="087E8B"/>
                </a:solidFill>
                <a:latin typeface="Arial"/>
                <a:ea typeface="Arial"/>
                <a:cs typeface="Arial"/>
              </a:defRPr>
            </a:lvl9pPr>
          </a:lstStyle>
          <a:p xmlns:a="http://schemas.openxmlformats.org/drawingml/2006/main">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Modelo lineal del plano de cabeceo</a:t>
            </a:r>
          </a:p>
        </p:txBody>
      </p:sp>
      <p:sp>
        <p:nvSpPr>
          <p:cNvPr id="5" name="da/dt = −[(1 + K₁kₐ)/τₘ]a − c_θ θ + (K₁kₐ/τₘ)u₁">
            <a:extLst xmlns:a="http://schemas.openxmlformats.org/drawingml/2006/main">
              <a:ext uri="{FF2B5EF4-FFF2-40B4-BE49-F238E27FC236}">
                <a16:creationId xmlns:a16="http://schemas.microsoft.com/office/drawing/2014/main" id="{B12D0B55-9BC2-4C6F-8B51-554EF442C714}"/>
              </a:ext>
            </a:extLst>
          </p:cNvPr>
          <p:cNvSpPr>
            <a:spLocks xmlns:a="http://schemas.openxmlformats.org/drawingml/2006/main" noGrp="1"/>
          </p:cNvSpPr>
          <p:nvPr/>
        </p:nvSpPr>
        <p:spPr>
          <a:xfrm xmlns:a="http://schemas.openxmlformats.org/drawingml/2006/main">
            <a:off x="590550" y="2219325"/>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13283C"/>
                </a:solidFill>
                <a:latin typeface="Arial"/>
                <a:ea typeface="Arial"/>
                <a:cs typeface="Arial"/>
              </a:defRPr>
            </a:defPPr>
            <a:lvl1pPr algn="l">
              <a:defRPr sz="2475" b="0">
                <a:solidFill>
                  <a:srgbClr val="13283C"/>
                </a:solidFill>
                <a:latin typeface="Arial"/>
                <a:ea typeface="Arial"/>
                <a:cs typeface="Arial"/>
              </a:defRPr>
            </a:lvl1pPr>
            <a:lvl2pPr algn="l">
              <a:defRPr sz="2475" b="0">
                <a:solidFill>
                  <a:srgbClr val="13283C"/>
                </a:solidFill>
                <a:latin typeface="Arial"/>
                <a:ea typeface="Arial"/>
                <a:cs typeface="Arial"/>
              </a:defRPr>
            </a:lvl2pPr>
            <a:lvl3pPr algn="l">
              <a:defRPr sz="2475" b="0">
                <a:solidFill>
                  <a:srgbClr val="13283C"/>
                </a:solidFill>
                <a:latin typeface="Arial"/>
                <a:ea typeface="Arial"/>
                <a:cs typeface="Arial"/>
              </a:defRPr>
            </a:lvl3pPr>
            <a:lvl4pPr algn="l">
              <a:defRPr sz="2475" b="0">
                <a:solidFill>
                  <a:srgbClr val="13283C"/>
                </a:solidFill>
                <a:latin typeface="Arial"/>
                <a:ea typeface="Arial"/>
                <a:cs typeface="Arial"/>
              </a:defRPr>
            </a:lvl4pPr>
            <a:lvl5pPr algn="l">
              <a:defRPr sz="2475" b="0">
                <a:solidFill>
                  <a:srgbClr val="13283C"/>
                </a:solidFill>
                <a:latin typeface="Arial"/>
                <a:ea typeface="Arial"/>
                <a:cs typeface="Arial"/>
              </a:defRPr>
            </a:lvl5pPr>
            <a:lvl6pPr algn="l">
              <a:defRPr sz="2475" b="0">
                <a:solidFill>
                  <a:srgbClr val="13283C"/>
                </a:solidFill>
                <a:latin typeface="Arial"/>
                <a:ea typeface="Arial"/>
                <a:cs typeface="Arial"/>
              </a:defRPr>
            </a:lvl6pPr>
            <a:lvl7pPr algn="l">
              <a:defRPr sz="2475" b="0">
                <a:solidFill>
                  <a:srgbClr val="13283C"/>
                </a:solidFill>
                <a:latin typeface="Arial"/>
                <a:ea typeface="Arial"/>
                <a:cs typeface="Arial"/>
              </a:defRPr>
            </a:lvl7pPr>
            <a:lvl8pPr algn="l">
              <a:defRPr sz="2475" b="0">
                <a:solidFill>
                  <a:srgbClr val="13283C"/>
                </a:solidFill>
                <a:latin typeface="Arial"/>
                <a:ea typeface="Arial"/>
                <a:cs typeface="Arial"/>
              </a:defRPr>
            </a:lvl8pPr>
            <a:lvl9pPr algn="l">
              <a:defRPr sz="2475" b="0">
                <a:solidFill>
                  <a:srgbClr val="13283C"/>
                </a:solidFill>
                <a:latin typeface="Arial"/>
                <a:ea typeface="Arial"/>
                <a:cs typeface="Arial"/>
              </a:defRPr>
            </a:lvl9pPr>
          </a:lstStyle>
          <a:p xmlns:a="http://schemas.openxmlformats.org/drawingml/2006/main">
            <a:pPr algn="l">
              <a:lnSpc>
                <a:spcPct val="110000"/>
              </a:lnSpc>
              <a:buNone/>
              <a:defRPr sz="2475" b="0">
                <a:solidFill>
                  <a:srgbClr val="13283C"/>
                </a:solidFill>
                <a:latin typeface="Arial"/>
                <a:ea typeface="Arial"/>
                <a:cs typeface="Arial"/>
              </a:defRPr>
            </a:pPr>
            <a:r>
              <a:rPr sz="2475" b="0">
                <a:solidFill>
                  <a:srgbClr val="13283C"/>
                </a:solidFill>
                <a:latin typeface="Arial"/>
                <a:ea typeface="Arial"/>
                <a:cs typeface="Arial"/>
              </a:rPr>
              <a:t>da/dt = −[(1 + K₁kₐ)/τₘ]a − c_θ θ + (K₁kₐ/τₘ)u₁</a:t>
            </a:r>
          </a:p>
        </p:txBody>
      </p:sp>
      <p:sp>
        <p:nvSpPr>
          <p:cNvPr id="6" name="dθ/dt = ω">
            <a:extLst xmlns:a="http://schemas.openxmlformats.org/drawingml/2006/main">
              <a:ext uri="{FF2B5EF4-FFF2-40B4-BE49-F238E27FC236}">
                <a16:creationId xmlns:a16="http://schemas.microsoft.com/office/drawing/2014/main" id="{AD085324-7700-4EC5-BA4C-9D18F057FA48}"/>
              </a:ext>
            </a:extLst>
          </p:cNvPr>
          <p:cNvSpPr>
            <a:spLocks xmlns:a="http://schemas.openxmlformats.org/drawingml/2006/main" noGrp="1"/>
          </p:cNvSpPr>
          <p:nvPr/>
        </p:nvSpPr>
        <p:spPr>
          <a:xfrm xmlns:a="http://schemas.openxmlformats.org/drawingml/2006/main">
            <a:off x="590550" y="3124200"/>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13283C"/>
                </a:solidFill>
                <a:latin typeface="Arial"/>
                <a:ea typeface="Arial"/>
                <a:cs typeface="Arial"/>
              </a:defRPr>
            </a:defPPr>
            <a:lvl1pPr algn="l">
              <a:defRPr sz="2475" b="0">
                <a:solidFill>
                  <a:srgbClr val="13283C"/>
                </a:solidFill>
                <a:latin typeface="Arial"/>
                <a:ea typeface="Arial"/>
                <a:cs typeface="Arial"/>
              </a:defRPr>
            </a:lvl1pPr>
            <a:lvl2pPr algn="l">
              <a:defRPr sz="2475" b="0">
                <a:solidFill>
                  <a:srgbClr val="13283C"/>
                </a:solidFill>
                <a:latin typeface="Arial"/>
                <a:ea typeface="Arial"/>
                <a:cs typeface="Arial"/>
              </a:defRPr>
            </a:lvl2pPr>
            <a:lvl3pPr algn="l">
              <a:defRPr sz="2475" b="0">
                <a:solidFill>
                  <a:srgbClr val="13283C"/>
                </a:solidFill>
                <a:latin typeface="Arial"/>
                <a:ea typeface="Arial"/>
                <a:cs typeface="Arial"/>
              </a:defRPr>
            </a:lvl3pPr>
            <a:lvl4pPr algn="l">
              <a:defRPr sz="2475" b="0">
                <a:solidFill>
                  <a:srgbClr val="13283C"/>
                </a:solidFill>
                <a:latin typeface="Arial"/>
                <a:ea typeface="Arial"/>
                <a:cs typeface="Arial"/>
              </a:defRPr>
            </a:lvl4pPr>
            <a:lvl5pPr algn="l">
              <a:defRPr sz="2475" b="0">
                <a:solidFill>
                  <a:srgbClr val="13283C"/>
                </a:solidFill>
                <a:latin typeface="Arial"/>
                <a:ea typeface="Arial"/>
                <a:cs typeface="Arial"/>
              </a:defRPr>
            </a:lvl5pPr>
            <a:lvl6pPr algn="l">
              <a:defRPr sz="2475" b="0">
                <a:solidFill>
                  <a:srgbClr val="13283C"/>
                </a:solidFill>
                <a:latin typeface="Arial"/>
                <a:ea typeface="Arial"/>
                <a:cs typeface="Arial"/>
              </a:defRPr>
            </a:lvl6pPr>
            <a:lvl7pPr algn="l">
              <a:defRPr sz="2475" b="0">
                <a:solidFill>
                  <a:srgbClr val="13283C"/>
                </a:solidFill>
                <a:latin typeface="Arial"/>
                <a:ea typeface="Arial"/>
                <a:cs typeface="Arial"/>
              </a:defRPr>
            </a:lvl7pPr>
            <a:lvl8pPr algn="l">
              <a:defRPr sz="2475" b="0">
                <a:solidFill>
                  <a:srgbClr val="13283C"/>
                </a:solidFill>
                <a:latin typeface="Arial"/>
                <a:ea typeface="Arial"/>
                <a:cs typeface="Arial"/>
              </a:defRPr>
            </a:lvl8pPr>
            <a:lvl9pPr algn="l">
              <a:defRPr sz="2475" b="0">
                <a:solidFill>
                  <a:srgbClr val="13283C"/>
                </a:solidFill>
                <a:latin typeface="Arial"/>
                <a:ea typeface="Arial"/>
                <a:cs typeface="Arial"/>
              </a:defRPr>
            </a:lvl9pPr>
          </a:lstStyle>
          <a:p xmlns:a="http://schemas.openxmlformats.org/drawingml/2006/main">
            <a:pPr algn="l">
              <a:lnSpc>
                <a:spcPct val="110000"/>
              </a:lnSpc>
              <a:buNone/>
              <a:defRPr sz="2475" b="0">
                <a:solidFill>
                  <a:srgbClr val="13283C"/>
                </a:solidFill>
                <a:latin typeface="Arial"/>
                <a:ea typeface="Arial"/>
                <a:cs typeface="Arial"/>
              </a:defRPr>
            </a:pPr>
            <a:r>
              <a:rPr sz="2475" b="0">
                <a:solidFill>
                  <a:srgbClr val="13283C"/>
                </a:solidFill>
                <a:latin typeface="Arial"/>
                <a:ea typeface="Arial"/>
                <a:cs typeface="Arial"/>
              </a:rPr>
              <a:t>dθ/dt = ω</a:t>
            </a:r>
          </a:p>
        </p:txBody>
      </p:sp>
      <p:sp>
        <p:nvSpPr>
          <p:cNvPr id="7" name="dω/dt = μθ − a_d ω + k_δ δ + k_ε a">
            <a:extLst xmlns:a="http://schemas.openxmlformats.org/drawingml/2006/main">
              <a:ext uri="{FF2B5EF4-FFF2-40B4-BE49-F238E27FC236}">
                <a16:creationId xmlns:a16="http://schemas.microsoft.com/office/drawing/2014/main" id="{40FF8B72-A26F-4C9C-9EB4-45B64D5C971A}"/>
              </a:ext>
            </a:extLst>
          </p:cNvPr>
          <p:cNvSpPr>
            <a:spLocks xmlns:a="http://schemas.openxmlformats.org/drawingml/2006/main" noGrp="1"/>
          </p:cNvSpPr>
          <p:nvPr/>
        </p:nvSpPr>
        <p:spPr>
          <a:xfrm xmlns:a="http://schemas.openxmlformats.org/drawingml/2006/main">
            <a:off x="590550" y="4029075"/>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13283C"/>
                </a:solidFill>
                <a:latin typeface="Arial"/>
                <a:ea typeface="Arial"/>
                <a:cs typeface="Arial"/>
              </a:defRPr>
            </a:defPPr>
            <a:lvl1pPr algn="l">
              <a:defRPr sz="2475" b="0">
                <a:solidFill>
                  <a:srgbClr val="13283C"/>
                </a:solidFill>
                <a:latin typeface="Arial"/>
                <a:ea typeface="Arial"/>
                <a:cs typeface="Arial"/>
              </a:defRPr>
            </a:lvl1pPr>
            <a:lvl2pPr algn="l">
              <a:defRPr sz="2475" b="0">
                <a:solidFill>
                  <a:srgbClr val="13283C"/>
                </a:solidFill>
                <a:latin typeface="Arial"/>
                <a:ea typeface="Arial"/>
                <a:cs typeface="Arial"/>
              </a:defRPr>
            </a:lvl2pPr>
            <a:lvl3pPr algn="l">
              <a:defRPr sz="2475" b="0">
                <a:solidFill>
                  <a:srgbClr val="13283C"/>
                </a:solidFill>
                <a:latin typeface="Arial"/>
                <a:ea typeface="Arial"/>
                <a:cs typeface="Arial"/>
              </a:defRPr>
            </a:lvl3pPr>
            <a:lvl4pPr algn="l">
              <a:defRPr sz="2475" b="0">
                <a:solidFill>
                  <a:srgbClr val="13283C"/>
                </a:solidFill>
                <a:latin typeface="Arial"/>
                <a:ea typeface="Arial"/>
                <a:cs typeface="Arial"/>
              </a:defRPr>
            </a:lvl4pPr>
            <a:lvl5pPr algn="l">
              <a:defRPr sz="2475" b="0">
                <a:solidFill>
                  <a:srgbClr val="13283C"/>
                </a:solidFill>
                <a:latin typeface="Arial"/>
                <a:ea typeface="Arial"/>
                <a:cs typeface="Arial"/>
              </a:defRPr>
            </a:lvl5pPr>
            <a:lvl6pPr algn="l">
              <a:defRPr sz="2475" b="0">
                <a:solidFill>
                  <a:srgbClr val="13283C"/>
                </a:solidFill>
                <a:latin typeface="Arial"/>
                <a:ea typeface="Arial"/>
                <a:cs typeface="Arial"/>
              </a:defRPr>
            </a:lvl6pPr>
            <a:lvl7pPr algn="l">
              <a:defRPr sz="2475" b="0">
                <a:solidFill>
                  <a:srgbClr val="13283C"/>
                </a:solidFill>
                <a:latin typeface="Arial"/>
                <a:ea typeface="Arial"/>
                <a:cs typeface="Arial"/>
              </a:defRPr>
            </a:lvl7pPr>
            <a:lvl8pPr algn="l">
              <a:defRPr sz="2475" b="0">
                <a:solidFill>
                  <a:srgbClr val="13283C"/>
                </a:solidFill>
                <a:latin typeface="Arial"/>
                <a:ea typeface="Arial"/>
                <a:cs typeface="Arial"/>
              </a:defRPr>
            </a:lvl8pPr>
            <a:lvl9pPr algn="l">
              <a:defRPr sz="2475" b="0">
                <a:solidFill>
                  <a:srgbClr val="13283C"/>
                </a:solidFill>
                <a:latin typeface="Arial"/>
                <a:ea typeface="Arial"/>
                <a:cs typeface="Arial"/>
              </a:defRPr>
            </a:lvl9pPr>
          </a:lstStyle>
          <a:p xmlns:a="http://schemas.openxmlformats.org/drawingml/2006/main">
            <a:pPr algn="l">
              <a:lnSpc>
                <a:spcPct val="110000"/>
              </a:lnSpc>
              <a:buNone/>
              <a:defRPr sz="2475" b="0">
                <a:solidFill>
                  <a:srgbClr val="13283C"/>
                </a:solidFill>
                <a:latin typeface="Arial"/>
                <a:ea typeface="Arial"/>
                <a:cs typeface="Arial"/>
              </a:defRPr>
            </a:pPr>
            <a:r>
              <a:rPr sz="2475" b="0">
                <a:solidFill>
                  <a:srgbClr val="13283C"/>
                </a:solidFill>
                <a:latin typeface="Arial"/>
                <a:ea typeface="Arial"/>
                <a:cs typeface="Arial"/>
              </a:rPr>
              <a:t>dω/dt = μθ − a_d ω + k_δ δ + k_ε a</a:t>
            </a:r>
          </a:p>
        </p:txBody>
      </p:sp>
      <p:sp>
        <p:nvSpPr>
          <p:cNvPr id="8" name="dδ/dt = −δ/τₛ + (K₂/τₛ)(u₂ − θ − λω)">
            <a:extLst xmlns:a="http://schemas.openxmlformats.org/drawingml/2006/main">
              <a:ext uri="{FF2B5EF4-FFF2-40B4-BE49-F238E27FC236}">
                <a16:creationId xmlns:a16="http://schemas.microsoft.com/office/drawing/2014/main" id="{02FD1C97-1D80-4C7A-9B27-2AFE3FA05959}"/>
              </a:ext>
            </a:extLst>
          </p:cNvPr>
          <p:cNvSpPr>
            <a:spLocks xmlns:a="http://schemas.openxmlformats.org/drawingml/2006/main" noGrp="1"/>
          </p:cNvSpPr>
          <p:nvPr/>
        </p:nvSpPr>
        <p:spPr>
          <a:xfrm xmlns:a="http://schemas.openxmlformats.org/drawingml/2006/main">
            <a:off x="590550" y="4933950"/>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13283C"/>
                </a:solidFill>
                <a:latin typeface="Arial"/>
                <a:ea typeface="Arial"/>
                <a:cs typeface="Arial"/>
              </a:defRPr>
            </a:defPPr>
            <a:lvl1pPr algn="l">
              <a:defRPr sz="2475" b="0">
                <a:solidFill>
                  <a:srgbClr val="13283C"/>
                </a:solidFill>
                <a:latin typeface="Arial"/>
                <a:ea typeface="Arial"/>
                <a:cs typeface="Arial"/>
              </a:defRPr>
            </a:lvl1pPr>
            <a:lvl2pPr algn="l">
              <a:defRPr sz="2475" b="0">
                <a:solidFill>
                  <a:srgbClr val="13283C"/>
                </a:solidFill>
                <a:latin typeface="Arial"/>
                <a:ea typeface="Arial"/>
                <a:cs typeface="Arial"/>
              </a:defRPr>
            </a:lvl2pPr>
            <a:lvl3pPr algn="l">
              <a:defRPr sz="2475" b="0">
                <a:solidFill>
                  <a:srgbClr val="13283C"/>
                </a:solidFill>
                <a:latin typeface="Arial"/>
                <a:ea typeface="Arial"/>
                <a:cs typeface="Arial"/>
              </a:defRPr>
            </a:lvl3pPr>
            <a:lvl4pPr algn="l">
              <a:defRPr sz="2475" b="0">
                <a:solidFill>
                  <a:srgbClr val="13283C"/>
                </a:solidFill>
                <a:latin typeface="Arial"/>
                <a:ea typeface="Arial"/>
                <a:cs typeface="Arial"/>
              </a:defRPr>
            </a:lvl4pPr>
            <a:lvl5pPr algn="l">
              <a:defRPr sz="2475" b="0">
                <a:solidFill>
                  <a:srgbClr val="13283C"/>
                </a:solidFill>
                <a:latin typeface="Arial"/>
                <a:ea typeface="Arial"/>
                <a:cs typeface="Arial"/>
              </a:defRPr>
            </a:lvl5pPr>
            <a:lvl6pPr algn="l">
              <a:defRPr sz="2475" b="0">
                <a:solidFill>
                  <a:srgbClr val="13283C"/>
                </a:solidFill>
                <a:latin typeface="Arial"/>
                <a:ea typeface="Arial"/>
                <a:cs typeface="Arial"/>
              </a:defRPr>
            </a:lvl6pPr>
            <a:lvl7pPr algn="l">
              <a:defRPr sz="2475" b="0">
                <a:solidFill>
                  <a:srgbClr val="13283C"/>
                </a:solidFill>
                <a:latin typeface="Arial"/>
                <a:ea typeface="Arial"/>
                <a:cs typeface="Arial"/>
              </a:defRPr>
            </a:lvl7pPr>
            <a:lvl8pPr algn="l">
              <a:defRPr sz="2475" b="0">
                <a:solidFill>
                  <a:srgbClr val="13283C"/>
                </a:solidFill>
                <a:latin typeface="Arial"/>
                <a:ea typeface="Arial"/>
                <a:cs typeface="Arial"/>
              </a:defRPr>
            </a:lvl8pPr>
            <a:lvl9pPr algn="l">
              <a:defRPr sz="2475" b="0">
                <a:solidFill>
                  <a:srgbClr val="13283C"/>
                </a:solidFill>
                <a:latin typeface="Arial"/>
                <a:ea typeface="Arial"/>
                <a:cs typeface="Arial"/>
              </a:defRPr>
            </a:lvl9pPr>
          </a:lstStyle>
          <a:p xmlns:a="http://schemas.openxmlformats.org/drawingml/2006/main">
            <a:pPr algn="l">
              <a:lnSpc>
                <a:spcPct val="110000"/>
              </a:lnSpc>
              <a:buNone/>
              <a:defRPr sz="2475" b="0">
                <a:solidFill>
                  <a:srgbClr val="13283C"/>
                </a:solidFill>
                <a:latin typeface="Arial"/>
                <a:ea typeface="Arial"/>
                <a:cs typeface="Arial"/>
              </a:defRPr>
            </a:pPr>
            <a:r>
              <a:rPr sz="2475" b="0">
                <a:solidFill>
                  <a:srgbClr val="13283C"/>
                </a:solidFill>
                <a:latin typeface="Arial"/>
                <a:ea typeface="Arial"/>
                <a:cs typeface="Arial"/>
              </a:rPr>
              <a:t>dδ/dt = −δ/τₛ + (K₂/τₛ)(u₂ − θ − λω)</a:t>
            </a:r>
          </a:p>
        </p:txBody>
      </p:sp>
      <p:sp>
        <p:nvSpPr>
          <p:cNvPr id="9" name="x = [a, θ, ω, δ]ᵀ     y = [a, θ]ᵀ">
            <a:extLst xmlns:a="http://schemas.openxmlformats.org/drawingml/2006/main">
              <a:ext uri="{FF2B5EF4-FFF2-40B4-BE49-F238E27FC236}">
                <a16:creationId xmlns:a16="http://schemas.microsoft.com/office/drawing/2014/main" id="{6B01379C-27FA-4052-A2D0-5CB734BAF600}"/>
              </a:ext>
            </a:extLst>
          </p:cNvPr>
          <p:cNvSpPr>
            <a:spLocks xmlns:a="http://schemas.openxmlformats.org/drawingml/2006/main" noGrp="1"/>
          </p:cNvSpPr>
          <p:nvPr/>
        </p:nvSpPr>
        <p:spPr>
          <a:xfrm xmlns:a="http://schemas.openxmlformats.org/drawingml/2006/main">
            <a:off x="590550" y="59626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516474"/>
                </a:solidFill>
                <a:latin typeface="Arial"/>
                <a:ea typeface="Arial"/>
                <a:cs typeface="Arial"/>
              </a:defRPr>
            </a:defPPr>
            <a:lvl1pPr algn="l">
              <a:defRPr sz="2175" b="0">
                <a:solidFill>
                  <a:srgbClr val="516474"/>
                </a:solidFill>
                <a:latin typeface="Arial"/>
                <a:ea typeface="Arial"/>
                <a:cs typeface="Arial"/>
              </a:defRPr>
            </a:lvl1pPr>
            <a:lvl2pPr algn="l">
              <a:defRPr sz="2175" b="0">
                <a:solidFill>
                  <a:srgbClr val="516474"/>
                </a:solidFill>
                <a:latin typeface="Arial"/>
                <a:ea typeface="Arial"/>
                <a:cs typeface="Arial"/>
              </a:defRPr>
            </a:lvl2pPr>
            <a:lvl3pPr algn="l">
              <a:defRPr sz="2175" b="0">
                <a:solidFill>
                  <a:srgbClr val="516474"/>
                </a:solidFill>
                <a:latin typeface="Arial"/>
                <a:ea typeface="Arial"/>
                <a:cs typeface="Arial"/>
              </a:defRPr>
            </a:lvl3pPr>
            <a:lvl4pPr algn="l">
              <a:defRPr sz="2175" b="0">
                <a:solidFill>
                  <a:srgbClr val="516474"/>
                </a:solidFill>
                <a:latin typeface="Arial"/>
                <a:ea typeface="Arial"/>
                <a:cs typeface="Arial"/>
              </a:defRPr>
            </a:lvl4pPr>
            <a:lvl5pPr algn="l">
              <a:defRPr sz="2175" b="0">
                <a:solidFill>
                  <a:srgbClr val="516474"/>
                </a:solidFill>
                <a:latin typeface="Arial"/>
                <a:ea typeface="Arial"/>
                <a:cs typeface="Arial"/>
              </a:defRPr>
            </a:lvl5pPr>
            <a:lvl6pPr algn="l">
              <a:defRPr sz="2175" b="0">
                <a:solidFill>
                  <a:srgbClr val="516474"/>
                </a:solidFill>
                <a:latin typeface="Arial"/>
                <a:ea typeface="Arial"/>
                <a:cs typeface="Arial"/>
              </a:defRPr>
            </a:lvl6pPr>
            <a:lvl7pPr algn="l">
              <a:defRPr sz="2175" b="0">
                <a:solidFill>
                  <a:srgbClr val="516474"/>
                </a:solidFill>
                <a:latin typeface="Arial"/>
                <a:ea typeface="Arial"/>
                <a:cs typeface="Arial"/>
              </a:defRPr>
            </a:lvl7pPr>
            <a:lvl8pPr algn="l">
              <a:defRPr sz="2175" b="0">
                <a:solidFill>
                  <a:srgbClr val="516474"/>
                </a:solidFill>
                <a:latin typeface="Arial"/>
                <a:ea typeface="Arial"/>
                <a:cs typeface="Arial"/>
              </a:defRPr>
            </a:lvl8pPr>
            <a:lvl9pPr algn="l">
              <a:defRPr sz="2175" b="0">
                <a:solidFill>
                  <a:srgbClr val="516474"/>
                </a:solidFill>
                <a:latin typeface="Arial"/>
                <a:ea typeface="Arial"/>
                <a:cs typeface="Arial"/>
              </a:defRPr>
            </a:lvl9pPr>
          </a:lstStyle>
          <a:p xmlns:a="http://schemas.openxmlformats.org/drawingml/2006/main">
            <a:pPr algn="l">
              <a:lnSpc>
                <a:spcPct val="110000"/>
              </a:lnSpc>
              <a:buNone/>
              <a:defRPr sz="2175" b="0">
                <a:solidFill>
                  <a:srgbClr val="516474"/>
                </a:solidFill>
                <a:latin typeface="Arial"/>
                <a:ea typeface="Arial"/>
                <a:cs typeface="Arial"/>
              </a:defRPr>
            </a:pPr>
            <a:r>
              <a:rPr sz="2175" b="0">
                <a:solidFill>
                  <a:srgbClr val="516474"/>
                </a:solidFill>
                <a:latin typeface="Arial"/>
                <a:ea typeface="Arial"/>
                <a:cs typeface="Arial"/>
              </a:rPr>
              <a:t>x = [a, θ, ω, δ]ᵀ     y = [a, θ]ᵀ</a:t>
            </a:r>
          </a:p>
        </p:txBody>
      </p:sp>
    </p:spTree>
    <p:extLst>
      <p:ext uri="{BB962C8B-B14F-4D97-AF65-F5344CB8AC3E}">
        <p14:creationId xmlns:p14="http://schemas.microsoft.com/office/powerpoint/2010/main" val="18462999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poyo: transferencia">
            <a:extLst xmlns:a="http://schemas.openxmlformats.org/drawingml/2006/main">
              <a:ext uri="{FF2B5EF4-FFF2-40B4-BE49-F238E27FC236}">
                <a16:creationId xmlns:a16="http://schemas.microsoft.com/office/drawing/2014/main" id="{C2903726-3071-4D91-BD18-422322F85258}"/>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Apoyo: transferencia</a:t>
            </a:r>
          </a:p>
        </p:txBody>
      </p:sp>
      <p:sp>
        <p:nvSpPr>
          <p:cNvPr id="3" name="Apoyo B">
            <a:extLst xmlns:a="http://schemas.openxmlformats.org/drawingml/2006/main">
              <a:ext uri="{FF2B5EF4-FFF2-40B4-BE49-F238E27FC236}">
                <a16:creationId xmlns:a16="http://schemas.microsoft.com/office/drawing/2014/main" id="{744755C5-E2B7-40A6-A5F3-61B33AB9CD20}"/>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Apoyo B</a:t>
            </a:r>
          </a:p>
        </p:txBody>
      </p:sp>
      <p:sp>
        <p:nvSpPr>
          <p:cNvPr id="4" name="Polinomio característico y matriz de transferenc">
            <a:extLst xmlns:a="http://schemas.openxmlformats.org/drawingml/2006/main">
              <a:ext uri="{FF2B5EF4-FFF2-40B4-BE49-F238E27FC236}">
                <a16:creationId xmlns:a16="http://schemas.microsoft.com/office/drawing/2014/main" id="{90AD3AD3-976E-4D90-B77E-98CE50C529E9}"/>
              </a:ext>
            </a:extLst>
          </p:cNvPr>
          <p:cNvSpPr>
            <a:spLocks xmlns:a="http://schemas.openxmlformats.org/drawingml/2006/main" noGrp="1"/>
          </p:cNvSpPr>
          <p:nvPr/>
        </p:nvSpPr>
        <p:spPr>
          <a:xfrm xmlns:a="http://schemas.openxmlformats.org/drawingml/2006/main">
            <a:off x="590550" y="128587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87E8B"/>
                </a:solidFill>
                <a:latin typeface="Arial"/>
                <a:ea typeface="Arial"/>
                <a:cs typeface="Arial"/>
              </a:defRPr>
            </a:defPPr>
            <a:lvl1pPr algn="l">
              <a:defRPr sz="2250" b="1">
                <a:solidFill>
                  <a:srgbClr val="087E8B"/>
                </a:solidFill>
                <a:latin typeface="Arial"/>
                <a:ea typeface="Arial"/>
                <a:cs typeface="Arial"/>
              </a:defRPr>
            </a:lvl1pPr>
            <a:lvl2pPr algn="l">
              <a:defRPr sz="2250" b="1">
                <a:solidFill>
                  <a:srgbClr val="087E8B"/>
                </a:solidFill>
                <a:latin typeface="Arial"/>
                <a:ea typeface="Arial"/>
                <a:cs typeface="Arial"/>
              </a:defRPr>
            </a:lvl2pPr>
            <a:lvl3pPr algn="l">
              <a:defRPr sz="2250" b="1">
                <a:solidFill>
                  <a:srgbClr val="087E8B"/>
                </a:solidFill>
                <a:latin typeface="Arial"/>
                <a:ea typeface="Arial"/>
                <a:cs typeface="Arial"/>
              </a:defRPr>
            </a:lvl3pPr>
            <a:lvl4pPr algn="l">
              <a:defRPr sz="2250" b="1">
                <a:solidFill>
                  <a:srgbClr val="087E8B"/>
                </a:solidFill>
                <a:latin typeface="Arial"/>
                <a:ea typeface="Arial"/>
                <a:cs typeface="Arial"/>
              </a:defRPr>
            </a:lvl4pPr>
            <a:lvl5pPr algn="l">
              <a:defRPr sz="2250" b="1">
                <a:solidFill>
                  <a:srgbClr val="087E8B"/>
                </a:solidFill>
                <a:latin typeface="Arial"/>
                <a:ea typeface="Arial"/>
                <a:cs typeface="Arial"/>
              </a:defRPr>
            </a:lvl5pPr>
            <a:lvl6pPr algn="l">
              <a:defRPr sz="2250" b="1">
                <a:solidFill>
                  <a:srgbClr val="087E8B"/>
                </a:solidFill>
                <a:latin typeface="Arial"/>
                <a:ea typeface="Arial"/>
                <a:cs typeface="Arial"/>
              </a:defRPr>
            </a:lvl6pPr>
            <a:lvl7pPr algn="l">
              <a:defRPr sz="2250" b="1">
                <a:solidFill>
                  <a:srgbClr val="087E8B"/>
                </a:solidFill>
                <a:latin typeface="Arial"/>
                <a:ea typeface="Arial"/>
                <a:cs typeface="Arial"/>
              </a:defRPr>
            </a:lvl7pPr>
            <a:lvl8pPr algn="l">
              <a:defRPr sz="2250" b="1">
                <a:solidFill>
                  <a:srgbClr val="087E8B"/>
                </a:solidFill>
                <a:latin typeface="Arial"/>
                <a:ea typeface="Arial"/>
                <a:cs typeface="Arial"/>
              </a:defRPr>
            </a:lvl8pPr>
            <a:lvl9pPr algn="l">
              <a:defRPr sz="2250" b="1">
                <a:solidFill>
                  <a:srgbClr val="087E8B"/>
                </a:solidFill>
                <a:latin typeface="Arial"/>
                <a:ea typeface="Arial"/>
                <a:cs typeface="Arial"/>
              </a:defRPr>
            </a:lvl9pPr>
          </a:lstStyle>
          <a:p xmlns:a="http://schemas.openxmlformats.org/drawingml/2006/main">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Polinomio característico y matriz de transferencia</a:t>
            </a:r>
          </a:p>
        </p:txBody>
      </p:sp>
      <p:sp>
        <p:nvSpPr>
          <p:cNvPr id="5" name="α = 1,0672 + 0,0699016K₁        β = 0,0699016K₁">
            <a:extLst xmlns:a="http://schemas.openxmlformats.org/drawingml/2006/main">
              <a:ext uri="{FF2B5EF4-FFF2-40B4-BE49-F238E27FC236}">
                <a16:creationId xmlns:a16="http://schemas.microsoft.com/office/drawing/2014/main" id="{D6439D74-8AAA-4539-AC7E-EA21BC6927CA}"/>
              </a:ext>
            </a:extLst>
          </p:cNvPr>
          <p:cNvSpPr>
            <a:spLocks xmlns:a="http://schemas.openxmlformats.org/drawingml/2006/main" noGrp="1"/>
          </p:cNvSpPr>
          <p:nvPr/>
        </p:nvSpPr>
        <p:spPr>
          <a:xfrm xmlns:a="http://schemas.openxmlformats.org/drawingml/2006/main">
            <a:off x="590550" y="20669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3283C"/>
                </a:solidFill>
                <a:latin typeface="Arial"/>
                <a:ea typeface="Arial"/>
                <a:cs typeface="Arial"/>
              </a:defRPr>
            </a:defPPr>
            <a:lvl1pPr algn="l">
              <a:defRPr sz="2175" b="0">
                <a:solidFill>
                  <a:srgbClr val="13283C"/>
                </a:solidFill>
                <a:latin typeface="Arial"/>
                <a:ea typeface="Arial"/>
                <a:cs typeface="Arial"/>
              </a:defRPr>
            </a:lvl1pPr>
            <a:lvl2pPr algn="l">
              <a:defRPr sz="2175" b="0">
                <a:solidFill>
                  <a:srgbClr val="13283C"/>
                </a:solidFill>
                <a:latin typeface="Arial"/>
                <a:ea typeface="Arial"/>
                <a:cs typeface="Arial"/>
              </a:defRPr>
            </a:lvl2pPr>
            <a:lvl3pPr algn="l">
              <a:defRPr sz="2175" b="0">
                <a:solidFill>
                  <a:srgbClr val="13283C"/>
                </a:solidFill>
                <a:latin typeface="Arial"/>
                <a:ea typeface="Arial"/>
                <a:cs typeface="Arial"/>
              </a:defRPr>
            </a:lvl3pPr>
            <a:lvl4pPr algn="l">
              <a:defRPr sz="2175" b="0">
                <a:solidFill>
                  <a:srgbClr val="13283C"/>
                </a:solidFill>
                <a:latin typeface="Arial"/>
                <a:ea typeface="Arial"/>
                <a:cs typeface="Arial"/>
              </a:defRPr>
            </a:lvl4pPr>
            <a:lvl5pPr algn="l">
              <a:defRPr sz="2175" b="0">
                <a:solidFill>
                  <a:srgbClr val="13283C"/>
                </a:solidFill>
                <a:latin typeface="Arial"/>
                <a:ea typeface="Arial"/>
                <a:cs typeface="Arial"/>
              </a:defRPr>
            </a:lvl5pPr>
            <a:lvl6pPr algn="l">
              <a:defRPr sz="2175" b="0">
                <a:solidFill>
                  <a:srgbClr val="13283C"/>
                </a:solidFill>
                <a:latin typeface="Arial"/>
                <a:ea typeface="Arial"/>
                <a:cs typeface="Arial"/>
              </a:defRPr>
            </a:lvl6pPr>
            <a:lvl7pPr algn="l">
              <a:defRPr sz="2175" b="0">
                <a:solidFill>
                  <a:srgbClr val="13283C"/>
                </a:solidFill>
                <a:latin typeface="Arial"/>
                <a:ea typeface="Arial"/>
                <a:cs typeface="Arial"/>
              </a:defRPr>
            </a:lvl7pPr>
            <a:lvl8pPr algn="l">
              <a:defRPr sz="2175" b="0">
                <a:solidFill>
                  <a:srgbClr val="13283C"/>
                </a:solidFill>
                <a:latin typeface="Arial"/>
                <a:ea typeface="Arial"/>
                <a:cs typeface="Arial"/>
              </a:defRPr>
            </a:lvl8pPr>
            <a:lvl9pPr algn="l">
              <a:defRPr sz="2175" b="0">
                <a:solidFill>
                  <a:srgbClr val="13283C"/>
                </a:solidFill>
                <a:latin typeface="Arial"/>
                <a:ea typeface="Arial"/>
                <a:cs typeface="Arial"/>
              </a:defRPr>
            </a:lvl9pPr>
          </a:lstStyle>
          <a:p xmlns:a="http://schemas.openxmlformats.org/drawingml/2006/main">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α = 1,0672 + 0,0699016K₁        β = 0,0699016K₁</a:t>
            </a:r>
          </a:p>
        </p:txBody>
      </p:sp>
      <p:sp>
        <p:nvSpPr>
          <p:cNvPr id="6" name="Q(s) = s³ + 20,35s² + (5,8 + 102K₂)s + 170K₂ − 2">
            <a:extLst xmlns:a="http://schemas.openxmlformats.org/drawingml/2006/main">
              <a:ext uri="{FF2B5EF4-FFF2-40B4-BE49-F238E27FC236}">
                <a16:creationId xmlns:a16="http://schemas.microsoft.com/office/drawing/2014/main" id="{32EE77B9-64AF-41BF-AC0F-D7D814C2E449}"/>
              </a:ext>
            </a:extLst>
          </p:cNvPr>
          <p:cNvSpPr>
            <a:spLocks xmlns:a="http://schemas.openxmlformats.org/drawingml/2006/main" noGrp="1"/>
          </p:cNvSpPr>
          <p:nvPr/>
        </p:nvSpPr>
        <p:spPr>
          <a:xfrm xmlns:a="http://schemas.openxmlformats.org/drawingml/2006/main">
            <a:off x="590550" y="27622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3283C"/>
                </a:solidFill>
                <a:latin typeface="Arial"/>
                <a:ea typeface="Arial"/>
                <a:cs typeface="Arial"/>
              </a:defRPr>
            </a:defPPr>
            <a:lvl1pPr algn="l">
              <a:defRPr sz="2175" b="0">
                <a:solidFill>
                  <a:srgbClr val="13283C"/>
                </a:solidFill>
                <a:latin typeface="Arial"/>
                <a:ea typeface="Arial"/>
                <a:cs typeface="Arial"/>
              </a:defRPr>
            </a:lvl1pPr>
            <a:lvl2pPr algn="l">
              <a:defRPr sz="2175" b="0">
                <a:solidFill>
                  <a:srgbClr val="13283C"/>
                </a:solidFill>
                <a:latin typeface="Arial"/>
                <a:ea typeface="Arial"/>
                <a:cs typeface="Arial"/>
              </a:defRPr>
            </a:lvl2pPr>
            <a:lvl3pPr algn="l">
              <a:defRPr sz="2175" b="0">
                <a:solidFill>
                  <a:srgbClr val="13283C"/>
                </a:solidFill>
                <a:latin typeface="Arial"/>
                <a:ea typeface="Arial"/>
                <a:cs typeface="Arial"/>
              </a:defRPr>
            </a:lvl3pPr>
            <a:lvl4pPr algn="l">
              <a:defRPr sz="2175" b="0">
                <a:solidFill>
                  <a:srgbClr val="13283C"/>
                </a:solidFill>
                <a:latin typeface="Arial"/>
                <a:ea typeface="Arial"/>
                <a:cs typeface="Arial"/>
              </a:defRPr>
            </a:lvl4pPr>
            <a:lvl5pPr algn="l">
              <a:defRPr sz="2175" b="0">
                <a:solidFill>
                  <a:srgbClr val="13283C"/>
                </a:solidFill>
                <a:latin typeface="Arial"/>
                <a:ea typeface="Arial"/>
                <a:cs typeface="Arial"/>
              </a:defRPr>
            </a:lvl5pPr>
            <a:lvl6pPr algn="l">
              <a:defRPr sz="2175" b="0">
                <a:solidFill>
                  <a:srgbClr val="13283C"/>
                </a:solidFill>
                <a:latin typeface="Arial"/>
                <a:ea typeface="Arial"/>
                <a:cs typeface="Arial"/>
              </a:defRPr>
            </a:lvl6pPr>
            <a:lvl7pPr algn="l">
              <a:defRPr sz="2175" b="0">
                <a:solidFill>
                  <a:srgbClr val="13283C"/>
                </a:solidFill>
                <a:latin typeface="Arial"/>
                <a:ea typeface="Arial"/>
                <a:cs typeface="Arial"/>
              </a:defRPr>
            </a:lvl7pPr>
            <a:lvl8pPr algn="l">
              <a:defRPr sz="2175" b="0">
                <a:solidFill>
                  <a:srgbClr val="13283C"/>
                </a:solidFill>
                <a:latin typeface="Arial"/>
                <a:ea typeface="Arial"/>
                <a:cs typeface="Arial"/>
              </a:defRPr>
            </a:lvl8pPr>
            <a:lvl9pPr algn="l">
              <a:defRPr sz="2175" b="0">
                <a:solidFill>
                  <a:srgbClr val="13283C"/>
                </a:solidFill>
                <a:latin typeface="Arial"/>
                <a:ea typeface="Arial"/>
                <a:cs typeface="Arial"/>
              </a:defRPr>
            </a:lvl9pPr>
          </a:lstStyle>
          <a:p xmlns:a="http://schemas.openxmlformats.org/drawingml/2006/main">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Q(s) = s³ + 20,35s² + (5,8 + 102K₂)s + 170K₂ − 24</a:t>
            </a:r>
          </a:p>
        </p:txBody>
      </p:sp>
      <p:sp>
        <p:nvSpPr>
          <p:cNvPr id="7" name="P(s) = (s + α)Q(s) + 1,1772(s + 20)">
            <a:extLst xmlns:a="http://schemas.openxmlformats.org/drawingml/2006/main">
              <a:ext uri="{FF2B5EF4-FFF2-40B4-BE49-F238E27FC236}">
                <a16:creationId xmlns:a16="http://schemas.microsoft.com/office/drawing/2014/main" id="{867CBD00-678B-4D77-90EE-B33C5275A22C}"/>
              </a:ext>
            </a:extLst>
          </p:cNvPr>
          <p:cNvSpPr>
            <a:spLocks xmlns:a="http://schemas.openxmlformats.org/drawingml/2006/main" noGrp="1"/>
          </p:cNvSpPr>
          <p:nvPr/>
        </p:nvSpPr>
        <p:spPr>
          <a:xfrm xmlns:a="http://schemas.openxmlformats.org/drawingml/2006/main">
            <a:off x="590550" y="3457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087E8B"/>
                </a:solidFill>
                <a:latin typeface="Arial"/>
                <a:ea typeface="Arial"/>
                <a:cs typeface="Arial"/>
              </a:defRPr>
            </a:defPPr>
            <a:lvl1pPr algn="l">
              <a:defRPr sz="2175" b="1">
                <a:solidFill>
                  <a:srgbClr val="087E8B"/>
                </a:solidFill>
                <a:latin typeface="Arial"/>
                <a:ea typeface="Arial"/>
                <a:cs typeface="Arial"/>
              </a:defRPr>
            </a:lvl1pPr>
            <a:lvl2pPr algn="l">
              <a:defRPr sz="2175" b="1">
                <a:solidFill>
                  <a:srgbClr val="087E8B"/>
                </a:solidFill>
                <a:latin typeface="Arial"/>
                <a:ea typeface="Arial"/>
                <a:cs typeface="Arial"/>
              </a:defRPr>
            </a:lvl2pPr>
            <a:lvl3pPr algn="l">
              <a:defRPr sz="2175" b="1">
                <a:solidFill>
                  <a:srgbClr val="087E8B"/>
                </a:solidFill>
                <a:latin typeface="Arial"/>
                <a:ea typeface="Arial"/>
                <a:cs typeface="Arial"/>
              </a:defRPr>
            </a:lvl3pPr>
            <a:lvl4pPr algn="l">
              <a:defRPr sz="2175" b="1">
                <a:solidFill>
                  <a:srgbClr val="087E8B"/>
                </a:solidFill>
                <a:latin typeface="Arial"/>
                <a:ea typeface="Arial"/>
                <a:cs typeface="Arial"/>
              </a:defRPr>
            </a:lvl4pPr>
            <a:lvl5pPr algn="l">
              <a:defRPr sz="2175" b="1">
                <a:solidFill>
                  <a:srgbClr val="087E8B"/>
                </a:solidFill>
                <a:latin typeface="Arial"/>
                <a:ea typeface="Arial"/>
                <a:cs typeface="Arial"/>
              </a:defRPr>
            </a:lvl5pPr>
            <a:lvl6pPr algn="l">
              <a:defRPr sz="2175" b="1">
                <a:solidFill>
                  <a:srgbClr val="087E8B"/>
                </a:solidFill>
                <a:latin typeface="Arial"/>
                <a:ea typeface="Arial"/>
                <a:cs typeface="Arial"/>
              </a:defRPr>
            </a:lvl6pPr>
            <a:lvl7pPr algn="l">
              <a:defRPr sz="2175" b="1">
                <a:solidFill>
                  <a:srgbClr val="087E8B"/>
                </a:solidFill>
                <a:latin typeface="Arial"/>
                <a:ea typeface="Arial"/>
                <a:cs typeface="Arial"/>
              </a:defRPr>
            </a:lvl7pPr>
            <a:lvl8pPr algn="l">
              <a:defRPr sz="2175" b="1">
                <a:solidFill>
                  <a:srgbClr val="087E8B"/>
                </a:solidFill>
                <a:latin typeface="Arial"/>
                <a:ea typeface="Arial"/>
                <a:cs typeface="Arial"/>
              </a:defRPr>
            </a:lvl8pPr>
            <a:lvl9pPr algn="l">
              <a:defRPr sz="2175" b="1">
                <a:solidFill>
                  <a:srgbClr val="087E8B"/>
                </a:solidFill>
                <a:latin typeface="Arial"/>
                <a:ea typeface="Arial"/>
                <a:cs typeface="Arial"/>
              </a:defRPr>
            </a:lvl9pPr>
          </a:lstStyle>
          <a:p xmlns:a="http://schemas.openxmlformats.org/drawingml/2006/main">
            <a:pPr algn="l">
              <a:lnSpc>
                <a:spcPct val="110000"/>
              </a:lnSpc>
              <a:buNone/>
              <a:defRPr sz="2175" b="1">
                <a:solidFill>
                  <a:srgbClr val="087E8B"/>
                </a:solidFill>
                <a:latin typeface="Arial"/>
                <a:ea typeface="Arial"/>
                <a:cs typeface="Arial"/>
              </a:defRPr>
            </a:pPr>
            <a:r>
              <a:rPr sz="2175" b="1">
                <a:solidFill>
                  <a:srgbClr val="087E8B"/>
                </a:solidFill>
                <a:latin typeface="Arial"/>
                <a:ea typeface="Arial"/>
                <a:cs typeface="Arial"/>
              </a:rPr>
              <a:t>P(s) = (s + α)Q(s) + 1,1772(s + 20)</a:t>
            </a:r>
          </a:p>
        </p:txBody>
      </p:sp>
      <p:graphicFrame>
        <p:nvGraphicFramePr>
          <p:cNvPr id="8" name="">
            <a:extLst xmlns:a="http://schemas.openxmlformats.org/drawingml/2006/main">
              <a:ext uri="{FF2B5EF4-FFF2-40B4-BE49-F238E27FC236}">
                <a16:creationId xmlns:a16="http://schemas.microsoft.com/office/drawing/2014/main" id="{E1AFBFE7-8716-4A65-9735-583409F7E1BA}"/>
              </a:ext>
            </a:extLst>
          </p:cNvPr>
          <p:cNvGraphicFramePr/>
          <p:nvPr/>
        </p:nvGraphicFramePr>
        <p:xfrm>
          <a:off xmlns:a="http://schemas.openxmlformats.org/drawingml/2006/main" x="590550" y="4295775"/>
          <a:ext xmlns:a="http://schemas.openxmlformats.org/drawingml/2006/main" cx="10858500" cy="1600200"/>
        </p:xfrm>
        <a:graphic xmlns:a="http://schemas.openxmlformats.org/drawingml/2006/main">
          <a:graphicData uri="http://schemas.openxmlformats.org/drawingml/2006/table">
            <a:tbl>
              <a:tblPr/>
              <a:tblGrid>
                <a:gridCol w="5143500"/>
                <a:gridCol w="2857500"/>
                <a:gridCol w="2857500"/>
              </a:tblGrid>
              <a:tr h="533400">
                <a:tc>
                  <a:txBody>
                    <a:bodyPr lIns="95250" tIns="95250" rIns="95250" bIns="95250"/>
                    <a:lstStyle/>
                    <a:p>
                      <a:r>
                        <a:rPr sz="1875" b="1">
                          <a:solidFill>
                            <a:srgbClr val="FFFFFF"/>
                          </a:solidFill>
                          <a:latin typeface="Arial"/>
                          <a:ea typeface="Arial"/>
                          <a:cs typeface="Arial"/>
                        </a:rPr>
                        <a:t>Numeradores de G(s) = N(s) / P(s)</a:t>
                      </a:r>
                    </a:p>
                  </a:txBody>
                  <a:tcPr marL="91440" marR="91440" marT="45720" marB="45720"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lIns="95250" tIns="95250" rIns="95250" bIns="95250"/>
                    <a:lstStyle/>
                    <a:p>
                      <a:r>
                        <a:rPr sz="1875" b="1">
                          <a:solidFill>
                            <a:srgbClr val="FFFFFF"/>
                          </a:solidFill>
                          <a:latin typeface="Arial"/>
                          <a:ea typeface="Arial"/>
                          <a:cs typeface="Arial"/>
                        </a:rPr>
                        <a:t>Entrada u₁</a:t>
                      </a:r>
                    </a:p>
                  </a:txBody>
                  <a:tcPr marL="91440" marR="91440" marT="45720" marB="45720" anchor="ctr">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lIns="95250" tIns="95250" rIns="95250" bIns="95250"/>
                    <a:lstStyle/>
                    <a:p>
                      <a:r>
                        <a:rPr sz="1875" b="1">
                          <a:solidFill>
                            <a:srgbClr val="FFFFFF"/>
                          </a:solidFill>
                          <a:latin typeface="Arial"/>
                          <a:ea typeface="Arial"/>
                          <a:cs typeface="Arial"/>
                        </a:rPr>
                        <a:t>Entrada u₂</a:t>
                      </a:r>
                    </a:p>
                  </a:txBody>
                  <a:tcPr marL="91440" marR="91440" marT="45720" marB="45720" anchor="ctr">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r>
              <a:tr h="533400">
                <a:tc>
                  <a:txBody>
                    <a:bodyPr lIns="95250" tIns="95250" rIns="95250" bIns="95250"/>
                    <a:lstStyle/>
                    <a:p>
                      <a:r>
                        <a:rPr sz="1875" b="0">
                          <a:solidFill>
                            <a:srgbClr val="13283C"/>
                          </a:solidFill>
                          <a:latin typeface="Arial"/>
                          <a:ea typeface="Arial"/>
                          <a:cs typeface="Arial"/>
                        </a:rPr>
                        <a:t>Salida a</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875" b="0">
                          <a:solidFill>
                            <a:srgbClr val="13283C"/>
                          </a:solidFill>
                          <a:latin typeface="Arial"/>
                          <a:ea typeface="Arial"/>
                          <a:cs typeface="Arial"/>
                        </a:rPr>
                        <a:t>βQ(s)</a:t>
                      </a:r>
                    </a:p>
                  </a:txBody>
                  <a:tcPr marL="91440" marR="91440" marT="45720" marB="45720" anchor="ctr">
                    <a:lnR w="5715">
                      <a:solidFill>
                        <a:srgbClr val="DFE6EB"/>
                      </a:solidFill>
                      <a:prstDash val="solid"/>
                    </a:lnR>
                    <a:lnB w="5715">
                      <a:solidFill>
                        <a:srgbClr val="DFE6EB"/>
                      </a:solidFill>
                      <a:prstDash val="solid"/>
                    </a:lnB>
                    <a:solidFill>
                      <a:srgbClr val="FFFFFF"/>
                    </a:solidFill>
                  </a:tcPr>
                </a:tc>
                <a:tc>
                  <a:txBody>
                    <a:bodyPr lIns="95250" tIns="95250" rIns="95250" bIns="95250"/>
                    <a:lstStyle/>
                    <a:p>
                      <a:r>
                        <a:rPr sz="1875" b="0">
                          <a:solidFill>
                            <a:srgbClr val="13283C"/>
                          </a:solidFill>
                          <a:latin typeface="Arial"/>
                          <a:ea typeface="Arial"/>
                          <a:cs typeface="Arial"/>
                        </a:rPr>
                        <a:t>−1667,7K₂</a:t>
                      </a:r>
                    </a:p>
                  </a:txBody>
                  <a:tcPr marL="91440" marR="91440" marT="45720" marB="45720" anchor="ctr">
                    <a:lnR w="5715">
                      <a:solidFill>
                        <a:srgbClr val="DFE6EB"/>
                      </a:solidFill>
                      <a:prstDash val="solid"/>
                    </a:lnR>
                    <a:lnB w="5715">
                      <a:solidFill>
                        <a:srgbClr val="DFE6EB"/>
                      </a:solidFill>
                      <a:prstDash val="solid"/>
                    </a:lnB>
                    <a:solidFill>
                      <a:srgbClr val="FFFFFF"/>
                    </a:solidFill>
                  </a:tcPr>
                </a:tc>
              </a:tr>
              <a:tr h="533400">
                <a:tc>
                  <a:txBody>
                    <a:bodyPr lIns="95250" tIns="95250" rIns="95250" bIns="95250"/>
                    <a:lstStyle/>
                    <a:p>
                      <a:r>
                        <a:rPr sz="1875" b="0">
                          <a:solidFill>
                            <a:srgbClr val="13283C"/>
                          </a:solidFill>
                          <a:latin typeface="Arial"/>
                          <a:ea typeface="Arial"/>
                          <a:cs typeface="Arial"/>
                        </a:rPr>
                        <a:t>Salida θ</a:t>
                      </a:r>
                    </a:p>
                  </a:txBody>
                  <a:tcPr marL="91440" marR="91440" marT="45720" marB="45720" anchor="ctr">
                    <a:lnL w="5715">
                      <a:solidFill>
                        <a:srgbClr val="DFE6EB"/>
                      </a:solidFill>
                      <a:prstDash val="solid"/>
                    </a:lnL>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875" b="0">
                          <a:solidFill>
                            <a:srgbClr val="13283C"/>
                          </a:solidFill>
                          <a:latin typeface="Arial"/>
                          <a:ea typeface="Arial"/>
                          <a:cs typeface="Arial"/>
                        </a:rPr>
                        <a:t>0,12β(s + 20)</a:t>
                      </a:r>
                    </a:p>
                  </a:txBody>
                  <a:tcPr marL="91440" marR="91440" marT="45720" marB="45720" anchor="ctr">
                    <a:lnR w="5715">
                      <a:solidFill>
                        <a:srgbClr val="DFE6EB"/>
                      </a:solidFill>
                      <a:prstDash val="solid"/>
                    </a:lnR>
                    <a:lnB w="5715">
                      <a:solidFill>
                        <a:srgbClr val="DFE6EB"/>
                      </a:solidFill>
                      <a:prstDash val="solid"/>
                    </a:lnB>
                    <a:solidFill>
                      <a:srgbClr val="F3F6F8"/>
                    </a:solidFill>
                  </a:tcPr>
                </a:tc>
                <a:tc>
                  <a:txBody>
                    <a:bodyPr lIns="95250" tIns="95250" rIns="95250" bIns="95250"/>
                    <a:lstStyle/>
                    <a:p>
                      <a:r>
                        <a:rPr sz="1875" b="0">
                          <a:solidFill>
                            <a:srgbClr val="13283C"/>
                          </a:solidFill>
                          <a:latin typeface="Arial"/>
                          <a:ea typeface="Arial"/>
                          <a:cs typeface="Arial"/>
                        </a:rPr>
                        <a:t>170K₂(s + α)</a:t>
                      </a:r>
                    </a:p>
                  </a:txBody>
                  <a:tcPr marL="91440" marR="91440" marT="45720" marB="45720" anchor="ctr">
                    <a:lnR w="5715">
                      <a:solidFill>
                        <a:srgbClr val="DFE6EB"/>
                      </a:solidFill>
                      <a:prstDash val="solid"/>
                    </a:lnR>
                    <a:lnB w="5715">
                      <a:solidFill>
                        <a:srgbClr val="DFE6EB"/>
                      </a:solidFill>
                      <a:prstDash val="solid"/>
                    </a:lnB>
                    <a:solidFill>
                      <a:srgbClr val="F3F6F8"/>
                    </a:solidFill>
                  </a:tcPr>
                </a:tc>
              </a:tr>
            </a:tbl>
          </a:graphicData>
        </a:graphic>
      </p:graphicFrame>
      <p:sp>
        <p:nvSpPr>
          <p:cNvPr id="9" name="Nominal: P(s) = s⁴ + 21,4871s³ + 79,9400s² + 126">
            <a:extLst xmlns:a="http://schemas.openxmlformats.org/drawingml/2006/main">
              <a:ext uri="{FF2B5EF4-FFF2-40B4-BE49-F238E27FC236}">
                <a16:creationId xmlns:a16="http://schemas.microsoft.com/office/drawing/2014/main" id="{15E2EF34-AC6B-4095-B34B-5F73877B8EF3}"/>
              </a:ext>
            </a:extLst>
          </p:cNvPr>
          <p:cNvSpPr>
            <a:spLocks xmlns:a="http://schemas.openxmlformats.org/drawingml/2006/main" noGrp="1"/>
          </p:cNvSpPr>
          <p:nvPr/>
        </p:nvSpPr>
        <p:spPr>
          <a:xfrm xmlns:a="http://schemas.openxmlformats.org/drawingml/2006/main">
            <a:off x="590550" y="610552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516474"/>
                </a:solidFill>
                <a:latin typeface="Arial"/>
                <a:ea typeface="Arial"/>
                <a:cs typeface="Arial"/>
              </a:defRPr>
            </a:defPPr>
            <a:lvl1pPr algn="l">
              <a:defRPr sz="1650" b="0">
                <a:solidFill>
                  <a:srgbClr val="516474"/>
                </a:solidFill>
                <a:latin typeface="Arial"/>
                <a:ea typeface="Arial"/>
                <a:cs typeface="Arial"/>
              </a:defRPr>
            </a:lvl1pPr>
            <a:lvl2pPr algn="l">
              <a:defRPr sz="1650" b="0">
                <a:solidFill>
                  <a:srgbClr val="516474"/>
                </a:solidFill>
                <a:latin typeface="Arial"/>
                <a:ea typeface="Arial"/>
                <a:cs typeface="Arial"/>
              </a:defRPr>
            </a:lvl2pPr>
            <a:lvl3pPr algn="l">
              <a:defRPr sz="1650" b="0">
                <a:solidFill>
                  <a:srgbClr val="516474"/>
                </a:solidFill>
                <a:latin typeface="Arial"/>
                <a:ea typeface="Arial"/>
                <a:cs typeface="Arial"/>
              </a:defRPr>
            </a:lvl3pPr>
            <a:lvl4pPr algn="l">
              <a:defRPr sz="1650" b="0">
                <a:solidFill>
                  <a:srgbClr val="516474"/>
                </a:solidFill>
                <a:latin typeface="Arial"/>
                <a:ea typeface="Arial"/>
                <a:cs typeface="Arial"/>
              </a:defRPr>
            </a:lvl4pPr>
            <a:lvl5pPr algn="l">
              <a:defRPr sz="1650" b="0">
                <a:solidFill>
                  <a:srgbClr val="516474"/>
                </a:solidFill>
                <a:latin typeface="Arial"/>
                <a:ea typeface="Arial"/>
                <a:cs typeface="Arial"/>
              </a:defRPr>
            </a:lvl5pPr>
            <a:lvl6pPr algn="l">
              <a:defRPr sz="1650" b="0">
                <a:solidFill>
                  <a:srgbClr val="516474"/>
                </a:solidFill>
                <a:latin typeface="Arial"/>
                <a:ea typeface="Arial"/>
                <a:cs typeface="Arial"/>
              </a:defRPr>
            </a:lvl6pPr>
            <a:lvl7pPr algn="l">
              <a:defRPr sz="1650" b="0">
                <a:solidFill>
                  <a:srgbClr val="516474"/>
                </a:solidFill>
                <a:latin typeface="Arial"/>
                <a:ea typeface="Arial"/>
                <a:cs typeface="Arial"/>
              </a:defRPr>
            </a:lvl7pPr>
            <a:lvl8pPr algn="l">
              <a:defRPr sz="1650" b="0">
                <a:solidFill>
                  <a:srgbClr val="516474"/>
                </a:solidFill>
                <a:latin typeface="Arial"/>
                <a:ea typeface="Arial"/>
                <a:cs typeface="Arial"/>
              </a:defRPr>
            </a:lvl8pPr>
            <a:lvl9pPr algn="l">
              <a:defRPr sz="1650" b="0">
                <a:solidFill>
                  <a:srgbClr val="516474"/>
                </a:solidFill>
                <a:latin typeface="Arial"/>
                <a:ea typeface="Arial"/>
                <a:cs typeface="Arial"/>
              </a:defRPr>
            </a:lvl9pPr>
          </a:lstStyle>
          <a:p xmlns:a="http://schemas.openxmlformats.org/drawingml/2006/main">
            <a:pPr algn="l">
              <a:lnSpc>
                <a:spcPct val="110000"/>
              </a:lnSpc>
              <a:buNone/>
              <a:defRPr sz="1650" b="0">
                <a:solidFill>
                  <a:srgbClr val="516474"/>
                </a:solidFill>
                <a:latin typeface="Arial"/>
                <a:ea typeface="Arial"/>
                <a:cs typeface="Arial"/>
              </a:defRPr>
            </a:pPr>
            <a:r>
              <a:rPr sz="1650" b="0">
                <a:solidFill>
                  <a:srgbClr val="516474"/>
                </a:solidFill>
                <a:latin typeface="Arial"/>
                <a:ea typeface="Arial"/>
                <a:cs typeface="Arial"/>
              </a:rPr>
              <a:t>Nominal: P(s) = s⁴ + 21,4871s³ + 79,9400s² + 126,7646s + 92,9072</a:t>
            </a:r>
          </a:p>
        </p:txBody>
      </p:sp>
    </p:spTree>
    <p:extLst>
      <p:ext uri="{BB962C8B-B14F-4D97-AF65-F5344CB8AC3E}">
        <p14:creationId xmlns:p14="http://schemas.microsoft.com/office/powerpoint/2010/main" val="109677533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ruebas temporales">
            <a:extLst xmlns:a="http://schemas.openxmlformats.org/drawingml/2006/main">
              <a:ext uri="{FF2B5EF4-FFF2-40B4-BE49-F238E27FC236}">
                <a16:creationId xmlns:a16="http://schemas.microsoft.com/office/drawing/2014/main" id="{1B45C471-5D73-493F-BB93-440ED761A860}"/>
              </a:ext>
            </a:extLst>
          </p:cNvPr>
          <p:cNvSpPr>
            <a:spLocks xmlns:a="http://schemas.openxmlformats.org/drawingml/2006/main" noGrp="1"/>
          </p:cNvSpPr>
          <p:nvPr/>
        </p:nvSpPr>
        <p:spPr>
          <a:xfrm xmlns:a="http://schemas.openxmlformats.org/drawingml/2006/main">
            <a:off x="590550" y="400050"/>
            <a:ext cx="1101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xmlns:a="http://schemas.openxmlformats.org/drawingml/2006/main">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Apoyo: respuestas unitarias</a:t>
            </a:r>
          </a:p>
        </p:txBody>
      </p:sp>
      <p:sp>
        <p:nvSpPr>
          <p:cNvPr id="3" name="06 / 16">
            <a:extLst xmlns:a="http://schemas.openxmlformats.org/drawingml/2006/main">
              <a:ext uri="{FF2B5EF4-FFF2-40B4-BE49-F238E27FC236}">
                <a16:creationId xmlns:a16="http://schemas.microsoft.com/office/drawing/2014/main" id="{A8F4FC17-99EC-48EE-ABDC-71C29909DACF}"/>
              </a:ext>
            </a:extLst>
          </p:cNvPr>
          <p:cNvSpPr>
            <a:spLocks xmlns:a="http://schemas.openxmlformats.org/drawingml/2006/main" noGrp="1"/>
          </p:cNvSpPr>
          <p:nvPr/>
        </p:nvSpPr>
        <p:spPr>
          <a:xfrm xmlns:a="http://schemas.openxmlformats.org/drawingml/2006/main">
            <a:off x="10429875" y="64293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xmlns:a="http://schemas.openxmlformats.org/drawingml/2006/main">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Apoyo C</a:t>
            </a:r>
          </a:p>
        </p:txBody>
      </p:sp>
      <p:sp>
        <p:nvSpPr>
          <p:cNvPr id="4" name="Ejemplos de θ con u₂ unitario y estado inicial n">
            <a:extLst xmlns:a="http://schemas.openxmlformats.org/drawingml/2006/main">
              <a:ext uri="{FF2B5EF4-FFF2-40B4-BE49-F238E27FC236}">
                <a16:creationId xmlns:a16="http://schemas.microsoft.com/office/drawing/2014/main" id="{29EB31C6-7970-4C4E-956E-5D0DBBB7B7FD}"/>
              </a:ext>
            </a:extLst>
          </p:cNvPr>
          <p:cNvSpPr>
            <a:spLocks xmlns:a="http://schemas.openxmlformats.org/drawingml/2006/main" noGrp="1"/>
          </p:cNvSpPr>
          <p:nvPr/>
        </p:nvSpPr>
        <p:spPr>
          <a:xfrm xmlns:a="http://schemas.openxmlformats.org/drawingml/2006/main">
            <a:off x="590550" y="12763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516474"/>
                </a:solidFill>
                <a:latin typeface="Arial"/>
                <a:ea typeface="Arial"/>
                <a:cs typeface="Arial"/>
              </a:defRPr>
            </a:defPPr>
            <a:lvl1pPr algn="l">
              <a:defRPr sz="2025" b="0">
                <a:solidFill>
                  <a:srgbClr val="516474"/>
                </a:solidFill>
                <a:latin typeface="Arial"/>
                <a:ea typeface="Arial"/>
                <a:cs typeface="Arial"/>
              </a:defRPr>
            </a:lvl1pPr>
            <a:lvl2pPr algn="l">
              <a:defRPr sz="2025" b="0">
                <a:solidFill>
                  <a:srgbClr val="516474"/>
                </a:solidFill>
                <a:latin typeface="Arial"/>
                <a:ea typeface="Arial"/>
                <a:cs typeface="Arial"/>
              </a:defRPr>
            </a:lvl2pPr>
            <a:lvl3pPr algn="l">
              <a:defRPr sz="2025" b="0">
                <a:solidFill>
                  <a:srgbClr val="516474"/>
                </a:solidFill>
                <a:latin typeface="Arial"/>
                <a:ea typeface="Arial"/>
                <a:cs typeface="Arial"/>
              </a:defRPr>
            </a:lvl3pPr>
            <a:lvl4pPr algn="l">
              <a:defRPr sz="2025" b="0">
                <a:solidFill>
                  <a:srgbClr val="516474"/>
                </a:solidFill>
                <a:latin typeface="Arial"/>
                <a:ea typeface="Arial"/>
                <a:cs typeface="Arial"/>
              </a:defRPr>
            </a:lvl4pPr>
            <a:lvl5pPr algn="l">
              <a:defRPr sz="2025" b="0">
                <a:solidFill>
                  <a:srgbClr val="516474"/>
                </a:solidFill>
                <a:latin typeface="Arial"/>
                <a:ea typeface="Arial"/>
                <a:cs typeface="Arial"/>
              </a:defRPr>
            </a:lvl5pPr>
            <a:lvl6pPr algn="l">
              <a:defRPr sz="2025" b="0">
                <a:solidFill>
                  <a:srgbClr val="516474"/>
                </a:solidFill>
                <a:latin typeface="Arial"/>
                <a:ea typeface="Arial"/>
                <a:cs typeface="Arial"/>
              </a:defRPr>
            </a:lvl6pPr>
            <a:lvl7pPr algn="l">
              <a:defRPr sz="2025" b="0">
                <a:solidFill>
                  <a:srgbClr val="516474"/>
                </a:solidFill>
                <a:latin typeface="Arial"/>
                <a:ea typeface="Arial"/>
                <a:cs typeface="Arial"/>
              </a:defRPr>
            </a:lvl7pPr>
            <a:lvl8pPr algn="l">
              <a:defRPr sz="2025" b="0">
                <a:solidFill>
                  <a:srgbClr val="516474"/>
                </a:solidFill>
                <a:latin typeface="Arial"/>
                <a:ea typeface="Arial"/>
                <a:cs typeface="Arial"/>
              </a:defRPr>
            </a:lvl8pPr>
            <a:lvl9pPr algn="l">
              <a:defRPr sz="2025" b="0">
                <a:solidFill>
                  <a:srgbClr val="516474"/>
                </a:solidFill>
                <a:latin typeface="Arial"/>
                <a:ea typeface="Arial"/>
                <a:cs typeface="Arial"/>
              </a:defRPr>
            </a:lvl9pPr>
          </a:lstStyle>
          <a:p xmlns:a="http://schemas.openxmlformats.org/drawingml/2006/main">
            <a:pPr algn="l">
              <a:lnSpc>
                <a:spcPct val="110000"/>
              </a:lnSpc>
              <a:buNone/>
              <a:defRPr sz="2025" b="0">
                <a:solidFill>
                  <a:srgbClr val="516474"/>
                </a:solidFill>
                <a:latin typeface="Arial"/>
                <a:ea typeface="Arial"/>
                <a:cs typeface="Arial"/>
              </a:defRPr>
            </a:pPr>
            <a:r>
              <a:rPr sz="2025" b="0">
                <a:solidFill>
                  <a:srgbClr val="516474"/>
                </a:solidFill>
                <a:latin typeface="Arial"/>
                <a:ea typeface="Arial"/>
                <a:cs typeface="Arial"/>
              </a:rPr>
              <a:t>Ejemplos de θ con u₂ unitario y estado inicial nulo</a:t>
            </a:r>
          </a:p>
        </p:txBody>
      </p:sp>
      <p:graphicFrame>
        <p:nvGraphicFramePr>
          <p:cNvPr id="5" name="Chart">
            <a:extLst xmlns:a="http://schemas.openxmlformats.org/drawingml/2006/main">
              <a:ext uri="{FF2B5EF4-FFF2-40B4-BE49-F238E27FC236}">
                <a16:creationId xmlns:a16="http://schemas.microsoft.com/office/drawing/2014/main" id="{62F81E22-8770-4984-9869-904D4E5095B0}"/>
              </a:ext>
            </a:extLst>
          </p:cNvPr>
          <p:cNvGraphicFramePr/>
          <p:nvPr/>
        </p:nvGraphicFramePr>
        <p:xfrm>
          <a:off xmlns:a="http://schemas.openxmlformats.org/drawingml/2006/main" x="400050" y="1952625"/>
          <a:ext xmlns:a="http://schemas.openxmlformats.org/drawingml/2006/main" cx="3781425" cy="3257550"/>
        </p:xfrm>
        <a:graphic xmlns:a="http://schemas.openxmlformats.org/drawingml/2006/main">
          <a:graphicData uri="http://schemas.openxmlformats.org/drawingml/2006/chart">
            <c:chart xmlns:r="http://schemas.openxmlformats.org/officeDocument/2006/relationships" xmlns:c="http://schemas.openxmlformats.org/drawingml/2006/chart" r:id="Rf3242c2b7ef34db3"/>
          </a:graphicData>
        </a:graphic>
      </p:graphicFrame>
      <p:graphicFrame>
        <p:nvGraphicFramePr>
          <p:cNvPr id="6" name="Chart">
            <a:extLst xmlns:a="http://schemas.openxmlformats.org/drawingml/2006/main">
              <a:ext uri="{FF2B5EF4-FFF2-40B4-BE49-F238E27FC236}">
                <a16:creationId xmlns:a16="http://schemas.microsoft.com/office/drawing/2014/main" id="{1BBF0D9D-9D45-4265-8E3A-48CC83D82D20}"/>
              </a:ext>
            </a:extLst>
          </p:cNvPr>
          <p:cNvGraphicFramePr/>
          <p:nvPr/>
        </p:nvGraphicFramePr>
        <p:xfrm>
          <a:off xmlns:a="http://schemas.openxmlformats.org/drawingml/2006/main" x="4276725" y="1952625"/>
          <a:ext xmlns:a="http://schemas.openxmlformats.org/drawingml/2006/main" cx="3781425" cy="3257550"/>
        </p:xfrm>
        <a:graphic xmlns:a="http://schemas.openxmlformats.org/drawingml/2006/main">
          <a:graphicData uri="http://schemas.openxmlformats.org/drawingml/2006/chart">
            <c:chart xmlns:r="http://schemas.openxmlformats.org/officeDocument/2006/relationships" xmlns:c="http://schemas.openxmlformats.org/drawingml/2006/chart" r:id="Rf3c82bede0814332"/>
          </a:graphicData>
        </a:graphic>
      </p:graphicFrame>
      <p:graphicFrame>
        <p:nvGraphicFramePr>
          <p:cNvPr id="7" name="Chart">
            <a:extLst xmlns:a="http://schemas.openxmlformats.org/drawingml/2006/main">
              <a:ext uri="{FF2B5EF4-FFF2-40B4-BE49-F238E27FC236}">
                <a16:creationId xmlns:a16="http://schemas.microsoft.com/office/drawing/2014/main" id="{AE121583-C181-4E42-A192-ACEB04BF859A}"/>
              </a:ext>
            </a:extLst>
          </p:cNvPr>
          <p:cNvGraphicFramePr/>
          <p:nvPr/>
        </p:nvGraphicFramePr>
        <p:xfrm>
          <a:off xmlns:a="http://schemas.openxmlformats.org/drawingml/2006/main" x="8153400" y="1952625"/>
          <a:ext xmlns:a="http://schemas.openxmlformats.org/drawingml/2006/main" cx="3781425" cy="3257550"/>
        </p:xfrm>
        <a:graphic xmlns:a="http://schemas.openxmlformats.org/drawingml/2006/main">
          <a:graphicData uri="http://schemas.openxmlformats.org/drawingml/2006/chart">
            <c:chart xmlns:r="http://schemas.openxmlformats.org/officeDocument/2006/relationships" xmlns:c="http://schemas.openxmlformats.org/drawingml/2006/chart" r:id="Rf90f0679e0ef4455"/>
          </a:graphicData>
        </a:graphic>
      </p:graphicFrame>
      <p:sp>
        <p:nvSpPr>
          <p:cNvPr id="8" name="El reporte estudia nueve combinaciones de señale">
            <a:extLst xmlns:a="http://schemas.openxmlformats.org/drawingml/2006/main">
              <a:ext uri="{FF2B5EF4-FFF2-40B4-BE49-F238E27FC236}">
                <a16:creationId xmlns:a16="http://schemas.microsoft.com/office/drawing/2014/main" id="{79065E17-5701-4774-A686-322F45A252ED}"/>
              </a:ext>
            </a:extLst>
          </p:cNvPr>
          <p:cNvSpPr>
            <a:spLocks xmlns:a="http://schemas.openxmlformats.org/drawingml/2006/main" noGrp="1"/>
          </p:cNvSpPr>
          <p:nvPr/>
        </p:nvSpPr>
        <p:spPr>
          <a:xfrm xmlns:a="http://schemas.openxmlformats.org/drawingml/2006/main">
            <a:off x="590550" y="56483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3283C"/>
                </a:solidFill>
                <a:latin typeface="Arial"/>
                <a:ea typeface="Arial"/>
                <a:cs typeface="Arial"/>
              </a:defRPr>
            </a:defPPr>
            <a:lvl1pPr algn="l">
              <a:defRPr sz="2025" b="1">
                <a:solidFill>
                  <a:srgbClr val="13283C"/>
                </a:solidFill>
                <a:latin typeface="Arial"/>
                <a:ea typeface="Arial"/>
                <a:cs typeface="Arial"/>
              </a:defRPr>
            </a:lvl1pPr>
            <a:lvl2pPr algn="l">
              <a:defRPr sz="2025" b="1">
                <a:solidFill>
                  <a:srgbClr val="13283C"/>
                </a:solidFill>
                <a:latin typeface="Arial"/>
                <a:ea typeface="Arial"/>
                <a:cs typeface="Arial"/>
              </a:defRPr>
            </a:lvl2pPr>
            <a:lvl3pPr algn="l">
              <a:defRPr sz="2025" b="1">
                <a:solidFill>
                  <a:srgbClr val="13283C"/>
                </a:solidFill>
                <a:latin typeface="Arial"/>
                <a:ea typeface="Arial"/>
                <a:cs typeface="Arial"/>
              </a:defRPr>
            </a:lvl3pPr>
            <a:lvl4pPr algn="l">
              <a:defRPr sz="2025" b="1">
                <a:solidFill>
                  <a:srgbClr val="13283C"/>
                </a:solidFill>
                <a:latin typeface="Arial"/>
                <a:ea typeface="Arial"/>
                <a:cs typeface="Arial"/>
              </a:defRPr>
            </a:lvl4pPr>
            <a:lvl5pPr algn="l">
              <a:defRPr sz="2025" b="1">
                <a:solidFill>
                  <a:srgbClr val="13283C"/>
                </a:solidFill>
                <a:latin typeface="Arial"/>
                <a:ea typeface="Arial"/>
                <a:cs typeface="Arial"/>
              </a:defRPr>
            </a:lvl5pPr>
            <a:lvl6pPr algn="l">
              <a:defRPr sz="2025" b="1">
                <a:solidFill>
                  <a:srgbClr val="13283C"/>
                </a:solidFill>
                <a:latin typeface="Arial"/>
                <a:ea typeface="Arial"/>
                <a:cs typeface="Arial"/>
              </a:defRPr>
            </a:lvl6pPr>
            <a:lvl7pPr algn="l">
              <a:defRPr sz="2025" b="1">
                <a:solidFill>
                  <a:srgbClr val="13283C"/>
                </a:solidFill>
                <a:latin typeface="Arial"/>
                <a:ea typeface="Arial"/>
                <a:cs typeface="Arial"/>
              </a:defRPr>
            </a:lvl7pPr>
            <a:lvl8pPr algn="l">
              <a:defRPr sz="2025" b="1">
                <a:solidFill>
                  <a:srgbClr val="13283C"/>
                </a:solidFill>
                <a:latin typeface="Arial"/>
                <a:ea typeface="Arial"/>
                <a:cs typeface="Arial"/>
              </a:defRPr>
            </a:lvl8pPr>
            <a:lvl9pPr algn="l">
              <a:defRPr sz="2025" b="1">
                <a:solidFill>
                  <a:srgbClr val="13283C"/>
                </a:solidFill>
                <a:latin typeface="Arial"/>
                <a:ea typeface="Arial"/>
                <a:cs typeface="Arial"/>
              </a:defRPr>
            </a:lvl9pPr>
          </a:lstStyle>
          <a:p xmlns:a="http://schemas.openxmlformats.org/drawingml/2006/main">
            <a:pPr algn="l">
              <a:lnSpc>
                <a:spcPct val="110000"/>
              </a:lnSpc>
              <a:buNone/>
              <a:defRPr sz="2025" b="1">
                <a:solidFill>
                  <a:srgbClr val="13283C"/>
                </a:solidFill>
                <a:latin typeface="Arial"/>
                <a:ea typeface="Arial"/>
                <a:cs typeface="Arial"/>
              </a:defRPr>
            </a:pPr>
            <a:r>
              <a:rPr sz="2025" b="1">
                <a:solidFill>
                  <a:srgbClr val="13283C"/>
                </a:solidFill>
                <a:latin typeface="Arial"/>
                <a:ea typeface="Arial"/>
                <a:cs typeface="Arial"/>
              </a:rPr>
              <a:t>El reporte estudia nueve combinaciones de señales y entradas</a:t>
            </a:r>
          </a:p>
        </p:txBody>
      </p:sp>
      <p:sp>
        <p:nvSpPr>
          <p:cNvPr id="9" name="Las señales unitarias permiten estudiar el model">
            <a:extLst xmlns:a="http://schemas.openxmlformats.org/drawingml/2006/main">
              <a:ext uri="{FF2B5EF4-FFF2-40B4-BE49-F238E27FC236}">
                <a16:creationId xmlns:a16="http://schemas.microsoft.com/office/drawing/2014/main" id="{084F5F66-13FD-4AAE-8704-F3EBE78D89CA}"/>
              </a:ext>
            </a:extLst>
          </p:cNvPr>
          <p:cNvSpPr>
            <a:spLocks xmlns:a="http://schemas.openxmlformats.org/drawingml/2006/main" noGrp="1"/>
          </p:cNvSpPr>
          <p:nvPr/>
        </p:nvSpPr>
        <p:spPr>
          <a:xfrm xmlns:a="http://schemas.openxmlformats.org/drawingml/2006/main">
            <a:off x="590550" y="61055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516474"/>
                </a:solidFill>
                <a:latin typeface="Arial"/>
                <a:ea typeface="Arial"/>
                <a:cs typeface="Arial"/>
              </a:defRPr>
            </a:defPPr>
            <a:lvl1pPr algn="l">
              <a:defRPr sz="1650" b="0">
                <a:solidFill>
                  <a:srgbClr val="516474"/>
                </a:solidFill>
                <a:latin typeface="Arial"/>
                <a:ea typeface="Arial"/>
                <a:cs typeface="Arial"/>
              </a:defRPr>
            </a:lvl1pPr>
            <a:lvl2pPr algn="l">
              <a:defRPr sz="1650" b="0">
                <a:solidFill>
                  <a:srgbClr val="516474"/>
                </a:solidFill>
                <a:latin typeface="Arial"/>
                <a:ea typeface="Arial"/>
                <a:cs typeface="Arial"/>
              </a:defRPr>
            </a:lvl2pPr>
            <a:lvl3pPr algn="l">
              <a:defRPr sz="1650" b="0">
                <a:solidFill>
                  <a:srgbClr val="516474"/>
                </a:solidFill>
                <a:latin typeface="Arial"/>
                <a:ea typeface="Arial"/>
                <a:cs typeface="Arial"/>
              </a:defRPr>
            </a:lvl3pPr>
            <a:lvl4pPr algn="l">
              <a:defRPr sz="1650" b="0">
                <a:solidFill>
                  <a:srgbClr val="516474"/>
                </a:solidFill>
                <a:latin typeface="Arial"/>
                <a:ea typeface="Arial"/>
                <a:cs typeface="Arial"/>
              </a:defRPr>
            </a:lvl4pPr>
            <a:lvl5pPr algn="l">
              <a:defRPr sz="1650" b="0">
                <a:solidFill>
                  <a:srgbClr val="516474"/>
                </a:solidFill>
                <a:latin typeface="Arial"/>
                <a:ea typeface="Arial"/>
                <a:cs typeface="Arial"/>
              </a:defRPr>
            </a:lvl5pPr>
            <a:lvl6pPr algn="l">
              <a:defRPr sz="1650" b="0">
                <a:solidFill>
                  <a:srgbClr val="516474"/>
                </a:solidFill>
                <a:latin typeface="Arial"/>
                <a:ea typeface="Arial"/>
                <a:cs typeface="Arial"/>
              </a:defRPr>
            </a:lvl6pPr>
            <a:lvl7pPr algn="l">
              <a:defRPr sz="1650" b="0">
                <a:solidFill>
                  <a:srgbClr val="516474"/>
                </a:solidFill>
                <a:latin typeface="Arial"/>
                <a:ea typeface="Arial"/>
                <a:cs typeface="Arial"/>
              </a:defRPr>
            </a:lvl7pPr>
            <a:lvl8pPr algn="l">
              <a:defRPr sz="1650" b="0">
                <a:solidFill>
                  <a:srgbClr val="516474"/>
                </a:solidFill>
                <a:latin typeface="Arial"/>
                <a:ea typeface="Arial"/>
                <a:cs typeface="Arial"/>
              </a:defRPr>
            </a:lvl8pPr>
            <a:lvl9pPr algn="l">
              <a:defRPr sz="1650" b="0">
                <a:solidFill>
                  <a:srgbClr val="516474"/>
                </a:solidFill>
                <a:latin typeface="Arial"/>
                <a:ea typeface="Arial"/>
                <a:cs typeface="Arial"/>
              </a:defRPr>
            </a:lvl9pPr>
          </a:lstStyle>
          <a:p xmlns:a="http://schemas.openxmlformats.org/drawingml/2006/main">
            <a:pPr algn="l">
              <a:lnSpc>
                <a:spcPct val="110000"/>
              </a:lnSpc>
              <a:buNone/>
              <a:defRPr sz="1650" b="0">
                <a:solidFill>
                  <a:srgbClr val="516474"/>
                </a:solidFill>
                <a:latin typeface="Arial"/>
                <a:ea typeface="Arial"/>
                <a:cs typeface="Arial"/>
              </a:defRPr>
            </a:pPr>
            <a:r>
              <a:rPr sz="1650" b="0">
                <a:solidFill>
                  <a:srgbClr val="516474"/>
                </a:solidFill>
                <a:latin typeface="Arial"/>
                <a:ea typeface="Arial"/>
                <a:cs typeface="Arial"/>
              </a:rPr>
              <a:t>Las señales unitarias permiten estudiar el modelo lineal. La selección usa u₂ = 5°</a:t>
            </a:r>
          </a:p>
        </p:txBody>
      </p:sp>
    </p:spTree>
    <p:extLst>
      <p:ext uri="{BB962C8B-B14F-4D97-AF65-F5344CB8AC3E}">
        <p14:creationId xmlns:p14="http://schemas.microsoft.com/office/powerpoint/2010/main" val="1488892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2026-10-29T20:47:48.1350000Z</dcterms:created>
  <dcterms:modified xsi:type="dcterms:W3CDTF">2026-10-29T20:47:48.1350000Z</dcterms:modified>
</coreProperties>
</file>